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customXml" Target="../customXml/item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 / g(surface)</c:v>
                </c:pt>
              </c:strCache>
            </c:strRef>
          </c:tx>
          <c:spPr>
            <a:ln w="19050" cap="rnd" cmpd="sng" algn="ctr">
              <a:solidFill>
                <a:srgbClr val="0E4D64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FFFFFF"/>
              </a:solidFill>
              <a:ln w="19050" cap="flat" cmpd="sng" algn="ctr">
                <a:solidFill>
                  <a:srgbClr val="0E4D64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MiSans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1.0</c:v>
                </c:pt>
                <c:pt idx="1">
                  <c:v>1.5</c:v>
                </c:pt>
                <c:pt idx="2">
                  <c:v>2.0</c:v>
                </c:pt>
                <c:pt idx="3">
                  <c:v>2.5</c:v>
                </c:pt>
                <c:pt idx="4">
                  <c:v>3.0</c:v>
                </c:pt>
                <c:pt idx="5">
                  <c:v>4.0</c:v>
                </c:pt>
                <c:pt idx="6">
                  <c:v>5.0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0.444</c:v>
                </c:pt>
                <c:pt idx="2">
                  <c:v>0.25</c:v>
                </c:pt>
                <c:pt idx="3">
                  <c:v>0.16</c:v>
                </c:pt>
                <c:pt idx="4">
                  <c:v>0.111</c:v>
                </c:pt>
                <c:pt idx="5">
                  <c:v>0.063</c:v>
                </c:pt>
                <c:pt idx="6">
                  <c:v>0.04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sz="1020">
                    <a:solidFill>
                      <a:srgbClr val="54555A"/>
                    </a:solidFill>
                    <a:latin typeface="Calibri" panose="020F0502020204030204"/>
                    <a:ea typeface="MiSans"/>
                  </a:rPr>
                  <a:t>r / Earth radii</a:t>
                </a:r>
                <a:endParaRPr lang="zh-CN" sz="1020">
                  <a:solidFill>
                    <a:srgbClr val="54555A"/>
                  </a:solidFill>
                  <a:latin typeface="Calibri" panose="020F0502020204030204"/>
                  <a:ea typeface="MiSans"/>
                </a:endParaRP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9525" cap="flat" cmpd="sng" algn="ctr">
            <a:solidFill>
              <a:srgbClr val="54555A"/>
            </a:solidFill>
            <a:prstDash val="solid"/>
            <a:round/>
          </a:ln>
        </c:spPr>
        <c:txPr>
          <a:bodyPr rot="0"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lang="zh-CN" sz="1020" b="0" i="0" u="none" strike="noStrike" kern="1200" baseline="0">
                <a:solidFill>
                  <a:srgbClr val="54555A"/>
                </a:solidFill>
                <a:latin typeface="Calibri" panose="020F0502020204030204"/>
                <a:ea typeface="MiSans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5DFE0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sz="1020">
                    <a:solidFill>
                      <a:srgbClr val="54555A"/>
                    </a:solidFill>
                    <a:latin typeface="Calibri" panose="020F0502020204030204"/>
                    <a:ea typeface="MiSans"/>
                  </a:rPr>
                  <a:t>g / g at surface</a:t>
                </a:r>
                <a:endParaRPr lang="zh-CN" sz="1020">
                  <a:solidFill>
                    <a:srgbClr val="54555A"/>
                  </a:solidFill>
                  <a:latin typeface="Calibri" panose="020F0502020204030204"/>
                  <a:ea typeface="MiSans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 cap="flat" cmpd="sng" algn="ctr">
            <a:solidFill>
              <a:srgbClr val="54555A"/>
            </a:solidFill>
            <a:prstDash val="solid"/>
            <a:round/>
          </a:ln>
        </c:spPr>
        <c:txPr>
          <a:bodyPr rot="0"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lang="zh-CN" sz="1020" b="0" i="0" u="none" strike="noStrike" kern="1200" baseline="0">
                <a:solidFill>
                  <a:srgbClr val="54555A"/>
                </a:solidFill>
                <a:latin typeface="Calibri" panose="020F0502020204030204"/>
                <a:ea typeface="MiSans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bdeb8fb4-d2e4-4f04-995c-e6bf27c35cd9}"/>
      </c:ext>
    </c:extLst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lang="zh-CN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φ / 10⁶ J kg⁻¹</c:v>
                </c:pt>
              </c:strCache>
            </c:strRef>
          </c:tx>
          <c:spPr>
            <a:ln w="19050" cap="rnd" cmpd="sng" algn="ctr">
              <a:solidFill>
                <a:srgbClr val="0E4D64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FFFFFF"/>
              </a:solidFill>
              <a:ln w="19050" cap="flat" cmpd="sng" algn="ctr">
                <a:solidFill>
                  <a:srgbClr val="0E4D64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MiSans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-40</c:v>
                </c:pt>
                <c:pt idx="1">
                  <c:v>-20</c:v>
                </c:pt>
                <c:pt idx="2">
                  <c:v>-13.3</c:v>
                </c:pt>
                <c:pt idx="3">
                  <c:v>-10</c:v>
                </c:pt>
                <c:pt idx="4">
                  <c:v>-8</c:v>
                </c:pt>
                <c:pt idx="5">
                  <c:v>-6.7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Ep / 10⁶ J (m = 2 kg)</c:v>
                </c:pt>
              </c:strCache>
            </c:strRef>
          </c:tx>
          <c:spPr>
            <a:ln w="19050" cap="rnd" cmpd="sng" algn="ctr">
              <a:solidFill>
                <a:srgbClr val="D97D29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FFFFFF"/>
              </a:solidFill>
              <a:ln w="19050" cap="flat" cmpd="sng" algn="ctr">
                <a:solidFill>
                  <a:srgbClr val="D97D2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MiSans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-80</c:v>
                </c:pt>
                <c:pt idx="1">
                  <c:v>-40</c:v>
                </c:pt>
                <c:pt idx="2">
                  <c:v>-26.7</c:v>
                </c:pt>
                <c:pt idx="3">
                  <c:v>-20</c:v>
                </c:pt>
                <c:pt idx="4">
                  <c:v>-16</c:v>
                </c:pt>
                <c:pt idx="5">
                  <c:v>-13.3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sz="1020">
                    <a:solidFill>
                      <a:srgbClr val="54555A"/>
                    </a:solidFill>
                    <a:latin typeface="Calibri" panose="020F0502020204030204"/>
                    <a:ea typeface="MiSans"/>
                  </a:rPr>
                  <a:t>r / 10⁷ m</a:t>
                </a:r>
                <a:endParaRPr lang="zh-CN" sz="1020">
                  <a:solidFill>
                    <a:srgbClr val="54555A"/>
                  </a:solidFill>
                  <a:latin typeface="Calibri" panose="020F0502020204030204"/>
                  <a:ea typeface="MiSans"/>
                </a:endParaRP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9525" cap="flat" cmpd="sng" algn="ctr">
            <a:solidFill>
              <a:srgbClr val="54555A"/>
            </a:solidFill>
            <a:prstDash val="solid"/>
            <a:round/>
          </a:ln>
        </c:spPr>
        <c:txPr>
          <a:bodyPr rot="0"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lang="zh-CN" sz="1020" b="0" i="0" u="none" strike="noStrike" kern="1200" baseline="0">
                <a:solidFill>
                  <a:srgbClr val="54555A"/>
                </a:solidFill>
                <a:latin typeface="Calibri" panose="020F0502020204030204"/>
                <a:ea typeface="MiSans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5DFE0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sz="1020">
                    <a:solidFill>
                      <a:srgbClr val="54555A"/>
                    </a:solidFill>
                    <a:latin typeface="Calibri" panose="020F0502020204030204"/>
                    <a:ea typeface="MiSans"/>
                  </a:rPr>
                  <a:t>potential / energy</a:t>
                </a:r>
                <a:endParaRPr lang="zh-CN" sz="1020">
                  <a:solidFill>
                    <a:srgbClr val="54555A"/>
                  </a:solidFill>
                  <a:latin typeface="Calibri" panose="020F0502020204030204"/>
                  <a:ea typeface="MiSans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 cap="flat" cmpd="sng" algn="ctr">
            <a:solidFill>
              <a:srgbClr val="54555A"/>
            </a:solidFill>
            <a:prstDash val="solid"/>
            <a:round/>
          </a:ln>
        </c:spPr>
        <c:txPr>
          <a:bodyPr rot="0"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lang="zh-CN" sz="1020" b="0" i="0" u="none" strike="noStrike" kern="1200" baseline="0">
                <a:solidFill>
                  <a:srgbClr val="54555A"/>
                </a:solidFill>
                <a:latin typeface="Calibri" panose="020F0502020204030204"/>
                <a:ea typeface="MiSans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1" vertOverflow="ellipsis" vert="horz" wrap="square" lIns="38100" tIns="19050" rIns="38100" bIns="19050" anchor="ctr" anchorCtr="1">
          <a:spAutoFit/>
        </a:bodyPr>
        <a:lstStyle/>
        <a:p>
          <a:pPr>
            <a:defRPr lang="zh-CN" sz="1020" b="0" i="0" u="none" strike="noStrike" kern="1200" baseline="0">
              <a:solidFill>
                <a:srgbClr val="6D6E73"/>
              </a:solidFill>
              <a:latin typeface="Calibri" panose="020F0502020204030204"/>
              <a:ea typeface="MiSans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90285a5-e492-4246-9cfd-a1c7bd766e43}"/>
      </c:ext>
    </c:extLst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lang="zh-CN" sz="1800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93748"/>
            </a:gs>
            <a:gs pos="100000">
              <a:srgbClr val="0E4D64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orbit-1"/>
          <p:cNvSpPr/>
          <p:nvPr/>
        </p:nvSpPr>
        <p:spPr>
          <a:xfrm>
            <a:off x="6667500" y="952500"/>
            <a:ext cx="4572000" cy="4572000"/>
          </a:xfrm>
          <a:prstGeom prst="ellipse">
            <a:avLst/>
          </a:prstGeom>
          <a:noFill/>
          <a:ln w="12700">
            <a:solidFill>
              <a:srgbClr val="FFFFFF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rgbClr val="FFFFFF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orbit-2"/>
          <p:cNvSpPr/>
          <p:nvPr/>
        </p:nvSpPr>
        <p:spPr>
          <a:xfrm>
            <a:off x="7334250" y="1619250"/>
            <a:ext cx="3238500" cy="3238500"/>
          </a:xfrm>
          <a:prstGeom prst="ellipse">
            <a:avLst/>
          </a:prstGeom>
          <a:noFill/>
          <a:ln w="12700">
            <a:solidFill>
              <a:srgbClr val="FFFFFF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rgbClr val="FFFFFF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planet"/>
          <p:cNvSpPr/>
          <p:nvPr/>
        </p:nvSpPr>
        <p:spPr>
          <a:xfrm>
            <a:off x="8763000" y="3048000"/>
            <a:ext cx="381000" cy="3810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rgbClr val="FFFFFF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dsl:fl-1"/>
          <p:cNvCxnSpPr/>
          <p:nvPr/>
        </p:nvCxnSpPr>
        <p:spPr>
          <a:xfrm>
            <a:off x="9334500" y="3238500"/>
            <a:ext cx="1428750" cy="0"/>
          </a:xfrm>
          <a:prstGeom prst="straightConnector1">
            <a:avLst/>
          </a:prstGeom>
          <a:ln w="12700">
            <a:solidFill>
              <a:srgbClr val="FFFFFF">
                <a:alpha val="40000"/>
              </a:srgbClr>
            </a:solidFill>
            <a:prstDash val="solid"/>
            <a:head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dsl:fl-2"/>
          <p:cNvCxnSpPr/>
          <p:nvPr/>
        </p:nvCxnSpPr>
        <p:spPr>
          <a:xfrm>
            <a:off x="7143750" y="3238500"/>
            <a:ext cx="1428750" cy="0"/>
          </a:xfrm>
          <a:prstGeom prst="straightConnector1">
            <a:avLst/>
          </a:prstGeom>
          <a:ln w="12700">
            <a:solidFill>
              <a:srgbClr val="FFFFFF">
                <a:alpha val="40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dsl:fl-3"/>
          <p:cNvCxnSpPr/>
          <p:nvPr/>
        </p:nvCxnSpPr>
        <p:spPr>
          <a:xfrm>
            <a:off x="8953500" y="1809750"/>
            <a:ext cx="0" cy="1047750"/>
          </a:xfrm>
          <a:prstGeom prst="straightConnector1">
            <a:avLst/>
          </a:prstGeom>
          <a:ln w="12700">
            <a:solidFill>
              <a:srgbClr val="FFFFFF">
                <a:alpha val="40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dsl:fl-4"/>
          <p:cNvCxnSpPr/>
          <p:nvPr/>
        </p:nvCxnSpPr>
        <p:spPr>
          <a:xfrm>
            <a:off x="8953500" y="3619500"/>
            <a:ext cx="0" cy="1047750"/>
          </a:xfrm>
          <a:prstGeom prst="straightConnector1">
            <a:avLst/>
          </a:prstGeom>
          <a:ln w="12700">
            <a:solidFill>
              <a:srgbClr val="FFFFFF">
                <a:alpha val="40000"/>
              </a:srgbClr>
            </a:solidFill>
            <a:prstDash val="solid"/>
            <a:head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dsl:fl-5"/>
          <p:cNvCxnSpPr/>
          <p:nvPr/>
        </p:nvCxnSpPr>
        <p:spPr>
          <a:xfrm>
            <a:off x="7677150" y="1962150"/>
            <a:ext cx="1009650" cy="1009650"/>
          </a:xfrm>
          <a:prstGeom prst="straightConnector1">
            <a:avLst/>
          </a:prstGeom>
          <a:ln w="12700">
            <a:solidFill>
              <a:srgbClr val="FFFFFF">
                <a:alpha val="30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dsl:fl-6"/>
          <p:cNvCxnSpPr/>
          <p:nvPr/>
        </p:nvCxnSpPr>
        <p:spPr>
          <a:xfrm flipH="1">
            <a:off x="9220200" y="1962150"/>
            <a:ext cx="1009650" cy="1009650"/>
          </a:xfrm>
          <a:prstGeom prst="straightConnector1">
            <a:avLst/>
          </a:prstGeom>
          <a:ln w="12700">
            <a:solidFill>
              <a:srgbClr val="FFFFFF">
                <a:alpha val="30000"/>
              </a:srgbClr>
            </a:solidFill>
            <a:prstDash val="solid"/>
            <a:head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dsl:fl-7"/>
          <p:cNvCxnSpPr/>
          <p:nvPr/>
        </p:nvCxnSpPr>
        <p:spPr>
          <a:xfrm flipV="1">
            <a:off x="7677150" y="3505200"/>
            <a:ext cx="1009650" cy="1009650"/>
          </a:xfrm>
          <a:prstGeom prst="straightConnector1">
            <a:avLst/>
          </a:prstGeom>
          <a:ln w="12700">
            <a:solidFill>
              <a:srgbClr val="FFFFFF">
                <a:alpha val="30000"/>
              </a:srgbClr>
            </a:solidFill>
            <a:prstDash val="solid"/>
            <a:head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dsl:fl-8"/>
          <p:cNvCxnSpPr/>
          <p:nvPr/>
        </p:nvCxnSpPr>
        <p:spPr>
          <a:xfrm flipH="1" flipV="1">
            <a:off x="9220200" y="3505200"/>
            <a:ext cx="1009650" cy="1009650"/>
          </a:xfrm>
          <a:prstGeom prst="straightConnector1">
            <a:avLst/>
          </a:prstGeom>
          <a:ln w="12700">
            <a:solidFill>
              <a:srgbClr val="FFFFFF">
                <a:alpha val="30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sl:satellite"/>
          <p:cNvSpPr/>
          <p:nvPr/>
        </p:nvSpPr>
        <p:spPr>
          <a:xfrm>
            <a:off x="11049000" y="3048000"/>
            <a:ext cx="171450" cy="171450"/>
          </a:xfrm>
          <a:prstGeom prst="ellipse">
            <a:avLst/>
          </a:prstGeom>
          <a:solidFill>
            <a:srgbClr val="D97D2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rgbClr val="FFFFFF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dsl:sat-v"/>
          <p:cNvCxnSpPr/>
          <p:nvPr/>
        </p:nvCxnSpPr>
        <p:spPr>
          <a:xfrm>
            <a:off x="10325100" y="3133725"/>
            <a:ext cx="609600" cy="0"/>
          </a:xfrm>
          <a:prstGeom prst="straightConnector1">
            <a:avLst/>
          </a:prstGeom>
          <a:ln w="25400">
            <a:solidFill>
              <a:srgbClr val="FFFFFF">
                <a:alpha val="55000"/>
              </a:srgbClr>
            </a:solidFill>
            <a:prstDash val="solid"/>
            <a:head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sl:topic-tag"/>
          <p:cNvSpPr txBox="1"/>
          <p:nvPr/>
        </p:nvSpPr>
        <p:spPr>
          <a:xfrm>
            <a:off x="838200" y="1676400"/>
            <a:ext cx="4953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spc="225" noProof="1">
                <a:solidFill>
                  <a:srgbClr val="D97D29"/>
                </a:solidFill>
                <a:latin typeface="QuattrocentoSans"/>
                <a:ea typeface="MiSans"/>
              </a:rPr>
              <a:t>TOPIC 13 · A2 PHYSICS</a:t>
            </a:r>
            <a:endParaRPr sz="1125" spc="225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16" name="dsl:title-main"/>
          <p:cNvSpPr txBox="1"/>
          <p:nvPr/>
        </p:nvSpPr>
        <p:spPr>
          <a:xfrm>
            <a:off x="838200" y="2038350"/>
            <a:ext cx="5715000" cy="1238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450" b="1" noProof="1">
                <a:solidFill>
                  <a:srgbClr val="FFFFFF"/>
                </a:solidFill>
                <a:latin typeface="Unna"/>
                <a:ea typeface="siyuanSongti"/>
              </a:rPr>
              <a:t>GRAVITATIONAL</a:t>
            </a:r>
            <a:r>
              <a:rPr sz="3450" b="1" noProof="1">
                <a:solidFill>
                  <a:srgbClr val="FFFFFF"/>
                </a:solidFill>
                <a:latin typeface="Unna"/>
                <a:ea typeface="siyuanSongti"/>
              </a:rPr>
              <a:t>
</a:t>
            </a:r>
            <a:r>
              <a:rPr sz="3450" b="1" noProof="1">
                <a:solidFill>
                  <a:srgbClr val="FFFFFF"/>
                </a:solidFill>
                <a:latin typeface="Unna"/>
                <a:ea typeface="siyuanSongti"/>
              </a:rPr>
              <a:t>FIELDS</a:t>
            </a:r>
            <a:endParaRPr sz="3450" b="1" noProof="1">
              <a:solidFill>
                <a:srgbClr val="FFFFFF"/>
              </a:solidFill>
              <a:latin typeface="Unna"/>
              <a:ea typeface="siyuanSongti"/>
            </a:endParaRPr>
          </a:p>
        </p:txBody>
      </p:sp>
      <p:sp>
        <p:nvSpPr>
          <p:cNvPr id="17" name="dsl:title-cn"/>
          <p:cNvSpPr txBox="1"/>
          <p:nvPr/>
        </p:nvSpPr>
        <p:spPr>
          <a:xfrm>
            <a:off x="838200" y="3429000"/>
            <a:ext cx="4762500" cy="3238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650" noProof="1">
                <a:solidFill>
                  <a:srgbClr val="FFFFFF"/>
                </a:solidFill>
                <a:latin typeface="Unna"/>
                <a:ea typeface="siyuanSongti"/>
              </a:rPr>
              <a:t>引力场</a:t>
            </a:r>
            <a:endParaRPr sz="1650" noProof="1">
              <a:solidFill>
                <a:srgbClr val="FFFFFF"/>
              </a:solidFill>
              <a:latin typeface="Unna"/>
              <a:ea typeface="siyuanSongti"/>
            </a:endParaRPr>
          </a:p>
        </p:txBody>
      </p:sp>
      <p:sp>
        <p:nvSpPr>
          <p:cNvPr id="18" name="dsl:title-rule"/>
          <p:cNvSpPr/>
          <p:nvPr/>
        </p:nvSpPr>
        <p:spPr>
          <a:xfrm>
            <a:off x="838200" y="3943350"/>
            <a:ext cx="9144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title-desc"/>
          <p:cNvSpPr txBox="1"/>
          <p:nvPr/>
        </p:nvSpPr>
        <p:spPr>
          <a:xfrm>
            <a:off x="838200" y="4152900"/>
            <a:ext cx="5715000" cy="609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75" noProof="1">
                <a:solidFill>
                  <a:srgbClr val="FFFFFF"/>
                </a:solidFill>
                <a:latin typeface="QuattrocentoSans"/>
                <a:ea typeface="MiSans"/>
              </a:rPr>
              <a:t>Field strength · Newton's law · orbits · potential</a:t>
            </a:r>
            <a:endParaRPr sz="1275" noProof="1">
              <a:solidFill>
                <a:srgbClr val="FFFFFF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场强 · 万有引力定律 · 圆轨道 · 引力势</a:t>
            </a:r>
            <a:endParaRPr sz="1050" noProof="1">
              <a:solidFill>
                <a:srgbClr val="FFFFFF"/>
              </a:solidFill>
              <a:latin typeface="QuattrocentoSans"/>
              <a:ea typeface="MiSans"/>
            </a:endParaRPr>
          </a:p>
        </p:txBody>
      </p:sp>
      <p:sp>
        <p:nvSpPr>
          <p:cNvPr id="20" name="dsl:bottom-bar"/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rgbClr val="093748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rgbClr val="FFFFFF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bottom-info"/>
          <p:cNvSpPr txBox="1"/>
          <p:nvPr/>
        </p:nvSpPr>
        <p:spPr>
          <a:xfrm>
            <a:off x="838200" y="6172200"/>
            <a:ext cx="8572500" cy="685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spc="75" noProof="1">
                <a:solidFill>
                  <a:srgbClr val="FFFFFF"/>
                </a:solidFill>
                <a:latin typeface="QuattrocentoSans"/>
                <a:ea typeface="MiSans"/>
              </a:rPr>
              <a:t>CIE 9702 · Paper 4 · Topic 13</a:t>
            </a:r>
            <a:endParaRPr sz="1200" spc="75" noProof="1">
              <a:solidFill>
                <a:srgbClr val="FFFFFF"/>
              </a:solidFill>
              <a:latin typeface="QuattrocentoSans"/>
              <a:ea typeface="MiSans"/>
            </a:endParaRPr>
          </a:p>
        </p:txBody>
      </p:sp>
      <p:sp>
        <p:nvSpPr>
          <p:cNvPr id="22" name="dsl:bottom-right"/>
          <p:cNvSpPr txBox="1"/>
          <p:nvPr/>
        </p:nvSpPr>
        <p:spPr>
          <a:xfrm>
            <a:off x="9677400" y="6172200"/>
            <a:ext cx="1676400" cy="685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Lecture Notes</a:t>
            </a:r>
            <a:endParaRPr sz="1050" noProof="1">
              <a:solidFill>
                <a:srgbClr val="FFFFFF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57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TOPIC 13 · CIE 9702 A2 PHYSICS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75" b="1" noProof="1">
                <a:solidFill>
                  <a:srgbClr val="0E4D64"/>
                </a:solidFill>
                <a:latin typeface="QuattrocentoSans"/>
                <a:ea typeface="MiSans"/>
              </a:rPr>
              <a:t>Learning Outcomes</a:t>
            </a:r>
            <a:endParaRPr sz="2175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学习目标 — 完成本主题后你应掌握的内容</a:t>
            </a:r>
            <a:endParaRPr sz="120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lo-big"/>
          <p:cNvSpPr txBox="1"/>
          <p:nvPr/>
        </p:nvSpPr>
        <p:spPr>
          <a:xfrm>
            <a:off x="609600" y="2000250"/>
            <a:ext cx="28575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550" b="1" noProof="1">
                <a:solidFill>
                  <a:srgbClr val="0E4D64"/>
                </a:solidFill>
                <a:latin typeface="Unna"/>
                <a:ea typeface="siyuanSongti"/>
              </a:rPr>
              <a:t>LEARNING</a:t>
            </a:r>
            <a:r>
              <a:rPr sz="2550" b="1" noProof="1">
                <a:solidFill>
                  <a:srgbClr val="0E4D64"/>
                </a:solidFill>
                <a:latin typeface="Unna"/>
                <a:ea typeface="siyuanSongti"/>
              </a:rPr>
              <a:t>
</a:t>
            </a:r>
            <a:r>
              <a:rPr sz="2550" b="1" noProof="1">
                <a:solidFill>
                  <a:srgbClr val="0E4D64"/>
                </a:solidFill>
                <a:latin typeface="Unna"/>
                <a:ea typeface="siyuanSongti"/>
              </a:rPr>
              <a:t>OUTCOMES</a:t>
            </a:r>
            <a:endParaRPr sz="2550" b="1" noProof="1">
              <a:solidFill>
                <a:srgbClr val="0E4D64"/>
              </a:solidFill>
              <a:latin typeface="Unna"/>
              <a:ea typeface="siyuanSongti"/>
            </a:endParaRPr>
          </a:p>
        </p:txBody>
      </p:sp>
      <p:sp>
        <p:nvSpPr>
          <p:cNvPr id="7" name="dsl:lo-cn|s=$subtitle"/>
          <p:cNvSpPr txBox="1"/>
          <p:nvPr/>
        </p:nvSpPr>
        <p:spPr>
          <a:xfrm>
            <a:off x="609600" y="3200400"/>
            <a:ext cx="2857500" cy="2667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学习目标</a:t>
            </a:r>
            <a:endParaRPr sz="120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8" name="dsl:lo-rule"/>
          <p:cNvSpPr/>
          <p:nvPr/>
        </p:nvSpPr>
        <p:spPr>
          <a:xfrm>
            <a:off x="609600" y="3600450"/>
            <a:ext cx="6096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lo-note|s=$small"/>
          <p:cNvSpPr txBox="1"/>
          <p:nvPr/>
        </p:nvSpPr>
        <p:spPr>
          <a:xfrm>
            <a:off x="609600" y="3810000"/>
            <a:ext cx="28575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By the end of this topic, you will be able to: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  <a:p>
            <a:pPr algn="l">
              <a:lnSpc>
                <a:spcPct val="140000"/>
              </a:lnSpc>
              <a:spcBef>
                <a:spcPts val="450"/>
              </a:spcBef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完成本主题学习后，你应能够：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10" name="dsl:g1-head"/>
          <p:cNvSpPr txBox="1"/>
          <p:nvPr/>
        </p:nvSpPr>
        <p:spPr>
          <a:xfrm>
            <a:off x="4038600" y="1809750"/>
            <a:ext cx="75438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350" b="1" noProof="1">
                <a:solidFill>
                  <a:srgbClr val="0E4D64"/>
                </a:solidFill>
                <a:latin typeface="QuattrocentoSans"/>
                <a:ea typeface="MiSans"/>
              </a:rPr>
              <a:t>13.1 Gravitational field 引力场</a:t>
            </a:r>
            <a:endParaRPr sz="1350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pic>
        <p:nvPicPr>
          <p:cNvPr id="11" name="dsl:g1-i1|i=fas:square-check" descr="tmpwty8tuj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600" y="2114550"/>
            <a:ext cx="171450" cy="1714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2" name="dsl:g1-t1|s=$body"/>
          <p:cNvSpPr txBox="1"/>
          <p:nvPr/>
        </p:nvSpPr>
        <p:spPr>
          <a:xfrm>
            <a:off x="4305300" y="2095500"/>
            <a:ext cx="72771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Understand a gravitational field as a field of force; define it as force per unit mass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</p:txBody>
      </p:sp>
      <p:pic>
        <p:nvPicPr>
          <p:cNvPr id="13" name="dsl:g1-i2|i=fas:square-check" descr="tmpwty8tuj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600" y="2352675"/>
            <a:ext cx="171450" cy="1714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g1-t2|s=$body"/>
          <p:cNvSpPr txBox="1"/>
          <p:nvPr/>
        </p:nvSpPr>
        <p:spPr>
          <a:xfrm>
            <a:off x="4305300" y="2333625"/>
            <a:ext cx="72771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Represent a gravitational field by means of field lines 用场线表示引力场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</p:txBody>
      </p:sp>
      <p:sp>
        <p:nvSpPr>
          <p:cNvPr id="15" name="dsl:g2-head"/>
          <p:cNvSpPr txBox="1"/>
          <p:nvPr/>
        </p:nvSpPr>
        <p:spPr>
          <a:xfrm>
            <a:off x="4038600" y="2667000"/>
            <a:ext cx="75438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350" b="1" noProof="1">
                <a:solidFill>
                  <a:srgbClr val="0E4D64"/>
                </a:solidFill>
                <a:latin typeface="QuattrocentoSans"/>
                <a:ea typeface="MiSans"/>
              </a:rPr>
              <a:t>13.2 Gravitational force between point masses</a:t>
            </a:r>
            <a:endParaRPr sz="1350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pic>
        <p:nvPicPr>
          <p:cNvPr id="16" name="dsl:g2-i1|i=fas:square-check" descr="tmpwty8tuj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600" y="2971800"/>
            <a:ext cx="171450" cy="1714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g2-t1|s=$body"/>
          <p:cNvSpPr txBox="1"/>
          <p:nvPr/>
        </p:nvSpPr>
        <p:spPr>
          <a:xfrm>
            <a:off x="4305300" y="2952750"/>
            <a:ext cx="72771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Treat a uniform sphere as a point mass at its centre (from outside)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</p:txBody>
      </p:sp>
      <p:pic>
        <p:nvPicPr>
          <p:cNvPr id="18" name="dsl:g2-i2|i=fas:square-check" descr="tmpwty8tuj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600" y="3209925"/>
            <a:ext cx="171450" cy="171450"/>
          </a:xfrm>
          <a:prstGeom prst="rect">
            <a:avLst/>
          </a:prstGeom>
          <a:ln>
            <a:noFill/>
          </a:ln>
          <a:effectLst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dsl:g2-t2|s=$body"/>
              <p:cNvSpPr txBox="1"/>
              <p:nvPr/>
            </p:nvSpPr>
            <p:spPr>
              <a:xfrm>
                <a:off x="4305300" y="3190875"/>
                <a:ext cx="7277100" cy="228600"/>
              </a:xfrm>
              <a:prstGeom prst="rect">
                <a:avLst/>
              </a:prstGeom>
              <a:noFill/>
            </p:spPr>
            <p:txBody>
              <a:bodyPr wrap="none" anchor="t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Recall and use Newton's law of gravitation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sSub>
                          <m:sSubPr>
                            <m:ctrlP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135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135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135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</p:txBody>
          </p:sp>
        </mc:Choice>
        <mc:Fallback>
          <p:sp>
            <p:nvSpPr>
              <p:cNvPr id="19" name="dsl:g2-t2|s=$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5300" y="3190875"/>
                <a:ext cx="7277100" cy="228600"/>
              </a:xfrm>
              <a:prstGeom prst="rect">
                <a:avLst/>
              </a:prstGeom>
              <a:blipFill rotWithShape="1">
                <a:blip r:embed="rId2"/>
                <a:stretch>
                  <a:fillRect b="-130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dsl:g2-i3|i=fas:square-check" descr="tmpwty8tuj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600" y="3448050"/>
            <a:ext cx="171450" cy="1714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1" name="dsl:g2-t3|s=$body"/>
          <p:cNvSpPr txBox="1"/>
          <p:nvPr/>
        </p:nvSpPr>
        <p:spPr>
          <a:xfrm>
            <a:off x="4305300" y="3429000"/>
            <a:ext cx="72771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Analyse circular orbits by linking gravitational and centripetal force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</p:txBody>
      </p:sp>
      <p:pic>
        <p:nvPicPr>
          <p:cNvPr id="22" name="dsl:g2-i4|i=fas:square-check" descr="tmpwty8tuj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600" y="3686175"/>
            <a:ext cx="171450" cy="1714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3" name="dsl:g2-t4|s=$body"/>
          <p:cNvSpPr txBox="1"/>
          <p:nvPr/>
        </p:nvSpPr>
        <p:spPr>
          <a:xfrm>
            <a:off x="4305300" y="3667125"/>
            <a:ext cx="72771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Understand the geostationary orbit 地球同步轨道 (24 h, equatorial, west to east)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</p:txBody>
      </p:sp>
      <p:sp>
        <p:nvSpPr>
          <p:cNvPr id="24" name="dsl:g3-head"/>
          <p:cNvSpPr txBox="1"/>
          <p:nvPr/>
        </p:nvSpPr>
        <p:spPr>
          <a:xfrm>
            <a:off x="4038600" y="4000500"/>
            <a:ext cx="75438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350" b="1" noProof="1">
                <a:solidFill>
                  <a:srgbClr val="0E4D64"/>
                </a:solidFill>
                <a:latin typeface="QuattrocentoSans"/>
                <a:ea typeface="MiSans"/>
              </a:rPr>
              <a:t>13.3 Gravitational field of a point mass 点质量的场</a:t>
            </a:r>
            <a:endParaRPr sz="1350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pic>
        <p:nvPicPr>
          <p:cNvPr id="25" name="dsl:g3-i1|i=fas:square-check" descr="tmpwty8tuj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600" y="4305300"/>
            <a:ext cx="171450" cy="171450"/>
          </a:xfrm>
          <a:prstGeom prst="rect">
            <a:avLst/>
          </a:prstGeom>
          <a:ln>
            <a:noFill/>
          </a:ln>
          <a:effectLst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6" name="dsl:g3-t1|s=$body"/>
              <p:cNvSpPr txBox="1"/>
              <p:nvPr/>
            </p:nvSpPr>
            <p:spPr>
              <a:xfrm>
                <a:off x="4305300" y="4286250"/>
                <a:ext cx="7277100" cy="228600"/>
              </a:xfrm>
              <a:prstGeom prst="rect">
                <a:avLst/>
              </a:prstGeom>
              <a:noFill/>
            </p:spPr>
            <p:txBody>
              <a:bodyPr wrap="none" anchor="t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Derive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sSup>
                          <m:sSupPr>
                            <m:ctrlP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135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 from Newton's law and the definition of field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</p:txBody>
          </p:sp>
        </mc:Choice>
        <mc:Fallback>
          <p:sp>
            <p:nvSpPr>
              <p:cNvPr id="26" name="dsl:g3-t1|s=$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5300" y="4286250"/>
                <a:ext cx="7277100" cy="228600"/>
              </a:xfrm>
              <a:prstGeom prst="rect">
                <a:avLst/>
              </a:prstGeom>
              <a:blipFill rotWithShape="1">
                <a:blip r:embed="rId3"/>
                <a:stretch>
                  <a:fillRect b="-130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dsl:g3-i2|i=fas:square-check" descr="tmpwty8tuj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600" y="4543425"/>
            <a:ext cx="171450" cy="171450"/>
          </a:xfrm>
          <a:prstGeom prst="rect">
            <a:avLst/>
          </a:prstGeom>
          <a:ln>
            <a:noFill/>
          </a:ln>
          <a:effectLst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8" name="dsl:g3-t2|s=$body"/>
              <p:cNvSpPr txBox="1"/>
              <p:nvPr/>
            </p:nvSpPr>
            <p:spPr>
              <a:xfrm>
                <a:off x="4305300" y="4524375"/>
                <a:ext cx="7277100" cy="228600"/>
              </a:xfrm>
              <a:prstGeom prst="rect">
                <a:avLst/>
              </a:prstGeom>
              <a:noFill/>
            </p:spPr>
            <p:txBody>
              <a:bodyPr wrap="none" anchor="t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Recall and use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sSup>
                          <m:sSupPr>
                            <m:ctrlP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135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</p:txBody>
          </p:sp>
        </mc:Choice>
        <mc:Fallback>
          <p:sp>
            <p:nvSpPr>
              <p:cNvPr id="28" name="dsl:g3-t2|s=$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5300" y="4524375"/>
                <a:ext cx="7277100" cy="228600"/>
              </a:xfrm>
              <a:prstGeom prst="rect">
                <a:avLst/>
              </a:prstGeom>
              <a:blipFill rotWithShape="1">
                <a:blip r:embed="rId4"/>
                <a:stretch>
                  <a:fillRect b="-130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dsl:g3-i3|i=fas:square-check" descr="tmpwty8tuj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600" y="4781550"/>
            <a:ext cx="171450" cy="1714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0" name="dsl:g3-t3|s=$body"/>
          <p:cNvSpPr txBox="1"/>
          <p:nvPr/>
        </p:nvSpPr>
        <p:spPr>
          <a:xfrm>
            <a:off x="4305300" y="4762500"/>
            <a:ext cx="72771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Explain why g is approximately constant near the Earth's surface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</p:txBody>
      </p:sp>
      <p:sp>
        <p:nvSpPr>
          <p:cNvPr id="31" name="dsl:g4-head"/>
          <p:cNvSpPr txBox="1"/>
          <p:nvPr/>
        </p:nvSpPr>
        <p:spPr>
          <a:xfrm>
            <a:off x="4038600" y="5095875"/>
            <a:ext cx="75438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350" b="1" noProof="1">
                <a:solidFill>
                  <a:srgbClr val="0E4D64"/>
                </a:solidFill>
                <a:latin typeface="QuattrocentoSans"/>
                <a:ea typeface="MiSans"/>
              </a:rPr>
              <a:t>13.4 Gravitational potential 引力势</a:t>
            </a:r>
            <a:endParaRPr sz="1350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pic>
        <p:nvPicPr>
          <p:cNvPr id="32" name="dsl:g4-i1|i=fas:square-check" descr="tmpwty8tuj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600" y="5400675"/>
            <a:ext cx="171450" cy="1714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3" name="dsl:g4-t1|s=$body"/>
          <p:cNvSpPr txBox="1"/>
          <p:nvPr/>
        </p:nvSpPr>
        <p:spPr>
          <a:xfrm>
            <a:off x="4305300" y="5381625"/>
            <a:ext cx="72771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Define potential as work done per unit mass from infinity to the point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</p:txBody>
      </p:sp>
      <p:pic>
        <p:nvPicPr>
          <p:cNvPr id="34" name="dsl:g4-i2|i=fas:square-check" descr="tmpwty8tuj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600" y="5638800"/>
            <a:ext cx="171450" cy="171450"/>
          </a:xfrm>
          <a:prstGeom prst="rect">
            <a:avLst/>
          </a:prstGeom>
          <a:ln>
            <a:noFill/>
          </a:ln>
          <a:effectLst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5" name="dsl:g4-t2|s=$body"/>
              <p:cNvSpPr txBox="1"/>
              <p:nvPr/>
            </p:nvSpPr>
            <p:spPr>
              <a:xfrm>
                <a:off x="4305300" y="5619750"/>
                <a:ext cx="7277100" cy="228600"/>
              </a:xfrm>
              <a:prstGeom prst="rect">
                <a:avLst/>
              </a:prstGeom>
              <a:noFill/>
            </p:spPr>
            <p:txBody>
              <a:bodyPr wrap="none" anchor="t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Use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 for the field of a point mass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</p:txBody>
          </p:sp>
        </mc:Choice>
        <mc:Fallback>
          <p:sp>
            <p:nvSpPr>
              <p:cNvPr id="35" name="dsl:g4-t2|s=$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5300" y="5619750"/>
                <a:ext cx="7277100" cy="228600"/>
              </a:xfrm>
              <a:prstGeom prst="rect">
                <a:avLst/>
              </a:prstGeom>
              <a:blipFill rotWithShape="1">
                <a:blip r:embed="rId5"/>
                <a:stretch>
                  <a:fillRect b="-130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dsl:g4-i3|i=fas:square-check" descr="tmpwty8tuj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600" y="5876925"/>
            <a:ext cx="171450" cy="171450"/>
          </a:xfrm>
          <a:prstGeom prst="rect">
            <a:avLst/>
          </a:prstGeom>
          <a:ln>
            <a:noFill/>
          </a:ln>
          <a:effectLst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7" name="dsl:g4-t3|s=$body"/>
              <p:cNvSpPr txBox="1"/>
              <p:nvPr/>
            </p:nvSpPr>
            <p:spPr>
              <a:xfrm>
                <a:off x="4305300" y="5857875"/>
                <a:ext cx="7277100" cy="228600"/>
              </a:xfrm>
              <a:prstGeom prst="rect">
                <a:avLst/>
              </a:prstGeom>
              <a:noFill/>
            </p:spPr>
            <p:txBody>
              <a:bodyPr wrap="none" anchor="t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Understand potential energy of two point masses and 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</p:txBody>
          </p:sp>
        </mc:Choice>
        <mc:Fallback>
          <p:sp>
            <p:nvSpPr>
              <p:cNvPr id="37" name="dsl:g4-t3|s=$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5300" y="5857875"/>
                <a:ext cx="7277100" cy="228600"/>
              </a:xfrm>
              <a:prstGeom prst="rect">
                <a:avLst/>
              </a:prstGeom>
              <a:blipFill rotWithShape="1">
                <a:blip r:embed="rId6"/>
                <a:stretch>
                  <a:fillRect b="-130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dsl:footer-left|s=$small"/>
          <p:cNvSpPr txBox="1"/>
          <p:nvPr/>
        </p:nvSpPr>
        <p:spPr>
          <a:xfrm>
            <a:off x="609600" y="6515100"/>
            <a:ext cx="5715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13 Gravitational Fields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40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02 / 15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57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TOPIC 13 · CIE 9702 A2 PHYSICS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75" b="1" noProof="1">
                <a:solidFill>
                  <a:srgbClr val="0E4D64"/>
                </a:solidFill>
                <a:latin typeface="QuattrocentoSans"/>
                <a:ea typeface="MiSans"/>
              </a:rPr>
              <a:t>The Gravitational Field</a:t>
            </a:r>
            <a:endParaRPr sz="2175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引力场的概念 — 力场、场强定义与场线表示</a:t>
            </a:r>
            <a:endParaRPr sz="120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def-card"/>
          <p:cNvSpPr/>
          <p:nvPr/>
        </p:nvSpPr>
        <p:spPr>
          <a:xfrm>
            <a:off x="609600" y="1809750"/>
            <a:ext cx="5334000" cy="14097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def-bar"/>
          <p:cNvSpPr/>
          <p:nvPr/>
        </p:nvSpPr>
        <p:spPr>
          <a:xfrm>
            <a:off x="609600" y="1809750"/>
            <a:ext cx="38100" cy="14097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def-text|s=$body"/>
          <p:cNvSpPr txBox="1"/>
          <p:nvPr/>
        </p:nvSpPr>
        <p:spPr>
          <a:xfrm>
            <a:off x="838200" y="1924050"/>
            <a:ext cx="4876800" cy="1181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A gravitational field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is a region of space where a mass experiences a force. Every mass attracts every other mass.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125" noProof="1">
                <a:solidFill>
                  <a:srgbClr val="5C7A84"/>
                </a:solidFill>
                <a:latin typeface="QuattrocentoSans"/>
                <a:ea typeface="MiSans"/>
              </a:rPr>
              <a:t>引力场：质量在其中会受到力的空间区域；一切质量互相吸引。</a:t>
            </a:r>
            <a:endParaRPr sz="1125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9" name="dsl:formula-strip"/>
          <p:cNvSpPr/>
          <p:nvPr/>
        </p:nvSpPr>
        <p:spPr>
          <a:xfrm>
            <a:off x="609600" y="3390900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dsl:formula-main|s=$formula"/>
              <p:cNvSpPr txBox="1"/>
              <p:nvPr/>
            </p:nvSpPr>
            <p:spPr>
              <a:xfrm>
                <a:off x="838200" y="3390900"/>
                <a:ext cx="2095500" cy="60960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0" name="dsl:formula-main|s=$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390900"/>
                <a:ext cx="2095500" cy="6096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dsl:formula-note|s=$small"/>
          <p:cNvSpPr txBox="1"/>
          <p:nvPr/>
        </p:nvSpPr>
        <p:spPr>
          <a:xfrm>
            <a:off x="3048000" y="3390900"/>
            <a:ext cx="27432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field strength = force per unit mass</a:t>
            </a: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
</a:t>
            </a: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unit: N kg⁻¹ (= m s⁻²) 单位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12" name="dsl:points|s=$body"/>
          <p:cNvSpPr txBox="1"/>
          <p:nvPr/>
        </p:nvSpPr>
        <p:spPr>
          <a:xfrm>
            <a:off x="609600" y="4210050"/>
            <a:ext cx="5334000" cy="1981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257175" lvl="0" indent="-205740" algn="l">
              <a:lnSpc>
                <a:spcPct val="150000"/>
              </a:lnSpc>
              <a:buChar char="•"/>
            </a:pP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Field lines 场线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: the arrow shows the direction of the force on a point mass 箭头即受力方向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marL="257175" lvl="0" indent="-205740" algn="l">
              <a:lnSpc>
                <a:spcPct val="150000"/>
              </a:lnSpc>
              <a:buChar char="•"/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Lines are smooth curves that never touch or cross 场线永不相交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marL="257175" lvl="0" indent="-205740" algn="l">
              <a:lnSpc>
                <a:spcPct val="150000"/>
              </a:lnSpc>
              <a:buChar char="•"/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The closer the lines, the stronger the field 场线越密，场越强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marL="257175" lvl="0" indent="-205740" algn="l">
              <a:lnSpc>
                <a:spcPct val="150000"/>
              </a:lnSpc>
              <a:buChar char="•"/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Field strength g is a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vector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矢量, equal to the acceleration of free fall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</p:txBody>
      </p:sp>
      <p:sp>
        <p:nvSpPr>
          <p:cNvPr id="13" name="dsl:diagram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dsl:fl-r"/>
          <p:cNvCxnSpPr/>
          <p:nvPr/>
        </p:nvCxnSpPr>
        <p:spPr>
          <a:xfrm>
            <a:off x="9429750" y="3619500"/>
            <a:ext cx="1333500" cy="0"/>
          </a:xfrm>
          <a:prstGeom prst="straightConnector1">
            <a:avLst/>
          </a:prstGeom>
          <a:ln w="25400">
            <a:solidFill>
              <a:srgbClr val="0E4D64"/>
            </a:solidFill>
            <a:prstDash val="solid"/>
            <a:head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dsl:fl-l"/>
          <p:cNvCxnSpPr/>
          <p:nvPr/>
        </p:nvCxnSpPr>
        <p:spPr>
          <a:xfrm>
            <a:off x="7143750" y="3619500"/>
            <a:ext cx="1333500" cy="0"/>
          </a:xfrm>
          <a:prstGeom prst="straightConnector1">
            <a:avLst/>
          </a:prstGeom>
          <a:ln w="25400">
            <a:solidFill>
              <a:srgbClr val="0E4D6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dsl:fl-t"/>
          <p:cNvCxnSpPr/>
          <p:nvPr/>
        </p:nvCxnSpPr>
        <p:spPr>
          <a:xfrm>
            <a:off x="8953500" y="2286000"/>
            <a:ext cx="0" cy="1047750"/>
          </a:xfrm>
          <a:prstGeom prst="straightConnector1">
            <a:avLst/>
          </a:prstGeom>
          <a:ln w="25400">
            <a:solidFill>
              <a:srgbClr val="0E4D6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dsl:fl-b"/>
          <p:cNvCxnSpPr/>
          <p:nvPr/>
        </p:nvCxnSpPr>
        <p:spPr>
          <a:xfrm>
            <a:off x="8953500" y="4000500"/>
            <a:ext cx="0" cy="1047750"/>
          </a:xfrm>
          <a:prstGeom prst="straightConnector1">
            <a:avLst/>
          </a:prstGeom>
          <a:ln w="25400">
            <a:solidFill>
              <a:srgbClr val="0E4D64"/>
            </a:solidFill>
            <a:prstDash val="solid"/>
            <a:head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sl:fl-tl"/>
          <p:cNvCxnSpPr/>
          <p:nvPr/>
        </p:nvCxnSpPr>
        <p:spPr>
          <a:xfrm>
            <a:off x="7620000" y="2571750"/>
            <a:ext cx="904875" cy="714375"/>
          </a:xfrm>
          <a:prstGeom prst="straightConnector1">
            <a:avLst/>
          </a:prstGeom>
          <a:ln w="25400">
            <a:solidFill>
              <a:srgbClr val="0E4D6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dsl:fl-tr"/>
          <p:cNvCxnSpPr/>
          <p:nvPr/>
        </p:nvCxnSpPr>
        <p:spPr>
          <a:xfrm flipH="1">
            <a:off x="9382125" y="2571750"/>
            <a:ext cx="904875" cy="714375"/>
          </a:xfrm>
          <a:prstGeom prst="straightConnector1">
            <a:avLst/>
          </a:prstGeom>
          <a:ln w="25400">
            <a:solidFill>
              <a:srgbClr val="0E4D6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sl:fl-bl"/>
          <p:cNvCxnSpPr/>
          <p:nvPr/>
        </p:nvCxnSpPr>
        <p:spPr>
          <a:xfrm flipV="1">
            <a:off x="7620000" y="3952875"/>
            <a:ext cx="904875" cy="714375"/>
          </a:xfrm>
          <a:prstGeom prst="straightConnector1">
            <a:avLst/>
          </a:prstGeom>
          <a:ln w="25400">
            <a:solidFill>
              <a:srgbClr val="0E4D6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sl:fl-br"/>
          <p:cNvCxnSpPr/>
          <p:nvPr/>
        </p:nvCxnSpPr>
        <p:spPr>
          <a:xfrm flipH="1" flipV="1">
            <a:off x="9382125" y="3952875"/>
            <a:ext cx="904875" cy="714375"/>
          </a:xfrm>
          <a:prstGeom prst="straightConnector1">
            <a:avLst/>
          </a:prstGeom>
          <a:ln w="25400">
            <a:solidFill>
              <a:srgbClr val="0E4D6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sl:mass"/>
          <p:cNvSpPr/>
          <p:nvPr/>
        </p:nvSpPr>
        <p:spPr>
          <a:xfrm>
            <a:off x="8724900" y="3390900"/>
            <a:ext cx="457200" cy="4572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mass-label"/>
          <p:cNvSpPr txBox="1"/>
          <p:nvPr/>
        </p:nvSpPr>
        <p:spPr>
          <a:xfrm>
            <a:off x="8724900" y="3390900"/>
            <a:ext cx="457200" cy="4572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500" b="1" noProof="1">
                <a:solidFill>
                  <a:srgbClr val="FFFFFF"/>
                </a:solidFill>
                <a:latin typeface="QuattrocentoSans"/>
                <a:ea typeface="MiSans"/>
              </a:rPr>
              <a:t>M</a:t>
            </a:r>
            <a:endParaRPr sz="1500" b="1" noProof="1">
              <a:solidFill>
                <a:srgbClr val="FFFFFF"/>
              </a:solidFill>
              <a:latin typeface="QuattrocentoSans"/>
              <a:ea typeface="MiSans"/>
            </a:endParaRPr>
          </a:p>
        </p:txBody>
      </p:sp>
      <p:sp>
        <p:nvSpPr>
          <p:cNvPr id="24" name="dsl:radial-label"/>
          <p:cNvSpPr txBox="1"/>
          <p:nvPr/>
        </p:nvSpPr>
        <p:spPr>
          <a:xfrm>
            <a:off x="9525000" y="2343150"/>
            <a:ext cx="180975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radial field 放射状场</a:t>
            </a:r>
            <a:endParaRPr sz="1125" noProof="1">
              <a:solidFill>
                <a:srgbClr val="1C2B33"/>
              </a:solidFill>
              <a:latin typeface="MiSans"/>
              <a:ea typeface="MiSans"/>
            </a:endParaRPr>
          </a:p>
        </p:txBody>
      </p:sp>
      <p:sp>
        <p:nvSpPr>
          <p:cNvPr id="25" name="dsl:diagram-caption|s=$small"/>
          <p:cNvSpPr txBox="1"/>
          <p:nvPr/>
        </p:nvSpPr>
        <p:spPr>
          <a:xfrm>
            <a:off x="6286500" y="5524500"/>
            <a:ext cx="52959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Field of a point mass: lines converge on the centre 场线汇聚于质心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cxnSp>
        <p:nvCxnSpPr>
          <p:cNvPr id="2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dsl:footer-left|s=$small"/>
          <p:cNvSpPr txBox="1"/>
          <p:nvPr/>
        </p:nvSpPr>
        <p:spPr>
          <a:xfrm>
            <a:off x="609600" y="6515100"/>
            <a:ext cx="5715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13 Gravitational Fields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2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03 / 15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57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TOPIC 13 · CIE 9702 A2 PHYSICS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75" b="1" noProof="1">
                <a:solidFill>
                  <a:srgbClr val="0E4D64"/>
                </a:solidFill>
                <a:latin typeface="QuattrocentoSans"/>
                <a:ea typeface="MiSans"/>
              </a:rPr>
              <a:t>Newton's Law of Gravitation</a:t>
            </a:r>
            <a:endParaRPr sz="2175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万有引力定律 — 平方反比的吸引力</a:t>
            </a:r>
            <a:endParaRPr sz="120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def-card"/>
          <p:cNvSpPr/>
          <p:nvPr/>
        </p:nvSpPr>
        <p:spPr>
          <a:xfrm>
            <a:off x="609600" y="1809750"/>
            <a:ext cx="5334000" cy="14097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def-bar"/>
          <p:cNvSpPr/>
          <p:nvPr/>
        </p:nvSpPr>
        <p:spPr>
          <a:xfrm>
            <a:off x="609600" y="1809750"/>
            <a:ext cx="38100" cy="14097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def-text|s=$body"/>
          <p:cNvSpPr txBox="1"/>
          <p:nvPr/>
        </p:nvSpPr>
        <p:spPr>
          <a:xfrm>
            <a:off x="838200" y="1924050"/>
            <a:ext cx="4876800" cy="1181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Two point masses attract each other with a force proportional to the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product of their masses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and inversely proportional to the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square of their separation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.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125" noProof="1">
                <a:solidFill>
                  <a:srgbClr val="5C7A84"/>
                </a:solidFill>
                <a:latin typeface="QuattrocentoSans"/>
                <a:ea typeface="MiSans"/>
              </a:rPr>
              <a:t>两质点间的引力与质量乘积成正比，与间距平方成反比。</a:t>
            </a:r>
            <a:endParaRPr sz="1125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9" name="dsl:formula-strip"/>
          <p:cNvSpPr/>
          <p:nvPr/>
        </p:nvSpPr>
        <p:spPr>
          <a:xfrm>
            <a:off x="609600" y="3390900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dsl:formula-main|s=$formula"/>
              <p:cNvSpPr txBox="1"/>
              <p:nvPr/>
            </p:nvSpPr>
            <p:spPr>
              <a:xfrm>
                <a:off x="838200" y="3390900"/>
                <a:ext cx="2286000" cy="60960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sSub>
                            <m:sSubPr>
                              <m:ctrlPr>
                                <a:rPr lang="en-US" sz="1650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50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650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50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50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650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1650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50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1650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0" name="dsl:formula-main|s=$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390900"/>
                <a:ext cx="2286000" cy="6096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dsl:formula-note|s=$small"/>
          <p:cNvSpPr txBox="1"/>
          <p:nvPr/>
        </p:nvSpPr>
        <p:spPr>
          <a:xfrm>
            <a:off x="3276600" y="3390900"/>
            <a:ext cx="25146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G = 6.67 × 10⁻¹¹ N m² kg⁻²</a:t>
            </a: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
</a:t>
            </a: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r = separation of centres 质心间距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12" name="dsl:points|s=$body"/>
          <p:cNvSpPr txBox="1"/>
          <p:nvPr/>
        </p:nvSpPr>
        <p:spPr>
          <a:xfrm>
            <a:off x="609600" y="4210050"/>
            <a:ext cx="5334000" cy="1981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257175" lvl="0" indent="-205740" algn="l">
              <a:lnSpc>
                <a:spcPct val="150000"/>
              </a:lnSpc>
              <a:buChar char="•"/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Valid for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point masses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, or spheres whose size ≪ separation 尺寸远小于间距时可视为质点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marL="257175" lvl="0" indent="-205740" algn="l">
              <a:lnSpc>
                <a:spcPct val="150000"/>
              </a:lnSpc>
              <a:buChar char="•"/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A uniform sphere acts as a point mass at its centre 均匀球体等效于质心处质点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marL="257175" lvl="0" indent="-205740" algn="l">
              <a:lnSpc>
                <a:spcPct val="150000"/>
              </a:lnSpc>
              <a:buChar char="•"/>
            </a:pP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Inverse-square 平方反比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: doubling r quarters the force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marL="257175" lvl="0" indent="-205740" algn="l">
              <a:lnSpc>
                <a:spcPct val="150000"/>
              </a:lnSpc>
              <a:buChar char="•"/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Always attractive; equal and opposite on both masses 始终为吸引力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</p:txBody>
      </p:sp>
      <p:sp>
        <p:nvSpPr>
          <p:cNvPr id="13" name="dsl:diagram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mass1"/>
          <p:cNvSpPr/>
          <p:nvPr/>
        </p:nvSpPr>
        <p:spPr>
          <a:xfrm>
            <a:off x="6819900" y="3200400"/>
            <a:ext cx="838200" cy="8382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mass1-label"/>
          <p:cNvSpPr txBox="1"/>
          <p:nvPr/>
        </p:nvSpPr>
        <p:spPr>
          <a:xfrm>
            <a:off x="6819900" y="3200400"/>
            <a:ext cx="838200" cy="8382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650" i="1" noProof="1">
                <a:solidFill>
                  <a:srgbClr val="FFFFFF"/>
                </a:solidFill>
                <a:latin typeface="QuattrocentoSans"/>
                <a:ea typeface="MiSans"/>
              </a:rPr>
              <a:t>m</a:t>
            </a:r>
            <a:r>
              <a:rPr sz="1650" noProof="1">
                <a:solidFill>
                  <a:srgbClr val="FFFFFF"/>
                </a:solidFill>
                <a:latin typeface="QuattrocentoSans"/>
                <a:ea typeface="MiSans"/>
              </a:rPr>
              <a:t>₁</a:t>
            </a:r>
            <a:endParaRPr sz="1650" noProof="1">
              <a:solidFill>
                <a:srgbClr val="FFFFFF"/>
              </a:solidFill>
              <a:latin typeface="QuattrocentoSans"/>
              <a:ea typeface="MiSans"/>
            </a:endParaRPr>
          </a:p>
        </p:txBody>
      </p:sp>
      <p:sp>
        <p:nvSpPr>
          <p:cNvPr id="16" name="dsl:mass2"/>
          <p:cNvSpPr/>
          <p:nvPr/>
        </p:nvSpPr>
        <p:spPr>
          <a:xfrm>
            <a:off x="10248900" y="3333750"/>
            <a:ext cx="571500" cy="571500"/>
          </a:xfrm>
          <a:prstGeom prst="ellipse">
            <a:avLst/>
          </a:prstGeom>
          <a:solidFill>
            <a:srgbClr val="5C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mass2-label"/>
          <p:cNvSpPr txBox="1"/>
          <p:nvPr/>
        </p:nvSpPr>
        <p:spPr>
          <a:xfrm>
            <a:off x="10248900" y="3333750"/>
            <a:ext cx="5715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500" i="1" noProof="1">
                <a:solidFill>
                  <a:srgbClr val="FFFFFF"/>
                </a:solidFill>
                <a:latin typeface="QuattrocentoSans"/>
                <a:ea typeface="MiSans"/>
              </a:rPr>
              <a:t>m</a:t>
            </a:r>
            <a:r>
              <a:rPr sz="1500" noProof="1">
                <a:solidFill>
                  <a:srgbClr val="FFFFFF"/>
                </a:solidFill>
                <a:latin typeface="QuattrocentoSans"/>
                <a:ea typeface="MiSans"/>
              </a:rPr>
              <a:t>₂</a:t>
            </a:r>
            <a:endParaRPr sz="1500" noProof="1">
              <a:solidFill>
                <a:srgbClr val="FFFFFF"/>
              </a:solidFill>
              <a:latin typeface="QuattrocentoSans"/>
              <a:ea typeface="MiSans"/>
            </a:endParaRPr>
          </a:p>
        </p:txBody>
      </p:sp>
      <p:cxnSp>
        <p:nvCxnSpPr>
          <p:cNvPr id="18" name="dsl:sep-line"/>
          <p:cNvCxnSpPr/>
          <p:nvPr/>
        </p:nvCxnSpPr>
        <p:spPr>
          <a:xfrm>
            <a:off x="7658100" y="3619500"/>
            <a:ext cx="2590800" cy="0"/>
          </a:xfrm>
          <a:prstGeom prst="straightConnector1">
            <a:avLst/>
          </a:prstGeom>
          <a:ln w="25400">
            <a:solidFill>
              <a:srgbClr val="1C2B3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sl:sep-label"/>
          <p:cNvSpPr txBox="1"/>
          <p:nvPr/>
        </p:nvSpPr>
        <p:spPr>
          <a:xfrm>
            <a:off x="8724900" y="3276600"/>
            <a:ext cx="4572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350" i="1" noProof="1">
                <a:solidFill>
                  <a:srgbClr val="1C2B33"/>
                </a:solidFill>
                <a:latin typeface="QuattrocentoSans"/>
                <a:ea typeface="MiSans"/>
              </a:rPr>
              <a:t>r</a:t>
            </a:r>
            <a:endParaRPr sz="1350" i="1" noProof="1">
              <a:solidFill>
                <a:srgbClr val="1C2B33"/>
              </a:solidFill>
              <a:latin typeface="QuattrocentoSans"/>
              <a:ea typeface="MiSans"/>
            </a:endParaRPr>
          </a:p>
        </p:txBody>
      </p:sp>
      <p:cxnSp>
        <p:nvCxnSpPr>
          <p:cNvPr id="20" name="dsl:force1"/>
          <p:cNvCxnSpPr/>
          <p:nvPr/>
        </p:nvCxnSpPr>
        <p:spPr>
          <a:xfrm>
            <a:off x="7734300" y="3829050"/>
            <a:ext cx="857250" cy="0"/>
          </a:xfrm>
          <a:prstGeom prst="straightConnector1">
            <a:avLst/>
          </a:prstGeom>
          <a:ln w="3810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sl:force2"/>
          <p:cNvCxnSpPr/>
          <p:nvPr/>
        </p:nvCxnSpPr>
        <p:spPr>
          <a:xfrm>
            <a:off x="9315450" y="3829050"/>
            <a:ext cx="857250" cy="0"/>
          </a:xfrm>
          <a:prstGeom prst="straightConnector1">
            <a:avLst/>
          </a:prstGeom>
          <a:ln w="38100">
            <a:solidFill>
              <a:srgbClr val="D97D29"/>
            </a:solidFill>
            <a:prstDash val="solid"/>
            <a:head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sl:f1-label"/>
          <p:cNvSpPr txBox="1"/>
          <p:nvPr/>
        </p:nvSpPr>
        <p:spPr>
          <a:xfrm>
            <a:off x="7829550" y="3924300"/>
            <a:ext cx="5715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350" i="1" noProof="1">
                <a:solidFill>
                  <a:srgbClr val="D97D29"/>
                </a:solidFill>
                <a:latin typeface="QuattrocentoSans"/>
                <a:ea typeface="MiSans"/>
              </a:rPr>
              <a:t>F</a:t>
            </a:r>
            <a:endParaRPr sz="1350" i="1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23" name="dsl:f2-label"/>
          <p:cNvSpPr txBox="1"/>
          <p:nvPr/>
        </p:nvSpPr>
        <p:spPr>
          <a:xfrm>
            <a:off x="9677400" y="3924300"/>
            <a:ext cx="5715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350" i="1" noProof="1">
                <a:solidFill>
                  <a:srgbClr val="D97D29"/>
                </a:solidFill>
                <a:latin typeface="QuattrocentoSans"/>
                <a:ea typeface="MiSans"/>
              </a:rPr>
              <a:t>F</a:t>
            </a:r>
            <a:endParaRPr sz="1350" i="1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24" name="dsl:diagram-caption|s=$small"/>
          <p:cNvSpPr txBox="1"/>
          <p:nvPr/>
        </p:nvSpPr>
        <p:spPr>
          <a:xfrm>
            <a:off x="6286500" y="5524500"/>
            <a:ext cx="52959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Equal and opposite attractive forces 等大反向的吸引力, r = centre-to-centre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cxnSp>
        <p:nvCxnSpPr>
          <p:cNvPr id="25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sl:footer-left|s=$small"/>
          <p:cNvSpPr txBox="1"/>
          <p:nvPr/>
        </p:nvSpPr>
        <p:spPr>
          <a:xfrm>
            <a:off x="609600" y="6515100"/>
            <a:ext cx="5715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13 Gravitational Fields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27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04 / 15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57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TOPIC 13 · CIE 9702 A2 PHYSICS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75" b="1" noProof="1">
                <a:solidFill>
                  <a:srgbClr val="0E4D64"/>
                </a:solidFill>
                <a:latin typeface="QuattrocentoSans"/>
                <a:ea typeface="MiSans"/>
              </a:rPr>
              <a:t>Field of a Point Mass: g = GM/r²</a:t>
            </a:r>
            <a:endParaRPr sz="2175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点质量的引力场强 — 由定义与万有引力定律推导</a:t>
            </a:r>
            <a:endParaRPr sz="120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deriv-card"/>
          <p:cNvSpPr/>
          <p:nvPr/>
        </p:nvSpPr>
        <p:spPr>
          <a:xfrm>
            <a:off x="609600" y="1809750"/>
            <a:ext cx="5334000" cy="16002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deriv-bar"/>
          <p:cNvSpPr/>
          <p:nvPr/>
        </p:nvSpPr>
        <p:spPr>
          <a:xfrm>
            <a:off x="609600" y="1809750"/>
            <a:ext cx="38100" cy="1600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dsl:deriv-text|s=$body"/>
              <p:cNvSpPr txBox="1"/>
              <p:nvPr/>
            </p:nvSpPr>
            <p:spPr>
              <a:xfrm>
                <a:off x="838200" y="1924050"/>
                <a:ext cx="4876800" cy="1390650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50" b="1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Derivation 推导</a:t>
                </a: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 — force on a test mass m near mass M: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135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>
                          <a:solidFill>
                            <a:srgbClr val="1C2B33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1350" i="1">
                          <a:solidFill>
                            <a:srgbClr val="1C2B3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350">
                          <a:solidFill>
                            <a:srgbClr val="1C2B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350" i="1">
                              <a:solidFill>
                                <a:srgbClr val="1C2B3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350" i="1">
                              <a:solidFill>
                                <a:srgbClr val="1C2B33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US" sz="1350" i="1">
                              <a:solidFill>
                                <a:srgbClr val="1C2B33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sz="1350">
                          <a:solidFill>
                            <a:srgbClr val="1C2B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350" i="1">
                              <a:solidFill>
                                <a:srgbClr val="1C2B3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350" i="1">
                              <a:solidFill>
                                <a:srgbClr val="1C2B33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1350" i="1">
                              <a:solidFill>
                                <a:srgbClr val="1C2B33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1350" i="1">
                              <a:solidFill>
                                <a:srgbClr val="1C2B33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350">
                              <a:solidFill>
                                <a:srgbClr val="1C2B33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sSup>
                            <m:sSupPr>
                              <m:ctrlPr>
                                <a:rPr lang="en-US" sz="1350" i="1">
                                  <a:solidFill>
                                    <a:srgbClr val="1C2B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350" i="1">
                                  <a:solidFill>
                                    <a:srgbClr val="1C2B33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1350">
                                  <a:solidFill>
                                    <a:srgbClr val="1C2B3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350" i="1">
                              <a:solidFill>
                                <a:srgbClr val="1C2B33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sz="1350">
                          <a:solidFill>
                            <a:srgbClr val="1C2B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350" i="1">
                              <a:solidFill>
                                <a:srgbClr val="1C2B3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350" i="1">
                              <a:solidFill>
                                <a:srgbClr val="1C2B33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1350" i="1">
                              <a:solidFill>
                                <a:srgbClr val="1C2B33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sSup>
                            <m:sSupPr>
                              <m:ctrlPr>
                                <a:rPr lang="en-US" sz="1350" i="1">
                                  <a:solidFill>
                                    <a:srgbClr val="1C2B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350" i="1">
                                  <a:solidFill>
                                    <a:srgbClr val="1C2B33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1350">
                                  <a:solidFill>
                                    <a:srgbClr val="1C2B3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8" name="dsl:deriv-text|s=$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24050"/>
                <a:ext cx="4876800" cy="1390650"/>
              </a:xfrm>
              <a:prstGeom prst="rect">
                <a:avLst/>
              </a:prstGeom>
              <a:blipFill rotWithShape="1">
                <a:blip r:embed="rId2"/>
                <a:stretch>
                  <a:fillRect b="-316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sl:formula-strip"/>
          <p:cNvSpPr/>
          <p:nvPr/>
        </p:nvSpPr>
        <p:spPr>
          <a:xfrm>
            <a:off x="609600" y="3581400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dsl:formula-main|s=$formula"/>
              <p:cNvSpPr txBox="1"/>
              <p:nvPr/>
            </p:nvSpPr>
            <p:spPr>
              <a:xfrm>
                <a:off x="838200" y="3581400"/>
                <a:ext cx="2286000" cy="60960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sSup>
                            <m:sSupPr>
                              <m:ctrlPr>
                                <a:rPr lang="en-US" sz="1650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50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1650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0" name="dsl:formula-main|s=$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581400"/>
                <a:ext cx="2286000" cy="6096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dsl:formula-note|s=$small"/>
          <p:cNvSpPr txBox="1"/>
          <p:nvPr/>
        </p:nvSpPr>
        <p:spPr>
          <a:xfrm>
            <a:off x="3276600" y="3581400"/>
            <a:ext cx="25146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M = mass of the central body</a:t>
            </a: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
</a:t>
            </a: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r = distance from its centre 距质心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dsl:points|s=$body"/>
              <p:cNvSpPr txBox="1"/>
              <p:nvPr/>
            </p:nvSpPr>
            <p:spPr>
              <a:xfrm>
                <a:off x="609600" y="4400550"/>
                <a:ext cx="5334000" cy="1790700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marL="257175" lvl="0" indent="-205740" algn="l">
                  <a:lnSpc>
                    <a:spcPct val="150000"/>
                  </a:lnSpc>
                  <a:buChar char="•"/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At the Earth's surface: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67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5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35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35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5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35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sup>
                        </m:sSup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5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35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p>
                          <m:sSupPr>
                            <m:ctrlP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5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135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81</m:t>
                    </m:r>
                    <m:sSup>
                      <m:sSup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𝑘𝑔</m:t>
                        </m:r>
                      </m:e>
                      <m:sup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</a:p>
              <a:p>
                <a:pPr marL="257175" lvl="0" indent="-205740" algn="l">
                  <a:lnSpc>
                    <a:spcPct val="150000"/>
                  </a:lnSpc>
                  <a:buChar char="•"/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g follows an </a:t>
                </a:r>
                <a:r>
                  <a:rPr sz="1350" b="1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inverse-square law</a:t>
                </a: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: at r = 2R it falls to g/4 平方反比衰减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  <a:p>
                <a:pPr marL="257175" lvl="0" indent="-205740" algn="l">
                  <a:lnSpc>
                    <a:spcPct val="150000"/>
                  </a:lnSpc>
                  <a:buChar char="•"/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Near the surface, height changes are tiny vs 6.38 × 10⁶ m, so g is </a:t>
                </a:r>
                <a:r>
                  <a:rPr sz="1350" b="1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approximately constant</a:t>
                </a: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 地表附近 g 近似不变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</p:txBody>
          </p:sp>
        </mc:Choice>
        <mc:Fallback>
          <p:sp>
            <p:nvSpPr>
              <p:cNvPr id="12" name="dsl:points|s=$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400550"/>
                <a:ext cx="5334000" cy="1790700"/>
              </a:xfrm>
              <a:prstGeom prst="rect">
                <a:avLst/>
              </a:prstGeom>
              <a:blipFill rotWithShape="1">
                <a:blip r:embed="rId4"/>
                <a:stretch>
                  <a:fillRect b="-34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dsl:chart-canvas"/>
          <p:cNvSpPr/>
          <p:nvPr/>
        </p:nvSpPr>
        <p:spPr>
          <a:xfrm>
            <a:off x="6286500" y="1809750"/>
            <a:ext cx="5295900" cy="37719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dsl:gchart"/>
          <p:cNvGraphicFramePr>
            <a:graphicFrameLocks noGrp="1"/>
          </p:cNvGraphicFramePr>
          <p:nvPr/>
        </p:nvGraphicFramePr>
        <p:xfrm>
          <a:off x="6438900" y="1943100"/>
          <a:ext cx="4991100" cy="350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5" name="dsl:chart-caption|s=$small"/>
          <p:cNvSpPr txBox="1"/>
          <p:nvPr/>
        </p:nvSpPr>
        <p:spPr>
          <a:xfrm>
            <a:off x="6286500" y="5695950"/>
            <a:ext cx="52959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g ∝ 1/r² — field strength falls off rapidly with distance 随距离平方衰减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cxnSp>
        <p:nvCxnSpPr>
          <p:cNvPr id="1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sl:footer-left|s=$small"/>
          <p:cNvSpPr txBox="1"/>
          <p:nvPr/>
        </p:nvSpPr>
        <p:spPr>
          <a:xfrm>
            <a:off x="609600" y="6515100"/>
            <a:ext cx="5715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13 Gravitational Fields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1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05 / 15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57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TOPIC 13 · CIE 9702 A2 PHYSICS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75" b="1" noProof="1">
                <a:solidFill>
                  <a:srgbClr val="0E4D64"/>
                </a:solidFill>
                <a:latin typeface="QuattrocentoSans"/>
                <a:ea typeface="MiSans"/>
              </a:rPr>
              <a:t>Circular Orbits</a:t>
            </a:r>
            <a:endParaRPr sz="2175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圆轨道分析 — 引力提供向心力</a:t>
            </a:r>
            <a:endParaRPr sz="120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deriv-card"/>
          <p:cNvSpPr/>
          <p:nvPr/>
        </p:nvSpPr>
        <p:spPr>
          <a:xfrm>
            <a:off x="609600" y="1809750"/>
            <a:ext cx="5334000" cy="142875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deriv-bar"/>
          <p:cNvSpPr/>
          <p:nvPr/>
        </p:nvSpPr>
        <p:spPr>
          <a:xfrm>
            <a:off x="609600" y="1809750"/>
            <a:ext cx="38100" cy="142875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dsl:deriv-text|s=$body"/>
              <p:cNvSpPr txBox="1"/>
              <p:nvPr/>
            </p:nvSpPr>
            <p:spPr>
              <a:xfrm>
                <a:off x="838200" y="1924050"/>
                <a:ext cx="4876800" cy="1219200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The </a:t>
                </a:r>
                <a:r>
                  <a:rPr sz="1350" b="1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gravitational force provides the centripetal force</a:t>
                </a: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 for a satellite of mass m orbiting a central mass M: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135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135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　引力 = 向心力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</p:txBody>
          </p:sp>
        </mc:Choice>
        <mc:Fallback>
          <p:sp>
            <p:nvSpPr>
              <p:cNvPr id="8" name="dsl:deriv-text|s=$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24050"/>
                <a:ext cx="4876800" cy="1219200"/>
              </a:xfrm>
              <a:prstGeom prst="rect">
                <a:avLst/>
              </a:prstGeom>
              <a:blipFill rotWithShape="1">
                <a:blip r:embed="rId1"/>
                <a:stretch>
                  <a:fillRect b="-36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sl:formula-strip1"/>
          <p:cNvSpPr/>
          <p:nvPr/>
        </p:nvSpPr>
        <p:spPr>
          <a:xfrm>
            <a:off x="609600" y="3409950"/>
            <a:ext cx="5334000" cy="5715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dsl:formula1-main|s=$formula"/>
              <p:cNvSpPr txBox="1"/>
              <p:nvPr/>
            </p:nvSpPr>
            <p:spPr>
              <a:xfrm>
                <a:off x="838200" y="3409950"/>
                <a:ext cx="2476500" cy="57150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650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50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sz="1650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num>
                            <m:den>
                              <m:r>
                                <a:rPr lang="en-US" sz="1650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rad>
                    </m:oMath>
                  </m:oMathPara>
                </a14:m>
              </a:p>
            </p:txBody>
          </p:sp>
        </mc:Choice>
        <mc:Fallback>
          <p:sp>
            <p:nvSpPr>
              <p:cNvPr id="10" name="dsl:formula1-main|s=$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09950"/>
                <a:ext cx="2476500" cy="571500"/>
              </a:xfrm>
              <a:prstGeom prst="rect">
                <a:avLst/>
              </a:prstGeom>
              <a:blipFill rotWithShape="1">
                <a:blip r:embed="rId2"/>
                <a:stretch>
                  <a:fillRect t="-14556" b="-14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dsl:formula1-note|s=$small"/>
          <p:cNvSpPr txBox="1"/>
          <p:nvPr/>
        </p:nvSpPr>
        <p:spPr>
          <a:xfrm>
            <a:off x="3429000" y="3409950"/>
            <a:ext cx="23622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orbital speed 轨道速度</a:t>
            </a: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
</a:t>
            </a: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m cancels — mass of satellite irrelevant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12" name="dsl:formula-strip2"/>
          <p:cNvSpPr/>
          <p:nvPr/>
        </p:nvSpPr>
        <p:spPr>
          <a:xfrm>
            <a:off x="609600" y="4133850"/>
            <a:ext cx="5334000" cy="5715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dsl:formula2-main|s=$formula"/>
              <p:cNvSpPr txBox="1"/>
              <p:nvPr/>
            </p:nvSpPr>
            <p:spPr>
              <a:xfrm>
                <a:off x="838200" y="4133850"/>
                <a:ext cx="2857500" cy="57150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1650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50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sz="1650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50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650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650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50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1650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3" name="dsl:formula2-main|s=$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33850"/>
                <a:ext cx="2857500" cy="5715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sl:formula2-note|s=$small"/>
          <p:cNvSpPr txBox="1"/>
          <p:nvPr/>
        </p:nvSpPr>
        <p:spPr>
          <a:xfrm>
            <a:off x="3810000" y="4133850"/>
            <a:ext cx="19812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T² ∝ r³ — Kepler's third law 开普勒第三定律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15" name="dsl:points|s=$body"/>
          <p:cNvSpPr txBox="1"/>
          <p:nvPr/>
        </p:nvSpPr>
        <p:spPr>
          <a:xfrm>
            <a:off x="609600" y="4876800"/>
            <a:ext cx="533400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257175" lvl="0" indent="-205740" algn="l">
              <a:lnSpc>
                <a:spcPct val="150000"/>
              </a:lnSpc>
              <a:buChar char="•"/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For the same central body, T²/r³ is constant 同一中心天体 T²/r³ 为定值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marL="257175" lvl="0" indent="-205740" algn="l">
              <a:lnSpc>
                <a:spcPct val="150000"/>
              </a:lnSpc>
              <a:buChar char="•"/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Closer orbits are faster and shorter-period 轨道越低，速度越大、周期越短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marL="257175" lvl="0" indent="-205740" algn="l">
              <a:lnSpc>
                <a:spcPct val="150000"/>
              </a:lnSpc>
              <a:buChar char="•"/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The satellite is continuously accelerating — not in equilibrium 卫星持续加速，并非平衡态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</p:txBody>
      </p:sp>
      <p:sp>
        <p:nvSpPr>
          <p:cNvPr id="16" name="dsl:diagram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orbit"/>
          <p:cNvSpPr/>
          <p:nvPr/>
        </p:nvSpPr>
        <p:spPr>
          <a:xfrm>
            <a:off x="7219950" y="1905000"/>
            <a:ext cx="3429000" cy="3429000"/>
          </a:xfrm>
          <a:prstGeom prst="ellipse">
            <a:avLst/>
          </a:prstGeom>
          <a:noFill/>
          <a:ln w="25400">
            <a:solidFill>
              <a:srgbClr val="5C7A8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earth"/>
          <p:cNvSpPr/>
          <p:nvPr/>
        </p:nvSpPr>
        <p:spPr>
          <a:xfrm>
            <a:off x="8553450" y="3238500"/>
            <a:ext cx="762000" cy="76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earth-label"/>
          <p:cNvSpPr txBox="1"/>
          <p:nvPr/>
        </p:nvSpPr>
        <p:spPr>
          <a:xfrm>
            <a:off x="8553450" y="3238500"/>
            <a:ext cx="762000" cy="762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125" noProof="1">
                <a:solidFill>
                  <a:srgbClr val="FFFFFF"/>
                </a:solidFill>
                <a:latin typeface="QuattrocentoSans"/>
                <a:ea typeface="MiSans"/>
              </a:rPr>
              <a:t>Earth</a:t>
            </a:r>
            <a:r>
              <a:rPr sz="1125" noProof="1">
                <a:solidFill>
                  <a:srgbClr val="FFFFFF"/>
                </a:solidFill>
                <a:latin typeface="QuattrocentoSans"/>
                <a:ea typeface="MiSans"/>
              </a:rPr>
              <a:t>
</a:t>
            </a:r>
            <a:r>
              <a:rPr sz="1125" noProof="1">
                <a:solidFill>
                  <a:srgbClr val="FFFFFF"/>
                </a:solidFill>
                <a:latin typeface="QuattrocentoSans"/>
                <a:ea typeface="MiSans"/>
              </a:rPr>
              <a:t>M</a:t>
            </a:r>
            <a:endParaRPr sz="1125" noProof="1">
              <a:solidFill>
                <a:srgbClr val="FFFFFF"/>
              </a:solidFill>
              <a:latin typeface="QuattrocentoSans"/>
              <a:ea typeface="MiSans"/>
            </a:endParaRPr>
          </a:p>
        </p:txBody>
      </p:sp>
      <p:sp>
        <p:nvSpPr>
          <p:cNvPr id="20" name="dsl:satellite"/>
          <p:cNvSpPr/>
          <p:nvPr/>
        </p:nvSpPr>
        <p:spPr>
          <a:xfrm>
            <a:off x="10039350" y="2305050"/>
            <a:ext cx="209550" cy="209550"/>
          </a:xfrm>
          <a:prstGeom prst="ellipse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dsl:v-arrow"/>
          <p:cNvCxnSpPr/>
          <p:nvPr/>
        </p:nvCxnSpPr>
        <p:spPr>
          <a:xfrm>
            <a:off x="9467850" y="1733550"/>
            <a:ext cx="571500" cy="57150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  <a:head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sl:v-label"/>
          <p:cNvSpPr txBox="1"/>
          <p:nvPr/>
        </p:nvSpPr>
        <p:spPr>
          <a:xfrm>
            <a:off x="8629650" y="1409700"/>
            <a:ext cx="381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350" i="1" noProof="1">
                <a:solidFill>
                  <a:srgbClr val="1C2B33"/>
                </a:solidFill>
                <a:latin typeface="QuattrocentoSans"/>
                <a:ea typeface="MiSans"/>
              </a:rPr>
              <a:t>v</a:t>
            </a:r>
            <a:endParaRPr sz="1350" i="1" noProof="1">
              <a:solidFill>
                <a:srgbClr val="1C2B33"/>
              </a:solidFill>
              <a:latin typeface="QuattrocentoSans"/>
              <a:ea typeface="MiSans"/>
            </a:endParaRPr>
          </a:p>
        </p:txBody>
      </p:sp>
      <p:cxnSp>
        <p:nvCxnSpPr>
          <p:cNvPr id="23" name="dsl:f-arrow"/>
          <p:cNvCxnSpPr>
            <a:stCxn id="20" idx="2"/>
          </p:cNvCxnSpPr>
          <p:nvPr/>
        </p:nvCxnSpPr>
        <p:spPr>
          <a:xfrm flipH="1">
            <a:off x="9173210" y="2409825"/>
            <a:ext cx="866140" cy="923925"/>
          </a:xfrm>
          <a:prstGeom prst="straightConnector1">
            <a:avLst/>
          </a:prstGeom>
          <a:ln w="3810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sl:f-label"/>
          <p:cNvSpPr txBox="1"/>
          <p:nvPr/>
        </p:nvSpPr>
        <p:spPr>
          <a:xfrm>
            <a:off x="9525000" y="3105150"/>
            <a:ext cx="381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350" i="1" noProof="1">
                <a:solidFill>
                  <a:srgbClr val="D97D29"/>
                </a:solidFill>
                <a:latin typeface="QuattrocentoSans"/>
                <a:ea typeface="MiSans"/>
              </a:rPr>
              <a:t>F</a:t>
            </a:r>
            <a:endParaRPr sz="1350" i="1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25" name="dsl:r-label"/>
          <p:cNvSpPr txBox="1"/>
          <p:nvPr/>
        </p:nvSpPr>
        <p:spPr>
          <a:xfrm>
            <a:off x="10058400" y="2819400"/>
            <a:ext cx="28575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i="1" noProof="1">
                <a:solidFill>
                  <a:srgbClr val="5C7A84"/>
                </a:solidFill>
                <a:latin typeface="QuattrocentoSans"/>
                <a:ea typeface="MiSans"/>
              </a:rPr>
              <a:t>r</a:t>
            </a:r>
            <a:endParaRPr sz="1200" i="1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26" name="dsl:diagram-caption|s=$small"/>
          <p:cNvSpPr txBox="1"/>
          <p:nvPr/>
        </p:nvSpPr>
        <p:spPr>
          <a:xfrm>
            <a:off x="6286500" y="5524500"/>
            <a:ext cx="52959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v is tangential 切向; F points to the centre 指向圆心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cxnSp>
        <p:nvCxnSpPr>
          <p:cNvPr id="27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sl:footer-left|s=$small"/>
          <p:cNvSpPr txBox="1"/>
          <p:nvPr/>
        </p:nvSpPr>
        <p:spPr>
          <a:xfrm>
            <a:off x="609600" y="6515100"/>
            <a:ext cx="5715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13 Gravitational Fields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29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06 / 15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57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TOPIC 13 · CIE 9702 A2 PHYSICS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75" b="1" noProof="1">
                <a:solidFill>
                  <a:srgbClr val="0E4D64"/>
                </a:solidFill>
                <a:latin typeface="QuattrocentoSans"/>
                <a:ea typeface="MiSans"/>
              </a:rPr>
              <a:t>The Geostationary Orbit</a:t>
            </a:r>
            <a:endParaRPr sz="2175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地球同步轨道 — 通信卫星的"定点"轨道</a:t>
            </a:r>
            <a:endParaRPr sz="120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def-card"/>
          <p:cNvSpPr/>
          <p:nvPr/>
        </p:nvSpPr>
        <p:spPr>
          <a:xfrm>
            <a:off x="609600" y="1809750"/>
            <a:ext cx="5334000" cy="22860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def-bar"/>
          <p:cNvSpPr/>
          <p:nvPr/>
        </p:nvSpPr>
        <p:spPr>
          <a:xfrm>
            <a:off x="609600" y="1809750"/>
            <a:ext cx="38100" cy="2286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def-text|s=$body"/>
          <p:cNvSpPr txBox="1"/>
          <p:nvPr/>
        </p:nvSpPr>
        <p:spPr>
          <a:xfrm>
            <a:off x="838200" y="1924050"/>
            <a:ext cx="4876800" cy="2057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A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geostationary satellite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remains above the same point on the Earth's surface. It must have: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marL="257175" lvl="0" indent="-205740" algn="l">
              <a:lnSpc>
                <a:spcPct val="150000"/>
              </a:lnSpc>
              <a:buAutoNum type="arabicPeriod"/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period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T = 24 h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, same as the Earth's rotation 周期与地球自转相同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marL="257175" lvl="0" indent="-205740" algn="l">
              <a:lnSpc>
                <a:spcPct val="150000"/>
              </a:lnSpc>
              <a:buAutoNum type="arabicPeriod"/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orbit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directly above the Equator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轨道在赤道正上方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marL="257175" lvl="0" indent="-205740" algn="l">
              <a:lnSpc>
                <a:spcPct val="150000"/>
              </a:lnSpc>
              <a:buAutoNum type="arabicPeriod"/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motion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west to east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, same direction as the Earth 自西向东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marL="257175" lvl="0" indent="-205740" algn="l">
              <a:lnSpc>
                <a:spcPct val="150000"/>
              </a:lnSpc>
              <a:buAutoNum type="arabicPeriod"/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so it appears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stationary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from the ground 相对地面静止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</p:txBody>
      </p:sp>
      <p:sp>
        <p:nvSpPr>
          <p:cNvPr id="9" name="dsl:num-card"/>
          <p:cNvSpPr/>
          <p:nvPr/>
        </p:nvSpPr>
        <p:spPr>
          <a:xfrm>
            <a:off x="609600" y="4267200"/>
            <a:ext cx="5334000" cy="11239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dsl:num-text|s=$body"/>
              <p:cNvSpPr txBox="1"/>
              <p:nvPr/>
            </p:nvSpPr>
            <p:spPr>
              <a:xfrm>
                <a:off x="838200" y="4362450"/>
                <a:ext cx="4876800" cy="933450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50" b="1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Key values 关键数据</a:t>
                </a: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 (from T² = 4π²r³/GM):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  <a:p>
                <a:pPr algn="l">
                  <a:lnSpc>
                    <a:spcPct val="150000"/>
                  </a:lnSpc>
                  <a:spcBef>
                    <a:spcPts val="450"/>
                  </a:spcBef>
                </a:pP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 from the centre; height </a:t>
                </a:r>
                <a14:m>
                  <m:oMath xmlns:m="http://schemas.openxmlformats.org/officeDocument/2006/math"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59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;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07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</p:txBody>
          </p:sp>
        </mc:Choice>
        <mc:Fallback>
          <p:sp>
            <p:nvSpPr>
              <p:cNvPr id="10" name="dsl:num-text|s=$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62450"/>
                <a:ext cx="4876800" cy="933450"/>
              </a:xfrm>
              <a:prstGeom prst="rect">
                <a:avLst/>
              </a:prstGeom>
              <a:blipFill rotWithShape="1">
                <a:blip r:embed="rId1"/>
                <a:stretch>
                  <a:fillRect b="-118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dsl:app-text|s=$body"/>
          <p:cNvSpPr txBox="1"/>
          <p:nvPr/>
        </p:nvSpPr>
        <p:spPr>
          <a:xfrm>
            <a:off x="609600" y="5581650"/>
            <a:ext cx="5334000" cy="609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Uses 应用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: communication and TV relay satellites — ground dishes can point in a fixed direction 天线可固定指向.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</p:txBody>
      </p:sp>
      <p:sp>
        <p:nvSpPr>
          <p:cNvPr id="12" name="dsl:diagram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orbit"/>
          <p:cNvSpPr/>
          <p:nvPr/>
        </p:nvSpPr>
        <p:spPr>
          <a:xfrm>
            <a:off x="7315200" y="2095500"/>
            <a:ext cx="3238500" cy="3238500"/>
          </a:xfrm>
          <a:prstGeom prst="ellipse">
            <a:avLst/>
          </a:prstGeom>
          <a:noFill/>
          <a:ln w="25400">
            <a:solidFill>
              <a:srgbClr val="5C7A8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earth"/>
          <p:cNvSpPr/>
          <p:nvPr/>
        </p:nvSpPr>
        <p:spPr>
          <a:xfrm>
            <a:off x="8267700" y="3190875"/>
            <a:ext cx="1333500" cy="13335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dsl:equator"/>
          <p:cNvCxnSpPr/>
          <p:nvPr/>
        </p:nvCxnSpPr>
        <p:spPr>
          <a:xfrm>
            <a:off x="8267700" y="3714750"/>
            <a:ext cx="1333500" cy="0"/>
          </a:xfrm>
          <a:prstGeom prst="straightConnector1">
            <a:avLst/>
          </a:prstGeom>
          <a:ln w="12700">
            <a:solidFill>
              <a:srgbClr val="FFFF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sl:equator-label"/>
          <p:cNvSpPr txBox="1"/>
          <p:nvPr/>
        </p:nvSpPr>
        <p:spPr>
          <a:xfrm>
            <a:off x="8458200" y="3790950"/>
            <a:ext cx="9525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75" noProof="1">
                <a:solidFill>
                  <a:srgbClr val="FFFFFF"/>
                </a:solidFill>
                <a:latin typeface="QuattrocentoSans"/>
                <a:ea typeface="MiSans"/>
              </a:rPr>
              <a:t>Equator</a:t>
            </a:r>
            <a:r>
              <a:rPr sz="975" noProof="1">
                <a:solidFill>
                  <a:srgbClr val="FFFFFF"/>
                </a:solidFill>
                <a:latin typeface="QuattrocentoSans"/>
                <a:ea typeface="MiSans"/>
              </a:rPr>
              <a:t>
</a:t>
            </a:r>
            <a:r>
              <a:rPr sz="975" noProof="1">
                <a:solidFill>
                  <a:srgbClr val="FFFFFF"/>
                </a:solidFill>
                <a:latin typeface="QuattrocentoSans"/>
                <a:ea typeface="MiSans"/>
              </a:rPr>
              <a:t>赤道</a:t>
            </a:r>
            <a:endParaRPr sz="975" noProof="1">
              <a:solidFill>
                <a:srgbClr val="FFFFFF"/>
              </a:solidFill>
              <a:latin typeface="QuattrocentoSans"/>
              <a:ea typeface="MiSans"/>
            </a:endParaRPr>
          </a:p>
        </p:txBody>
      </p:sp>
      <p:cxnSp>
        <p:nvCxnSpPr>
          <p:cNvPr id="17" name="dsl:r-arrow"/>
          <p:cNvCxnSpPr/>
          <p:nvPr/>
        </p:nvCxnSpPr>
        <p:spPr>
          <a:xfrm>
            <a:off x="8934450" y="2200275"/>
            <a:ext cx="0" cy="1514475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  <a:head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sl:r-label"/>
          <p:cNvSpPr txBox="1"/>
          <p:nvPr/>
        </p:nvSpPr>
        <p:spPr>
          <a:xfrm>
            <a:off x="9048750" y="2819400"/>
            <a:ext cx="28575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i="1" noProof="1">
                <a:solidFill>
                  <a:srgbClr val="1C2B33"/>
                </a:solidFill>
                <a:latin typeface="QuattrocentoSans"/>
                <a:ea typeface="MiSans"/>
              </a:rPr>
              <a:t>r</a:t>
            </a:r>
            <a:endParaRPr sz="1200" i="1" noProof="1">
              <a:solidFill>
                <a:srgbClr val="1C2B33"/>
              </a:solidFill>
              <a:latin typeface="QuattrocentoSans"/>
              <a:ea typeface="MiSans"/>
            </a:endParaRPr>
          </a:p>
        </p:txBody>
      </p:sp>
      <p:sp>
        <p:nvSpPr>
          <p:cNvPr id="19" name="dsl:satellite"/>
          <p:cNvSpPr/>
          <p:nvPr/>
        </p:nvSpPr>
        <p:spPr>
          <a:xfrm>
            <a:off x="8829675" y="1990725"/>
            <a:ext cx="209550" cy="209550"/>
          </a:xfrm>
          <a:prstGeom prst="ellipse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dsl:v-arrow"/>
          <p:cNvCxnSpPr/>
          <p:nvPr/>
        </p:nvCxnSpPr>
        <p:spPr>
          <a:xfrm>
            <a:off x="9115425" y="2095500"/>
            <a:ext cx="666750" cy="0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sl:v-label"/>
          <p:cNvSpPr txBox="1"/>
          <p:nvPr/>
        </p:nvSpPr>
        <p:spPr>
          <a:xfrm>
            <a:off x="9906000" y="1828800"/>
            <a:ext cx="28575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i="1" noProof="1">
                <a:solidFill>
                  <a:srgbClr val="D97D29"/>
                </a:solidFill>
                <a:latin typeface="QuattrocentoSans"/>
                <a:ea typeface="MiSans"/>
              </a:rPr>
              <a:t>v</a:t>
            </a:r>
            <a:endParaRPr sz="1200" i="1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22" name="dsl:period-label"/>
          <p:cNvSpPr txBox="1"/>
          <p:nvPr/>
        </p:nvSpPr>
        <p:spPr>
          <a:xfrm>
            <a:off x="6953250" y="1847850"/>
            <a:ext cx="180975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125" noProof="1">
                <a:solidFill>
                  <a:srgbClr val="5C7A84"/>
                </a:solidFill>
                <a:latin typeface="QuattrocentoSans"/>
                <a:ea typeface="MiSans"/>
              </a:rPr>
              <a:t>T = 24 h · west → east</a:t>
            </a:r>
            <a:endParaRPr sz="1125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23" name="dsl:diagram-caption|s=$small"/>
          <p:cNvSpPr txBox="1"/>
          <p:nvPr/>
        </p:nvSpPr>
        <p:spPr>
          <a:xfrm>
            <a:off x="6286500" y="5524500"/>
            <a:ext cx="52959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Equatorial orbit; satellite fixed above one ground point 定点于赤道上空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cxnSp>
        <p:nvCxnSpPr>
          <p:cNvPr id="24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sl:footer-left|s=$small"/>
          <p:cNvSpPr txBox="1"/>
          <p:nvPr/>
        </p:nvSpPr>
        <p:spPr>
          <a:xfrm>
            <a:off x="609600" y="6515100"/>
            <a:ext cx="5715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13 Gravitational Fields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26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07 / 15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57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TOPIC 13 · CIE 9702 A2 PHYSICS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75" b="1" noProof="1">
                <a:solidFill>
                  <a:srgbClr val="0E4D64"/>
                </a:solidFill>
                <a:latin typeface="QuattrocentoSans"/>
                <a:ea typeface="MiSans"/>
              </a:rPr>
              <a:t>Gravitational Potential</a:t>
            </a:r>
            <a:endParaRPr sz="2175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引力势 — 从无穷远移动单位质量所做的功</a:t>
            </a:r>
            <a:endParaRPr sz="120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def-card"/>
          <p:cNvSpPr/>
          <p:nvPr/>
        </p:nvSpPr>
        <p:spPr>
          <a:xfrm>
            <a:off x="609600" y="1809750"/>
            <a:ext cx="5334000" cy="16002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def-bar"/>
          <p:cNvSpPr/>
          <p:nvPr/>
        </p:nvSpPr>
        <p:spPr>
          <a:xfrm>
            <a:off x="609600" y="1809750"/>
            <a:ext cx="38100" cy="1600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def-text|s=$body"/>
          <p:cNvSpPr txBox="1"/>
          <p:nvPr/>
        </p:nvSpPr>
        <p:spPr>
          <a:xfrm>
            <a:off x="838200" y="1924050"/>
            <a:ext cx="487680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The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gravitational potential φ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at a point is the work done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per unit mass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in bringing a small test mass from infinity to that point. Unit: J kg⁻¹.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125" noProof="1">
                <a:solidFill>
                  <a:srgbClr val="5C7A84"/>
                </a:solidFill>
                <a:latin typeface="QuattrocentoSans"/>
                <a:ea typeface="MiSans"/>
              </a:rPr>
              <a:t>引力势：把单位质量从无穷远移到该点所做的功。</a:t>
            </a:r>
            <a:endParaRPr sz="1125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9" name="dsl:formula-strip"/>
          <p:cNvSpPr/>
          <p:nvPr/>
        </p:nvSpPr>
        <p:spPr>
          <a:xfrm>
            <a:off x="609600" y="3581400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dsl:formula-main|s=$formula"/>
              <p:cNvSpPr txBox="1"/>
              <p:nvPr/>
            </p:nvSpPr>
            <p:spPr>
              <a:xfrm>
                <a:off x="838200" y="3581400"/>
                <a:ext cx="2286000" cy="60960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0" name="dsl:formula-main|s=$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581400"/>
                <a:ext cx="2286000" cy="6096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dsl:formula-note|s=$small"/>
          <p:cNvSpPr txBox="1"/>
          <p:nvPr/>
        </p:nvSpPr>
        <p:spPr>
          <a:xfrm>
            <a:off x="3276600" y="3581400"/>
            <a:ext cx="25146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zero of potential at infinity</a:t>
            </a: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
</a:t>
            </a: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无穷远处 φ = 0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dsl:points|s=$body"/>
              <p:cNvSpPr txBox="1"/>
              <p:nvPr/>
            </p:nvSpPr>
            <p:spPr>
              <a:xfrm>
                <a:off x="609600" y="4400550"/>
                <a:ext cx="5334000" cy="1790700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marL="257175" lvl="0" indent="-205740" algn="l">
                  <a:lnSpc>
                    <a:spcPct val="150000"/>
                  </a:lnSpc>
                  <a:buChar char="•"/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φ is </a:t>
                </a:r>
                <a:r>
                  <a:rPr sz="1350" b="1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negative</a:t>
                </a: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: the field does the work, so energy is released as the mass falls in 场力做功，φ 为负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  <a:p>
                <a:pPr marL="257175" lvl="0" indent="-205740" algn="l">
                  <a:lnSpc>
                    <a:spcPct val="150000"/>
                  </a:lnSpc>
                  <a:buChar char="•"/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φ increases with r, approaching 0 at infinity 随 r 增大而趋近于零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  <a:p>
                <a:pPr marL="257175" lvl="0" indent="-205740" algn="l">
                  <a:lnSpc>
                    <a:spcPct val="150000"/>
                  </a:lnSpc>
                  <a:buChar char="•"/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Work to move a mass m: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 移动质量 m 所需功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  <a:p>
                <a:pPr marL="257175" lvl="0" indent="-205740" algn="l">
                  <a:lnSpc>
                    <a:spcPct val="150000"/>
                  </a:lnSpc>
                  <a:buChar char="•"/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Equipotential surfaces are concentric spheres 等势面为同心球面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</p:txBody>
          </p:sp>
        </mc:Choice>
        <mc:Fallback>
          <p:sp>
            <p:nvSpPr>
              <p:cNvPr id="12" name="dsl:points|s=$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400550"/>
                <a:ext cx="5334000" cy="1790700"/>
              </a:xfrm>
              <a:prstGeom prst="rect">
                <a:avLst/>
              </a:prstGeom>
              <a:blipFill rotWithShape="1">
                <a:blip r:embed="rId2"/>
                <a:stretch>
                  <a:fillRect b="-23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dsl:diagram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equipot-1"/>
          <p:cNvSpPr/>
          <p:nvPr/>
        </p:nvSpPr>
        <p:spPr>
          <a:xfrm>
            <a:off x="6381750" y="2809875"/>
            <a:ext cx="1714500" cy="1714500"/>
          </a:xfrm>
          <a:prstGeom prst="ellipse">
            <a:avLst/>
          </a:prstGeom>
          <a:noFill/>
          <a:ln w="12700">
            <a:solidFill>
              <a:srgbClr val="5C7A8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equipot-2"/>
          <p:cNvSpPr/>
          <p:nvPr/>
        </p:nvSpPr>
        <p:spPr>
          <a:xfrm>
            <a:off x="6000750" y="2428875"/>
            <a:ext cx="2476500" cy="2476500"/>
          </a:xfrm>
          <a:prstGeom prst="ellipse">
            <a:avLst/>
          </a:prstGeom>
          <a:noFill/>
          <a:ln w="12700">
            <a:solidFill>
              <a:srgbClr val="5C7A8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equipot-label"/>
          <p:cNvSpPr txBox="1"/>
          <p:nvPr/>
        </p:nvSpPr>
        <p:spPr>
          <a:xfrm>
            <a:off x="6477000" y="1962150"/>
            <a:ext cx="24765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equipotentials 等势面 (dashed)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cxnSp>
        <p:nvCxnSpPr>
          <p:cNvPr id="17" name="dsl:field-line"/>
          <p:cNvCxnSpPr/>
          <p:nvPr/>
        </p:nvCxnSpPr>
        <p:spPr>
          <a:xfrm>
            <a:off x="7810500" y="3667125"/>
            <a:ext cx="3048000" cy="0"/>
          </a:xfrm>
          <a:prstGeom prst="straightConnector1">
            <a:avLst/>
          </a:prstGeom>
          <a:ln w="25400">
            <a:solidFill>
              <a:srgbClr val="0E4D64"/>
            </a:solidFill>
            <a:prstDash val="solid"/>
            <a:head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sl:mass-m"/>
          <p:cNvSpPr/>
          <p:nvPr/>
        </p:nvSpPr>
        <p:spPr>
          <a:xfrm>
            <a:off x="6896100" y="3324225"/>
            <a:ext cx="685800" cy="6858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mass-m-label"/>
          <p:cNvSpPr txBox="1"/>
          <p:nvPr/>
        </p:nvSpPr>
        <p:spPr>
          <a:xfrm>
            <a:off x="6896100" y="3324225"/>
            <a:ext cx="685800" cy="685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500" b="1" noProof="1">
                <a:solidFill>
                  <a:srgbClr val="FFFFFF"/>
                </a:solidFill>
                <a:latin typeface="QuattrocentoSans"/>
                <a:ea typeface="MiSans"/>
              </a:rPr>
              <a:t>M</a:t>
            </a:r>
            <a:endParaRPr sz="1500" b="1" noProof="1">
              <a:solidFill>
                <a:srgbClr val="FFFFFF"/>
              </a:solidFill>
              <a:latin typeface="QuattrocentoSans"/>
              <a:ea typeface="MiSans"/>
            </a:endParaRPr>
          </a:p>
        </p:txBody>
      </p:sp>
      <p:sp>
        <p:nvSpPr>
          <p:cNvPr id="20" name="dsl:test-mass"/>
          <p:cNvSpPr/>
          <p:nvPr/>
        </p:nvSpPr>
        <p:spPr>
          <a:xfrm>
            <a:off x="10191750" y="3571875"/>
            <a:ext cx="190500" cy="190500"/>
          </a:xfrm>
          <a:prstGeom prst="ellipse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p-label"/>
          <p:cNvSpPr txBox="1"/>
          <p:nvPr/>
        </p:nvSpPr>
        <p:spPr>
          <a:xfrm>
            <a:off x="10458450" y="3390900"/>
            <a:ext cx="28575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350" i="1" noProof="1">
                <a:solidFill>
                  <a:srgbClr val="1C2B33"/>
                </a:solidFill>
                <a:latin typeface="QuattrocentoSans"/>
                <a:ea typeface="MiSans"/>
              </a:rPr>
              <a:t>P</a:t>
            </a:r>
            <a:endParaRPr sz="1350" i="1" noProof="1">
              <a:solidFill>
                <a:srgbClr val="1C2B33"/>
              </a:solidFill>
              <a:latin typeface="QuattrocentoSans"/>
              <a:ea typeface="MiSans"/>
            </a:endParaRPr>
          </a:p>
        </p:txBody>
      </p:sp>
      <p:cxnSp>
        <p:nvCxnSpPr>
          <p:cNvPr id="22" name="dsl:move-arrow"/>
          <p:cNvCxnSpPr/>
          <p:nvPr/>
        </p:nvCxnSpPr>
        <p:spPr>
          <a:xfrm>
            <a:off x="10382250" y="4000500"/>
            <a:ext cx="571500" cy="0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  <a:head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sl:move-label"/>
          <p:cNvSpPr txBox="1"/>
          <p:nvPr/>
        </p:nvSpPr>
        <p:spPr>
          <a:xfrm>
            <a:off x="9582150" y="4076700"/>
            <a:ext cx="161925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D97D29"/>
                </a:solidFill>
                <a:latin typeface="QuattrocentoSans"/>
                <a:ea typeface="MiSans"/>
              </a:rPr>
              <a:t>m moved in from ∞ 移入</a:t>
            </a:r>
            <a:endParaRPr sz="10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cxnSp>
        <p:nvCxnSpPr>
          <p:cNvPr id="24" name="dsl:r-line"/>
          <p:cNvCxnSpPr/>
          <p:nvPr/>
        </p:nvCxnSpPr>
        <p:spPr>
          <a:xfrm>
            <a:off x="7239000" y="4572000"/>
            <a:ext cx="3048000" cy="0"/>
          </a:xfrm>
          <a:prstGeom prst="straightConnector1">
            <a:avLst/>
          </a:prstGeom>
          <a:ln w="12700">
            <a:solidFill>
              <a:srgbClr val="1C2B33"/>
            </a:solidFill>
            <a:prstDash val="solid"/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sl:r-label"/>
          <p:cNvSpPr txBox="1"/>
          <p:nvPr/>
        </p:nvSpPr>
        <p:spPr>
          <a:xfrm>
            <a:off x="8629650" y="4648200"/>
            <a:ext cx="28575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i="1" noProof="1">
                <a:solidFill>
                  <a:srgbClr val="1C2B33"/>
                </a:solidFill>
                <a:latin typeface="QuattrocentoSans"/>
                <a:ea typeface="MiSans"/>
              </a:rPr>
              <a:t>r</a:t>
            </a:r>
            <a:endParaRPr sz="1200" i="1" noProof="1">
              <a:solidFill>
                <a:srgbClr val="1C2B33"/>
              </a:solidFill>
              <a:latin typeface="QuattrocentoSans"/>
              <a:ea typeface="MiSans"/>
            </a:endParaRPr>
          </a:p>
        </p:txBody>
      </p:sp>
      <p:sp>
        <p:nvSpPr>
          <p:cNvPr id="26" name="dsl:inf-label"/>
          <p:cNvSpPr txBox="1"/>
          <p:nvPr/>
        </p:nvSpPr>
        <p:spPr>
          <a:xfrm>
            <a:off x="10915650" y="3238500"/>
            <a:ext cx="6096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∞, φ = 0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27" name="dsl:diagram-caption|s=$small"/>
          <p:cNvSpPr txBox="1"/>
          <p:nvPr/>
        </p:nvSpPr>
        <p:spPr>
          <a:xfrm>
            <a:off x="6286500" y="5524500"/>
            <a:ext cx="52959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The field does work as m moves in, so φ(P) &lt; 0 场力做功，φ 为负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cxnSp>
        <p:nvCxnSpPr>
          <p:cNvPr id="28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sl:footer-left|s=$small"/>
          <p:cNvSpPr txBox="1"/>
          <p:nvPr/>
        </p:nvSpPr>
        <p:spPr>
          <a:xfrm>
            <a:off x="609600" y="6515100"/>
            <a:ext cx="5715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13 Gravitational Fields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30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08 / 15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57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TOPIC 13 · CIE 9702 A2 PHYSICS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75" b="1" noProof="1">
                <a:solidFill>
                  <a:srgbClr val="0E4D64"/>
                </a:solidFill>
                <a:latin typeface="QuattrocentoSans"/>
                <a:ea typeface="MiSans"/>
              </a:rPr>
              <a:t>Potential Energy &amp; Escape Velocity</a:t>
            </a:r>
            <a:endParaRPr sz="2175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引力势能与逃逸速度 — 从地表挣脱引力束缚所需的最小速度</a:t>
            </a:r>
            <a:endParaRPr sz="120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formula-strip"/>
          <p:cNvSpPr/>
          <p:nvPr/>
        </p:nvSpPr>
        <p:spPr>
          <a:xfrm>
            <a:off x="609600" y="1809750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dsl:formula-main|s=$formula"/>
              <p:cNvSpPr txBox="1"/>
              <p:nvPr/>
            </p:nvSpPr>
            <p:spPr>
              <a:xfrm>
                <a:off x="838200" y="1809750"/>
                <a:ext cx="3048000" cy="60960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7" name="dsl:formula-main|s=$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09750"/>
                <a:ext cx="3048000" cy="6096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sl:formula-note|s=$small"/>
          <p:cNvSpPr txBox="1"/>
          <p:nvPr/>
        </p:nvSpPr>
        <p:spPr>
          <a:xfrm>
            <a:off x="4000500" y="1809750"/>
            <a:ext cx="17907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m = test mass 质量</a:t>
            </a: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
</a:t>
            </a: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r = centre distance 质心距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9" name="dsl:deriv-card"/>
          <p:cNvSpPr/>
          <p:nvPr/>
        </p:nvSpPr>
        <p:spPr>
          <a:xfrm>
            <a:off x="609600" y="2571750"/>
            <a:ext cx="5334000" cy="215265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deriv-bar"/>
          <p:cNvSpPr/>
          <p:nvPr/>
        </p:nvSpPr>
        <p:spPr>
          <a:xfrm>
            <a:off x="609600" y="2571750"/>
            <a:ext cx="38100" cy="215265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dsl:deriv-text|s=$body"/>
              <p:cNvSpPr txBox="1"/>
              <p:nvPr/>
            </p:nvSpPr>
            <p:spPr>
              <a:xfrm>
                <a:off x="838200" y="2686050"/>
                <a:ext cx="4876800" cy="1924050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50" b="1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Deriving escape velocity</a:t>
                </a: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 推导逃逸速度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  <a:p>
                <a:pPr marL="257175" lvl="0" indent="-205740" algn="l">
                  <a:lnSpc>
                    <a:spcPct val="150000"/>
                  </a:lnSpc>
                  <a:buAutoNum type="arabicPeriod"/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Work to move </a:t>
                </a:r>
                <a:r>
                  <a:rPr sz="1350" i="1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m</a:t>
                </a: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 from the surface (</a:t>
                </a:r>
                <a:r>
                  <a:rPr sz="1350" i="1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r = R</a:t>
                </a: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) to infinity: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𝛥</m:t>
                    </m:r>
                    <m:sSub>
                      <m:sSub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e>
                    </m:d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</a:p>
              <a:p>
                <a:pPr marL="257175" lvl="0" indent="-205740" algn="l">
                  <a:lnSpc>
                    <a:spcPct val="150000"/>
                  </a:lnSpc>
                  <a:buAutoNum type="arabicPeriod"/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Kinetic energy supplies this work: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</a:p>
              <a:p>
                <a:pPr marL="257175" lvl="0" indent="-205740" algn="l">
                  <a:lnSpc>
                    <a:spcPct val="150000"/>
                  </a:lnSpc>
                  <a:buAutoNum type="arabicPeriod"/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Mass </a:t>
                </a:r>
                <a:r>
                  <a:rPr sz="1350" i="1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m</a:t>
                </a: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 cancels — escape speed is independent of the object's mass 与物体质量无关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</p:txBody>
          </p:sp>
        </mc:Choice>
        <mc:Fallback>
          <p:sp>
            <p:nvSpPr>
              <p:cNvPr id="11" name="dsl:deriv-text|s=$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686050"/>
                <a:ext cx="4876800" cy="1924050"/>
              </a:xfrm>
              <a:prstGeom prst="rect">
                <a:avLst/>
              </a:prstGeom>
              <a:blipFill rotWithShape="1">
                <a:blip r:embed="rId3"/>
                <a:stretch>
                  <a:fillRect b="-180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dsl:esc-strip"/>
          <p:cNvSpPr/>
          <p:nvPr/>
        </p:nvSpPr>
        <p:spPr>
          <a:xfrm>
            <a:off x="609600" y="4876800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dsl:esc-formula|s=$formula"/>
              <p:cNvSpPr txBox="1"/>
              <p:nvPr/>
            </p:nvSpPr>
            <p:spPr>
              <a:xfrm>
                <a:off x="838200" y="4876800"/>
                <a:ext cx="2857500" cy="60960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50" i="1">
                              <a:solidFill>
                                <a:srgbClr val="D97D2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50" i="1">
                              <a:solidFill>
                                <a:srgbClr val="D97D29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50">
                              <a:solidFill>
                                <a:srgbClr val="D97D29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m:rPr>
                              <m:sty m:val="p"/>
                            </m:rPr>
                            <a:rPr lang="en-US" sz="1650">
                              <a:solidFill>
                                <a:srgbClr val="D97D29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sz="1650">
                              <a:solidFill>
                                <a:srgbClr val="D97D29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sz="1650">
                          <a:solidFill>
                            <a:srgbClr val="D97D2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650" i="1">
                              <a:solidFill>
                                <a:srgbClr val="D97D29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650" i="1">
                                  <a:solidFill>
                                    <a:srgbClr val="D97D2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50">
                                  <a:solidFill>
                                    <a:srgbClr val="D97D29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650" i="1">
                                  <a:solidFill>
                                    <a:srgbClr val="D97D29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sz="1650" i="1">
                                  <a:solidFill>
                                    <a:srgbClr val="D97D29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num>
                            <m:den>
                              <m:r>
                                <a:rPr lang="en-US" sz="1650" i="1">
                                  <a:solidFill>
                                    <a:srgbClr val="D97D29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</m:e>
                      </m:rad>
                    </m:oMath>
                  </m:oMathPara>
                </a14:m>
              </a:p>
            </p:txBody>
          </p:sp>
        </mc:Choice>
        <mc:Fallback>
          <p:sp>
            <p:nvSpPr>
              <p:cNvPr id="13" name="dsl:esc-formula|s=$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876800"/>
                <a:ext cx="2857500" cy="609600"/>
              </a:xfrm>
              <a:prstGeom prst="rect">
                <a:avLst/>
              </a:prstGeom>
              <a:blipFill rotWithShape="1">
                <a:blip r:embed="rId4"/>
                <a:stretch>
                  <a:fillRect t="-10521" b="-106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sl:esc-note|s=$small"/>
          <p:cNvSpPr txBox="1"/>
          <p:nvPr/>
        </p:nvSpPr>
        <p:spPr>
          <a:xfrm>
            <a:off x="3810000" y="4876800"/>
            <a:ext cx="19812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Earth 地球:</a:t>
            </a: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
</a:t>
            </a: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v ≈ 11.2 km s⁻¹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graphicFrame>
        <p:nvGraphicFramePr>
          <p:cNvPr id="15" name="dsl:chart-phi"/>
          <p:cNvGraphicFramePr>
            <a:graphicFrameLocks noGrp="1"/>
          </p:cNvGraphicFramePr>
          <p:nvPr/>
        </p:nvGraphicFramePr>
        <p:xfrm>
          <a:off x="6286500" y="1905000"/>
          <a:ext cx="52959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6" name="dsl:chart-caption|s=$small"/>
          <p:cNvSpPr txBox="1"/>
          <p:nvPr/>
        </p:nvSpPr>
        <p:spPr>
          <a:xfrm>
            <a:off x="6286500" y="5219700"/>
            <a:ext cx="52959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Both φ and Ep are negative and rise towards 0 as r → ∞ 均为负值并随 r 增大趋于零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cxnSp>
        <p:nvCxnSpPr>
          <p:cNvPr id="17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sl:footer-left|s=$small"/>
          <p:cNvSpPr txBox="1"/>
          <p:nvPr/>
        </p:nvSpPr>
        <p:spPr>
          <a:xfrm>
            <a:off x="609600" y="6515100"/>
            <a:ext cx="5715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13 Gravitational Fields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19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09 / 15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TOPIC 13 · CIE 9702 A2 PHYSICS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75" b="1" noProof="1">
                <a:solidFill>
                  <a:srgbClr val="0E4D64"/>
                </a:solidFill>
                <a:latin typeface="QuattrocentoSans"/>
                <a:ea typeface="MiSans"/>
              </a:rPr>
              <a:t>Worked Example 13A</a:t>
            </a:r>
            <a:endParaRPr sz="2175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  <a:endParaRPr sz="120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13 Gravitational Fields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10 / 15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9" name="dsl:ex-tag|s=$badge"/>
          <p:cNvSpPr txBox="1"/>
          <p:nvPr/>
        </p:nvSpPr>
        <p:spPr>
          <a:xfrm>
            <a:off x="609600" y="1752600"/>
            <a:ext cx="4572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WORKED EXAMPLE 13A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10" name="dsl:ex-qbg"/>
          <p:cNvSpPr/>
          <p:nvPr/>
        </p:nvSpPr>
        <p:spPr>
          <a:xfrm>
            <a:off x="609600" y="2076450"/>
            <a:ext cx="4381500" cy="174307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dsl:ex-q"/>
              <p:cNvSpPr txBox="1"/>
              <p:nvPr/>
            </p:nvSpPr>
            <p:spPr>
              <a:xfrm>
                <a:off x="800100" y="2209800"/>
                <a:ext cx="4000500" cy="1476375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40000"/>
                  </a:lnSpc>
                </a:pPr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The masses of the Sun and the Earth are </a:t>
                </a:r>
                <a14:m>
                  <m:oMath xmlns:m="http://schemas.openxmlformats.org/officeDocument/2006/math"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. The separation of their centres is </a:t>
                </a:r>
                <a14:m>
                  <m:oMath xmlns:m="http://schemas.openxmlformats.org/officeDocument/2006/math"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.</a:t>
                </a:r>
                <a:endParaRPr sz="1200" noProof="1">
                  <a:solidFill>
                    <a:srgbClr val="1C2B33"/>
                  </a:solidFill>
                  <a:latin typeface="MiSans"/>
                  <a:ea typeface="MiSans"/>
                </a:endParaRPr>
              </a:p>
              <a:p>
                <a:pPr algn="l">
                  <a:lnSpc>
                    <a:spcPct val="140000"/>
                  </a:lnSpc>
                </a:pPr>
                <a:r>
                  <a:rPr sz="1200" b="1" noProof="1">
                    <a:solidFill>
                      <a:srgbClr val="1C2B33"/>
                    </a:solidFill>
                    <a:latin typeface="MiSans"/>
                    <a:ea typeface="MiSans"/>
                  </a:rPr>
                  <a:t>Calculate the force of attraction between the Sun and the Earth.</a:t>
                </a:r>
                <a:endParaRPr sz="1200" b="1" noProof="1">
                  <a:solidFill>
                    <a:srgbClr val="1C2B33"/>
                  </a:solidFill>
                  <a:latin typeface="MiSans"/>
                  <a:ea typeface="MiSans"/>
                </a:endParaRPr>
              </a:p>
              <a:p>
                <a:pPr algn="l">
                  <a:lnSpc>
                    <a:spcPct val="140000"/>
                  </a:lnSpc>
                  <a:spcBef>
                    <a:spcPts val="600"/>
                  </a:spcBef>
                </a:pPr>
                <a:r>
                  <a:rPr sz="1050" noProof="1">
                    <a:solidFill>
                      <a:srgbClr val="5C7A84"/>
                    </a:solidFill>
                    <a:latin typeface="MiSans"/>
                    <a:ea typeface="MiSans"/>
                  </a:rPr>
                  <a:t>太阳与地球间的万有引力计算；注意先把 km 换算成 m。</a:t>
                </a:r>
                <a:endParaRPr sz="1050" noProof="1">
                  <a:solidFill>
                    <a:srgbClr val="5C7A84"/>
                  </a:solidFill>
                  <a:latin typeface="MiSans"/>
                  <a:ea typeface="MiSans"/>
                </a:endParaRPr>
              </a:p>
            </p:txBody>
          </p:sp>
        </mc:Choice>
        <mc:Fallback>
          <p:sp>
            <p:nvSpPr>
              <p:cNvPr id="11" name="dsl:ex-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" y="2209800"/>
                <a:ext cx="4000500" cy="1476375"/>
              </a:xfrm>
              <a:prstGeom prst="rect">
                <a:avLst/>
              </a:prstGeom>
              <a:blipFill rotWithShape="1">
                <a:blip r:embed="rId1"/>
                <a:stretch>
                  <a:fillRect b="-115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dsl:ex-sol|s=$badge"/>
          <p:cNvSpPr txBox="1"/>
          <p:nvPr/>
        </p:nvSpPr>
        <p:spPr>
          <a:xfrm>
            <a:off x="5372100" y="175260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dsl:ex-steps"/>
              <p:cNvSpPr txBox="1"/>
              <p:nvPr/>
            </p:nvSpPr>
            <p:spPr>
              <a:xfrm>
                <a:off x="5372100" y="2076450"/>
                <a:ext cx="6210300" cy="1047750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40000"/>
                  </a:lnSpc>
                </a:pPr>
                <a:r>
                  <a:rPr sz="1200" b="1" noProof="1">
                    <a:solidFill>
                      <a:srgbClr val="1C2B33"/>
                    </a:solidFill>
                    <a:latin typeface="MiSans"/>
                    <a:ea typeface="MiSans"/>
                  </a:rPr>
                  <a:t>Step 1</a:t>
                </a:r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　Convert units: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.</a:t>
                </a:r>
                <a:endParaRPr sz="1200" noProof="1">
                  <a:solidFill>
                    <a:srgbClr val="1C2B33"/>
                  </a:solidFill>
                  <a:latin typeface="MiSans"/>
                  <a:ea typeface="MiSans"/>
                </a:endParaRPr>
              </a:p>
              <a:p>
                <a:pPr algn="l">
                  <a:lnSpc>
                    <a:spcPct val="140000"/>
                  </a:lnSpc>
                </a:pPr>
                <a:r>
                  <a:rPr sz="1200" b="1" noProof="1">
                    <a:solidFill>
                      <a:srgbClr val="1C2B33"/>
                    </a:solidFill>
                    <a:latin typeface="MiSans"/>
                    <a:ea typeface="MiSans"/>
                  </a:rPr>
                  <a:t>Step 2</a:t>
                </a:r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　Apply Newton’s law: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sSub>
                          <m:sSubPr>
                            <m:ctrlP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67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sup>
                        </m:s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sup>
                        </m:sSup>
                      </m:num>
                      <m:den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sSup>
                          <m:sSupPr>
                            <m:ctrlP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</a:p>
              <a:p>
                <a:pPr algn="l">
                  <a:lnSpc>
                    <a:spcPct val="140000"/>
                  </a:lnSpc>
                </a:pPr>
                <a:r>
                  <a:rPr sz="1200" b="1" noProof="1">
                    <a:solidFill>
                      <a:srgbClr val="1C2B33"/>
                    </a:solidFill>
                    <a:latin typeface="MiSans"/>
                    <a:ea typeface="MiSans"/>
                  </a:rPr>
                  <a:t>Step 3</a:t>
                </a:r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　Evaluate: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44</m:t>
                            </m:r>
                          </m:sup>
                        </m:sSup>
                      </m:num>
                      <m:den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</m:den>
                    </m:f>
                  </m:oMath>
                </a14:m>
                <a:endParaRPr sz="1200" noProof="1">
                  <a:solidFill>
                    <a:srgbClr val="1C2B33"/>
                  </a:solidFill>
                  <a:latin typeface="MiSans"/>
                  <a:ea typeface="MiSans"/>
                </a:endParaRPr>
              </a:p>
            </p:txBody>
          </p:sp>
        </mc:Choice>
        <mc:Fallback>
          <p:sp>
            <p:nvSpPr>
              <p:cNvPr id="13" name="dsl:ex-step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100" y="2076450"/>
                <a:ext cx="6210300" cy="1047750"/>
              </a:xfrm>
              <a:prstGeom prst="rect">
                <a:avLst/>
              </a:prstGeom>
              <a:blipFill rotWithShape="1">
                <a:blip r:embed="rId2"/>
                <a:stretch>
                  <a:fillRect b="-7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sl:ex-abg"/>
          <p:cNvSpPr/>
          <p:nvPr/>
        </p:nvSpPr>
        <p:spPr>
          <a:xfrm>
            <a:off x="5372100" y="3276600"/>
            <a:ext cx="6210300" cy="5143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ex-abar"/>
          <p:cNvSpPr/>
          <p:nvPr/>
        </p:nvSpPr>
        <p:spPr>
          <a:xfrm>
            <a:off x="5372100" y="3276600"/>
            <a:ext cx="38100" cy="5143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dsl:ex-ans"/>
              <p:cNvSpPr txBox="1"/>
              <p:nvPr/>
            </p:nvSpPr>
            <p:spPr>
              <a:xfrm>
                <a:off x="5562600" y="3276600"/>
                <a:ext cx="5867400" cy="514350"/>
              </a:xfrm>
              <a:prstGeom prst="rect">
                <a:avLst/>
              </a:prstGeom>
              <a:noFill/>
            </p:spPr>
            <p:txBody>
              <a:bodyPr wrap="square" anchor="ctr">
                <a:noAutofit/>
              </a:bodyPr>
              <a:lstStyle/>
              <a:p>
                <a:pPr algn="l"/>
                <a:r>
                  <a:rPr sz="1275" b="1" noProof="1">
                    <a:solidFill>
                      <a:srgbClr val="1C2B33"/>
                    </a:solidFill>
                    <a:latin typeface="MiSans"/>
                    <a:ea typeface="MiSans"/>
                  </a:rPr>
                  <a:t>Answer</a:t>
                </a:r>
                <a:r>
                  <a:rPr sz="1275" noProof="1">
                    <a:solidFill>
                      <a:srgbClr val="1C2B33"/>
                    </a:solidFill>
                    <a:latin typeface="MiSans"/>
                    <a:ea typeface="MiSans"/>
                  </a:rPr>
                  <a:t>　</a:t>
                </a:r>
                <a14:m>
                  <m:oMath xmlns:m="http://schemas.openxmlformats.org/officeDocument/2006/math">
                    <m:r>
                      <a:rPr lang="en-US" sz="1275" i="1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75" i="1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75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75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sz="1275" noProof="1">
                  <a:solidFill>
                    <a:srgbClr val="1C2B33"/>
                  </a:solidFill>
                  <a:latin typeface="MiSans"/>
                  <a:ea typeface="MiSans"/>
                </a:endParaRPr>
              </a:p>
            </p:txBody>
          </p:sp>
        </mc:Choice>
        <mc:Fallback>
          <p:sp>
            <p:nvSpPr>
              <p:cNvPr id="16" name="dsl:ex-an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3276600"/>
                <a:ext cx="5867400" cy="5143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TOPIC 13 · CIE 9702 A2 PHYSICS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75" b="1" noProof="1">
                <a:solidFill>
                  <a:srgbClr val="0E4D64"/>
                </a:solidFill>
                <a:latin typeface="QuattrocentoSans"/>
                <a:ea typeface="MiSans"/>
              </a:rPr>
              <a:t>Worked Example 13B</a:t>
            </a:r>
            <a:endParaRPr sz="2175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  <a:endParaRPr sz="120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13 Gravitational Fields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11 / 15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9" name="dsl:ex-tag|s=$badge"/>
          <p:cNvSpPr txBox="1"/>
          <p:nvPr/>
        </p:nvSpPr>
        <p:spPr>
          <a:xfrm>
            <a:off x="609600" y="1752600"/>
            <a:ext cx="4572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WORKED EXAMPLE 13B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10" name="dsl:ex-qbg"/>
          <p:cNvSpPr/>
          <p:nvPr/>
        </p:nvSpPr>
        <p:spPr>
          <a:xfrm>
            <a:off x="609600" y="2076450"/>
            <a:ext cx="4381500" cy="21717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dsl:ex-q"/>
              <p:cNvSpPr txBox="1"/>
              <p:nvPr/>
            </p:nvSpPr>
            <p:spPr>
              <a:xfrm>
                <a:off x="800100" y="2209800"/>
                <a:ext cx="4000500" cy="1905000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40000"/>
                  </a:lnSpc>
                </a:pPr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For a geostationary satellite, calculate: (a) the height above the Earth’s surface; (b) the speed in orbit.</a:t>
                </a:r>
                <a:endParaRPr sz="1200" noProof="1">
                  <a:solidFill>
                    <a:srgbClr val="1C2B33"/>
                  </a:solidFill>
                  <a:latin typeface="MiSans"/>
                  <a:ea typeface="MiSans"/>
                </a:endParaRPr>
              </a:p>
              <a:p>
                <a:pPr algn="l">
                  <a:lnSpc>
                    <a:spcPct val="140000"/>
                  </a:lnSpc>
                </a:pPr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(Radius of Earth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; mass of Earth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; period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.)</a:t>
                </a:r>
                <a:endParaRPr sz="1200" noProof="1">
                  <a:solidFill>
                    <a:srgbClr val="1C2B33"/>
                  </a:solidFill>
                  <a:latin typeface="MiSans"/>
                  <a:ea typeface="MiSans"/>
                </a:endParaRPr>
              </a:p>
              <a:p>
                <a:pPr algn="l">
                  <a:lnSpc>
                    <a:spcPct val="140000"/>
                  </a:lnSpc>
                  <a:spcBef>
                    <a:spcPts val="600"/>
                  </a:spcBef>
                </a:pPr>
                <a:r>
                  <a:rPr sz="1050" noProof="1">
                    <a:solidFill>
                      <a:srgbClr val="5C7A84"/>
                    </a:solidFill>
                    <a:latin typeface="MiSans"/>
                    <a:ea typeface="MiSans"/>
                  </a:rPr>
                  <a:t>同步卫星高度与速度；r 是到地心的距离，高度要减去地球半径。</a:t>
                </a:r>
                <a:endParaRPr sz="1050" noProof="1">
                  <a:solidFill>
                    <a:srgbClr val="5C7A84"/>
                  </a:solidFill>
                  <a:latin typeface="MiSans"/>
                  <a:ea typeface="MiSans"/>
                </a:endParaRPr>
              </a:p>
            </p:txBody>
          </p:sp>
        </mc:Choice>
        <mc:Fallback>
          <p:sp>
            <p:nvSpPr>
              <p:cNvPr id="11" name="dsl:ex-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" y="2209800"/>
                <a:ext cx="4000500" cy="19050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dsl:ex-sol|s=$badge"/>
          <p:cNvSpPr txBox="1"/>
          <p:nvPr/>
        </p:nvSpPr>
        <p:spPr>
          <a:xfrm>
            <a:off x="5372100" y="175260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dsl:ex-steps"/>
              <p:cNvSpPr txBox="1"/>
              <p:nvPr/>
            </p:nvSpPr>
            <p:spPr>
              <a:xfrm>
                <a:off x="5372100" y="2076450"/>
                <a:ext cx="6210300" cy="1476375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40000"/>
                  </a:lnSpc>
                </a:pPr>
                <a:r>
                  <a:rPr sz="1200" b="1" noProof="1">
                    <a:solidFill>
                      <a:srgbClr val="1C2B33"/>
                    </a:solidFill>
                    <a:latin typeface="MiSans"/>
                    <a:ea typeface="MiSans"/>
                  </a:rPr>
                  <a:t>Step 1</a:t>
                </a:r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　Equate gravity to centripetal force: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 gives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sSup>
                          <m:sSupPr>
                            <m:ctrlP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.</a:t>
                </a:r>
                <a:endParaRPr sz="1200" noProof="1">
                  <a:solidFill>
                    <a:srgbClr val="1C2B33"/>
                  </a:solidFill>
                  <a:latin typeface="MiSans"/>
                  <a:ea typeface="MiSans"/>
                </a:endParaRPr>
              </a:p>
              <a:p>
                <a:pPr algn="l">
                  <a:lnSpc>
                    <a:spcPct val="140000"/>
                  </a:lnSpc>
                </a:pPr>
                <a:r>
                  <a:rPr sz="1200" b="1" noProof="1">
                    <a:solidFill>
                      <a:srgbClr val="1C2B33"/>
                    </a:solidFill>
                    <a:latin typeface="MiSans"/>
                    <a:ea typeface="MiSans"/>
                  </a:rPr>
                  <a:t>Step 2</a:t>
                </a:r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　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67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sup>
                        </m:s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sSupPr>
                            <m:ctrlP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sSup>
                      <m:sSup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, so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.</a:t>
                </a:r>
                <a:endParaRPr sz="1200" noProof="1">
                  <a:solidFill>
                    <a:srgbClr val="1C2B33"/>
                  </a:solidFill>
                  <a:latin typeface="MiSans"/>
                  <a:ea typeface="MiSans"/>
                </a:endParaRPr>
              </a:p>
              <a:p>
                <a:pPr algn="l">
                  <a:lnSpc>
                    <a:spcPct val="140000"/>
                  </a:lnSpc>
                </a:pPr>
                <a:r>
                  <a:rPr sz="1200" b="1" noProof="1">
                    <a:solidFill>
                      <a:srgbClr val="1C2B33"/>
                    </a:solidFill>
                    <a:latin typeface="MiSans"/>
                    <a:ea typeface="MiSans"/>
                  </a:rPr>
                  <a:t>Step 3</a:t>
                </a:r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　Height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; speed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.</a:t>
                </a:r>
                <a:endParaRPr sz="1200" noProof="1">
                  <a:solidFill>
                    <a:srgbClr val="1C2B33"/>
                  </a:solidFill>
                  <a:latin typeface="MiSans"/>
                  <a:ea typeface="MiSans"/>
                </a:endParaRPr>
              </a:p>
            </p:txBody>
          </p:sp>
        </mc:Choice>
        <mc:Fallback>
          <p:sp>
            <p:nvSpPr>
              <p:cNvPr id="13" name="dsl:ex-step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100" y="2076450"/>
                <a:ext cx="6210300" cy="14763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sl:ex-abg"/>
          <p:cNvSpPr/>
          <p:nvPr/>
        </p:nvSpPr>
        <p:spPr>
          <a:xfrm>
            <a:off x="5372100" y="3705225"/>
            <a:ext cx="6210300" cy="5143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ex-abar"/>
          <p:cNvSpPr/>
          <p:nvPr/>
        </p:nvSpPr>
        <p:spPr>
          <a:xfrm>
            <a:off x="5372100" y="3705225"/>
            <a:ext cx="38100" cy="5143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dsl:ex-ans"/>
              <p:cNvSpPr txBox="1"/>
              <p:nvPr/>
            </p:nvSpPr>
            <p:spPr>
              <a:xfrm>
                <a:off x="5562600" y="3705225"/>
                <a:ext cx="5867400" cy="514350"/>
              </a:xfrm>
              <a:prstGeom prst="rect">
                <a:avLst/>
              </a:prstGeom>
              <a:noFill/>
            </p:spPr>
            <p:txBody>
              <a:bodyPr wrap="square" anchor="ctr">
                <a:noAutofit/>
              </a:bodyPr>
              <a:lstStyle/>
              <a:p>
                <a:pPr algn="l"/>
                <a:r>
                  <a:rPr sz="1275" b="1" noProof="1">
                    <a:solidFill>
                      <a:srgbClr val="1C2B33"/>
                    </a:solidFill>
                    <a:latin typeface="MiSans"/>
                    <a:ea typeface="MiSans"/>
                  </a:rPr>
                  <a:t>Answer</a:t>
                </a:r>
                <a:r>
                  <a:rPr sz="1275" noProof="1">
                    <a:solidFill>
                      <a:srgbClr val="1C2B33"/>
                    </a:solidFill>
                    <a:latin typeface="MiSans"/>
                    <a:ea typeface="MiSans"/>
                  </a:rPr>
                  <a:t>　</a:t>
                </a:r>
                <a:r>
                  <a:rPr sz="1275" b="1" noProof="1">
                    <a:solidFill>
                      <a:srgbClr val="D97D29"/>
                    </a:solidFill>
                    <a:latin typeface="MiSans"/>
                    <a:ea typeface="MiSans"/>
                  </a:rPr>
                  <a:t>(a) </a:t>
                </a:r>
                <a14:m>
                  <m:oMath xmlns:m="http://schemas.openxmlformats.org/officeDocument/2006/math">
                    <m:r>
                      <a:rPr lang="en-US" sz="1275" i="1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75" i="1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75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75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1275" b="1" noProof="1">
                    <a:solidFill>
                      <a:srgbClr val="D97D29"/>
                    </a:solidFill>
                    <a:latin typeface="MiSans"/>
                    <a:ea typeface="MiSans"/>
                  </a:rPr>
                  <a:t>　(b) </a:t>
                </a:r>
                <a14:m>
                  <m:oMath xmlns:m="http://schemas.openxmlformats.org/officeDocument/2006/math">
                    <m:r>
                      <a:rPr lang="en-US" sz="1275" i="1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75" i="1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75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75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sSup>
                      <m:sSupPr>
                        <m:ctrlPr>
                          <a:rPr lang="en-US" sz="1275" i="1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75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275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75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275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75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sz="1275" b="1" noProof="1">
                  <a:solidFill>
                    <a:srgbClr val="D97D29"/>
                  </a:solidFill>
                  <a:latin typeface="MiSans"/>
                  <a:ea typeface="MiSans"/>
                </a:endParaRPr>
              </a:p>
            </p:txBody>
          </p:sp>
        </mc:Choice>
        <mc:Fallback>
          <p:sp>
            <p:nvSpPr>
              <p:cNvPr id="16" name="dsl:ex-an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3705225"/>
                <a:ext cx="5867400" cy="5143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TOPIC 13 · CIE 9702 A2 PHYSICS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75" b="1" noProof="1">
                <a:solidFill>
                  <a:srgbClr val="0E4D64"/>
                </a:solidFill>
                <a:latin typeface="QuattrocentoSans"/>
                <a:ea typeface="MiSans"/>
              </a:rPr>
              <a:t>Worked Examples 13C &amp; 13D</a:t>
            </a:r>
            <a:endParaRPr sz="2175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  <a:endParaRPr sz="120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13 Gravitational Fields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12 / 15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9" name="dsl:te0-tag|s=$badge"/>
          <p:cNvSpPr txBox="1"/>
          <p:nvPr/>
        </p:nvSpPr>
        <p:spPr>
          <a:xfrm>
            <a:off x="6096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WORKED EXAMPLE 13C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10" name="dsl:te0-qbg"/>
          <p:cNvSpPr/>
          <p:nvPr/>
        </p:nvSpPr>
        <p:spPr>
          <a:xfrm>
            <a:off x="609600" y="2038350"/>
            <a:ext cx="5334000" cy="8096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dsl:te0-q"/>
              <p:cNvSpPr txBox="1"/>
              <p:nvPr/>
            </p:nvSpPr>
            <p:spPr>
              <a:xfrm>
                <a:off x="762000" y="2152650"/>
                <a:ext cx="5029200" cy="581025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35000"/>
                  </a:lnSpc>
                </a:pPr>
                <a:r>
                  <a:rPr sz="1125" noProof="1">
                    <a:solidFill>
                      <a:srgbClr val="1C2B33"/>
                    </a:solidFill>
                    <a:latin typeface="MiSans"/>
                    <a:ea typeface="MiSans"/>
                  </a:rPr>
                  <a:t>Earth radius </a:t>
                </a:r>
                <a14:m>
                  <m:oMath xmlns:m="http://schemas.openxmlformats.org/officeDocument/2006/math"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125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1125" noProof="1">
                    <a:solidFill>
                      <a:srgbClr val="1C2B33"/>
                    </a:solidFill>
                    <a:latin typeface="MiSans"/>
                    <a:ea typeface="MiSans"/>
                  </a:rPr>
                  <a:t>, surface field </a:t>
                </a:r>
                <a14:m>
                  <m:oMath xmlns:m="http://schemas.openxmlformats.org/officeDocument/2006/math">
                    <m:r>
                      <a:rPr lang="en-US" sz="1125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sSup>
                      <m:sSupPr>
                        <m:ctrlPr>
                          <a:rPr lang="en-US" sz="1125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𝑘𝑔</m:t>
                        </m:r>
                      </m:e>
                      <m:sup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1125" noProof="1">
                    <a:solidFill>
                      <a:srgbClr val="1C2B33"/>
                    </a:solidFill>
                    <a:latin typeface="MiSans"/>
                    <a:ea typeface="MiSans"/>
                  </a:rPr>
                  <a:t>. (a) Find the mass of the Earth. (b) Find </a:t>
                </a:r>
                <a14:m>
                  <m:oMath xmlns:m="http://schemas.openxmlformats.org/officeDocument/2006/math">
                    <m:r>
                      <a:rPr lang="en-US" sz="1125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1125" noProof="1">
                    <a:solidFill>
                      <a:srgbClr val="1C2B33"/>
                    </a:solidFill>
                    <a:latin typeface="MiSans"/>
                    <a:ea typeface="MiSans"/>
                  </a:rPr>
                  <a:t> at the Moon’s orbit </a:t>
                </a:r>
                <a14:m>
                  <m:oMath xmlns:m="http://schemas.openxmlformats.org/officeDocument/2006/math">
                    <m:r>
                      <a:rPr lang="en-US" sz="1125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84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125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1125" noProof="1">
                    <a:solidFill>
                      <a:srgbClr val="1C2B33"/>
                    </a:solidFill>
                    <a:latin typeface="MiSans"/>
                    <a:ea typeface="MiSans"/>
                  </a:rPr>
                  <a:t>.</a:t>
                </a:r>
                <a:endParaRPr sz="1125" noProof="1">
                  <a:solidFill>
                    <a:srgbClr val="1C2B33"/>
                  </a:solidFill>
                  <a:latin typeface="MiSans"/>
                  <a:ea typeface="MiSans"/>
                </a:endParaRPr>
              </a:p>
            </p:txBody>
          </p:sp>
        </mc:Choice>
        <mc:Fallback>
          <p:sp>
            <p:nvSpPr>
              <p:cNvPr id="11" name="dsl:te0-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152650"/>
                <a:ext cx="5029200" cy="58102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dsl:te0-st"/>
              <p:cNvSpPr txBox="1"/>
              <p:nvPr/>
            </p:nvSpPr>
            <p:spPr>
              <a:xfrm>
                <a:off x="609600" y="2981325"/>
                <a:ext cx="5334000" cy="466725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35000"/>
                  </a:lnSpc>
                </a:pPr>
                <a:r>
                  <a:rPr sz="1125" b="1" noProof="1">
                    <a:solidFill>
                      <a:srgbClr val="1C2B33"/>
                    </a:solidFill>
                    <a:latin typeface="MiSans"/>
                    <a:ea typeface="MiSans"/>
                  </a:rPr>
                  <a:t>1.</a:t>
                </a:r>
                <a:r>
                  <a:rPr sz="1125" noProof="1">
                    <a:solidFill>
                      <a:srgbClr val="1C2B33"/>
                    </a:solidFill>
                    <a:latin typeface="MiSans"/>
                    <a:ea typeface="MiSan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25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125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125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sSup>
                          <m:sSupPr>
                            <m:ctrlPr>
                              <a:rPr lang="en-US" sz="1125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25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125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den>
                    </m:f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125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125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p>
                          <m:sSupPr>
                            <m:ctrlPr>
                              <a:rPr lang="en-US" sz="1125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67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125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den>
                    </m:f>
                  </m:oMath>
                </a14:m>
              </a:p>
              <a:p>
                <a:pPr algn="l">
                  <a:lnSpc>
                    <a:spcPct val="135000"/>
                  </a:lnSpc>
                </a:pPr>
                <a:r>
                  <a:rPr sz="1125" b="1" noProof="1">
                    <a:solidFill>
                      <a:srgbClr val="1C2B33"/>
                    </a:solidFill>
                    <a:latin typeface="MiSans"/>
                    <a:ea typeface="MiSans"/>
                  </a:rPr>
                  <a:t>2.</a:t>
                </a:r>
                <a:r>
                  <a:rPr sz="1125" noProof="1">
                    <a:solidFill>
                      <a:srgbClr val="1C2B33"/>
                    </a:solidFill>
                    <a:latin typeface="MiSans"/>
                    <a:ea typeface="MiSan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25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125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125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1125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sSup>
                          <m:sSupPr>
                            <m:ctrlPr>
                              <a:rPr lang="en-US" sz="1125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25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125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67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125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125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sup>
                        </m:sSup>
                      </m:num>
                      <m:den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125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sSup>
                          <m:sSupPr>
                            <m:ctrlPr>
                              <a:rPr lang="en-US" sz="1125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1125" noProof="1">
                  <a:solidFill>
                    <a:srgbClr val="1C2B33"/>
                  </a:solidFill>
                  <a:latin typeface="MiSans"/>
                  <a:ea typeface="MiSans"/>
                </a:endParaRPr>
              </a:p>
            </p:txBody>
          </p:sp>
        </mc:Choice>
        <mc:Fallback>
          <p:sp>
            <p:nvSpPr>
              <p:cNvPr id="12" name="dsl:te0-s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981325"/>
                <a:ext cx="5334000" cy="466725"/>
              </a:xfrm>
              <a:prstGeom prst="rect">
                <a:avLst/>
              </a:prstGeom>
              <a:blipFill rotWithShape="1">
                <a:blip r:embed="rId2"/>
                <a:stretch>
                  <a:fillRect b="-670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dsl:te0-abg"/>
          <p:cNvSpPr/>
          <p:nvPr/>
        </p:nvSpPr>
        <p:spPr>
          <a:xfrm>
            <a:off x="609600" y="35623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te0-abar"/>
          <p:cNvSpPr/>
          <p:nvPr/>
        </p:nvSpPr>
        <p:spPr>
          <a:xfrm>
            <a:off x="609600" y="35623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dsl:te0-ans"/>
              <p:cNvSpPr txBox="1"/>
              <p:nvPr/>
            </p:nvSpPr>
            <p:spPr>
              <a:xfrm>
                <a:off x="781050" y="3562350"/>
                <a:ext cx="5029200" cy="438150"/>
              </a:xfrm>
              <a:prstGeom prst="rect">
                <a:avLst/>
              </a:prstGeom>
              <a:noFill/>
            </p:spPr>
            <p:txBody>
              <a:bodyPr wrap="square" anchor="ctr">
                <a:noAutofit/>
              </a:bodyPr>
              <a:lstStyle/>
              <a:p>
                <a:pPr algn="l"/>
                <a:r>
                  <a:rPr sz="1200" b="1" noProof="1">
                    <a:solidFill>
                      <a:srgbClr val="1C2B33"/>
                    </a:solidFill>
                    <a:latin typeface="MiSans"/>
                    <a:ea typeface="MiSans"/>
                  </a:rPr>
                  <a:t>Answer</a:t>
                </a:r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　</a:t>
                </a:r>
                <a:r>
                  <a:rPr sz="1200" b="1" noProof="1">
                    <a:solidFill>
                      <a:srgbClr val="D97D29"/>
                    </a:solidFill>
                    <a:latin typeface="MiSans"/>
                    <a:ea typeface="MiSans"/>
                  </a:rPr>
                  <a:t>(a) </a:t>
                </a:r>
                <a14:m>
                  <m:oMath xmlns:m="http://schemas.openxmlformats.org/officeDocument/2006/math"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sz="1200" b="1" noProof="1">
                    <a:solidFill>
                      <a:srgbClr val="D97D29"/>
                    </a:solidFill>
                    <a:latin typeface="MiSans"/>
                    <a:ea typeface="MiSans"/>
                  </a:rPr>
                  <a:t>　(b) </a:t>
                </a:r>
                <a14:m>
                  <m:oMath xmlns:m="http://schemas.openxmlformats.org/officeDocument/2006/math"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sSup>
                      <m:sSupPr>
                        <m:ctrlPr>
                          <a:rPr lang="en-US" sz="1200" i="1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200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  <m:t>𝑘𝑔</m:t>
                        </m:r>
                      </m:e>
                      <m:sup>
                        <m:r>
                          <a:rPr lang="en-US" sz="1200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sz="1200" b="1" noProof="1">
                  <a:solidFill>
                    <a:srgbClr val="D97D29"/>
                  </a:solidFill>
                  <a:latin typeface="MiSans"/>
                  <a:ea typeface="MiSans"/>
                </a:endParaRPr>
              </a:p>
            </p:txBody>
          </p:sp>
        </mc:Choice>
        <mc:Fallback>
          <p:sp>
            <p:nvSpPr>
              <p:cNvPr id="15" name="dsl:te0-an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50" y="3562350"/>
                <a:ext cx="5029200" cy="4381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dsl:te1-tag|s=$badge"/>
          <p:cNvSpPr txBox="1"/>
          <p:nvPr/>
        </p:nvSpPr>
        <p:spPr>
          <a:xfrm>
            <a:off x="62484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WORKED EXAMPLE 13D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17" name="dsl:te1-qbg"/>
          <p:cNvSpPr/>
          <p:nvPr/>
        </p:nvSpPr>
        <p:spPr>
          <a:xfrm>
            <a:off x="6248400" y="2038350"/>
            <a:ext cx="5334000" cy="8096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dsl:te1-q"/>
              <p:cNvSpPr txBox="1"/>
              <p:nvPr/>
            </p:nvSpPr>
            <p:spPr>
              <a:xfrm>
                <a:off x="6400800" y="2152650"/>
                <a:ext cx="5029200" cy="581025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35000"/>
                  </a:lnSpc>
                </a:pPr>
                <a:r>
                  <a:rPr sz="1125" noProof="1">
                    <a:solidFill>
                      <a:srgbClr val="1C2B33"/>
                    </a:solidFill>
                    <a:latin typeface="MiSans"/>
                    <a:ea typeface="MiSans"/>
                  </a:rPr>
                  <a:t>How much work is done by the gravitational field in moving a mass </a:t>
                </a:r>
                <a14:m>
                  <m:oMath xmlns:m="http://schemas.openxmlformats.org/officeDocument/2006/math">
                    <m:r>
                      <a:rPr lang="en-US" sz="1125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sz="1125" noProof="1">
                    <a:solidFill>
                      <a:srgbClr val="1C2B33"/>
                    </a:solidFill>
                    <a:latin typeface="MiSans"/>
                    <a:ea typeface="MiSans"/>
                  </a:rPr>
                  <a:t> from infinity to a point </a:t>
                </a:r>
                <a14:m>
                  <m:oMath xmlns:m="http://schemas.openxmlformats.org/officeDocument/2006/math"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1125" noProof="1">
                    <a:solidFill>
                      <a:srgbClr val="1C2B33"/>
                    </a:solidFill>
                    <a:latin typeface="MiSans"/>
                    <a:ea typeface="MiSans"/>
                  </a:rPr>
                  <a:t> from a mass </a:t>
                </a:r>
                <a14:m>
                  <m:oMath xmlns:m="http://schemas.openxmlformats.org/officeDocument/2006/math">
                    <m:r>
                      <a:rPr lang="en-US" sz="1125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sz="1125" noProof="1">
                    <a:solidFill>
                      <a:srgbClr val="1C2B33"/>
                    </a:solidFill>
                    <a:latin typeface="MiSans"/>
                    <a:ea typeface="MiSans"/>
                  </a:rPr>
                  <a:t>?</a:t>
                </a:r>
                <a:endParaRPr sz="1125" noProof="1">
                  <a:solidFill>
                    <a:srgbClr val="1C2B33"/>
                  </a:solidFill>
                  <a:latin typeface="MiSans"/>
                  <a:ea typeface="MiSans"/>
                </a:endParaRPr>
              </a:p>
            </p:txBody>
          </p:sp>
        </mc:Choice>
        <mc:Fallback>
          <p:sp>
            <p:nvSpPr>
              <p:cNvPr id="18" name="dsl:te1-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152650"/>
                <a:ext cx="5029200" cy="58102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dsl:te1-st"/>
              <p:cNvSpPr txBox="1"/>
              <p:nvPr/>
            </p:nvSpPr>
            <p:spPr>
              <a:xfrm>
                <a:off x="6248400" y="2981325"/>
                <a:ext cx="5334000" cy="466725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35000"/>
                  </a:lnSpc>
                </a:pPr>
                <a:r>
                  <a:rPr sz="1125" b="1" noProof="1">
                    <a:solidFill>
                      <a:srgbClr val="1C2B33"/>
                    </a:solidFill>
                    <a:latin typeface="MiSans"/>
                    <a:ea typeface="MiSans"/>
                  </a:rPr>
                  <a:t>1.</a:t>
                </a:r>
                <a:r>
                  <a:rPr sz="1125" noProof="1">
                    <a:solidFill>
                      <a:srgbClr val="1C2B33"/>
                    </a:solidFill>
                    <a:latin typeface="MiSans"/>
                    <a:ea typeface="MiSan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25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25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125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1125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125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125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𝛥</m:t>
                    </m:r>
                    <m:sSub>
                      <m:sSubPr>
                        <m:ctrlPr>
                          <a:rPr lang="en-US" sz="1125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25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125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1125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125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1125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1125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1125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a:p>
              <a:p>
                <a:pPr algn="l">
                  <a:lnSpc>
                    <a:spcPct val="135000"/>
                  </a:lnSpc>
                </a:pPr>
                <a:r>
                  <a:rPr sz="1125" b="1" noProof="1">
                    <a:solidFill>
                      <a:srgbClr val="1C2B33"/>
                    </a:solidFill>
                    <a:latin typeface="MiSans"/>
                    <a:ea typeface="MiSans"/>
                  </a:rPr>
                  <a:t>2.</a:t>
                </a:r>
                <a:r>
                  <a:rPr sz="1125" noProof="1">
                    <a:solidFill>
                      <a:srgbClr val="1C2B33"/>
                    </a:solidFill>
                    <a:latin typeface="MiSans"/>
                    <a:ea typeface="MiSans"/>
                  </a:rPr>
                  <a:t> Field does positive work: </a:t>
                </a:r>
                <a14:m>
                  <m:oMath xmlns:m="http://schemas.openxmlformats.org/officeDocument/2006/math">
                    <m:r>
                      <a:rPr lang="en-US" sz="1125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125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67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125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endParaRPr sz="1125" noProof="1">
                  <a:solidFill>
                    <a:srgbClr val="1C2B33"/>
                  </a:solidFill>
                  <a:latin typeface="MiSans"/>
                  <a:ea typeface="MiSans"/>
                </a:endParaRPr>
              </a:p>
            </p:txBody>
          </p:sp>
        </mc:Choice>
        <mc:Fallback>
          <p:sp>
            <p:nvSpPr>
              <p:cNvPr id="19" name="dsl:te1-s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2981325"/>
                <a:ext cx="5334000" cy="466725"/>
              </a:xfrm>
              <a:prstGeom prst="rect">
                <a:avLst/>
              </a:prstGeom>
              <a:blipFill rotWithShape="1">
                <a:blip r:embed="rId5"/>
                <a:stretch>
                  <a:fillRect b="-555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dsl:te1-abg"/>
          <p:cNvSpPr/>
          <p:nvPr/>
        </p:nvSpPr>
        <p:spPr>
          <a:xfrm>
            <a:off x="6248400" y="35623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te1-abar"/>
          <p:cNvSpPr/>
          <p:nvPr/>
        </p:nvSpPr>
        <p:spPr>
          <a:xfrm>
            <a:off x="6248400" y="35623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dsl:te1-ans"/>
              <p:cNvSpPr txBox="1"/>
              <p:nvPr/>
            </p:nvSpPr>
            <p:spPr>
              <a:xfrm>
                <a:off x="6419850" y="3562350"/>
                <a:ext cx="5029200" cy="438150"/>
              </a:xfrm>
              <a:prstGeom prst="rect">
                <a:avLst/>
              </a:prstGeom>
              <a:noFill/>
            </p:spPr>
            <p:txBody>
              <a:bodyPr wrap="square" anchor="ctr">
                <a:noAutofit/>
              </a:bodyPr>
              <a:lstStyle/>
              <a:p>
                <a:pPr algn="l"/>
                <a:r>
                  <a:rPr sz="1200" b="1" noProof="1">
                    <a:solidFill>
                      <a:srgbClr val="1C2B33"/>
                    </a:solidFill>
                    <a:latin typeface="MiSans"/>
                    <a:ea typeface="MiSans"/>
                  </a:rPr>
                  <a:t>Answer</a:t>
                </a:r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　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>
                            <a:solidFill>
                              <a:srgbClr val="D97D29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endParaRPr sz="1200" noProof="1">
                  <a:solidFill>
                    <a:srgbClr val="1C2B33"/>
                  </a:solidFill>
                  <a:latin typeface="MiSans"/>
                  <a:ea typeface="MiSans"/>
                </a:endParaRPr>
              </a:p>
            </p:txBody>
          </p:sp>
        </mc:Choice>
        <mc:Fallback>
          <p:sp>
            <p:nvSpPr>
              <p:cNvPr id="22" name="dsl:te1-an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850" y="3562350"/>
                <a:ext cx="5029200" cy="4381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TOPIC 13 · CIE 9702 A2 PHYSICS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75" b="1" noProof="1">
                <a:solidFill>
                  <a:srgbClr val="0E4D64"/>
                </a:solidFill>
                <a:latin typeface="QuattrocentoSans"/>
                <a:ea typeface="MiSans"/>
              </a:rPr>
              <a:t>Class Practice</a:t>
            </a:r>
            <a:endParaRPr sz="2175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随堂练习</a:t>
            </a:r>
            <a:endParaRPr sz="120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13 Gravitational Fields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13 / 15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9" name="dsl:pq0-bg"/>
          <p:cNvSpPr/>
          <p:nvPr/>
        </p:nvSpPr>
        <p:spPr>
          <a:xfrm>
            <a:off x="609600" y="179070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pq0-num"/>
          <p:cNvSpPr/>
          <p:nvPr/>
        </p:nvSpPr>
        <p:spPr>
          <a:xfrm>
            <a:off x="609600" y="179070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pq0-n"/>
          <p:cNvSpPr txBox="1"/>
          <p:nvPr/>
        </p:nvSpPr>
        <p:spPr>
          <a:xfrm>
            <a:off x="609600" y="179070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350" b="1" noProof="1">
                <a:solidFill>
                  <a:srgbClr val="FFFFFF"/>
                </a:solidFill>
                <a:latin typeface="MiSans"/>
                <a:ea typeface="MiSans"/>
              </a:rPr>
              <a:t>Q1</a:t>
            </a:r>
            <a:endParaRPr sz="1350" b="1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dsl:pq0-t"/>
              <p:cNvSpPr txBox="1"/>
              <p:nvPr/>
            </p:nvSpPr>
            <p:spPr>
              <a:xfrm>
                <a:off x="1409700" y="1885950"/>
                <a:ext cx="9944100" cy="419100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35000"/>
                  </a:lnSpc>
                </a:pPr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Pluto has mass </a:t>
                </a:r>
                <a14:m>
                  <m:oMath xmlns:m="http://schemas.openxmlformats.org/officeDocument/2006/math"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 and the Sun has mass </a:t>
                </a:r>
                <a14:m>
                  <m:oMath xmlns:m="http://schemas.openxmlformats.org/officeDocument/2006/math"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. Calculate the force of attraction between them when their separation is </a:t>
                </a:r>
                <a14:m>
                  <m:oMath xmlns:m="http://schemas.openxmlformats.org/officeDocument/2006/math"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.</a:t>
                </a:r>
                <a:endParaRPr sz="1200" noProof="1">
                  <a:solidFill>
                    <a:srgbClr val="1C2B33"/>
                  </a:solidFill>
                  <a:latin typeface="MiSans"/>
                  <a:ea typeface="MiSans"/>
                </a:endParaRPr>
              </a:p>
            </p:txBody>
          </p:sp>
        </mc:Choice>
        <mc:Fallback>
          <p:sp>
            <p:nvSpPr>
              <p:cNvPr id="12" name="dsl:pq0-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700" y="1885950"/>
                <a:ext cx="9944100" cy="419100"/>
              </a:xfrm>
              <a:prstGeom prst="rect">
                <a:avLst/>
              </a:prstGeom>
              <a:blipFill rotWithShape="1">
                <a:blip r:embed="rId1"/>
                <a:stretch>
                  <a:fillRect b="-32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dsl:pq1-bg"/>
          <p:cNvSpPr/>
          <p:nvPr/>
        </p:nvSpPr>
        <p:spPr>
          <a:xfrm>
            <a:off x="609600" y="2533650"/>
            <a:ext cx="10972800" cy="80962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pq1-num"/>
          <p:cNvSpPr/>
          <p:nvPr/>
        </p:nvSpPr>
        <p:spPr>
          <a:xfrm>
            <a:off x="609600" y="2533650"/>
            <a:ext cx="609600" cy="80962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pq1-n"/>
          <p:cNvSpPr txBox="1"/>
          <p:nvPr/>
        </p:nvSpPr>
        <p:spPr>
          <a:xfrm>
            <a:off x="609600" y="2533650"/>
            <a:ext cx="609600" cy="809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350" b="1" noProof="1">
                <a:solidFill>
                  <a:srgbClr val="FFFFFF"/>
                </a:solidFill>
                <a:latin typeface="MiSans"/>
                <a:ea typeface="MiSans"/>
              </a:rPr>
              <a:t>Q2</a:t>
            </a:r>
            <a:endParaRPr sz="1350" b="1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dsl:pq1-t"/>
              <p:cNvSpPr txBox="1"/>
              <p:nvPr/>
            </p:nvSpPr>
            <p:spPr>
              <a:xfrm>
                <a:off x="1409700" y="2628900"/>
                <a:ext cx="9944100" cy="619125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35000"/>
                  </a:lnSpc>
                </a:pPr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A meteorite of mass 220 kg falls from rest at infinity to the Earth’s surface (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). Calculate (a) its change in gravitational potential energy; (b) the speed at which it strikes the Earth.</a:t>
                </a:r>
                <a:endParaRPr sz="1200" noProof="1">
                  <a:solidFill>
                    <a:srgbClr val="1C2B33"/>
                  </a:solidFill>
                  <a:latin typeface="MiSans"/>
                  <a:ea typeface="MiSans"/>
                </a:endParaRPr>
              </a:p>
            </p:txBody>
          </p:sp>
        </mc:Choice>
        <mc:Fallback>
          <p:sp>
            <p:nvSpPr>
              <p:cNvPr id="16" name="dsl:pq1-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700" y="2628900"/>
                <a:ext cx="9944100" cy="61912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dsl:pq2-bg"/>
          <p:cNvSpPr/>
          <p:nvPr/>
        </p:nvSpPr>
        <p:spPr>
          <a:xfrm>
            <a:off x="609600" y="3476625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pq2-num"/>
          <p:cNvSpPr/>
          <p:nvPr/>
        </p:nvSpPr>
        <p:spPr>
          <a:xfrm>
            <a:off x="609600" y="3476625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pq2-n"/>
          <p:cNvSpPr txBox="1"/>
          <p:nvPr/>
        </p:nvSpPr>
        <p:spPr>
          <a:xfrm>
            <a:off x="609600" y="3476625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350" b="1" noProof="1">
                <a:solidFill>
                  <a:srgbClr val="FFFFFF"/>
                </a:solidFill>
                <a:latin typeface="MiSans"/>
                <a:ea typeface="MiSans"/>
              </a:rPr>
              <a:t>Q3</a:t>
            </a:r>
            <a:endParaRPr sz="1350" b="1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dsl:pq2-t"/>
              <p:cNvSpPr txBox="1"/>
              <p:nvPr/>
            </p:nvSpPr>
            <p:spPr>
              <a:xfrm>
                <a:off x="1409700" y="3571875"/>
                <a:ext cx="9944100" cy="419100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35000"/>
                  </a:lnSpc>
                </a:pPr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Explain why gravitational potential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 is negative everywhere, and what the zero of potential is. 为什么引力势处处为负？</a:t>
                </a:r>
                <a:endParaRPr sz="1200" noProof="1">
                  <a:solidFill>
                    <a:srgbClr val="1C2B33"/>
                  </a:solidFill>
                  <a:latin typeface="MiSans"/>
                  <a:ea typeface="MiSans"/>
                </a:endParaRPr>
              </a:p>
            </p:txBody>
          </p:sp>
        </mc:Choice>
        <mc:Fallback>
          <p:sp>
            <p:nvSpPr>
              <p:cNvPr id="20" name="dsl:pq2-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700" y="3571875"/>
                <a:ext cx="9944100" cy="4191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dsl:pq-ans"/>
              <p:cNvSpPr txBox="1"/>
              <p:nvPr/>
            </p:nvSpPr>
            <p:spPr>
              <a:xfrm>
                <a:off x="609600" y="6096000"/>
                <a:ext cx="10972800" cy="285750"/>
              </a:xfrm>
              <a:prstGeom prst="rect">
                <a:avLst/>
              </a:prstGeom>
              <a:noFill/>
            </p:spPr>
            <p:txBody>
              <a:bodyPr wrap="square" anchor="ctr">
                <a:noAutofit/>
              </a:bodyPr>
              <a:lstStyle/>
              <a:p>
                <a:pPr algn="l"/>
                <a:r>
                  <a:rPr sz="975" b="1" noProof="1">
                    <a:solidFill>
                      <a:srgbClr val="5C7A84"/>
                    </a:solidFill>
                    <a:latin typeface="MiSans"/>
                    <a:ea typeface="MiSans"/>
                  </a:rPr>
                  <a:t>Answers</a:t>
                </a:r>
                <a:r>
                  <a:rPr sz="975" noProof="1">
                    <a:solidFill>
                      <a:srgbClr val="5C7A84"/>
                    </a:solidFill>
                    <a:latin typeface="MiSans"/>
                    <a:ea typeface="MiSans"/>
                  </a:rPr>
                  <a:t>　Q1 </a:t>
                </a:r>
                <a14:m>
                  <m:oMath xmlns:m="http://schemas.openxmlformats.org/officeDocument/2006/math"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975" i="1">
                            <a:solidFill>
                              <a:srgbClr val="5C7A8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975">
                            <a:solidFill>
                              <a:srgbClr val="5C7A84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975">
                            <a:solidFill>
                              <a:srgbClr val="5C7A84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975" noProof="1">
                    <a:solidFill>
                      <a:srgbClr val="5C7A84"/>
                    </a:solidFill>
                    <a:latin typeface="MiSans"/>
                    <a:ea typeface="MiSans"/>
                  </a:rPr>
                  <a:t>　Q2 (a) </a:t>
                </a:r>
                <a14:m>
                  <m:oMath xmlns:m="http://schemas.openxmlformats.org/officeDocument/2006/math"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975" i="1">
                            <a:solidFill>
                              <a:srgbClr val="5C7A8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975">
                            <a:solidFill>
                              <a:srgbClr val="5C7A84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975">
                            <a:solidFill>
                              <a:srgbClr val="5C7A84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975" noProof="1">
                    <a:solidFill>
                      <a:srgbClr val="5C7A84"/>
                    </a:solidFill>
                    <a:latin typeface="MiSans"/>
                    <a:ea typeface="MiSans"/>
                  </a:rPr>
                  <a:t> (b) </a:t>
                </a:r>
                <a14:m>
                  <m:oMath xmlns:m="http://schemas.openxmlformats.org/officeDocument/2006/math"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975" i="1">
                            <a:solidFill>
                              <a:srgbClr val="5C7A8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975">
                            <a:solidFill>
                              <a:srgbClr val="5C7A84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975">
                            <a:solidFill>
                              <a:srgbClr val="5C7A84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sSup>
                      <m:sSupPr>
                        <m:ctrlPr>
                          <a:rPr lang="en-US" sz="975" i="1">
                            <a:solidFill>
                              <a:srgbClr val="5C7A8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975">
                            <a:solidFill>
                              <a:srgbClr val="5C7A84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975">
                            <a:solidFill>
                              <a:srgbClr val="5C7A8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975">
                            <a:solidFill>
                              <a:srgbClr val="5C7A84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975">
                            <a:solidFill>
                              <a:srgbClr val="5C7A84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975">
                            <a:solidFill>
                              <a:srgbClr val="5C7A8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975" noProof="1">
                    <a:solidFill>
                      <a:srgbClr val="5C7A84"/>
                    </a:solidFill>
                    <a:latin typeface="MiSans"/>
                    <a:ea typeface="MiSans"/>
                  </a:rPr>
                  <a:t>　Q3 potential is defined zero at infinity; the field does positive work pulling mass in, so potential decreases below zero.</a:t>
                </a:r>
                <a:endParaRPr sz="975" noProof="1">
                  <a:solidFill>
                    <a:srgbClr val="5C7A84"/>
                  </a:solidFill>
                  <a:latin typeface="MiSans"/>
                  <a:ea typeface="MiSans"/>
                </a:endParaRPr>
              </a:p>
            </p:txBody>
          </p:sp>
        </mc:Choice>
        <mc:Fallback>
          <p:sp>
            <p:nvSpPr>
              <p:cNvPr id="21" name="dsl:pq-an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6096000"/>
                <a:ext cx="10972800" cy="2857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TOPIC 13 · CIE 9702 A2 PHYSICS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75" b="1" noProof="1">
                <a:solidFill>
                  <a:srgbClr val="0E4D64"/>
                </a:solidFill>
                <a:latin typeface="QuattrocentoSans"/>
                <a:ea typeface="MiSans"/>
              </a:rPr>
              <a:t>Summary</a:t>
            </a:r>
            <a:endParaRPr sz="2175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本章小结</a:t>
            </a:r>
            <a:endParaRPr sz="120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13 Gravitational Fields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14 / 15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9" name="dsl:sm-h1|s=$badge"/>
          <p:cNvSpPr txBox="1"/>
          <p:nvPr/>
        </p:nvSpPr>
        <p:spPr>
          <a:xfrm>
            <a:off x="609600" y="1733550"/>
            <a:ext cx="5715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KEY FORMULAS 核心公式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10" name="dsl:smf0-bg"/>
          <p:cNvSpPr/>
          <p:nvPr/>
        </p:nvSpPr>
        <p:spPr>
          <a:xfrm>
            <a:off x="609600" y="20574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dsl:smf0-f"/>
              <p:cNvSpPr txBox="1"/>
              <p:nvPr/>
            </p:nvSpPr>
            <p:spPr>
              <a:xfrm>
                <a:off x="762000" y="2095500"/>
                <a:ext cx="3248025" cy="28575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25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425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1" name="dsl:smf0-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095500"/>
                <a:ext cx="3248025" cy="285750"/>
              </a:xfrm>
              <a:prstGeom prst="rect">
                <a:avLst/>
              </a:prstGeom>
              <a:blipFill rotWithShape="1">
                <a:blip r:embed="rId1"/>
                <a:stretch>
                  <a:fillRect t="-20444" b="-20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dsl:smf0-n"/>
          <p:cNvSpPr txBox="1"/>
          <p:nvPr/>
        </p:nvSpPr>
        <p:spPr>
          <a:xfrm>
            <a:off x="762000" y="23812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field strength 场强定义</a:t>
            </a:r>
            <a:endParaRPr sz="900" noProof="1">
              <a:solidFill>
                <a:srgbClr val="5C7A84"/>
              </a:solidFill>
              <a:latin typeface="MiSans"/>
              <a:ea typeface="MiSans"/>
            </a:endParaRPr>
          </a:p>
        </p:txBody>
      </p:sp>
      <p:sp>
        <p:nvSpPr>
          <p:cNvPr id="13" name="dsl:smf1-bg"/>
          <p:cNvSpPr/>
          <p:nvPr/>
        </p:nvSpPr>
        <p:spPr>
          <a:xfrm>
            <a:off x="4314825" y="20574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dsl:smf1-f"/>
              <p:cNvSpPr txBox="1"/>
              <p:nvPr/>
            </p:nvSpPr>
            <p:spPr>
              <a:xfrm>
                <a:off x="4467225" y="2095500"/>
                <a:ext cx="3248025" cy="28575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25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425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sSub>
                            <m:sSubPr>
                              <m:ctrlPr>
                                <a:rPr lang="en-US" sz="1425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25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425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25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25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425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1425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25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1425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4" name="dsl:smf1-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7225" y="2095500"/>
                <a:ext cx="3248025" cy="285750"/>
              </a:xfrm>
              <a:prstGeom prst="rect">
                <a:avLst/>
              </a:prstGeom>
              <a:blipFill rotWithShape="1">
                <a:blip r:embed="rId2"/>
                <a:stretch>
                  <a:fillRect t="-20889"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dsl:smf1-n"/>
          <p:cNvSpPr txBox="1"/>
          <p:nvPr/>
        </p:nvSpPr>
        <p:spPr>
          <a:xfrm>
            <a:off x="4467225" y="23812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Newton’s law 万有引力</a:t>
            </a:r>
            <a:endParaRPr sz="900" noProof="1">
              <a:solidFill>
                <a:srgbClr val="5C7A84"/>
              </a:solidFill>
              <a:latin typeface="MiSans"/>
              <a:ea typeface="MiSans"/>
            </a:endParaRPr>
          </a:p>
        </p:txBody>
      </p:sp>
      <p:sp>
        <p:nvSpPr>
          <p:cNvPr id="16" name="dsl:smf2-bg"/>
          <p:cNvSpPr/>
          <p:nvPr/>
        </p:nvSpPr>
        <p:spPr>
          <a:xfrm>
            <a:off x="8020050" y="20574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dsl:smf2-f"/>
              <p:cNvSpPr txBox="1"/>
              <p:nvPr/>
            </p:nvSpPr>
            <p:spPr>
              <a:xfrm>
                <a:off x="8172450" y="2095500"/>
                <a:ext cx="3248025" cy="28575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25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425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sSup>
                            <m:sSupPr>
                              <m:ctrlPr>
                                <a:rPr lang="en-US" sz="1425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25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1425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7" name="dsl:smf2-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450" y="2095500"/>
                <a:ext cx="3248025" cy="285750"/>
              </a:xfrm>
              <a:prstGeom prst="rect">
                <a:avLst/>
              </a:prstGeom>
              <a:blipFill rotWithShape="1">
                <a:blip r:embed="rId3"/>
                <a:stretch>
                  <a:fillRect t="-20889"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dsl:smf2-n"/>
          <p:cNvSpPr txBox="1"/>
          <p:nvPr/>
        </p:nvSpPr>
        <p:spPr>
          <a:xfrm>
            <a:off x="8172450" y="23812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point mass 点质量场强</a:t>
            </a:r>
            <a:endParaRPr sz="900" noProof="1">
              <a:solidFill>
                <a:srgbClr val="5C7A84"/>
              </a:solidFill>
              <a:latin typeface="MiSans"/>
              <a:ea typeface="MiSans"/>
            </a:endParaRPr>
          </a:p>
        </p:txBody>
      </p:sp>
      <p:sp>
        <p:nvSpPr>
          <p:cNvPr id="19" name="dsl:smf3-bg"/>
          <p:cNvSpPr/>
          <p:nvPr/>
        </p:nvSpPr>
        <p:spPr>
          <a:xfrm>
            <a:off x="609600" y="27813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dsl:smf3-f"/>
              <p:cNvSpPr txBox="1"/>
              <p:nvPr/>
            </p:nvSpPr>
            <p:spPr>
              <a:xfrm>
                <a:off x="762000" y="2819400"/>
                <a:ext cx="3248025" cy="28575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25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425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25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25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sz="1425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num>
                            <m:den>
                              <m:r>
                                <a:rPr lang="en-US" sz="1425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rad>
                    </m:oMath>
                  </m:oMathPara>
                </a14:m>
              </a:p>
            </p:txBody>
          </p:sp>
        </mc:Choice>
        <mc:Fallback>
          <p:sp>
            <p:nvSpPr>
              <p:cNvPr id="20" name="dsl:smf3-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819400"/>
                <a:ext cx="3248025" cy="285750"/>
              </a:xfrm>
              <a:prstGeom prst="rect">
                <a:avLst/>
              </a:prstGeom>
              <a:blipFill rotWithShape="1">
                <a:blip r:embed="rId4"/>
                <a:stretch>
                  <a:fillRect t="-61778" b="-6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dsl:smf3-n"/>
          <p:cNvSpPr txBox="1"/>
          <p:nvPr/>
        </p:nvSpPr>
        <p:spPr>
          <a:xfrm>
            <a:off x="762000" y="31051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orbital speed 轨道速度</a:t>
            </a:r>
            <a:endParaRPr sz="900" noProof="1">
              <a:solidFill>
                <a:srgbClr val="5C7A84"/>
              </a:solidFill>
              <a:latin typeface="MiSans"/>
              <a:ea typeface="MiSans"/>
            </a:endParaRPr>
          </a:p>
        </p:txBody>
      </p:sp>
      <p:sp>
        <p:nvSpPr>
          <p:cNvPr id="22" name="dsl:smf4-bg"/>
          <p:cNvSpPr/>
          <p:nvPr/>
        </p:nvSpPr>
        <p:spPr>
          <a:xfrm>
            <a:off x="4314825" y="27813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dsl:smf4-f"/>
              <p:cNvSpPr txBox="1"/>
              <p:nvPr/>
            </p:nvSpPr>
            <p:spPr>
              <a:xfrm>
                <a:off x="4467225" y="2819400"/>
                <a:ext cx="3248025" cy="28575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1425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425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25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sz="1425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25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425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425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25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1425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23" name="dsl:smf4-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7225" y="2819400"/>
                <a:ext cx="3248025" cy="285750"/>
              </a:xfrm>
              <a:prstGeom prst="rect">
                <a:avLst/>
              </a:prstGeom>
              <a:blipFill rotWithShape="1">
                <a:blip r:embed="rId5"/>
                <a:stretch>
                  <a:fillRect t="-25111" b="-2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dsl:smf4-n"/>
          <p:cNvSpPr txBox="1"/>
          <p:nvPr/>
        </p:nvSpPr>
        <p:spPr>
          <a:xfrm>
            <a:off x="4467225" y="31051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orbital period 轨道周期</a:t>
            </a:r>
            <a:endParaRPr sz="900" noProof="1">
              <a:solidFill>
                <a:srgbClr val="5C7A84"/>
              </a:solidFill>
              <a:latin typeface="MiSans"/>
              <a:ea typeface="MiSans"/>
            </a:endParaRPr>
          </a:p>
        </p:txBody>
      </p:sp>
      <p:sp>
        <p:nvSpPr>
          <p:cNvPr id="25" name="dsl:smf5-bg"/>
          <p:cNvSpPr/>
          <p:nvPr/>
        </p:nvSpPr>
        <p:spPr>
          <a:xfrm>
            <a:off x="8020050" y="27813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dsl:smf5-f"/>
              <p:cNvSpPr txBox="1"/>
              <p:nvPr/>
            </p:nvSpPr>
            <p:spPr>
              <a:xfrm>
                <a:off x="8172450" y="2819400"/>
                <a:ext cx="3248025" cy="28575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25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sz="1425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25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26" name="dsl:smf5-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450" y="2819400"/>
                <a:ext cx="3248025" cy="285750"/>
              </a:xfrm>
              <a:prstGeom prst="rect">
                <a:avLst/>
              </a:prstGeom>
              <a:blipFill rotWithShape="1">
                <a:blip r:embed="rId6"/>
                <a:stretch>
                  <a:fillRect t="-20667" b="-20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dsl:smf5-n"/>
          <p:cNvSpPr txBox="1"/>
          <p:nvPr/>
        </p:nvSpPr>
        <p:spPr>
          <a:xfrm>
            <a:off x="8172450" y="31051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potential 引力势</a:t>
            </a:r>
            <a:endParaRPr sz="900" noProof="1">
              <a:solidFill>
                <a:srgbClr val="5C7A84"/>
              </a:solidFill>
              <a:latin typeface="MiSans"/>
              <a:ea typeface="MiSans"/>
            </a:endParaRPr>
          </a:p>
        </p:txBody>
      </p:sp>
      <p:sp>
        <p:nvSpPr>
          <p:cNvPr id="28" name="dsl:smf6-bg"/>
          <p:cNvSpPr/>
          <p:nvPr/>
        </p:nvSpPr>
        <p:spPr>
          <a:xfrm>
            <a:off x="609600" y="35052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dsl:smf6-f"/>
              <p:cNvSpPr txBox="1"/>
              <p:nvPr/>
            </p:nvSpPr>
            <p:spPr>
              <a:xfrm>
                <a:off x="762000" y="3543300"/>
                <a:ext cx="3248025" cy="28575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1425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25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29" name="dsl:smf6-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543300"/>
                <a:ext cx="3248025" cy="285750"/>
              </a:xfrm>
              <a:prstGeom prst="rect">
                <a:avLst/>
              </a:prstGeom>
              <a:blipFill rotWithShape="1">
                <a:blip r:embed="rId7"/>
                <a:stretch>
                  <a:fillRect t="-20667" b="-20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dsl:smf6-n"/>
          <p:cNvSpPr txBox="1"/>
          <p:nvPr/>
        </p:nvSpPr>
        <p:spPr>
          <a:xfrm>
            <a:off x="762000" y="38290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potential energy 引力势能</a:t>
            </a:r>
            <a:endParaRPr sz="900" noProof="1">
              <a:solidFill>
                <a:srgbClr val="5C7A84"/>
              </a:solidFill>
              <a:latin typeface="MiSans"/>
              <a:ea typeface="MiSans"/>
            </a:endParaRPr>
          </a:p>
        </p:txBody>
      </p:sp>
      <p:sp>
        <p:nvSpPr>
          <p:cNvPr id="31" name="dsl:smf7-bg"/>
          <p:cNvSpPr/>
          <p:nvPr/>
        </p:nvSpPr>
        <p:spPr>
          <a:xfrm>
            <a:off x="4314825" y="35052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dsl:smf7-f"/>
              <p:cNvSpPr txBox="1"/>
              <p:nvPr/>
            </p:nvSpPr>
            <p:spPr>
              <a:xfrm>
                <a:off x="4467225" y="3543300"/>
                <a:ext cx="3248025" cy="28575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425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425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25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25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425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sz="1425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num>
                            <m:den>
                              <m:r>
                                <a:rPr lang="en-US" sz="1425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</m:e>
                      </m:rad>
                    </m:oMath>
                  </m:oMathPara>
                </a14:m>
              </a:p>
            </p:txBody>
          </p:sp>
        </mc:Choice>
        <mc:Fallback>
          <p:sp>
            <p:nvSpPr>
              <p:cNvPr id="32" name="dsl:smf7-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7225" y="3543300"/>
                <a:ext cx="3248025" cy="285750"/>
              </a:xfrm>
              <a:prstGeom prst="rect">
                <a:avLst/>
              </a:prstGeom>
              <a:blipFill rotWithShape="1">
                <a:blip r:embed="rId8"/>
                <a:stretch>
                  <a:fillRect t="-61778" b="-6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dsl:smf7-n"/>
          <p:cNvSpPr txBox="1"/>
          <p:nvPr/>
        </p:nvSpPr>
        <p:spPr>
          <a:xfrm>
            <a:off x="4467225" y="38290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escape velocity 逃逸速度</a:t>
            </a:r>
            <a:endParaRPr sz="900" noProof="1">
              <a:solidFill>
                <a:srgbClr val="5C7A84"/>
              </a:solidFill>
              <a:latin typeface="MiSans"/>
              <a:ea typeface="MiSans"/>
            </a:endParaRPr>
          </a:p>
        </p:txBody>
      </p:sp>
      <p:sp>
        <p:nvSpPr>
          <p:cNvPr id="34" name="dsl:sm-h2|s=$badge"/>
          <p:cNvSpPr txBox="1"/>
          <p:nvPr/>
        </p:nvSpPr>
        <p:spPr>
          <a:xfrm>
            <a:off x="609600" y="4324350"/>
            <a:ext cx="5715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KEY IDEAS 核心思想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35" name="dsl:sm-ideas"/>
          <p:cNvSpPr txBox="1"/>
          <p:nvPr/>
        </p:nvSpPr>
        <p:spPr>
          <a:xfrm>
            <a:off x="609600" y="4629150"/>
            <a:ext cx="10972800" cy="7810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A gravitational field is a region where a mass experiences a force; field strength is force per unit mass. 场强=单位质量受力。</a:t>
            </a:r>
            <a:endParaRPr sz="1200" noProof="1">
              <a:solidFill>
                <a:srgbClr val="1C2B33"/>
              </a:solidFill>
              <a:latin typeface="MiSans"/>
              <a:ea typeface="MiSans"/>
            </a:endParaRP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Gravity provides the centripetal force for orbits — this links Topics 12 &amp; 13. 引力充当向心力是轨道问题的核心。</a:t>
            </a:r>
            <a:endParaRPr sz="1200" noProof="1">
              <a:solidFill>
                <a:srgbClr val="1C2B33"/>
              </a:solidFill>
              <a:latin typeface="MiSans"/>
              <a:ea typeface="MiSans"/>
            </a:endParaRP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Potential and potential energy are negative because zero is set at infinity. 无穷远为零点 ⇒ 势能处处为负。</a:t>
            </a:r>
            <a:endParaRPr sz="1200" noProof="1">
              <a:solidFill>
                <a:srgbClr val="1C2B33"/>
              </a:solidFill>
              <a:latin typeface="MiSans"/>
              <a:ea typeface="Mi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TOPIC 13 · CIE 9702 A2 PHYSICS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75" b="1" noProof="1">
                <a:solidFill>
                  <a:srgbClr val="0E4D64"/>
                </a:solidFill>
                <a:latin typeface="QuattrocentoSans"/>
                <a:ea typeface="MiSans"/>
              </a:rPr>
              <a:t>Exam Tips</a:t>
            </a:r>
            <a:endParaRPr sz="2175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备考提示</a:t>
            </a:r>
            <a:endParaRPr sz="120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13 Gravitational Fields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15 / 15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9" name="dsl:tp0-bg"/>
          <p:cNvSpPr/>
          <p:nvPr/>
        </p:nvSpPr>
        <p:spPr>
          <a:xfrm>
            <a:off x="609600" y="179070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sl:tp0-ic|i=fas:ruler-combined" descr="tmpxmclui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9240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tp0-t"/>
          <p:cNvSpPr txBox="1"/>
          <p:nvPr/>
        </p:nvSpPr>
        <p:spPr>
          <a:xfrm>
            <a:off x="1143000" y="1885950"/>
            <a:ext cx="102108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1" noProof="1">
                <a:solidFill>
                  <a:srgbClr val="1C2B33"/>
                </a:solidFill>
                <a:latin typeface="MiSans"/>
                <a:ea typeface="MiSans"/>
              </a:rPr>
              <a:t>Use the centre-to-centre distance 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, not the height above the surface — the most common loss of marks. 用质心间距而非高度。</a:t>
            </a:r>
            <a:endParaRPr sz="1200" noProof="1">
              <a:solidFill>
                <a:srgbClr val="1C2B33"/>
              </a:solidFill>
              <a:latin typeface="MiSans"/>
              <a:ea typeface="MiSans"/>
            </a:endParaRPr>
          </a:p>
        </p:txBody>
      </p:sp>
      <p:sp>
        <p:nvSpPr>
          <p:cNvPr id="12" name="dsl:tp1-bg"/>
          <p:cNvSpPr/>
          <p:nvPr/>
        </p:nvSpPr>
        <p:spPr>
          <a:xfrm>
            <a:off x="609600" y="251460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tp1-ic|i=fas:pen-nib" descr="tmpxmclui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647950"/>
            <a:ext cx="209550" cy="209550"/>
          </a:xfrm>
          <a:prstGeom prst="rect">
            <a:avLst/>
          </a:prstGeom>
          <a:ln>
            <a:noFill/>
          </a:ln>
          <a:effectLst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dsl:tp1-t"/>
              <p:cNvSpPr txBox="1"/>
              <p:nvPr/>
            </p:nvSpPr>
            <p:spPr>
              <a:xfrm>
                <a:off x="1143000" y="2609850"/>
                <a:ext cx="10210800" cy="419100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35000"/>
                  </a:lnSpc>
                </a:pPr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State that </a:t>
                </a:r>
                <a:r>
                  <a:rPr sz="1200" b="1" noProof="1">
                    <a:solidFill>
                      <a:srgbClr val="1C2B33"/>
                    </a:solidFill>
                    <a:latin typeface="MiSans"/>
                    <a:ea typeface="MiSans"/>
                  </a:rPr>
                  <a:t>gravity provides the centripetal force</a:t>
                </a:r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 before writing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120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 — this earns the first mark. 先写"引力提供向心力"。</a:t>
                </a:r>
                <a:endParaRPr sz="1200" noProof="1">
                  <a:solidFill>
                    <a:srgbClr val="1C2B33"/>
                  </a:solidFill>
                  <a:latin typeface="MiSans"/>
                  <a:ea typeface="MiSans"/>
                </a:endParaRPr>
              </a:p>
            </p:txBody>
          </p:sp>
        </mc:Choice>
        <mc:Fallback>
          <p:sp>
            <p:nvSpPr>
              <p:cNvPr id="14" name="dsl:tp1-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2609850"/>
                <a:ext cx="10210800" cy="419100"/>
              </a:xfrm>
              <a:prstGeom prst="rect">
                <a:avLst/>
              </a:prstGeom>
              <a:blipFill rotWithShape="1">
                <a:blip r:embed="rId2"/>
                <a:stretch>
                  <a:fillRect b="-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dsl:tp2-bg"/>
          <p:cNvSpPr/>
          <p:nvPr/>
        </p:nvSpPr>
        <p:spPr>
          <a:xfrm>
            <a:off x="609600" y="323850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sl:tp2-ic|i=fas:circle-exclamation" descr="tmpxmclui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371850"/>
            <a:ext cx="209550" cy="209550"/>
          </a:xfrm>
          <a:prstGeom prst="rect">
            <a:avLst/>
          </a:prstGeom>
          <a:ln>
            <a:noFill/>
          </a:ln>
          <a:effectLst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dsl:tp2-t"/>
              <p:cNvSpPr txBox="1"/>
              <p:nvPr/>
            </p:nvSpPr>
            <p:spPr>
              <a:xfrm>
                <a:off x="1143000" y="3333750"/>
                <a:ext cx="10210800" cy="419100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35000"/>
                  </a:lnSpc>
                </a:pPr>
                <a:r>
                  <a:rPr sz="1200" b="1" noProof="1">
                    <a:solidFill>
                      <a:srgbClr val="1C2B33"/>
                    </a:solidFill>
                    <a:latin typeface="MiSans"/>
                    <a:ea typeface="MiSans"/>
                  </a:rPr>
                  <a:t>Negative sign</a:t>
                </a:r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 are negative; work done </a:t>
                </a:r>
                <a:r>
                  <a:rPr sz="1200" i="1" noProof="1">
                    <a:solidFill>
                      <a:srgbClr val="1C2B33"/>
                    </a:solidFill>
                    <a:latin typeface="MiSans"/>
                    <a:ea typeface="MiSans"/>
                  </a:rPr>
                  <a:t>by the field</a:t>
                </a:r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 bringing mass in from infinity is positive. 分清"场做功"与"外力做功"符号。</a:t>
                </a:r>
                <a:endParaRPr sz="1200" noProof="1">
                  <a:solidFill>
                    <a:srgbClr val="1C2B33"/>
                  </a:solidFill>
                  <a:latin typeface="MiSans"/>
                  <a:ea typeface="MiSans"/>
                </a:endParaRPr>
              </a:p>
            </p:txBody>
          </p:sp>
        </mc:Choice>
        <mc:Fallback>
          <p:sp>
            <p:nvSpPr>
              <p:cNvPr id="17" name="dsl:tp2-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3333750"/>
                <a:ext cx="10210800" cy="4191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dsl:tp3-bg"/>
          <p:cNvSpPr/>
          <p:nvPr/>
        </p:nvSpPr>
        <p:spPr>
          <a:xfrm>
            <a:off x="609600" y="396240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sl:tp3-ic|i=fas:calculator" descr="tmpxmclui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095750"/>
            <a:ext cx="209550" cy="209550"/>
          </a:xfrm>
          <a:prstGeom prst="rect">
            <a:avLst/>
          </a:prstGeom>
          <a:ln>
            <a:noFill/>
          </a:ln>
          <a:effectLst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0" name="dsl:tp3-t"/>
              <p:cNvSpPr txBox="1"/>
              <p:nvPr/>
            </p:nvSpPr>
            <p:spPr>
              <a:xfrm>
                <a:off x="1143000" y="4057650"/>
                <a:ext cx="10210800" cy="419100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35000"/>
                  </a:lnSpc>
                </a:pPr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Convert all units to SI: km → m, hours → s. Quote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67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sSup>
                      <m:sSup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sSup>
                      <m:sSupPr>
                        <m:ctrlPr>
                          <a:rPr lang="en-US" sz="120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𝑘𝑔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1200" noProof="1">
                    <a:solidFill>
                      <a:srgbClr val="1C2B33"/>
                    </a:solidFill>
                    <a:latin typeface="MiSans"/>
                    <a:ea typeface="MiSans"/>
                  </a:rPr>
                  <a:t> from the data sheet. 统一 SI 单位。</a:t>
                </a:r>
                <a:endParaRPr sz="1200" noProof="1">
                  <a:solidFill>
                    <a:srgbClr val="1C2B33"/>
                  </a:solidFill>
                  <a:latin typeface="MiSans"/>
                  <a:ea typeface="MiSans"/>
                </a:endParaRPr>
              </a:p>
            </p:txBody>
          </p:sp>
        </mc:Choice>
        <mc:Fallback>
          <p:sp>
            <p:nvSpPr>
              <p:cNvPr id="20" name="dsl:tp3-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4057650"/>
                <a:ext cx="10210800" cy="4191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dsl:tp4-bg"/>
          <p:cNvSpPr/>
          <p:nvPr/>
        </p:nvSpPr>
        <p:spPr>
          <a:xfrm>
            <a:off x="609600" y="468630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dsl:tp4-ic|i=fas:satellite" descr="tmpxmclui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8196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3" name="dsl:tp4-t"/>
          <p:cNvSpPr txBox="1"/>
          <p:nvPr/>
        </p:nvSpPr>
        <p:spPr>
          <a:xfrm>
            <a:off x="1143000" y="4781550"/>
            <a:ext cx="102108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Geostationary answers need </a:t>
            </a:r>
            <a:r>
              <a:rPr sz="1200" b="1" noProof="1">
                <a:solidFill>
                  <a:srgbClr val="1C2B33"/>
                </a:solidFill>
                <a:latin typeface="MiSans"/>
                <a:ea typeface="MiSans"/>
              </a:rPr>
              <a:t>all four conditions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: 24 h period, above the Equator, west to east, same point above ground. 同步轨道条件要写全。</a:t>
            </a:r>
            <a:endParaRPr sz="1200" noProof="1">
              <a:solidFill>
                <a:srgbClr val="1C2B33"/>
              </a:solidFill>
              <a:latin typeface="MiSans"/>
              <a:ea typeface="Mi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0E4D64"/>
    <Color name="primaryDark" value="#093748"/>
    <Color name="secondary" value="#5C7A84"/>
    <Color name="accent" value="#D97D29"/>
    <Color name="accentSoft" value="#FBEFE1"/>
    <Color name="background" value="#FBFAF7"/>
    <Color name="card" value="#EEF3F3"/>
    <Color name="cardDeep" value="#E2EBEC"/>
    <Color name="line" value="#D5DFE0"/>
    <Color name="text" value="#1C2B33"/>
    <Color name="white" value="#FFFFFF"/>
  </Colors>
  <TextStyles>
    <TextStyle name="badge" font_size="13.0" color="$accent" font_family="QuattrocentoSans, MiSans" letter_spacing="2.0"/>
    <TextStyle name="title" font_size="29.0" color="$primary" font_family="QuattrocentoSans, MiSans"/>
    <TextStyle name="subtitle" font_size="16.0" color="$secondary" font_family="QuattrocentoSans, MiSans"/>
    <TextStyle name="body" font_size="18.0" color="$text" font_family="QuattrocentoSans, MiSans" line_height="1.5"/>
    <TextStyle name="small" font_size="14.0" color="$secondary" font_family="QuattrocentoSans, MiSans" line_height="1.4"/>
    <TextStyle name="formula" font_size="22.0" color="$primary" font_family="QuattrocentoSans, MiSans"/>
  </TextStyles>
  <TableStyles>
    <TableStyle name="default" fontSize="16.0" fontFamily="QuattrocentoSans, MiSans" headerFill="$primary" headerColor="#FFFFFF" headerBold="true" bodyFill="#FFFFFF,#F2F6F6" bodyColor="$text" firstColumnBold="false">
      <Border style="solid" width="1.0" color="$line"/>
    </TableStyle>
  </TableStyles>
</DslMetadata>
</file>

<file path=customXml/itemProps1.xml><?xml version="1.0" encoding="utf-8"?>
<ds:datastoreItem xmlns:ds="http://schemas.openxmlformats.org/officeDocument/2006/customXml" ds:itemID="{AFB60DE9-FAA2-441A-A983-4A8C3DBB19D8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10118</Words>
  <Application>WPS 演示</Application>
  <PresentationFormat>On-screen Show (4:3)</PresentationFormat>
  <Paragraphs>445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8" baseType="lpstr">
      <vt:lpstr>Arial</vt:lpstr>
      <vt:lpstr>宋体</vt:lpstr>
      <vt:lpstr>Wingdings</vt:lpstr>
      <vt:lpstr>Arial</vt:lpstr>
      <vt:lpstr>QuattrocentoSans</vt:lpstr>
      <vt:lpstr>Segoe Print</vt:lpstr>
      <vt:lpstr>MiSans</vt:lpstr>
      <vt:lpstr>Unna</vt:lpstr>
      <vt:lpstr>siyuanSongti</vt:lpstr>
      <vt:lpstr>Cambria Math</vt:lpstr>
      <vt:lpstr>Calibri</vt:lpstr>
      <vt:lpstr>MiSans Normal</vt:lpstr>
      <vt:lpstr>微软雅黑</vt:lpstr>
      <vt:lpstr>Arial Unicode MS</vt:lpstr>
      <vt:lpstr>Calibri</vt:lpstr>
      <vt:lpstr>MiSans</vt:lpstr>
      <vt:lpstr>QuattrocentoSans</vt:lpstr>
      <vt:lpstr>Unna</vt:lpstr>
      <vt:lpstr>siyuanSongti</vt:lpstr>
      <vt:lpstr>MS PGothic</vt:lpstr>
      <vt:lpstr>Saturday Sans Regular</vt:lpstr>
      <vt:lpstr>MiSans Semibold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WPS_BingqingWang</cp:lastModifiedBy>
  <cp:revision>2</cp:revision>
  <dcterms:created xsi:type="dcterms:W3CDTF">2013-01-27T09:14:00Z</dcterms:created>
  <dcterms:modified xsi:type="dcterms:W3CDTF">2026-08-10T07:37:06Z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0D49B4CB67FF4E2AB455E61A34A2EFA9_12</vt:lpwstr>
  </property>
</Properties>
</file>