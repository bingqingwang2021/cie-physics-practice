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" name="topic-num"/>
          <p:cNvSpPr txBox="1"/>
          <p:nvPr/>
        </p:nvSpPr>
        <p:spPr>
          <a:xfrm>
            <a:off x="1219200" y="93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9702 · TOPIC 10</a:t>
            </a:r>
            <a:endParaRPr lang="en-US" sz="1400" noProof="1"/>
          </a:p>
        </p:txBody>
      </p:sp>
      <p:sp>
        <p:nvSpPr>
          <p:cNvPr id="4" name="title-cn"/>
          <p:cNvSpPr txBox="1"/>
          <p:nvPr/>
        </p:nvSpPr>
        <p:spPr>
          <a:xfrm>
            <a:off x="1219200" y="16256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22303A"/>
                </a:solidFill>
                <a:latin typeface="MiSans"/>
                <a:ea typeface="MiSans"/>
              </a:rPr>
              <a:t>直流电路</a:t>
            </a:r>
            <a:endParaRPr lang="en-US" sz="4600" noProof="1"/>
          </a:p>
        </p:txBody>
      </p:sp>
      <p:sp>
        <p:nvSpPr>
          <p:cNvPr id="5" name="title-en"/>
          <p:cNvSpPr txBox="1"/>
          <p:nvPr/>
        </p:nvSpPr>
        <p:spPr>
          <a:xfrm>
            <a:off x="1219200" y="2565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D.C. Circuits</a:t>
            </a:r>
            <a:endParaRPr lang="en-US" sz="2400" noProof="1"/>
          </a:p>
        </p:txBody>
      </p:sp>
      <p:sp>
        <p:nvSpPr>
          <p:cNvPr id="6" name="cover-rule"/>
          <p:cNvSpPr/>
          <p:nvPr/>
        </p:nvSpPr>
        <p:spPr>
          <a:xfrm>
            <a:off x="1219200" y="3327400"/>
            <a:ext cx="1524000" cy="381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1219200" y="36322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AS Level 自学课件 · 中英双语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依据 CAIE 考纲 · 参考 PMT Education 笔记与 Cambridge 官方教材（Crundell, 3rd edition）</a:t>
            </a:r>
            <a:endParaRPr lang="en-US" sz="1400" noProof="1"/>
          </a:p>
        </p:txBody>
      </p:sp>
      <p:sp>
        <p:nvSpPr>
          <p:cNvPr id="8" name="formula-strip"/>
          <p:cNvSpPr txBox="1"/>
          <p:nvPr/>
        </p:nvSpPr>
        <p:spPr>
          <a:xfrm>
            <a:off x="1219200" y="51308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ε = E/Q  ·  ε = I(R+r)  ·  ε = V + v  ·  R_T = R₁+R₂+…  ·  V_out = V_in × R₂/(R₁+R₂)</a:t>
            </a:r>
            <a:endParaRPr lang="en-US" sz="1500" noProof="1"/>
          </a:p>
        </p:txBody>
      </p:sp>
      <p:sp>
        <p:nvSpPr>
          <p:cNvPr id="9" name="formula-strip-label"/>
          <p:cNvSpPr txBox="1"/>
          <p:nvPr/>
        </p:nvSpPr>
        <p:spPr>
          <a:xfrm>
            <a:off x="1219200" y="5537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电动势、基尔霍夫定律与分压器 —— 电路分析的工具箱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TOPIC 10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本章学完后，你能做到什么？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Learning route — four stops from real batteries to sensor circuits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pine"/>
          <p:cNvSpPr/>
          <p:nvPr/>
        </p:nvSpPr>
        <p:spPr>
          <a:xfrm>
            <a:off x="1117600" y="2032000"/>
            <a:ext cx="25400" cy="3556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752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endParaRPr lang="en-US" sz="2400" noProof="1"/>
          </a:p>
        </p:txBody>
      </p:sp>
      <p:sp>
        <p:nvSpPr>
          <p:cNvPr id="8" name="s1"/>
          <p:cNvSpPr txBox="1"/>
          <p:nvPr/>
        </p:nvSpPr>
        <p:spPr>
          <a:xfrm>
            <a:off x="1625600" y="1778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电动势与内阻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emf 的定义，内阻 r 的存在让"电池电压"打折：端电压 V、损耗电压 v 与 ε = V + v。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Emf, internal resistance, terminal p.d. and lost volts</a:t>
            </a:r>
            <a:endParaRPr lang="en-US" sz="1350" noProof="1"/>
          </a:p>
        </p:txBody>
      </p:sp>
      <p:sp>
        <p:nvSpPr>
          <p:cNvPr id="9" name="n2"/>
          <p:cNvSpPr txBox="1"/>
          <p:nvPr/>
        </p:nvSpPr>
        <p:spPr>
          <a:xfrm>
            <a:off x="762000" y="2641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endParaRPr lang="en-US" sz="2400" noProof="1"/>
          </a:p>
        </p:txBody>
      </p:sp>
      <p:sp>
        <p:nvSpPr>
          <p:cNvPr id="10" name="s2"/>
          <p:cNvSpPr txBox="1"/>
          <p:nvPr/>
        </p:nvSpPr>
        <p:spPr>
          <a:xfrm>
            <a:off x="1625600" y="2667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基尔霍夫两定律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节点电流相等（电荷守恒）、回路电压闭合（能量守恒）——一切电路分析的总纲。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Kirchhoff's laws = conservation of charge and energy in circuits</a:t>
            </a:r>
            <a:endParaRPr lang="en-US" sz="1350" noProof="1"/>
          </a:p>
        </p:txBody>
      </p:sp>
      <p:sp>
        <p:nvSpPr>
          <p:cNvPr id="11" name="n3"/>
          <p:cNvSpPr txBox="1"/>
          <p:nvPr/>
        </p:nvSpPr>
        <p:spPr>
          <a:xfrm>
            <a:off x="762000" y="3530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endParaRPr lang="en-US" sz="2400" noProof="1"/>
          </a:p>
        </p:txBody>
      </p:sp>
      <p:sp>
        <p:nvSpPr>
          <p:cNvPr id="12" name="s3"/>
          <p:cNvSpPr txBox="1"/>
          <p:nvPr/>
        </p:nvSpPr>
        <p:spPr>
          <a:xfrm>
            <a:off x="1625600" y="3556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串并联与混联化简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串联求和、并联倒数求和；"先并后串"把任意混联电路一步步算成总电阻。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Series and parallel resistors · simplifying mixed networks</a:t>
            </a:r>
            <a:endParaRPr lang="en-US" sz="1350" noProof="1"/>
          </a:p>
        </p:txBody>
      </p:sp>
      <p:sp>
        <p:nvSpPr>
          <p:cNvPr id="13" name="n4"/>
          <p:cNvSpPr txBox="1"/>
          <p:nvPr/>
        </p:nvSpPr>
        <p:spPr>
          <a:xfrm>
            <a:off x="762000" y="4419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endParaRPr lang="en-US" sz="2400" noProof="1"/>
          </a:p>
        </p:txBody>
      </p:sp>
      <p:sp>
        <p:nvSpPr>
          <p:cNvPr id="14" name="s4"/>
          <p:cNvSpPr txBox="1"/>
          <p:nvPr/>
        </p:nvSpPr>
        <p:spPr>
          <a:xfrm>
            <a:off x="1625600" y="4445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分压器与传感器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V_out = V_in × R₂/(R₁+R₂)；LDR、热敏电阻分压电路的推理链与"位置对调、效果反转"。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Potential dividers · LDR and thermistor sensor circuits</a:t>
            </a:r>
            <a:endParaRPr lang="en-US" sz="1350" noProof="1"/>
          </a:p>
        </p:txBody>
      </p:sp>
      <p:sp>
        <p:nvSpPr>
          <p:cNvPr id="15" name="exit-box"/>
          <p:cNvSpPr/>
          <p:nvPr/>
        </p:nvSpPr>
        <p:spPr>
          <a:xfrm>
            <a:off x="762000" y="54864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exit-text"/>
          <p:cNvSpPr txBox="1"/>
          <p:nvPr/>
        </p:nvSpPr>
        <p:spPr>
          <a:xfrm>
            <a:off x="965200" y="55880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出口能力 Exit capability：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能默写两条基尔霍夫定律并说出对应的守恒量；会用 ε = I(R+r) 求电流、端电压与内阻；看到传感器分压电路能按"四步推理链"判断输出电压变化方向。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10.1 · EMF AND INTERNAL RESISTANCE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电动势 ε：电源的"供货能力"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Emf is energy given per coulomb; internal resistance takes its cut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emf-box"/>
          <p:cNvSpPr/>
          <p:nvPr/>
        </p:nvSpPr>
        <p:spPr>
          <a:xfrm>
            <a:off x="762000" y="1701800"/>
            <a:ext cx="5969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emf-text"/>
          <p:cNvSpPr txBox="1"/>
          <p:nvPr/>
        </p:nvSpPr>
        <p:spPr>
          <a:xfrm>
            <a:off x="965200" y="1803400"/>
            <a:ext cx="5562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Electromotive force (emf) 电动势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：the energy transferred by a cell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per coulomb of charge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that passes through it.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ε = E / Q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电源对每库仑电荷转移的能量，单位 V。</a:t>
            </a:r>
            <a:endParaRPr lang="en-US" sz="1350" noProof="1"/>
          </a:p>
        </p:txBody>
      </p:sp>
      <p:sp>
        <p:nvSpPr>
          <p:cNvPr id="8" name="ir-head"/>
          <p:cNvSpPr txBox="1"/>
          <p:nvPr/>
        </p:nvSpPr>
        <p:spPr>
          <a:xfrm>
            <a:off x="762000" y="3124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内阻 Internal resistance (r)</a:t>
            </a:r>
            <a:endParaRPr lang="en-US" sz="1500" noProof="1"/>
          </a:p>
        </p:txBody>
      </p:sp>
      <p:sp>
        <p:nvSpPr>
          <p:cNvPr id="9" name="ir-body"/>
          <p:cNvSpPr txBox="1"/>
          <p:nvPr/>
        </p:nvSpPr>
        <p:spPr>
          <a:xfrm>
            <a:off x="762000" y="34798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电池内部自身存在电阻：电子在电池内部与原子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碰撞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，一部分能量在电子离开电池前就被损耗。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电路模型：理想电源 ε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串联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一个小电阻 r。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总电阻 </a:t>
            </a: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R_T = R + r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（R 为外电路负载）。</a:t>
            </a:r>
            <a:endParaRPr lang="en-US" sz="1350" noProof="1"/>
          </a:p>
        </p:txBody>
      </p:sp>
      <p:sp>
        <p:nvSpPr>
          <p:cNvPr id="10" name="vs-box"/>
          <p:cNvSpPr/>
          <p:nvPr/>
        </p:nvSpPr>
        <p:spPr>
          <a:xfrm>
            <a:off x="762000" y="5207000"/>
            <a:ext cx="596900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vs-text"/>
          <p:cNvSpPr txBox="1"/>
          <p:nvPr/>
        </p:nvSpPr>
        <p:spPr>
          <a:xfrm>
            <a:off x="965200" y="5308600"/>
            <a:ext cx="5562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emf vs p.d.：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单位都是 V，但 emf 是电源"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给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"每库仑的能量，p.d. 是元件"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用掉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"每库仑的能量——定义题别写串。</a:t>
            </a:r>
            <a:endParaRPr lang="en-US" sz="1250" noProof="1"/>
          </a:p>
        </p:txBody>
      </p:sp>
      <p:sp>
        <p:nvSpPr>
          <p:cNvPr id="12" name="right-box"/>
          <p:cNvSpPr/>
          <p:nvPr/>
        </p:nvSpPr>
        <p:spPr>
          <a:xfrm>
            <a:off x="7239000" y="1701800"/>
            <a:ext cx="4191000" cy="215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right-head"/>
          <p:cNvSpPr txBox="1"/>
          <p:nvPr/>
        </p:nvSpPr>
        <p:spPr>
          <a:xfrm>
            <a:off x="7442200" y="1854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例：理解 ε = E/Q</a:t>
            </a:r>
            <a:endParaRPr lang="en-US" sz="1500" noProof="1"/>
          </a:p>
        </p:txBody>
      </p:sp>
      <p:sp>
        <p:nvSpPr>
          <p:cNvPr id="14" name="right-body"/>
          <p:cNvSpPr txBox="1"/>
          <p:nvPr/>
        </p:nvSpPr>
        <p:spPr>
          <a:xfrm>
            <a:off x="7442200" y="2209800"/>
            <a:ext cx="38100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一节电池推动 2.0 C 电荷，共提供 3.0 J 能量：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ε = E/Q = 3.0 ÷ 2.0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1.5 V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即每库仑电荷从电池获得 1.5 J 能量——这就是"1.5 V 电池"的含义。</a:t>
            </a:r>
            <a:endParaRPr lang="en-US" sz="1250" noProof="1"/>
          </a:p>
        </p:txBody>
      </p:sp>
      <p:sp>
        <p:nvSpPr>
          <p:cNvPr id="15" name="tip-box"/>
          <p:cNvSpPr/>
          <p:nvPr/>
        </p:nvSpPr>
        <p:spPr>
          <a:xfrm>
            <a:off x="7239000" y="4089400"/>
            <a:ext cx="4191000" cy="2108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tip-text"/>
          <p:cNvSpPr txBox="1"/>
          <p:nvPr/>
        </p:nvSpPr>
        <p:spPr>
          <a:xfrm>
            <a:off x="7442200" y="4216400"/>
            <a:ext cx="3784600" cy="185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考试提示：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· emf 定义句：energy transferred per unit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charge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（不是 per unit current）。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· "为什么实际电池供电时电压低于标称值？"——内阻分走一部分（lost volts），下一页细讲。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10.1 · TERMINAL P.D. AND LOST VOLTS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ε = V + v：端电压与损耗电压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What the outside circuit actually gets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formula-box"/>
          <p:cNvSpPr/>
          <p:nvPr/>
        </p:nvSpPr>
        <p:spPr>
          <a:xfrm>
            <a:off x="762000" y="1701800"/>
            <a:ext cx="5969000" cy="1320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formula-text"/>
          <p:cNvSpPr txBox="1"/>
          <p:nvPr/>
        </p:nvSpPr>
        <p:spPr>
          <a:xfrm>
            <a:off x="965200" y="1803400"/>
            <a:ext cx="5562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ε = I(R + r)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（闭合电路的"总欧姆定律"）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端电压 terminal p.d.　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V = IR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（外电路实际得到）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损耗电压 lost volts　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v = Ir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（内阻上浪费）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ε = V + v</a:t>
            </a:r>
            <a:endParaRPr lang="en-US" sz="1350" noProof="1"/>
          </a:p>
        </p:txBody>
      </p:sp>
      <p:sp>
        <p:nvSpPr>
          <p:cNvPr id="8" name="fact-body"/>
          <p:cNvSpPr txBox="1"/>
          <p:nvPr/>
        </p:nvSpPr>
        <p:spPr>
          <a:xfrm>
            <a:off x="762000" y="3225800"/>
            <a:ext cx="5969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电流 I 越大 → lost volts（Ir）越大 → 端电压 V 越小——"大负载把电池电压拉低"的原因。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断路（open circuit）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时 I = 0 → v = 0 → 电压表读数 = ε。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测电动势就测断路电压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9" name="trick-box"/>
          <p:cNvSpPr/>
          <p:nvPr/>
        </p:nvSpPr>
        <p:spPr>
          <a:xfrm>
            <a:off x="762000" y="5054600"/>
            <a:ext cx="5969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rick-text"/>
          <p:cNvSpPr txBox="1"/>
          <p:nvPr/>
        </p:nvSpPr>
        <p:spPr>
          <a:xfrm>
            <a:off x="965200" y="5156200"/>
            <a:ext cx="55626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易错提醒：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电压表并在电源两端测的是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端电压 V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，只有断路时才等于 ε；有电流时永远 V &lt; ε。</a:t>
            </a:r>
            <a:endParaRPr lang="en-US" sz="1250" noProof="1"/>
          </a:p>
        </p:txBody>
      </p:sp>
      <p:sp>
        <p:nvSpPr>
          <p:cNvPr id="11" name="wire-top"/>
          <p:cNvSpPr/>
          <p:nvPr>
            <p:extLst>
              <p:ext uri="{F5677B7D-0D2A-4D9B-9A5C-6D8D7D0E5A5D}">
                <pptd:line encoding="base64url">eyJ2aWV3Qm94IjpbMjQwLDRdLCJwb2ludHMiOiIwLDIgMjQwLDIiLCJjdXJ2ZSI6InNoYXJwIn0</pptd:line>
              </p:ext>
            </p:extLst>
          </p:nvPr>
        </p:nvSpPr>
        <p:spPr>
          <a:xfrm>
            <a:off x="8128000" y="2159000"/>
            <a:ext cx="3048000" cy="50800"/>
          </a:xfrm>
          <a:custGeom>
            <a:avLst/>
            <a:gdLst/>
            <a:ahLst/>
            <a:cxnLst/>
            <a:rect l="l" t="t" r="r" b="b"/>
            <a:pathLst>
              <a:path w="240" h="4">
                <a:moveTo>
                  <a:pt x="0" y="2"/>
                </a:moveTo>
                <a:lnTo>
                  <a:pt x="240" y="2"/>
                </a:lnTo>
              </a:path>
            </a:pathLst>
          </a:custGeom>
          <a:noFill/>
          <a:ln w="25400">
            <a:solidFill>
              <a:srgbClr val="22303A"/>
            </a:solidFill>
          </a:ln>
        </p:spPr>
      </p:sp>
      <p:sp>
        <p:nvSpPr>
          <p:cNvPr id="12" name="wire-bottom"/>
          <p:cNvSpPr/>
          <p:nvPr>
            <p:extLst>
              <p:ext uri="{F5677B7D-0D2A-4D9B-9A5C-6D8D7D0E5A5D}">
                <pptd:line encoding="base64url">eyJ2aWV3Qm94IjpbMjQwLDRdLCJwb2ludHMiOiIwLDIgMjQwLDIiLCJjdXJ2ZSI6InNoYXJwIn0</pptd:line>
              </p:ext>
            </p:extLst>
          </p:nvPr>
        </p:nvSpPr>
        <p:spPr>
          <a:xfrm>
            <a:off x="8128000" y="4191000"/>
            <a:ext cx="3048000" cy="50800"/>
          </a:xfrm>
          <a:custGeom>
            <a:avLst/>
            <a:gdLst/>
            <a:ahLst/>
            <a:cxnLst/>
            <a:rect l="l" t="t" r="r" b="b"/>
            <a:pathLst>
              <a:path w="240" h="4">
                <a:moveTo>
                  <a:pt x="0" y="2"/>
                </a:moveTo>
                <a:lnTo>
                  <a:pt x="240" y="2"/>
                </a:lnTo>
              </a:path>
            </a:pathLst>
          </a:custGeom>
          <a:noFill/>
          <a:ln w="25400">
            <a:solidFill>
              <a:srgbClr val="22303A"/>
            </a:solidFill>
          </a:ln>
        </p:spPr>
      </p:sp>
      <p:sp>
        <p:nvSpPr>
          <p:cNvPr id="13" name="wire-left-a"/>
          <p:cNvSpPr/>
          <p:nvPr>
            <p:extLst>
              <p:ext uri="{F5677B7D-0D2A-4D9B-9A5C-6D8D7D0E5A5D}">
                <pptd:line encoding="base64url">eyJ2aWV3Qm94IjpbNCw2Ml0sInBvaW50cyI6IjIsMCAyLDYyIiwiY3VydmUiOiJzaGFycCJ9</pptd:line>
              </p:ext>
            </p:extLst>
          </p:nvPr>
        </p:nvSpPr>
        <p:spPr>
          <a:xfrm>
            <a:off x="8128000" y="2159000"/>
            <a:ext cx="50800" cy="787400"/>
          </a:xfrm>
          <a:custGeom>
            <a:avLst/>
            <a:gdLst/>
            <a:ahLst/>
            <a:cxnLst/>
            <a:rect l="l" t="t" r="r" b="b"/>
            <a:pathLst>
              <a:path w="4" h="62">
                <a:moveTo>
                  <a:pt x="2" y="0"/>
                </a:moveTo>
                <a:lnTo>
                  <a:pt x="2" y="62"/>
                </a:lnTo>
              </a:path>
            </a:pathLst>
          </a:custGeom>
          <a:noFill/>
          <a:ln w="25400">
            <a:solidFill>
              <a:srgbClr val="22303A"/>
            </a:solidFill>
          </a:ln>
        </p:spPr>
      </p:sp>
      <p:sp>
        <p:nvSpPr>
          <p:cNvPr id="14" name="wire-left-b"/>
          <p:cNvSpPr/>
          <p:nvPr>
            <p:extLst>
              <p:ext uri="{F5677B7D-0D2A-4D9B-9A5C-6D8D7D0E5A5D}">
                <pptd:line encoding="base64url">eyJ2aWV3Qm94IjpbNCw2Ml0sInBvaW50cyI6IjIsMCAyLDYyIiwiY3VydmUiOiJzaGFycCJ9</pptd:line>
              </p:ext>
            </p:extLst>
          </p:nvPr>
        </p:nvSpPr>
        <p:spPr>
          <a:xfrm>
            <a:off x="8128000" y="3403600"/>
            <a:ext cx="50800" cy="787400"/>
          </a:xfrm>
          <a:custGeom>
            <a:avLst/>
            <a:gdLst/>
            <a:ahLst/>
            <a:cxnLst/>
            <a:rect l="l" t="t" r="r" b="b"/>
            <a:pathLst>
              <a:path w="4" h="62">
                <a:moveTo>
                  <a:pt x="2" y="0"/>
                </a:moveTo>
                <a:lnTo>
                  <a:pt x="2" y="62"/>
                </a:lnTo>
              </a:path>
            </a:pathLst>
          </a:custGeom>
          <a:noFill/>
          <a:ln w="25400">
            <a:solidFill>
              <a:srgbClr val="22303A"/>
            </a:solidFill>
          </a:ln>
        </p:spPr>
      </p:sp>
      <p:sp>
        <p:nvSpPr>
          <p:cNvPr id="15" name="wire-right"/>
          <p:cNvSpPr/>
          <p:nvPr>
            <p:extLst>
              <p:ext uri="{F5677B7D-0D2A-4D9B-9A5C-6D8D7D0E5A5D}">
                <pptd:line encoding="base64url">eyJ2aWV3Qm94IjpbNCwxNjBdLCJwb2ludHMiOiIyLDAgMiwxNjAiLCJjdXJ2ZSI6InNoYXJwIn0</pptd:line>
              </p:ext>
            </p:extLst>
          </p:nvPr>
        </p:nvSpPr>
        <p:spPr>
          <a:xfrm>
            <a:off x="11125200" y="21590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4" h="160">
                <a:moveTo>
                  <a:pt x="2" y="0"/>
                </a:moveTo>
                <a:lnTo>
                  <a:pt x="2" y="160"/>
                </a:lnTo>
              </a:path>
            </a:pathLst>
          </a:custGeom>
          <a:noFill/>
          <a:ln w="25400">
            <a:solidFill>
              <a:srgbClr val="22303A"/>
            </a:solidFill>
          </a:ln>
        </p:spPr>
      </p:sp>
      <p:sp>
        <p:nvSpPr>
          <p:cNvPr id="16" name="batt-long"/>
          <p:cNvSpPr/>
          <p:nvPr/>
        </p:nvSpPr>
        <p:spPr>
          <a:xfrm>
            <a:off x="7924800" y="3022600"/>
            <a:ext cx="457200" cy="381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7" name="batt-short"/>
          <p:cNvSpPr/>
          <p:nvPr/>
        </p:nvSpPr>
        <p:spPr>
          <a:xfrm>
            <a:off x="8026400" y="3225800"/>
            <a:ext cx="254000" cy="889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8" name="batt-label"/>
          <p:cNvSpPr txBox="1"/>
          <p:nvPr/>
        </p:nvSpPr>
        <p:spPr>
          <a:xfrm>
            <a:off x="7366000" y="30480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ε</a:t>
            </a:r>
            <a:endParaRPr lang="en-US" sz="1300" noProof="1"/>
          </a:p>
        </p:txBody>
      </p:sp>
      <p:sp>
        <p:nvSpPr>
          <p:cNvPr id="19" name="r-box2"/>
          <p:cNvSpPr/>
          <p:nvPr/>
        </p:nvSpPr>
        <p:spPr>
          <a:xfrm>
            <a:off x="8483600" y="4038600"/>
            <a:ext cx="660400" cy="330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0" name="r-label"/>
          <p:cNvSpPr txBox="1"/>
          <p:nvPr/>
        </p:nvSpPr>
        <p:spPr>
          <a:xfrm>
            <a:off x="8483600" y="4038600"/>
            <a:ext cx="660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r</a:t>
            </a:r>
            <a:endParaRPr lang="en-US" sz="1300" noProof="1"/>
          </a:p>
        </p:txBody>
      </p:sp>
      <p:sp>
        <p:nvSpPr>
          <p:cNvPr id="21" name="R-box2"/>
          <p:cNvSpPr/>
          <p:nvPr/>
        </p:nvSpPr>
        <p:spPr>
          <a:xfrm>
            <a:off x="9271000" y="2006600"/>
            <a:ext cx="762000" cy="330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2" name="R-label"/>
          <p:cNvSpPr txBox="1"/>
          <p:nvPr/>
        </p:nvSpPr>
        <p:spPr>
          <a:xfrm>
            <a:off x="9271000" y="20066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R</a:t>
            </a:r>
            <a:endParaRPr lang="en-US" sz="1300" noProof="1"/>
          </a:p>
        </p:txBody>
      </p:sp>
      <p:sp>
        <p:nvSpPr>
          <p:cNvPr id="23" name="ckt-caption"/>
          <p:cNvSpPr txBox="1"/>
          <p:nvPr/>
        </p:nvSpPr>
        <p:spPr>
          <a:xfrm>
            <a:off x="7620000" y="45720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含内阻电路模型：电源 ε 串联内阻 r，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外接负载 R。V = IR，v = Ir，ε = V + v</a:t>
            </a:r>
            <a:endParaRPr lang="en-US" sz="1100" noProof="1"/>
          </a:p>
        </p:txBody>
      </p:sp>
      <p:sp>
        <p:nvSpPr>
          <p:cNvPr id="2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2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10.2 · KIRCHHOFF'S LAWS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基尔霍夫定律：电路里的两条守恒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Charge and energy are always conserved in d.c. circuits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k1-box"/>
          <p:cNvSpPr/>
          <p:nvPr/>
        </p:nvSpPr>
        <p:spPr>
          <a:xfrm>
            <a:off x="762000" y="1701800"/>
            <a:ext cx="5143500" cy="266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k1-head"/>
          <p:cNvSpPr txBox="1"/>
          <p:nvPr/>
        </p:nvSpPr>
        <p:spPr>
          <a:xfrm>
            <a:off x="965200" y="1854200"/>
            <a:ext cx="469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第一定律 · 电流定律 KCL</a:t>
            </a:r>
            <a:endParaRPr lang="en-US" sz="1500" noProof="1"/>
          </a:p>
        </p:txBody>
      </p:sp>
      <p:sp>
        <p:nvSpPr>
          <p:cNvPr id="8" name="k1-body"/>
          <p:cNvSpPr txBox="1"/>
          <p:nvPr/>
        </p:nvSpPr>
        <p:spPr>
          <a:xfrm>
            <a:off x="965200" y="2260600"/>
            <a:ext cx="4699000" cy="195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The total current flowing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into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a junction equals the total current flowing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out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.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流入节点的总电流 = 流出节点的总电流。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0E5A55"/>
                </a:solidFill>
                <a:latin typeface="MiSans"/>
                <a:ea typeface="MiSans"/>
              </a:rPr>
              <a:t>物理本质：电荷守恒 conservation of charge——任何点不会堆积或丢失电荷。</a:t>
            </a:r>
            <a:endParaRPr lang="en-US" sz="1350" noProof="1"/>
          </a:p>
        </p:txBody>
      </p:sp>
      <p:sp>
        <p:nvSpPr>
          <p:cNvPr id="9" name="k2-box"/>
          <p:cNvSpPr/>
          <p:nvPr/>
        </p:nvSpPr>
        <p:spPr>
          <a:xfrm>
            <a:off x="6286500" y="1701800"/>
            <a:ext cx="5143500" cy="266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k2-head"/>
          <p:cNvSpPr txBox="1"/>
          <p:nvPr/>
        </p:nvSpPr>
        <p:spPr>
          <a:xfrm>
            <a:off x="6489700" y="1854200"/>
            <a:ext cx="469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第二定律 · 电压定律 KVL</a:t>
            </a:r>
            <a:endParaRPr lang="en-US" sz="1500" noProof="1"/>
          </a:p>
        </p:txBody>
      </p:sp>
      <p:sp>
        <p:nvSpPr>
          <p:cNvPr id="11" name="k2-body"/>
          <p:cNvSpPr txBox="1"/>
          <p:nvPr/>
        </p:nvSpPr>
        <p:spPr>
          <a:xfrm>
            <a:off x="6489700" y="2260600"/>
            <a:ext cx="4699000" cy="195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The sum of all voltages around a closed loop equals the battery voltage（绕回路一周电压代数和为零）。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闭合回路中，电源电动势之和 = 各元件电势差之和。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0E5A55"/>
                </a:solidFill>
                <a:latin typeface="MiSans"/>
                <a:ea typeface="MiSans"/>
              </a:rPr>
              <a:t>物理本质：能量守恒 conservation of energy——每库仑获得的能量全部消耗在回路中。</a:t>
            </a:r>
            <a:endParaRPr lang="en-US" sz="1350" noProof="1"/>
          </a:p>
        </p:txBody>
      </p:sp>
      <p:sp>
        <p:nvSpPr>
          <p:cNvPr id="12" name="exam-box"/>
          <p:cNvSpPr/>
          <p:nvPr/>
        </p:nvSpPr>
        <p:spPr>
          <a:xfrm>
            <a:off x="762000" y="4597400"/>
            <a:ext cx="10668000" cy="762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exam-text"/>
          <p:cNvSpPr txBox="1"/>
          <p:nvPr/>
        </p:nvSpPr>
        <p:spPr>
          <a:xfrm>
            <a:off x="965200" y="4699000"/>
            <a:ext cx="10261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00" noProof="1" b="1">
                <a:solidFill>
                  <a:srgbClr val="C96F16"/>
                </a:solidFill>
                <a:latin typeface="MiSans"/>
                <a:ea typeface="MiSans"/>
              </a:rPr>
              <a:t>定义题采分点：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两条定律的英文表述要完整（into = out of a junction / around a closed loop），并分别点明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charge conservation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与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energy conservation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14" name="mini-box"/>
          <p:cNvSpPr/>
          <p:nvPr/>
        </p:nvSpPr>
        <p:spPr>
          <a:xfrm>
            <a:off x="762000" y="5562600"/>
            <a:ext cx="106680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mini-text"/>
          <p:cNvSpPr txBox="1"/>
          <p:nvPr/>
        </p:nvSpPr>
        <p:spPr>
          <a:xfrm>
            <a:off x="965200" y="56388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速用示例：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节点流入 3 A + 2 A，则流出必为 5 A；回路 ε = 12 V，两个串联元件分压之和必为 12 V。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10.2 · SERIES CIRCUITS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串联：电流一条路，电压分着走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Same current everywhere; p.d. shared across elements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rule-table"/>
          <p:cNvGraphicFramePr>
            <a:graphicFrameLocks noGrp="1"/>
          </p:cNvGraphicFramePr>
          <p:nvPr/>
        </p:nvGraphicFramePr>
        <p:xfrm>
          <a:off x="762000" y="1701800"/>
          <a:ext cx="5969000" cy="2133600"/>
        </p:xfrm>
        <a:graphic>
          <a:graphicData uri="http://schemas.openxmlformats.org/drawingml/2006/table">
            <a:tbl>
              <a:tblPr/>
              <a:tblGrid>
                <a:gridCol w="895350000"/>
                <a:gridCol w="1910080000"/>
              </a:tblGrid>
              <a:tr h="725424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938784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38784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981456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ell-head"/>
          <p:cNvSpPr txBox="1"/>
          <p:nvPr/>
        </p:nvSpPr>
        <p:spPr>
          <a:xfrm>
            <a:off x="762000" y="40894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电池串联</a:t>
            </a:r>
            <a:endParaRPr lang="en-US" sz="1500" noProof="1"/>
          </a:p>
        </p:txBody>
      </p:sp>
      <p:sp>
        <p:nvSpPr>
          <p:cNvPr id="8" name="cell-body"/>
          <p:cNvSpPr txBox="1"/>
          <p:nvPr/>
        </p:nvSpPr>
        <p:spPr>
          <a:xfrm>
            <a:off x="762000" y="4445000"/>
            <a:ext cx="596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总电压 = 各电池电压之和：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V_T = V₁ + V₂ + V₃ + …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遥控器里两节 1.5 V 电池串联 → 供 3.0 V。</a:t>
            </a:r>
            <a:endParaRPr lang="en-US" sz="1350" noProof="1"/>
          </a:p>
        </p:txBody>
      </p:sp>
      <p:sp>
        <p:nvSpPr>
          <p:cNvPr id="9" name="why-box"/>
          <p:cNvSpPr/>
          <p:nvPr/>
        </p:nvSpPr>
        <p:spPr>
          <a:xfrm>
            <a:off x="762000" y="5613400"/>
            <a:ext cx="5969000" cy="584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0" name="why-text"/>
          <p:cNvSpPr txBox="1"/>
          <p:nvPr/>
        </p:nvSpPr>
        <p:spPr>
          <a:xfrm>
            <a:off x="965200" y="5689600"/>
            <a:ext cx="5562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物理图像：串联像"接力"——每个元件都从同一股电流里分走一份能量。</a:t>
            </a:r>
            <a:endParaRPr lang="en-US" sz="1250" noProof="1"/>
          </a:p>
        </p:txBody>
      </p:sp>
      <p:sp>
        <p:nvSpPr>
          <p:cNvPr id="11" name="ex-box"/>
          <p:cNvSpPr/>
          <p:nvPr/>
        </p:nvSpPr>
        <p:spPr>
          <a:xfrm>
            <a:off x="7239000" y="1701800"/>
            <a:ext cx="4191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ex-head"/>
          <p:cNvSpPr txBox="1"/>
          <p:nvPr/>
        </p:nvSpPr>
        <p:spPr>
          <a:xfrm>
            <a:off x="7442200" y="1854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例：串联分压</a:t>
            </a:r>
            <a:endParaRPr lang="en-US" sz="1500" noProof="1"/>
          </a:p>
        </p:txBody>
      </p:sp>
      <p:sp>
        <p:nvSpPr>
          <p:cNvPr id="13" name="ex-body"/>
          <p:cNvSpPr txBox="1"/>
          <p:nvPr/>
        </p:nvSpPr>
        <p:spPr>
          <a:xfrm>
            <a:off x="7442200" y="2209800"/>
            <a:ext cx="3810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12 V 电源串联 2 Ω 与 4 Ω：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R_T = 2 + 4 = 6 Ω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I = V/R_T = 12 ÷ 6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2 A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（处处相同）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分压：V₁ = 2×2 = 4 V，V₂ = 2×4 = 8 V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检验：4 + 8 = 12 V ✔（KVL）</a:t>
            </a:r>
            <a:endParaRPr lang="en-US" sz="1250" noProof="1"/>
          </a:p>
        </p:txBody>
      </p:sp>
      <p:sp>
        <p:nvSpPr>
          <p:cNvPr id="14" name="tip-box"/>
          <p:cNvSpPr/>
          <p:nvPr/>
        </p:nvSpPr>
        <p:spPr>
          <a:xfrm>
            <a:off x="7239000" y="4216400"/>
            <a:ext cx="4191000" cy="1981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tip-text"/>
          <p:cNvSpPr txBox="1"/>
          <p:nvPr/>
        </p:nvSpPr>
        <p:spPr>
          <a:xfrm>
            <a:off x="7442200" y="4343400"/>
            <a:ext cx="3784600" cy="172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考试提示：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· 电阻大的元件分压多（V = IR，I 相同）。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· 算完用 KVL 检验：各分压之和必须等于电源电压——一秒查出计算错误。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10.2 · PARALLEL AND MIXED CIRCUITS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并联与混联：先并后串，步步化简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Current splits, voltage matches — then combine the rules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rule-table"/>
          <p:cNvGraphicFramePr>
            <a:graphicFrameLocks noGrp="1"/>
          </p:cNvGraphicFramePr>
          <p:nvPr/>
        </p:nvGraphicFramePr>
        <p:xfrm>
          <a:off x="762000" y="1701800"/>
          <a:ext cx="5969000" cy="2133600"/>
        </p:xfrm>
        <a:graphic>
          <a:graphicData uri="http://schemas.openxmlformats.org/drawingml/2006/table">
            <a:tbl>
              <a:tblPr/>
              <a:tblGrid>
                <a:gridCol w="895350000"/>
                <a:gridCol w="1910080000"/>
              </a:tblGrid>
              <a:tr h="725424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938784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38784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981456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ell-head"/>
          <p:cNvSpPr txBox="1"/>
          <p:nvPr/>
        </p:nvSpPr>
        <p:spPr>
          <a:xfrm>
            <a:off x="762000" y="40894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相同电池并联</a:t>
            </a:r>
            <a:endParaRPr lang="en-US" sz="1500" noProof="1"/>
          </a:p>
        </p:txBody>
      </p:sp>
      <p:sp>
        <p:nvSpPr>
          <p:cNvPr id="8" name="cell-body"/>
          <p:cNvSpPr txBox="1"/>
          <p:nvPr/>
        </p:nvSpPr>
        <p:spPr>
          <a:xfrm>
            <a:off x="762000" y="44450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总电压 = 单个电池电压：</a:t>
            </a: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V_T = V₁ = V₂ = …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电流被均分到各支路，效果与全部电流过一个电池相同；好处是供电更久、可输出更大电流。</a:t>
            </a:r>
            <a:endParaRPr lang="en-US" sz="1350" noProof="1"/>
          </a:p>
        </p:txBody>
      </p:sp>
      <p:sp>
        <p:nvSpPr>
          <p:cNvPr id="9" name="mix-box"/>
          <p:cNvSpPr/>
          <p:nvPr/>
        </p:nvSpPr>
        <p:spPr>
          <a:xfrm>
            <a:off x="762000" y="5384800"/>
            <a:ext cx="5969000" cy="812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0" name="mix-text"/>
          <p:cNvSpPr txBox="1"/>
          <p:nvPr/>
        </p:nvSpPr>
        <p:spPr>
          <a:xfrm>
            <a:off x="965200" y="5461000"/>
            <a:ext cx="5562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混联化简口诀：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先把并联小块算成一个等效电阻，再与串联部分相加。两电阻并联快捷式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R = R₁R₂/(R₁+R₂)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sp>
        <p:nvSpPr>
          <p:cNvPr id="11" name="ex-box"/>
          <p:cNvSpPr/>
          <p:nvPr/>
        </p:nvSpPr>
        <p:spPr>
          <a:xfrm>
            <a:off x="7239000" y="1701800"/>
            <a:ext cx="419100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ex-head"/>
          <p:cNvSpPr txBox="1"/>
          <p:nvPr/>
        </p:nvSpPr>
        <p:spPr>
          <a:xfrm>
            <a:off x="7442200" y="1854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例（PMT 原例）：混联求总电阻</a:t>
            </a:r>
            <a:endParaRPr lang="en-US" sz="1500" noProof="1"/>
          </a:p>
        </p:txBody>
      </p:sp>
      <p:sp>
        <p:nvSpPr>
          <p:cNvPr id="13" name="ex-body"/>
          <p:cNvSpPr txBox="1"/>
          <p:nvPr/>
        </p:nvSpPr>
        <p:spPr>
          <a:xfrm>
            <a:off x="7442200" y="2209800"/>
            <a:ext cx="3810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4 Ω 与 16 Ω 并联，再与 10 Ω、3 Ω 串联：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并联：1/R = 1/4 + 1/16 = 5/16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→ R = 16/5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3.2 Ω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串联求和：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R_T = 10 + 3 + 3.2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16.2 Ω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检验：并联等效 3.2 Ω &lt; 4 Ω ✔（并联总电阻必小于最小支路）</a:t>
            </a:r>
            <a:endParaRPr lang="en-US" sz="1250" noProof="1"/>
          </a:p>
        </p:txBody>
      </p:sp>
      <p:sp>
        <p:nvSpPr>
          <p:cNvPr id="14" name="tip-box"/>
          <p:cNvSpPr/>
          <p:nvPr/>
        </p:nvSpPr>
        <p:spPr>
          <a:xfrm>
            <a:off x="7239000" y="4978400"/>
            <a:ext cx="4191000" cy="1219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tip-text"/>
          <p:cNvSpPr txBox="1"/>
          <p:nvPr/>
        </p:nvSpPr>
        <p:spPr>
          <a:xfrm>
            <a:off x="7442200" y="5080000"/>
            <a:ext cx="37846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易错提醒：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判断串并联看"电流是否被迫走同一条路"，不是看图上谁挨着谁；拿不准就重新画一遍等效电路。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10.3 · POTENTIAL DIVIDERS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分压器：从电源"切"出想要的电压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Resistors in series produce a fixed fraction of the supply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box"/>
          <p:cNvSpPr/>
          <p:nvPr/>
        </p:nvSpPr>
        <p:spPr>
          <a:xfrm>
            <a:off x="762000" y="1701800"/>
            <a:ext cx="5969000" cy="1016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65200" y="1803400"/>
            <a:ext cx="5562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Potential divider 分压器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：若干电阻串联接在电源两端，从某个电阻两端取出电源电压的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一部分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（恒定分数）的电路。</a:t>
            </a:r>
            <a:endParaRPr lang="en-US" sz="1350" noProof="1"/>
          </a:p>
        </p:txBody>
      </p:sp>
      <p:sp>
        <p:nvSpPr>
          <p:cNvPr id="8" name="formula-text"/>
          <p:cNvSpPr txBox="1"/>
          <p:nvPr/>
        </p:nvSpPr>
        <p:spPr>
          <a:xfrm>
            <a:off x="762000" y="28956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0E5A55"/>
                </a:solidFill>
                <a:latin typeface="MiSans"/>
                <a:ea typeface="MiSans"/>
              </a:rPr>
              <a:t>V_out = V_in × R₂ / (R₁ + R₂)</a:t>
            </a:r>
            <a:endParaRPr lang="en-US" sz="1700" noProof="1"/>
          </a:p>
        </p:txBody>
      </p:sp>
      <p:sp>
        <p:nvSpPr>
          <p:cNvPr id="9" name="var-body"/>
          <p:cNvSpPr txBox="1"/>
          <p:nvPr/>
        </p:nvSpPr>
        <p:spPr>
          <a:xfrm>
            <a:off x="762000" y="35306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把 R₁ 换成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可变电阻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输出电压可调。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R₁ 增大 → 总电阻↑ → 电流 I↓ → 定值电阻 R₂ 分压 V = IR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减小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V_out 减小。</a:t>
            </a:r>
            <a:endParaRPr lang="en-US" sz="1350" noProof="1"/>
          </a:p>
        </p:txBody>
      </p:sp>
      <p:sp>
        <p:nvSpPr>
          <p:cNvPr id="10" name="chain-box"/>
          <p:cNvSpPr/>
          <p:nvPr/>
        </p:nvSpPr>
        <p:spPr>
          <a:xfrm>
            <a:off x="762000" y="4978400"/>
            <a:ext cx="59690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chain-head"/>
          <p:cNvSpPr txBox="1"/>
          <p:nvPr/>
        </p:nvSpPr>
        <p:spPr>
          <a:xfrm>
            <a:off x="965200" y="5105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推理链（简答题按此写）</a:t>
            </a:r>
            <a:endParaRPr lang="en-US" sz="1500" noProof="1"/>
          </a:p>
        </p:txBody>
      </p:sp>
      <p:sp>
        <p:nvSpPr>
          <p:cNvPr id="12" name="chain-text"/>
          <p:cNvSpPr txBox="1"/>
          <p:nvPr/>
        </p:nvSpPr>
        <p:spPr>
          <a:xfrm>
            <a:off x="965200" y="5435600"/>
            <a:ext cx="5562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某电阻变化 → ② 串联总电阻变化 → ③ 电流 I 变化 → ④ 定值电阻分压 V = IR 变化 → ⑤ 输出变化。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每步一分。</a:t>
            </a:r>
            <a:endParaRPr lang="en-US" sz="1250" noProof="1"/>
          </a:p>
        </p:txBody>
      </p:sp>
      <p:sp>
        <p:nvSpPr>
          <p:cNvPr id="13" name="div-top"/>
          <p:cNvSpPr/>
          <p:nvPr>
            <p:extLst>
              <p:ext uri="{F5677B7D-0D2A-4D9B-9A5C-6D8D7D0E5A5D}">
                <pptd:line encoding="base64url">eyJ2aWV3Qm94IjpbNCw0MF0sInBvaW50cyI6IjIsMCAyLDQwIiwiY3VydmUiOiJzaGFycCJ9</pptd:line>
              </p:ext>
            </p:extLst>
          </p:nvPr>
        </p:nvSpPr>
        <p:spPr>
          <a:xfrm>
            <a:off x="8890000" y="1905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4" h="40">
                <a:moveTo>
                  <a:pt x="2" y="0"/>
                </a:moveTo>
                <a:lnTo>
                  <a:pt x="2" y="40"/>
                </a:lnTo>
              </a:path>
            </a:pathLst>
          </a:custGeom>
          <a:noFill/>
          <a:ln w="25400">
            <a:solidFill>
              <a:srgbClr val="22303A"/>
            </a:solidFill>
          </a:ln>
        </p:spPr>
      </p:sp>
      <p:sp>
        <p:nvSpPr>
          <p:cNvPr id="14" name="r1-box"/>
          <p:cNvSpPr/>
          <p:nvPr/>
        </p:nvSpPr>
        <p:spPr>
          <a:xfrm>
            <a:off x="8559800" y="2413000"/>
            <a:ext cx="711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r1-label"/>
          <p:cNvSpPr txBox="1"/>
          <p:nvPr/>
        </p:nvSpPr>
        <p:spPr>
          <a:xfrm>
            <a:off x="8559800" y="2413000"/>
            <a:ext cx="711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R₁</a:t>
            </a:r>
            <a:endParaRPr lang="en-US" sz="1400" noProof="1"/>
          </a:p>
        </p:txBody>
      </p:sp>
      <p:sp>
        <p:nvSpPr>
          <p:cNvPr id="16" name="div-mid"/>
          <p:cNvSpPr/>
          <p:nvPr>
            <p:extLst>
              <p:ext uri="{F5677B7D-0D2A-4D9B-9A5C-6D8D7D0E5A5D}">
                <pptd:line encoding="base64url">eyJ2aWV3Qm94IjpbNCw0MF0sInBvaW50cyI6IjIsMCAyLDQwIiwiY3VydmUiOiJzaGFycCJ9</pptd:line>
              </p:ext>
            </p:extLst>
          </p:nvPr>
        </p:nvSpPr>
        <p:spPr>
          <a:xfrm>
            <a:off x="8890000" y="3175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4" h="40">
                <a:moveTo>
                  <a:pt x="2" y="0"/>
                </a:moveTo>
                <a:lnTo>
                  <a:pt x="2" y="40"/>
                </a:lnTo>
              </a:path>
            </a:pathLst>
          </a:custGeom>
          <a:noFill/>
          <a:ln w="25400">
            <a:solidFill>
              <a:srgbClr val="22303A"/>
            </a:solidFill>
          </a:ln>
        </p:spPr>
      </p:sp>
      <p:sp>
        <p:nvSpPr>
          <p:cNvPr id="17" name="r2-box"/>
          <p:cNvSpPr/>
          <p:nvPr/>
        </p:nvSpPr>
        <p:spPr>
          <a:xfrm>
            <a:off x="8559800" y="3683000"/>
            <a:ext cx="711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r2-label"/>
          <p:cNvSpPr txBox="1"/>
          <p:nvPr/>
        </p:nvSpPr>
        <p:spPr>
          <a:xfrm>
            <a:off x="8559800" y="3683000"/>
            <a:ext cx="711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R₂</a:t>
            </a:r>
            <a:endParaRPr lang="en-US" sz="1400" noProof="1"/>
          </a:p>
        </p:txBody>
      </p:sp>
      <p:sp>
        <p:nvSpPr>
          <p:cNvPr id="19" name="div-bot"/>
          <p:cNvSpPr/>
          <p:nvPr>
            <p:extLst>
              <p:ext uri="{F5677B7D-0D2A-4D9B-9A5C-6D8D7D0E5A5D}">
                <pptd:line encoding="base64url">eyJ2aWV3Qm94IjpbNCwzMF0sInBvaW50cyI6IjIsMCAyLDMwIiwiY3VydmUiOiJzaGFycCJ9</pptd:line>
              </p:ext>
            </p:extLst>
          </p:nvPr>
        </p:nvSpPr>
        <p:spPr>
          <a:xfrm>
            <a:off x="8890000" y="4445000"/>
            <a:ext cx="50800" cy="381000"/>
          </a:xfrm>
          <a:custGeom>
            <a:avLst/>
            <a:gdLst/>
            <a:ahLst/>
            <a:cxnLst/>
            <a:rect l="l" t="t" r="r" b="b"/>
            <a:pathLst>
              <a:path w="4" h="30">
                <a:moveTo>
                  <a:pt x="2" y="0"/>
                </a:moveTo>
                <a:lnTo>
                  <a:pt x="2" y="30"/>
                </a:lnTo>
              </a:path>
            </a:pathLst>
          </a:custGeom>
          <a:noFill/>
          <a:ln w="25400">
            <a:solidFill>
              <a:srgbClr val="22303A"/>
            </a:solidFill>
          </a:ln>
        </p:spPr>
      </p:sp>
      <p:sp>
        <p:nvSpPr>
          <p:cNvPr id="20" name="vin-label"/>
          <p:cNvSpPr txBox="1"/>
          <p:nvPr/>
        </p:nvSpPr>
        <p:spPr>
          <a:xfrm>
            <a:off x="9448800" y="19304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V_in</a:t>
            </a:r>
            <a:endParaRPr lang="en-US" sz="1300" noProof="1"/>
          </a:p>
        </p:txBody>
      </p:sp>
      <p:sp>
        <p:nvSpPr>
          <p:cNvPr id="21" name="vout-label"/>
          <p:cNvSpPr txBox="1"/>
          <p:nvPr/>
        </p:nvSpPr>
        <p:spPr>
          <a:xfrm>
            <a:off x="9448800" y="38862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96F16"/>
                </a:solidFill>
                <a:latin typeface="MiSans"/>
                <a:ea typeface="MiSans"/>
              </a:rPr>
              <a:t>V_out 取自 R₂ 两端</a:t>
            </a:r>
            <a:endParaRPr lang="en-US" sz="1300" noProof="1"/>
          </a:p>
        </p:txBody>
      </p:sp>
      <p:sp>
        <p:nvSpPr>
          <p:cNvPr id="22" name="gnd-label"/>
          <p:cNvSpPr txBox="1"/>
          <p:nvPr/>
        </p:nvSpPr>
        <p:spPr>
          <a:xfrm>
            <a:off x="9448800" y="46482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0 V</a:t>
            </a:r>
            <a:endParaRPr lang="en-US" sz="1200" noProof="1"/>
          </a:p>
        </p:txBody>
      </p:sp>
      <p:sp>
        <p:nvSpPr>
          <p:cNvPr id="23" name="div-caption"/>
          <p:cNvSpPr txBox="1"/>
          <p:nvPr/>
        </p:nvSpPr>
        <p:spPr>
          <a:xfrm>
            <a:off x="7620000" y="52070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分压器结构：R₁、R₂ 串联接 V_in，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输出取自 R₂ 两端，R₂ 占比越大输出越大</a:t>
            </a:r>
            <a:endParaRPr lang="en-US" sz="1100" noProof="1"/>
          </a:p>
        </p:txBody>
      </p:sp>
      <p:sp>
        <p:nvSpPr>
          <p:cNvPr id="2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2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10.3 · SENSOR CIRCUITS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传感器分压电路：把环境变成电压信号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Thermistors and LDRs in potential dividers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idea-body"/>
          <p:cNvSpPr txBox="1"/>
          <p:nvPr/>
        </p:nvSpPr>
        <p:spPr>
          <a:xfrm>
            <a:off x="762000" y="17018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把分压器中的一个电阻换成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热敏电阻（温度↑ → R↓）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或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LDR（光强↑ → R↓）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，输出电压就随环境变化——温度/光传感器就此诞生，输出超过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阈值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threshold 即可触发开关动作。</a:t>
            </a:r>
            <a:endParaRPr lang="en-US" sz="1350" noProof="1"/>
          </a:p>
        </p:txBody>
      </p:sp>
      <p:sp>
        <p:nvSpPr>
          <p:cNvPr id="7" name="ex-box"/>
          <p:cNvSpPr/>
          <p:nvPr/>
        </p:nvSpPr>
        <p:spPr>
          <a:xfrm>
            <a:off x="762000" y="2616200"/>
            <a:ext cx="5969000" cy="241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ex-head"/>
          <p:cNvSpPr txBox="1"/>
          <p:nvPr/>
        </p:nvSpPr>
        <p:spPr>
          <a:xfrm>
            <a:off x="965200" y="27686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PMT 例：输出接在定值电阻两端</a:t>
            </a:r>
            <a:endParaRPr lang="en-US" sz="1500" noProof="1"/>
          </a:p>
        </p:txBody>
      </p:sp>
      <p:sp>
        <p:nvSpPr>
          <p:cNvPr id="9" name="ex-body"/>
          <p:cNvSpPr txBox="1"/>
          <p:nvPr/>
        </p:nvSpPr>
        <p:spPr>
          <a:xfrm>
            <a:off x="965200" y="3124200"/>
            <a:ext cx="5461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LDR（R₁）与定值电阻（R₂）串联：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① 光照减弱 → LDR 电阻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增大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② 总电阻增大 → 电流 I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减小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③ 定值电阻分压 V = IR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减小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④ 输出电压 V_out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减小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10" name="swap-box"/>
          <p:cNvSpPr/>
          <p:nvPr/>
        </p:nvSpPr>
        <p:spPr>
          <a:xfrm>
            <a:off x="7239000" y="2616200"/>
            <a:ext cx="4191000" cy="2413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swap-head"/>
          <p:cNvSpPr txBox="1"/>
          <p:nvPr/>
        </p:nvSpPr>
        <p:spPr>
          <a:xfrm>
            <a:off x="7442200" y="2768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位置对调，效果反转</a:t>
            </a:r>
            <a:endParaRPr lang="en-US" sz="1500" noProof="1"/>
          </a:p>
        </p:txBody>
      </p:sp>
      <p:sp>
        <p:nvSpPr>
          <p:cNvPr id="12" name="swap-body"/>
          <p:cNvSpPr txBox="1"/>
          <p:nvPr/>
        </p:nvSpPr>
        <p:spPr>
          <a:xfrm>
            <a:off x="7442200" y="3124200"/>
            <a:ext cx="37846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把 LDR 与定值电阻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交换位置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：光照减弱时 V_out 反而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增大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越过阈值 → 触发灯泡点亮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天黑自动开灯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电路。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C96F16"/>
                </a:solidFill>
                <a:latin typeface="MiSans"/>
                <a:ea typeface="MiSans"/>
              </a:rPr>
              <a:t>CIE 最爱考的变形：先确认输出接在哪个元件两端！</a:t>
            </a:r>
            <a:endParaRPr lang="en-US" sz="1350" noProof="1"/>
          </a:p>
        </p:txBody>
      </p:sp>
      <p:graphicFrame>
        <p:nvGraphicFramePr>
          <p:cNvPr id="13" name="table2"/>
          <p:cNvGraphicFramePr>
            <a:graphicFrameLocks noGrp="1"/>
          </p:cNvGraphicFramePr>
          <p:nvPr/>
        </p:nvGraphicFramePr>
        <p:xfrm>
          <a:off x="762000" y="5257800"/>
          <a:ext cx="10668000" cy="939800"/>
        </p:xfrm>
        <a:graphic>
          <a:graphicData uri="http://schemas.openxmlformats.org/drawingml/2006/table">
            <a:tbl>
              <a:tblPr/>
              <a:tblGrid>
                <a:gridCol w="2133600000"/>
                <a:gridCol w="3413760000"/>
                <a:gridCol w="3413760000"/>
              </a:tblGrid>
              <a:tr h="319532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37592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10.3 · POTENTIOMETER AND NULL MEASUREMENTS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电位器与零位测量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Continuously variable output · measuring without disturbing the circuit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pot-box"/>
          <p:cNvSpPr/>
          <p:nvPr/>
        </p:nvSpPr>
        <p:spPr>
          <a:xfrm>
            <a:off x="762000" y="1701800"/>
            <a:ext cx="51435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pot-head"/>
          <p:cNvSpPr txBox="1"/>
          <p:nvPr/>
        </p:nvSpPr>
        <p:spPr>
          <a:xfrm>
            <a:off x="965200" y="1854200"/>
            <a:ext cx="469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电位器 Potentiometer</a:t>
            </a:r>
            <a:endParaRPr lang="en-US" sz="1500" noProof="1"/>
          </a:p>
        </p:txBody>
      </p:sp>
      <p:sp>
        <p:nvSpPr>
          <p:cNvPr id="8" name="pot-body"/>
          <p:cNvSpPr txBox="1"/>
          <p:nvPr/>
        </p:nvSpPr>
        <p:spPr>
          <a:xfrm>
            <a:off x="965200" y="2260600"/>
            <a:ext cx="4699000" cy="2463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由一个电压表和一个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三端可变电阻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组成。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两个外端之间的总电阻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固定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滑动触点改变两侧电阻的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比例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输出可在 0 ~ 电源电压之间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连续调节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——比两段式分压器更灵活；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也可当作分压器中的可变电阻使用。</a:t>
            </a:r>
            <a:endParaRPr lang="en-US" sz="1350" noProof="1"/>
          </a:p>
        </p:txBody>
      </p:sp>
      <p:sp>
        <p:nvSpPr>
          <p:cNvPr id="9" name="null-box"/>
          <p:cNvSpPr/>
          <p:nvPr/>
        </p:nvSpPr>
        <p:spPr>
          <a:xfrm>
            <a:off x="6286500" y="1701800"/>
            <a:ext cx="51435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null-head"/>
          <p:cNvSpPr txBox="1"/>
          <p:nvPr/>
        </p:nvSpPr>
        <p:spPr>
          <a:xfrm>
            <a:off x="6489700" y="1854200"/>
            <a:ext cx="469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零位测量 Null measurement</a:t>
            </a:r>
            <a:endParaRPr lang="en-US" sz="1500" noProof="1"/>
          </a:p>
        </p:txBody>
      </p:sp>
      <p:sp>
        <p:nvSpPr>
          <p:cNvPr id="11" name="null-body"/>
          <p:cNvSpPr txBox="1"/>
          <p:nvPr/>
        </p:nvSpPr>
        <p:spPr>
          <a:xfrm>
            <a:off x="6489700" y="2260600"/>
            <a:ext cx="4699000" cy="2463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问题：普通电表接入电路会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分流/分压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，测量本身就改变了被测电路。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对策：调节电路使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检流计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galvanometer 读数为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零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——测量回路不取电流，读数最准确。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由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ε = V + Ir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，令 I = 0 → ε = V：零位时直接测出电动势；沿均匀电阻丝滑动触点做零位比较，可精测电压与电阻。</a:t>
            </a:r>
            <a:endParaRPr lang="en-US" sz="1350" noProof="1"/>
          </a:p>
        </p:txBody>
      </p:sp>
      <p:sp>
        <p:nvSpPr>
          <p:cNvPr id="12" name="key-box"/>
          <p:cNvSpPr/>
          <p:nvPr/>
        </p:nvSpPr>
        <p:spPr>
          <a:xfrm>
            <a:off x="762000" y="5105400"/>
            <a:ext cx="10668000" cy="1092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key-head"/>
          <p:cNvSpPr txBox="1"/>
          <p:nvPr/>
        </p:nvSpPr>
        <p:spPr>
          <a:xfrm>
            <a:off x="965200" y="5232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一句话记住</a:t>
            </a:r>
            <a:endParaRPr lang="en-US" sz="1500" noProof="1"/>
          </a:p>
        </p:txBody>
      </p:sp>
      <p:sp>
        <p:nvSpPr>
          <p:cNvPr id="14" name="key-text"/>
          <p:cNvSpPr txBox="1"/>
          <p:nvPr/>
        </p:nvSpPr>
        <p:spPr>
          <a:xfrm>
            <a:off x="965200" y="5562600"/>
            <a:ext cx="10261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电位器 = 输出连续可调的分压器；零位法 = 让测量仪表" invisible "——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指针为零时，测量不影响电路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，所以比普通测量更准确。</a:t>
            </a:r>
            <a:endParaRPr lang="en-US" sz="125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WORKED EXAMPLE · 例题精讲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例题：内阻如何"吃掉"电池电压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 full ε = I(R+r) calculation, exam style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q-box"/>
          <p:cNvSpPr/>
          <p:nvPr/>
        </p:nvSpPr>
        <p:spPr>
          <a:xfrm>
            <a:off x="762000" y="1701800"/>
            <a:ext cx="10668000" cy="990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q-text"/>
          <p:cNvSpPr txBox="1"/>
          <p:nvPr/>
        </p:nvSpPr>
        <p:spPr>
          <a:xfrm>
            <a:off x="965200" y="1803400"/>
            <a:ext cx="10261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题目：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一节电池电动势 ε = 6.0 V、内阻 r = 0.50 Ω，外接负载电阻 R = 5.5 Ω。求电路电流 I、端电压 V 与损耗电压 v。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 cell of emf 6.0 V and internal resistance 0.50 Ω is connected to a 5.5 Ω load. Find the current, terminal p.d. and lost volts.</a:t>
            </a:r>
            <a:endParaRPr lang="en-US" sz="1300" noProof="1"/>
          </a:p>
        </p:txBody>
      </p:sp>
      <p:sp>
        <p:nvSpPr>
          <p:cNvPr id="8" name="s1-head"/>
          <p:cNvSpPr txBox="1"/>
          <p:nvPr/>
        </p:nvSpPr>
        <p:spPr>
          <a:xfrm>
            <a:off x="762000" y="29464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第一步：ε = I(R+r) 求电流</a:t>
            </a:r>
            <a:endParaRPr lang="en-US" sz="1500" noProof="1"/>
          </a:p>
        </p:txBody>
      </p:sp>
      <p:sp>
        <p:nvSpPr>
          <p:cNvPr id="9" name="s1-body"/>
          <p:cNvSpPr txBox="1"/>
          <p:nvPr/>
        </p:nvSpPr>
        <p:spPr>
          <a:xfrm>
            <a:off x="762000" y="33020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总电阻 R_T = R + r = 5.5 + 0.50 = 6.0 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I = ε / R_T = 6.0 ÷ 6.0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1.0 A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内阻与外阻串联，先加再除。</a:t>
            </a:r>
            <a:endParaRPr lang="en-US" sz="1350" noProof="1"/>
          </a:p>
        </p:txBody>
      </p:sp>
      <p:sp>
        <p:nvSpPr>
          <p:cNvPr id="10" name="s2-head"/>
          <p:cNvSpPr txBox="1"/>
          <p:nvPr/>
        </p:nvSpPr>
        <p:spPr>
          <a:xfrm>
            <a:off x="762000" y="4521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第二步：分别求 V 与 v</a:t>
            </a:r>
            <a:endParaRPr lang="en-US" sz="1500" noProof="1"/>
          </a:p>
        </p:txBody>
      </p:sp>
      <p:sp>
        <p:nvSpPr>
          <p:cNvPr id="11" name="s2-body"/>
          <p:cNvSpPr txBox="1"/>
          <p:nvPr/>
        </p:nvSpPr>
        <p:spPr>
          <a:xfrm>
            <a:off x="762000" y="4876800"/>
            <a:ext cx="5969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端电压 V = IR = 1.0 × 5.5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5.5 V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损耗电压 v = Ir = 1.0 × 0.50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0.50 V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检验：V + v = 5.5 + 0.5 = 6.0 V = ε ✔</a:t>
            </a:r>
            <a:endParaRPr lang="en-US" sz="1350" noProof="1"/>
          </a:p>
        </p:txBody>
      </p:sp>
      <p:sp>
        <p:nvSpPr>
          <p:cNvPr id="12" name="right-box"/>
          <p:cNvSpPr/>
          <p:nvPr/>
        </p:nvSpPr>
        <p:spPr>
          <a:xfrm>
            <a:off x="7239000" y="2946400"/>
            <a:ext cx="4191000" cy="325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right-head"/>
          <p:cNvSpPr txBox="1"/>
          <p:nvPr/>
        </p:nvSpPr>
        <p:spPr>
          <a:xfrm>
            <a:off x="7442200" y="3098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评分点拆解 Mark scheme</a:t>
            </a:r>
            <a:endParaRPr lang="en-US" sz="1500" noProof="1"/>
          </a:p>
        </p:txBody>
      </p:sp>
      <p:sp>
        <p:nvSpPr>
          <p:cNvPr id="14" name="right-body"/>
          <p:cNvSpPr txBox="1"/>
          <p:nvPr/>
        </p:nvSpPr>
        <p:spPr>
          <a:xfrm>
            <a:off x="7442200" y="3454400"/>
            <a:ext cx="3784600" cy="259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✔ 写出 ε = I(R+r) 或 R_T = R + r——公式分；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✔ V = IR、v = Ir 分开计算——过程分；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✔ 三个答案带单位——答案分。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追问常考：若 R 减小（负载变大），V 怎么变？——I 增大 → v 增大 → </a:t>
            </a: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V 减小</a:t>
            </a: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。这就是"大负载拉低电池电压"。</a:t>
            </a:r>
            <a:endParaRPr lang="en-US" sz="125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PRACTICE · 课堂练习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动手试一试：三道题覆盖本章三大考点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Kirchhoff's laws, mixed networks, and a sensor divider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1-badge"/>
          <p:cNvSpPr/>
          <p:nvPr/>
        </p:nvSpPr>
        <p:spPr>
          <a:xfrm>
            <a:off x="762000" y="16764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q1-num"/>
          <p:cNvSpPr txBox="1"/>
          <p:nvPr/>
        </p:nvSpPr>
        <p:spPr>
          <a:xfrm>
            <a:off x="762000" y="1676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lang="en-US" sz="1800" noProof="1"/>
          </a:p>
        </p:txBody>
      </p:sp>
      <p:sp>
        <p:nvSpPr>
          <p:cNvPr id="8" name="q1-body"/>
          <p:cNvSpPr txBox="1"/>
          <p:nvPr/>
        </p:nvSpPr>
        <p:spPr>
          <a:xfrm>
            <a:off x="1549400" y="16764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【基尔霍夫定律】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某节点有两条支路流入电流 3.0 A 与 2.0 A，一条支路流出电流 I。求 I，并写出你所依据的定律名称、完整表述及其对应的守恒量。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State the law in full and name the conserved quantity.</a:t>
            </a:r>
            <a:endParaRPr lang="en-US" sz="1350" noProof="1"/>
          </a:p>
        </p:txBody>
      </p:sp>
      <p:sp>
        <p:nvSpPr>
          <p:cNvPr id="9" name="q2-badge"/>
          <p:cNvSpPr/>
          <p:nvPr/>
        </p:nvSpPr>
        <p:spPr>
          <a:xfrm>
            <a:off x="762000" y="27432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q2-num"/>
          <p:cNvSpPr txBox="1"/>
          <p:nvPr/>
        </p:nvSpPr>
        <p:spPr>
          <a:xfrm>
            <a:off x="762000" y="2743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lang="en-US" sz="1800" noProof="1"/>
          </a:p>
        </p:txBody>
      </p:sp>
      <p:sp>
        <p:nvSpPr>
          <p:cNvPr id="11" name="q2-body"/>
          <p:cNvSpPr txBox="1"/>
          <p:nvPr/>
        </p:nvSpPr>
        <p:spPr>
          <a:xfrm>
            <a:off x="1549400" y="27432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【混联电路】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6 Ω 与 3 Ω 两个电阻并联后，再与一个 8 Ω 电阻串联，接在 20 V 电源上。求总电阻与电源流出的总电流。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Simplify the parallel pair first, then add the series resistor.</a:t>
            </a:r>
            <a:endParaRPr lang="en-US" sz="1350" noProof="1"/>
          </a:p>
        </p:txBody>
      </p:sp>
      <p:sp>
        <p:nvSpPr>
          <p:cNvPr id="12" name="q3-badge"/>
          <p:cNvSpPr/>
          <p:nvPr/>
        </p:nvSpPr>
        <p:spPr>
          <a:xfrm>
            <a:off x="762000" y="38100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q3-num"/>
          <p:cNvSpPr txBox="1"/>
          <p:nvPr/>
        </p:nvSpPr>
        <p:spPr>
          <a:xfrm>
            <a:off x="762000" y="3810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lang="en-US" sz="1800" noProof="1"/>
          </a:p>
        </p:txBody>
      </p:sp>
      <p:sp>
        <p:nvSpPr>
          <p:cNvPr id="14" name="q3-body"/>
          <p:cNvSpPr txBox="1"/>
          <p:nvPr/>
        </p:nvSpPr>
        <p:spPr>
          <a:xfrm>
            <a:off x="1549400" y="38100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【传感器分压】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热敏电阻与定值电阻串联分压，输出接在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定值电阻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两端。温度升高时输出电压如何变化？按四步推理链说明；若想改成"温度升高时输出反而减小"的电路，该怎么调整？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Explain step by step; how would you reverse the effect?</a:t>
            </a:r>
            <a:endParaRPr lang="en-US" sz="1350" noProof="1"/>
          </a:p>
        </p:txBody>
      </p:sp>
      <p:sp>
        <p:nvSpPr>
          <p:cNvPr id="15" name="crit-box"/>
          <p:cNvSpPr/>
          <p:nvPr/>
        </p:nvSpPr>
        <p:spPr>
          <a:xfrm>
            <a:off x="762000" y="5029200"/>
            <a:ext cx="10668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crit-head"/>
          <p:cNvSpPr txBox="1"/>
          <p:nvPr/>
        </p:nvSpPr>
        <p:spPr>
          <a:xfrm>
            <a:off x="965200" y="5156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完成标准 Completion criteria</a:t>
            </a:r>
            <a:endParaRPr lang="en-US" sz="1500" noProof="1"/>
          </a:p>
        </p:txBody>
      </p:sp>
      <p:sp>
        <p:nvSpPr>
          <p:cNvPr id="17" name="crit-body"/>
          <p:cNvSpPr txBox="1"/>
          <p:nvPr/>
        </p:nvSpPr>
        <p:spPr>
          <a:xfrm>
            <a:off x="965200" y="5461000"/>
            <a:ext cx="10261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Q1 定律表述完整且点明电荷守恒；② Q2 先并后串，并联等效值小于 3 Ω 可作自检；③ Q3 四步链条缺一不可，改法要说到"交换位置"。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全部完成后，翻到下一页对答案。</a:t>
            </a:r>
            <a:endParaRPr lang="en-US" sz="125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FEEDBACK · 参考答案与解析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对答案：每一步为什么这样做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Answers with reasons — check your working, not just the number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a1-head"/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Q1　I = 5.0 A，依据基尔霍夫第一定律</a:t>
            </a:r>
            <a:endParaRPr lang="en-US" sz="1400" noProof="1"/>
          </a:p>
        </p:txBody>
      </p:sp>
      <p:sp>
        <p:nvSpPr>
          <p:cNvPr id="7" name="a1-body"/>
          <p:cNvSpPr txBox="1"/>
          <p:nvPr/>
        </p:nvSpPr>
        <p:spPr>
          <a:xfrm>
            <a:off x="762000" y="19304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第一定律：流入节点的总电流 = 流出节点的总电流 → I = 3.0 + 2.0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5.0 A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对应守恒量：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电荷守恒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conservation of charge。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错因排查：只写"电流守恒"——必须说清是电荷守恒，且表述要有 into / out of a junction。</a:t>
            </a:r>
            <a:endParaRPr lang="en-US" sz="1250" noProof="1"/>
          </a:p>
        </p:txBody>
      </p:sp>
      <p:sp>
        <p:nvSpPr>
          <p:cNvPr id="8" name="a1-line"/>
          <p:cNvSpPr/>
          <p:nvPr/>
        </p:nvSpPr>
        <p:spPr>
          <a:xfrm>
            <a:off x="762000" y="29210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a2-head"/>
          <p:cNvSpPr txBox="1"/>
          <p:nvPr/>
        </p:nvSpPr>
        <p:spPr>
          <a:xfrm>
            <a:off x="762000" y="3073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Q2　R_T = 10 Ω，I = 2.0 A</a:t>
            </a:r>
            <a:endParaRPr lang="en-US" sz="1400" noProof="1"/>
          </a:p>
        </p:txBody>
      </p:sp>
      <p:sp>
        <p:nvSpPr>
          <p:cNvPr id="10" name="a2-body"/>
          <p:cNvSpPr txBox="1"/>
          <p:nvPr/>
        </p:nvSpPr>
        <p:spPr>
          <a:xfrm>
            <a:off x="762000" y="33782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并联：R = (6×3)/(6+3) = 18/9 = 2.0 Ω（自检：&lt; 3 Ω ✔）。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串联：R_T = 2.0 + 8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10 Ω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；I = V/R_T = 20 ÷ 10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2.0 A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错因排查：把 1/R_T = 1/6 + 1/3 = 1/2 直接当成 R_T = 1/2 Ω——记得取倒数！</a:t>
            </a:r>
            <a:endParaRPr lang="en-US" sz="1250" noProof="1"/>
          </a:p>
        </p:txBody>
      </p:sp>
      <p:sp>
        <p:nvSpPr>
          <p:cNvPr id="11" name="a2-line"/>
          <p:cNvSpPr/>
          <p:nvPr/>
        </p:nvSpPr>
        <p:spPr>
          <a:xfrm>
            <a:off x="762000" y="43688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a3-head"/>
          <p:cNvSpPr txBox="1"/>
          <p:nvPr/>
        </p:nvSpPr>
        <p:spPr>
          <a:xfrm>
            <a:off x="762000" y="45212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Q3　温度升高 → 输出增大；交换位置则反转</a:t>
            </a:r>
            <a:endParaRPr lang="en-US" sz="1400" noProof="1"/>
          </a:p>
        </p:txBody>
      </p:sp>
      <p:sp>
        <p:nvSpPr>
          <p:cNvPr id="13" name="a3-body"/>
          <p:cNvSpPr txBox="1"/>
          <p:nvPr/>
        </p:nvSpPr>
        <p:spPr>
          <a:xfrm>
            <a:off x="762000" y="48260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温度↑ → 热敏电阻 R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减小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；② 串联总电阻减小 → ③ 电流 I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增大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；④ 输出接在定值电阻端，V = IR 中 I 增大、R 不变 → 输出电压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增大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若要"温度高时输出反而减小"：把热敏电阻与定值电阻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交换位置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（输出改接在热敏电阻两端）即可。</a:t>
            </a:r>
            <a:endParaRPr lang="en-US" sz="1250" noProof="1"/>
          </a:p>
        </p:txBody>
      </p:sp>
      <p:sp>
        <p:nvSpPr>
          <p:cNvPr id="14" name="check-box"/>
          <p:cNvSpPr/>
          <p:nvPr/>
        </p:nvSpPr>
        <p:spPr>
          <a:xfrm>
            <a:off x="762000" y="5816600"/>
            <a:ext cx="10668000" cy="457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check-text"/>
          <p:cNvSpPr txBox="1"/>
          <p:nvPr/>
        </p:nvSpPr>
        <p:spPr>
          <a:xfrm>
            <a:off x="965200" y="5880100"/>
            <a:ext cx="10261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自查口令：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定律表述带守恒量了吗？并联取倒数了吗？输出接在哪个元件两端确认了吗？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SUMMARY · 本章小结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离开本章前，请带走这五件事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Topic 10 checklist — the toolkit for every circuit question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c1"/>
          <p:cNvSpPr txBox="1"/>
          <p:nvPr/>
        </p:nvSpPr>
        <p:spPr>
          <a:xfrm>
            <a:off x="762000" y="1676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emf 定义：电源对每库仑电荷转移的能量，ε = E/Q；内阻 r 与外阻串联。</a:t>
            </a:r>
            <a:endParaRPr lang="en-US" sz="1400" noProof="1"/>
          </a:p>
        </p:txBody>
      </p:sp>
      <p:sp>
        <p:nvSpPr>
          <p:cNvPr id="7" name="c2"/>
          <p:cNvSpPr txBox="1"/>
          <p:nvPr/>
        </p:nvSpPr>
        <p:spPr>
          <a:xfrm>
            <a:off x="762000" y="2133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ε = I(R+r)、V = IR、v = Ir、ε = V + v；断路时电压表读数 = ε。</a:t>
            </a:r>
            <a:endParaRPr lang="en-US" sz="1400" noProof="1"/>
          </a:p>
        </p:txBody>
      </p:sp>
      <p:sp>
        <p:nvSpPr>
          <p:cNvPr id="8" name="c3"/>
          <p:cNvSpPr txBox="1"/>
          <p:nvPr/>
        </p:nvSpPr>
        <p:spPr>
          <a:xfrm>
            <a:off x="762000" y="2590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基尔霍夫：节点电流相等（电荷守恒）；回路电压闭合（能量守恒）——定义题必带守恒量。</a:t>
            </a:r>
            <a:endParaRPr lang="en-US" sz="1400" noProof="1"/>
          </a:p>
        </p:txBody>
      </p:sp>
      <p:sp>
        <p:nvSpPr>
          <p:cNvPr id="9" name="c4"/>
          <p:cNvSpPr txBox="1"/>
          <p:nvPr/>
        </p:nvSpPr>
        <p:spPr>
          <a:xfrm>
            <a:off x="762000" y="3048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串联求和、并联倒数求和；混联"先并后串"逐步化简，并联结果必小于最小支路。</a:t>
            </a:r>
            <a:endParaRPr lang="en-US" sz="1400" noProof="1"/>
          </a:p>
        </p:txBody>
      </p:sp>
      <p:sp>
        <p:nvSpPr>
          <p:cNvPr id="10" name="c5"/>
          <p:cNvSpPr txBox="1"/>
          <p:nvPr/>
        </p:nvSpPr>
        <p:spPr>
          <a:xfrm>
            <a:off x="762000" y="3505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⑤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分压器 V_out = V_in × R₂/(R₁+R₂)；传感器题四步推理链，位置对调效果反转。</a:t>
            </a:r>
            <a:endParaRPr lang="en-US" sz="1400" noProof="1"/>
          </a:p>
        </p:txBody>
      </p:sp>
      <p:sp>
        <p:nvSpPr>
          <p:cNvPr id="11" name="res-rule"/>
          <p:cNvSpPr/>
          <p:nvPr/>
        </p:nvSpPr>
        <p:spPr>
          <a:xfrm>
            <a:off x="762000" y="41402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res-head"/>
          <p:cNvSpPr txBox="1"/>
          <p:nvPr/>
        </p:nvSpPr>
        <p:spPr>
          <a:xfrm>
            <a:off x="762000" y="4343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配套学习资源</a:t>
            </a:r>
            <a:endParaRPr lang="en-US" sz="1500" noProof="1"/>
          </a:p>
        </p:txBody>
      </p:sp>
      <p:sp>
        <p:nvSpPr>
          <p:cNvPr id="13" name="res-body"/>
          <p:cNvSpPr txBox="1"/>
          <p:nvPr/>
        </p:nvSpPr>
        <p:spPr>
          <a:xfrm>
            <a:off x="762000" y="4724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《中英对照笔记》：本课件全部内容的双语详版，含公式推导、混联例题与公式速查表，适合课后精读与考前背诵（中英结合笔记 文件夹）。</a:t>
            </a:r>
            <a:endParaRPr lang="en-US" sz="1300" noProof="1"/>
          </a:p>
        </p:txBody>
      </p:sp>
      <p:sp>
        <p:nvSpPr>
          <p:cNvPr id="14" name="next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next-text"/>
          <p:cNvSpPr txBox="1"/>
          <p:nvPr/>
        </p:nvSpPr>
        <p:spPr>
          <a:xfrm>
            <a:off x="965200" y="5816600"/>
            <a:ext cx="10261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下一章预告 Next：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Topic 11 Particle Physics 粒子物理 —— 走进原子内部：核素符号、α/β/γ 衰变与夸克模型。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10 直流电路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Topic10_DC_Circuits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