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3" name="topic-num"/>
          <p:cNvSpPr txBox="1"/>
          <p:nvPr/>
        </p:nvSpPr>
        <p:spPr>
          <a:xfrm>
            <a:off x="1219200" y="939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9702 · TOPIC 6</a:t>
            </a:r>
            <a:endParaRPr lang="en-US" sz="1400" noProof="1"/>
          </a:p>
        </p:txBody>
      </p:sp>
      <p:sp>
        <p:nvSpPr>
          <p:cNvPr id="4" name="title-cn"/>
          <p:cNvSpPr txBox="1"/>
          <p:nvPr/>
        </p:nvSpPr>
        <p:spPr>
          <a:xfrm>
            <a:off x="1219200" y="1625600"/>
            <a:ext cx="965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22303A"/>
                </a:solidFill>
                <a:latin typeface="MiSans"/>
                <a:ea typeface="MiSans"/>
              </a:rPr>
              <a:t>固体的形变</a:t>
            </a:r>
            <a:endParaRPr lang="en-US" sz="4600" noProof="1"/>
          </a:p>
        </p:txBody>
      </p:sp>
      <p:sp>
        <p:nvSpPr>
          <p:cNvPr id="5" name="title-en"/>
          <p:cNvSpPr txBox="1"/>
          <p:nvPr/>
        </p:nvSpPr>
        <p:spPr>
          <a:xfrm>
            <a:off x="1219200" y="25654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Deformation of Solids</a:t>
            </a:r>
            <a:endParaRPr lang="en-US" sz="2400" noProof="1"/>
          </a:p>
        </p:txBody>
      </p:sp>
      <p:sp>
        <p:nvSpPr>
          <p:cNvPr id="6" name="cover-rule"/>
          <p:cNvSpPr/>
          <p:nvPr/>
        </p:nvSpPr>
        <p:spPr>
          <a:xfrm>
            <a:off x="1219200" y="3327400"/>
            <a:ext cx="1524000" cy="381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7" name="cover-sub"/>
          <p:cNvSpPr txBox="1"/>
          <p:nvPr/>
        </p:nvSpPr>
        <p:spPr>
          <a:xfrm>
            <a:off x="1219200" y="36322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AS Level 自学课件 · 中英双语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依据 CAIE 考纲 · 参考 PMT Education 笔记与 Cambridge 官方教材（Crundell, 3rd edition）</a:t>
            </a:r>
            <a:endParaRPr lang="en-US" sz="1400" noProof="1"/>
          </a:p>
        </p:txBody>
      </p:sp>
      <p:sp>
        <p:nvSpPr>
          <p:cNvPr id="8" name="formula-strip"/>
          <p:cNvSpPr txBox="1"/>
          <p:nvPr/>
        </p:nvSpPr>
        <p:spPr>
          <a:xfrm>
            <a:off x="1219200" y="513080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F = kx  ·  σ = F/A  ·  ε = x/L  ·  E = σ/ε  ·  应变能 = ½Fx = ½kx²</a:t>
            </a:r>
            <a:endParaRPr lang="en-US" sz="1500" noProof="1"/>
          </a:p>
        </p:txBody>
      </p:sp>
      <p:sp>
        <p:nvSpPr>
          <p:cNvPr id="9" name="formula-strip-label"/>
          <p:cNvSpPr txBox="1"/>
          <p:nvPr/>
        </p:nvSpPr>
        <p:spPr>
          <a:xfrm>
            <a:off x="1219200" y="5537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五个核心公式 —— 从弹簧到材料科学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TOPIC 6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本章学完后，你能做到什么？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Learning route — four stops from springs to stress-strain graphs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pine"/>
          <p:cNvSpPr/>
          <p:nvPr/>
        </p:nvSpPr>
        <p:spPr>
          <a:xfrm>
            <a:off x="1117600" y="2032000"/>
            <a:ext cx="25400" cy="3556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n1"/>
          <p:cNvSpPr txBox="1"/>
          <p:nvPr/>
        </p:nvSpPr>
        <p:spPr>
          <a:xfrm>
            <a:off x="762000" y="1752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endParaRPr lang="en-US" sz="2400" noProof="1"/>
          </a:p>
        </p:txBody>
      </p:sp>
      <p:sp>
        <p:nvSpPr>
          <p:cNvPr id="8" name="s1"/>
          <p:cNvSpPr txBox="1"/>
          <p:nvPr/>
        </p:nvSpPr>
        <p:spPr>
          <a:xfrm>
            <a:off x="1625600" y="1778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胡克定律与两个极限点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F = kx；分清 limit of proportionality（P）与 elastic limit（E）。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Hooke's law · P and E are two different points</a:t>
            </a:r>
            <a:endParaRPr lang="en-US" sz="1350" noProof="1"/>
          </a:p>
        </p:txBody>
      </p:sp>
      <p:sp>
        <p:nvSpPr>
          <p:cNvPr id="9" name="n2"/>
          <p:cNvSpPr txBox="1"/>
          <p:nvPr/>
        </p:nvSpPr>
        <p:spPr>
          <a:xfrm>
            <a:off x="762000" y="2641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endParaRPr lang="en-US" sz="2400" noProof="1"/>
          </a:p>
        </p:txBody>
      </p:sp>
      <p:sp>
        <p:nvSpPr>
          <p:cNvPr id="10" name="s2"/>
          <p:cNvSpPr txBox="1"/>
          <p:nvPr/>
        </p:nvSpPr>
        <p:spPr>
          <a:xfrm>
            <a:off x="1625600" y="2667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应力、应变与杨氏模量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σ = F/A、ε = x/L、E = σ/ε——k 是物体的，E 是材料的。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Stress, strain and the Young modulus as a material property</a:t>
            </a:r>
            <a:endParaRPr lang="en-US" sz="1350" noProof="1"/>
          </a:p>
        </p:txBody>
      </p:sp>
      <p:sp>
        <p:nvSpPr>
          <p:cNvPr id="11" name="n3"/>
          <p:cNvSpPr txBox="1"/>
          <p:nvPr/>
        </p:nvSpPr>
        <p:spPr>
          <a:xfrm>
            <a:off x="762000" y="3530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endParaRPr lang="en-US" sz="2400" noProof="1"/>
          </a:p>
        </p:txBody>
      </p:sp>
      <p:sp>
        <p:nvSpPr>
          <p:cNvPr id="12" name="s3"/>
          <p:cNvSpPr txBox="1"/>
          <p:nvPr/>
        </p:nvSpPr>
        <p:spPr>
          <a:xfrm>
            <a:off x="1625600" y="3556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测杨氏模量实验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金属丝 + 砝码：螺旋测微器测直径，应力-应变图斜率 = E。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The wire experiment — micrometer, seven readings, gradient = E</a:t>
            </a:r>
            <a:endParaRPr lang="en-US" sz="1350" noProof="1"/>
          </a:p>
        </p:txBody>
      </p:sp>
      <p:sp>
        <p:nvSpPr>
          <p:cNvPr id="13" name="n4"/>
          <p:cNvSpPr txBox="1"/>
          <p:nvPr/>
        </p:nvSpPr>
        <p:spPr>
          <a:xfrm>
            <a:off x="762000" y="4419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endParaRPr lang="en-US" sz="2400" noProof="1"/>
          </a:p>
        </p:txBody>
      </p:sp>
      <p:sp>
        <p:nvSpPr>
          <p:cNvPr id="14" name="s4"/>
          <p:cNvSpPr txBox="1"/>
          <p:nvPr/>
        </p:nvSpPr>
        <p:spPr>
          <a:xfrm>
            <a:off x="1625600" y="4445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弹性应变能与材料行为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F-x 图下面积 = ½Fx = ½kx²；弹性 vs 塑性；加载-卸载曲线。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Elastic strain energy · plastic vs brittle · loading-unloading graphs</a:t>
            </a:r>
            <a:endParaRPr lang="en-US" sz="1350" noProof="1"/>
          </a:p>
        </p:txBody>
      </p:sp>
      <p:sp>
        <p:nvSpPr>
          <p:cNvPr id="15" name="exit-box"/>
          <p:cNvSpPr/>
          <p:nvPr/>
        </p:nvSpPr>
        <p:spPr>
          <a:xfrm>
            <a:off x="762000" y="54864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exit-text"/>
          <p:cNvSpPr txBox="1"/>
          <p:nvPr/>
        </p:nvSpPr>
        <p:spPr>
          <a:xfrm>
            <a:off x="965200" y="5588000"/>
            <a:ext cx="10261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出口能力 Exit capability：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能在 F-x 图上标出 P、E 与应变能面积；会用 E = FL/Ax 做计算并说出 k 与 E 的区别；能复述测 E 实验的步骤与数据处理；能解读加载-卸载曲线。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6.1 · HOOKE'S LAW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胡克定律与两个不能混淆的极限点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Limit of proportionality vs elastic limit — P comes first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胡克定律 Hooke's Law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环境条件（如温度）不变时，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伸长量与力成正比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F = kx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k 为弹簧常数（N/m），衡量劲度；图像上过原点的直线 = 成正比。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32766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两个极限点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3632200"/>
            <a:ext cx="5969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比例极限 P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：超过它，胡克定律不再成立（图线开始弯曲）。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弹性极限 E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：恰在 P 之后；超过它，材料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永久形变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，卸力后不能恢复原长。</a:t>
            </a:r>
            <a:endParaRPr lang="en-US" sz="1350" noProof="1"/>
          </a:p>
        </p:txBody>
      </p:sp>
      <p:sp>
        <p:nvSpPr>
          <p:cNvPr id="10" name="warn-box"/>
          <p:cNvSpPr/>
          <p:nvPr/>
        </p:nvSpPr>
        <p:spPr>
          <a:xfrm>
            <a:off x="762000" y="5029200"/>
            <a:ext cx="5969000" cy="838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body"/>
          <p:cNvSpPr txBox="1"/>
          <p:nvPr/>
        </p:nvSpPr>
        <p:spPr>
          <a:xfrm>
            <a:off x="965200" y="5130800"/>
            <a:ext cx="5562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易错辨析：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P 与 E 不是同一个点！P 到 E 之间：不成正比，但卸力仍能恢复——两个表述分别对应两个点。</a:t>
            </a:r>
            <a:endParaRPr lang="en-US" sz="1250" noProof="1"/>
          </a:p>
        </p:txBody>
      </p:sp>
      <p:sp>
        <p:nvSpPr>
          <p:cNvPr id="12" name="axis-y"/>
          <p:cNvSpPr/>
          <p:nvPr>
            <p:extLst>
              <p:ext uri="{F5677B7D-0D2A-4D9B-9A5C-6D8D7D0E5A5D}">
                <pptd:line encoding="base64url">eyJ2aWV3Qm94IjpbNCwyNTBdLCJwb2ludHMiOiIyLDI1MCAyLDAiLCJjdXJ2ZSI6InNoYXJwIn0</pptd:line>
              </p:ext>
            </p:extLst>
          </p:nvPr>
        </p:nvSpPr>
        <p:spPr>
          <a:xfrm>
            <a:off x="7594600" y="1778000"/>
            <a:ext cx="50800" cy="3175000"/>
          </a:xfrm>
          <a:custGeom>
            <a:avLst/>
            <a:gdLst/>
            <a:ahLst/>
            <a:cxnLst/>
            <a:rect l="l" t="t" r="r" b="b"/>
            <a:pathLst>
              <a:path w="4" h="250">
                <a:moveTo>
                  <a:pt x="2" y="25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3" name="axis-x"/>
          <p:cNvSpPr/>
          <p:nvPr>
            <p:extLst>
              <p:ext uri="{F5677B7D-0D2A-4D9B-9A5C-6D8D7D0E5A5D}">
                <pptd:line encoding="base64url">eyJ2aWV3Qm94IjpbMjkwLDRdLCJwb2ludHMiOiIwLDIgMjkwLDIiLCJjdXJ2ZSI6InNoYXJwIn0</pptd:line>
              </p:ext>
            </p:extLst>
          </p:nvPr>
        </p:nvSpPr>
        <p:spPr>
          <a:xfrm>
            <a:off x="7594600" y="4902200"/>
            <a:ext cx="3683000" cy="50800"/>
          </a:xfrm>
          <a:custGeom>
            <a:avLst/>
            <a:gdLst/>
            <a:ahLst/>
            <a:cxnLst/>
            <a:rect l="l" t="t" r="r" b="b"/>
            <a:pathLst>
              <a:path w="290" h="4">
                <a:moveTo>
                  <a:pt x="0" y="2"/>
                </a:moveTo>
                <a:lnTo>
                  <a:pt x="29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4" name="straight"/>
          <p:cNvSpPr/>
          <p:nvPr>
            <p:extLst>
              <p:ext uri="{F5677B7D-0D2A-4D9B-9A5C-6D8D7D0E5A5D}">
                <pptd:line encoding="base64url">eyJ2aWV3Qm94IjpbMTQwLDEzNl0sInBvaW50cyI6IjAsMTM2IDE0MCwwIiwiY3VydmUiOiJzaGFycCJ9</pptd:line>
              </p:ext>
            </p:extLst>
          </p:nvPr>
        </p:nvSpPr>
        <p:spPr>
          <a:xfrm>
            <a:off x="7620000" y="3175000"/>
            <a:ext cx="1778000" cy="1727200"/>
          </a:xfrm>
          <a:custGeom>
            <a:avLst/>
            <a:gdLst/>
            <a:ahLst/>
            <a:cxnLst/>
            <a:rect l="l" t="t" r="r" b="b"/>
            <a:pathLst>
              <a:path w="140" h="136">
                <a:moveTo>
                  <a:pt x="0" y="136"/>
                </a:moveTo>
                <a:lnTo>
                  <a:pt x="140" y="0"/>
                </a:lnTo>
              </a:path>
            </a:pathLst>
          </a:custGeom>
          <a:noFill/>
          <a:ln w="38100">
            <a:solidFill>
              <a:srgbClr val="0E5A55"/>
            </a:solidFill>
          </a:ln>
        </p:spPr>
      </p:sp>
      <p:sp>
        <p:nvSpPr>
          <p:cNvPr id="15" name="curve-part"/>
          <p:cNvSpPr/>
          <p:nvPr>
            <p:extLst>
              <p:ext uri="{F5677B7D-0D2A-4D9B-9A5C-6D8D7D0E5A5D}">
                <pptd:line encoding="base64url">eyJ2aWV3Qm94IjpbMTEwLDUyXSwicG9pbnRzIjoiMCw1MCA0MCwxOCA3NSw0IDExMCwwIiwiY3VydmUiOiJzbW9vdGgifQ</pptd:line>
              </p:ext>
            </p:extLst>
          </p:nvPr>
        </p:nvSpPr>
        <p:spPr>
          <a:xfrm>
            <a:off x="9398000" y="2540000"/>
            <a:ext cx="1397000" cy="660400"/>
          </a:xfrm>
          <a:custGeom>
            <a:avLst/>
            <a:gdLst/>
            <a:ahLst/>
            <a:cxnLst/>
            <a:rect l="l" t="t" r="r" b="b"/>
            <a:pathLst>
              <a:path w="110" h="52">
                <a:moveTo>
                  <a:pt x="0" y="50"/>
                </a:moveTo>
                <a:cubicBezTo>
                  <a:pt x="40" y="18"/>
                  <a:pt x="75" y="4"/>
                  <a:pt x="110" y="0"/>
                </a:cubicBezTo>
              </a:path>
            </a:pathLst>
          </a:custGeom>
          <a:noFill/>
          <a:ln w="38100" cap="rnd">
            <a:solidFill>
              <a:srgbClr val="0E5A55"/>
            </a:solidFill>
            <a:round/>
          </a:ln>
        </p:spPr>
      </p:sp>
      <p:sp>
        <p:nvSpPr>
          <p:cNvPr id="16" name="p-dot"/>
          <p:cNvSpPr/>
          <p:nvPr/>
        </p:nvSpPr>
        <p:spPr>
          <a:xfrm>
            <a:off x="9321800" y="3098800"/>
            <a:ext cx="152400" cy="1524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7" name="e-dot"/>
          <p:cNvSpPr/>
          <p:nvPr/>
        </p:nvSpPr>
        <p:spPr>
          <a:xfrm>
            <a:off x="9855200" y="2743200"/>
            <a:ext cx="152400" cy="152400"/>
          </a:xfrm>
          <a:prstGeom prst="ellipse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8" name="lb-p"/>
          <p:cNvSpPr txBox="1"/>
          <p:nvPr/>
        </p:nvSpPr>
        <p:spPr>
          <a:xfrm>
            <a:off x="8890000" y="2870200"/>
            <a:ext cx="762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P</a:t>
            </a:r>
            <a:endParaRPr lang="en-US" sz="1250" noProof="1"/>
          </a:p>
        </p:txBody>
      </p:sp>
      <p:sp>
        <p:nvSpPr>
          <p:cNvPr id="19" name="lb-e"/>
          <p:cNvSpPr txBox="1"/>
          <p:nvPr/>
        </p:nvSpPr>
        <p:spPr>
          <a:xfrm>
            <a:off x="10058400" y="2667000"/>
            <a:ext cx="762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E</a:t>
            </a:r>
            <a:endParaRPr lang="en-US" sz="1250" noProof="1"/>
          </a:p>
        </p:txBody>
      </p:sp>
      <p:sp>
        <p:nvSpPr>
          <p:cNvPr id="20" name="lb-f"/>
          <p:cNvSpPr txBox="1"/>
          <p:nvPr/>
        </p:nvSpPr>
        <p:spPr>
          <a:xfrm>
            <a:off x="7112000" y="17780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F</a:t>
            </a:r>
            <a:endParaRPr lang="en-US" sz="1300" noProof="1"/>
          </a:p>
        </p:txBody>
      </p:sp>
      <p:sp>
        <p:nvSpPr>
          <p:cNvPr id="21" name="lb-x"/>
          <p:cNvSpPr txBox="1"/>
          <p:nvPr/>
        </p:nvSpPr>
        <p:spPr>
          <a:xfrm>
            <a:off x="11226800" y="50038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x</a:t>
            </a:r>
            <a:endParaRPr lang="en-US" sz="1300" noProof="1"/>
          </a:p>
        </p:txBody>
      </p:sp>
      <p:sp>
        <p:nvSpPr>
          <p:cNvPr id="22" name="lb-linear"/>
          <p:cNvSpPr txBox="1"/>
          <p:nvPr/>
        </p:nvSpPr>
        <p:spPr>
          <a:xfrm>
            <a:off x="8128000" y="3759200"/>
            <a:ext cx="1651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5A55"/>
                </a:solidFill>
                <a:latin typeface="MiSans"/>
                <a:ea typeface="MiSans"/>
              </a:rPr>
              <a:t>胡克定律区</a:t>
            </a:r>
            <a:endParaRPr lang="en-US" sz="1200" noProof="1"/>
          </a:p>
        </p:txBody>
      </p:sp>
      <p:sp>
        <p:nvSpPr>
          <p:cNvPr id="23" name="lb-beyond"/>
          <p:cNvSpPr txBox="1"/>
          <p:nvPr/>
        </p:nvSpPr>
        <p:spPr>
          <a:xfrm>
            <a:off x="9982200" y="23622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不再成正比</a:t>
            </a:r>
            <a:endParaRPr lang="en-US" sz="1200" noProof="1"/>
          </a:p>
        </p:txBody>
      </p:sp>
      <p:sp>
        <p:nvSpPr>
          <p:cNvPr id="24" name="dia-caption"/>
          <p:cNvSpPr txBox="1"/>
          <p:nvPr/>
        </p:nvSpPr>
        <p:spPr>
          <a:xfrm>
            <a:off x="7366000" y="53848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P 点之前：过原点直线（成正比）；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P→E：弯曲但仍可恢复；过 E：永久形变。</a:t>
            </a:r>
            <a:endParaRPr lang="en-US" sz="1100" noProof="1"/>
          </a:p>
        </p:txBody>
      </p:sp>
      <p:sp>
        <p:nvSpPr>
          <p:cNvPr id="2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2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6.1 · STRESS AND STRAIN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应力与应变：一个有单位，一个没有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σ = F/A in pascals · ε = x/L with no unit at all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-box"/>
          <p:cNvSpPr/>
          <p:nvPr/>
        </p:nvSpPr>
        <p:spPr>
          <a:xfrm>
            <a:off x="762000" y="1676400"/>
            <a:ext cx="5143500" cy="2032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s-head"/>
          <p:cNvSpPr txBox="1"/>
          <p:nvPr/>
        </p:nvSpPr>
        <p:spPr>
          <a:xfrm>
            <a:off x="965200" y="1803400"/>
            <a:ext cx="47371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应力 Tensile stress</a:t>
            </a:r>
            <a:endParaRPr lang="en-US" sz="1500" noProof="1"/>
          </a:p>
        </p:txBody>
      </p:sp>
      <p:sp>
        <p:nvSpPr>
          <p:cNvPr id="8" name="s-body"/>
          <p:cNvSpPr txBox="1"/>
          <p:nvPr/>
        </p:nvSpPr>
        <p:spPr>
          <a:xfrm>
            <a:off x="965200" y="2184400"/>
            <a:ext cx="47371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σ = F/A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单位横截面积上施加的力。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单位：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Pa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（= N/m²）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 是横截面积 cross-sectional area</a:t>
            </a:r>
            <a:endParaRPr lang="en-US" sz="1300" noProof="1"/>
          </a:p>
        </p:txBody>
      </p:sp>
      <p:sp>
        <p:nvSpPr>
          <p:cNvPr id="9" name="e-box"/>
          <p:cNvSpPr/>
          <p:nvPr/>
        </p:nvSpPr>
        <p:spPr>
          <a:xfrm>
            <a:off x="6286500" y="1676400"/>
            <a:ext cx="5143500" cy="2032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0" name="e-head"/>
          <p:cNvSpPr txBox="1"/>
          <p:nvPr/>
        </p:nvSpPr>
        <p:spPr>
          <a:xfrm>
            <a:off x="6489700" y="1803400"/>
            <a:ext cx="47371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应变 Tensile strain</a:t>
            </a:r>
            <a:endParaRPr lang="en-US" sz="1500" noProof="1"/>
          </a:p>
        </p:txBody>
      </p:sp>
      <p:sp>
        <p:nvSpPr>
          <p:cNvPr id="11" name="e-body"/>
          <p:cNvSpPr txBox="1"/>
          <p:nvPr/>
        </p:nvSpPr>
        <p:spPr>
          <a:xfrm>
            <a:off x="6489700" y="2184400"/>
            <a:ext cx="47371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ε = x/L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伸长量 ÷ 原长。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单位：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无单位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（比值）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可写小数或百分比，如 0.002 或 0.2%</a:t>
            </a:r>
            <a:endParaRPr lang="en-US" sz="1300" noProof="1"/>
          </a:p>
        </p:txBody>
      </p:sp>
      <p:sp>
        <p:nvSpPr>
          <p:cNvPr id="12" name="warn-box"/>
          <p:cNvSpPr/>
          <p:nvPr/>
        </p:nvSpPr>
        <p:spPr>
          <a:xfrm>
            <a:off x="762000" y="4013200"/>
            <a:ext cx="10668000" cy="838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warn-body"/>
          <p:cNvSpPr txBox="1"/>
          <p:nvPr/>
        </p:nvSpPr>
        <p:spPr>
          <a:xfrm>
            <a:off x="965200" y="4140200"/>
            <a:ext cx="10261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应变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没有单位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，答案写单位的直接扣分；② 应力单位 Pa 与压强相同，但别写成 N；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③ 金属丝直径常以 mm 给出——算 A = πd²/4 前务必换成 m，错一步差 10⁶ 倍。</a:t>
            </a:r>
            <a:endParaRPr lang="en-US" sz="1250" noProof="1"/>
          </a:p>
        </p:txBody>
      </p:sp>
      <p:sp>
        <p:nvSpPr>
          <p:cNvPr id="14" name="h2"/>
          <p:cNvSpPr txBox="1"/>
          <p:nvPr/>
        </p:nvSpPr>
        <p:spPr>
          <a:xfrm>
            <a:off x="762000" y="5156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为什么要发明这两个量？</a:t>
            </a:r>
            <a:endParaRPr lang="en-US" sz="1500" noProof="1"/>
          </a:p>
        </p:txBody>
      </p:sp>
      <p:sp>
        <p:nvSpPr>
          <p:cNvPr id="15" name="b2"/>
          <p:cNvSpPr txBox="1"/>
          <p:nvPr/>
        </p:nvSpPr>
        <p:spPr>
          <a:xfrm>
            <a:off x="762000" y="55118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力与伸长量描述的是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某个具体物体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；除以面积和长度之后，应力与应变描述的是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材料本身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——粗钢丝和细钢丝的 F-x 图不同，应力-应变图却完全一样。这正是下一页杨氏模量的意义。</a:t>
            </a:r>
            <a:endParaRPr lang="en-US" sz="13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6.1 · YOUNG MODULUS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杨氏模量：材料的"身份证"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E = stress / strain — stiffness of the material, not the object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box"/>
          <p:cNvSpPr/>
          <p:nvPr/>
        </p:nvSpPr>
        <p:spPr>
          <a:xfrm>
            <a:off x="762000" y="1676400"/>
            <a:ext cx="5969000" cy="1219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65200" y="1803400"/>
            <a:ext cx="55626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比例极限以内，应力 ∝ 应变，比值恒定：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E = σ/ε = FL/Ax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单位 Pa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>
                <a:solidFill>
                  <a:srgbClr val="6E6A62"/>
                </a:solidFill>
                <a:latin typeface="MiSans"/>
                <a:ea typeface="MiSans"/>
              </a:rPr>
              <a:t>应力-应变图直线部分的斜率 = E</a:t>
            </a:r>
            <a:endParaRPr lang="en-US" sz="1350" noProof="1"/>
          </a:p>
        </p:txBody>
      </p:sp>
      <p:sp>
        <p:nvSpPr>
          <p:cNvPr id="8" name="h1"/>
          <p:cNvSpPr txBox="1"/>
          <p:nvPr/>
        </p:nvSpPr>
        <p:spPr>
          <a:xfrm>
            <a:off x="762000" y="31496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k 与 E 的区别（简答题高频）</a:t>
            </a:r>
            <a:endParaRPr lang="en-US" sz="1500" noProof="1"/>
          </a:p>
        </p:txBody>
      </p:sp>
      <p:sp>
        <p:nvSpPr>
          <p:cNvPr id="9" name="b1"/>
          <p:cNvSpPr txBox="1"/>
          <p:nvPr/>
        </p:nvSpPr>
        <p:spPr>
          <a:xfrm>
            <a:off x="762000" y="3505200"/>
            <a:ext cx="5969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k（弹簧常数）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：属于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具体物体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——同一根丝剪短一半，k 加倍。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E（杨氏模量）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：属于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材料本身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——粗钢丝、细钢丝、钢梁，E 都一样。</a:t>
            </a:r>
            <a:endParaRPr lang="en-US" sz="1350" noProof="1"/>
          </a:p>
        </p:txBody>
      </p:sp>
      <p:sp>
        <p:nvSpPr>
          <p:cNvPr id="10" name="warn-box"/>
          <p:cNvSpPr/>
          <p:nvPr/>
        </p:nvSpPr>
        <p:spPr>
          <a:xfrm>
            <a:off x="762000" y="5080000"/>
            <a:ext cx="5969000" cy="838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body"/>
          <p:cNvSpPr txBox="1"/>
          <p:nvPr/>
        </p:nvSpPr>
        <p:spPr>
          <a:xfrm>
            <a:off x="965200" y="5181600"/>
            <a:ext cx="5562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F-x 图的斜率是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k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，不是 E！要求 E 必须用应力-应变图的斜率，或用 FL/Ax 换算。</a:t>
            </a:r>
            <a:endParaRPr lang="en-US" sz="1250" noProof="1"/>
          </a:p>
        </p:txBody>
      </p:sp>
      <p:sp>
        <p:nvSpPr>
          <p:cNvPr id="12" name="axis-y"/>
          <p:cNvSpPr/>
          <p:nvPr>
            <p:extLst>
              <p:ext uri="{F5677B7D-0D2A-4D9B-9A5C-6D8D7D0E5A5D}">
                <pptd:line encoding="base64url">eyJ2aWV3Qm94IjpbNCwyMjBdLCJwb2ludHMiOiIyLDIyMCAyLDAiLCJjdXJ2ZSI6InNoYXJwIn0</pptd:line>
              </p:ext>
            </p:extLst>
          </p:nvPr>
        </p:nvSpPr>
        <p:spPr>
          <a:xfrm>
            <a:off x="7620000" y="2032000"/>
            <a:ext cx="50800" cy="2794000"/>
          </a:xfrm>
          <a:custGeom>
            <a:avLst/>
            <a:gdLst/>
            <a:ahLst/>
            <a:cxnLst/>
            <a:rect l="l" t="t" r="r" b="b"/>
            <a:pathLst>
              <a:path w="4" h="220">
                <a:moveTo>
                  <a:pt x="2" y="22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3" name="axis-x"/>
          <p:cNvSpPr/>
          <p:nvPr>
            <p:extLst>
              <p:ext uri="{F5677B7D-0D2A-4D9B-9A5C-6D8D7D0E5A5D}">
                <pptd:line encoding="base64url">eyJ2aWV3Qm94IjpbMjcwLDRdLCJwb2ludHMiOiIwLDIgMjcwLDIiLCJjdXJ2ZSI6InNoYXJwIn0</pptd:line>
              </p:ext>
            </p:extLst>
          </p:nvPr>
        </p:nvSpPr>
        <p:spPr>
          <a:xfrm>
            <a:off x="7620000" y="4775200"/>
            <a:ext cx="3429000" cy="50800"/>
          </a:xfrm>
          <a:custGeom>
            <a:avLst/>
            <a:gdLst/>
            <a:ahLst/>
            <a:cxnLst/>
            <a:rect l="l" t="t" r="r" b="b"/>
            <a:pathLst>
              <a:path w="270" h="4">
                <a:moveTo>
                  <a:pt x="0" y="2"/>
                </a:moveTo>
                <a:lnTo>
                  <a:pt x="27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4" name="gl1"/>
          <p:cNvSpPr/>
          <p:nvPr>
            <p:extLst>
              <p:ext uri="{F5677B7D-0D2A-4D9B-9A5C-6D8D7D0E5A5D}">
                <pptd:line encoding="base64url">eyJ2aWV3Qm94IjpbMTUwLDE1OF0sInBvaW50cyI6IjAsMTU4IDE1MCwwIiwiY3VydmUiOiJzaGFycCJ9</pptd:line>
              </p:ext>
            </p:extLst>
          </p:nvPr>
        </p:nvSpPr>
        <p:spPr>
          <a:xfrm>
            <a:off x="7645400" y="2743200"/>
            <a:ext cx="1905000" cy="2006600"/>
          </a:xfrm>
          <a:custGeom>
            <a:avLst/>
            <a:gdLst/>
            <a:ahLst/>
            <a:cxnLst/>
            <a:rect l="l" t="t" r="r" b="b"/>
            <a:pathLst>
              <a:path w="150" h="158">
                <a:moveTo>
                  <a:pt x="0" y="158"/>
                </a:moveTo>
                <a:lnTo>
                  <a:pt x="150" y="0"/>
                </a:lnTo>
              </a:path>
            </a:pathLst>
          </a:custGeom>
          <a:noFill/>
          <a:ln w="38100">
            <a:solidFill>
              <a:srgbClr val="0E5A55"/>
            </a:solidFill>
          </a:ln>
        </p:spPr>
      </p:sp>
      <p:sp>
        <p:nvSpPr>
          <p:cNvPr id="15" name="gl2"/>
          <p:cNvSpPr/>
          <p:nvPr>
            <p:extLst>
              <p:ext uri="{F5677B7D-0D2A-4D9B-9A5C-6D8D7D0E5A5D}">
                <pptd:line encoding="base64url">eyJ2aWV3Qm94IjpbMjMwLDk4XSwicG9pbnRzIjoiMCw5OCAyMzAsMCIsImN1cnZlIjoic2hhcnAifQ</pptd:line>
              </p:ext>
            </p:extLst>
          </p:nvPr>
        </p:nvSpPr>
        <p:spPr>
          <a:xfrm>
            <a:off x="7645400" y="3505200"/>
            <a:ext cx="2921000" cy="1244600"/>
          </a:xfrm>
          <a:custGeom>
            <a:avLst/>
            <a:gdLst/>
            <a:ahLst/>
            <a:cxnLst/>
            <a:rect l="l" t="t" r="r" b="b"/>
            <a:pathLst>
              <a:path w="230" h="98">
                <a:moveTo>
                  <a:pt x="0" y="98"/>
                </a:moveTo>
                <a:lnTo>
                  <a:pt x="230" y="0"/>
                </a:lnTo>
              </a:path>
            </a:pathLst>
          </a:custGeom>
          <a:noFill/>
          <a:ln w="38100">
            <a:solidFill>
              <a:srgbClr val="C96F16"/>
            </a:solidFill>
          </a:ln>
        </p:spPr>
      </p:sp>
      <p:sp>
        <p:nvSpPr>
          <p:cNvPr id="16" name="lb-stress"/>
          <p:cNvSpPr txBox="1"/>
          <p:nvPr/>
        </p:nvSpPr>
        <p:spPr>
          <a:xfrm>
            <a:off x="6959600" y="20320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σ</a:t>
            </a:r>
            <a:endParaRPr lang="en-US" sz="1300" noProof="1"/>
          </a:p>
        </p:txBody>
      </p:sp>
      <p:sp>
        <p:nvSpPr>
          <p:cNvPr id="17" name="lb-strain"/>
          <p:cNvSpPr txBox="1"/>
          <p:nvPr/>
        </p:nvSpPr>
        <p:spPr>
          <a:xfrm>
            <a:off x="10998200" y="48768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ε</a:t>
            </a:r>
            <a:endParaRPr lang="en-US" sz="1300" noProof="1"/>
          </a:p>
        </p:txBody>
      </p:sp>
      <p:sp>
        <p:nvSpPr>
          <p:cNvPr id="18" name="lb-stiff"/>
          <p:cNvSpPr txBox="1"/>
          <p:nvPr/>
        </p:nvSpPr>
        <p:spPr>
          <a:xfrm>
            <a:off x="8128000" y="2921000"/>
            <a:ext cx="1651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5A55"/>
                </a:solidFill>
                <a:latin typeface="MiSans"/>
                <a:ea typeface="MiSans"/>
              </a:rPr>
              <a:t>陡 → E 大（钢）</a:t>
            </a:r>
            <a:endParaRPr lang="en-US" sz="1200" noProof="1"/>
          </a:p>
        </p:txBody>
      </p:sp>
      <p:sp>
        <p:nvSpPr>
          <p:cNvPr id="19" name="lb-soft"/>
          <p:cNvSpPr txBox="1"/>
          <p:nvPr/>
        </p:nvSpPr>
        <p:spPr>
          <a:xfrm>
            <a:off x="8890000" y="3937000"/>
            <a:ext cx="1905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缓 → E 小（铝）</a:t>
            </a:r>
            <a:endParaRPr lang="en-US" sz="1200" noProof="1"/>
          </a:p>
        </p:txBody>
      </p:sp>
      <p:sp>
        <p:nvSpPr>
          <p:cNvPr id="20" name="dia-caption"/>
          <p:cNvSpPr txBox="1"/>
          <p:nvPr/>
        </p:nvSpPr>
        <p:spPr>
          <a:xfrm>
            <a:off x="7366000" y="53848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应力-应变图：不同材料斜率不同，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越陡越"硬"（E 越大）。</a:t>
            </a:r>
            <a:endParaRPr lang="en-US" sz="1100" noProof="1"/>
          </a:p>
        </p:txBody>
      </p:sp>
      <p:sp>
        <p:nvSpPr>
          <p:cNvPr id="21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2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23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6.1 · EXPERIMENT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实验：测金属丝的杨氏模量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 classic required practical — gradient of stress-strain graph = 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步骤 Method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用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螺旋测微器（micrometer）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在 3 个位置测直径，取平均；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米尺固定在台面，丝上贴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标记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对准刻度；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③ 量出丝张紧时的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原长 L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④ 挂砝码，记录总质量与标记新位置；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⑤ 每次加 100 g，至少测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7 组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数据。</a:t>
            </a:r>
            <a:endParaRPr lang="en-US" sz="12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44704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数据处理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4826000"/>
            <a:ext cx="5969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A = πd²/4 → F = mg → x = 标记位移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σ = F/A，ε = x/L → 作 σ-ε 图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最佳拟合直线的斜率 = 杨氏模量 E</a:t>
            </a:r>
            <a:endParaRPr lang="en-US" sz="1250" noProof="1"/>
          </a:p>
        </p:txBody>
      </p:sp>
      <p:sp>
        <p:nvSpPr>
          <p:cNvPr id="10" name="clamp"/>
          <p:cNvSpPr/>
          <p:nvPr/>
        </p:nvSpPr>
        <p:spPr>
          <a:xfrm>
            <a:off x="7620000" y="2286000"/>
            <a:ext cx="762000" cy="1524000"/>
          </a:xfrm>
          <a:prstGeom prst="rect">
            <a:avLst/>
          </a:prstGeom>
          <a:solidFill>
            <a:srgbClr val="6E6A62"/>
          </a:solidFill>
          <a:ln>
            <a:noFill/>
          </a:ln>
        </p:spPr>
      </p:sp>
      <p:sp>
        <p:nvSpPr>
          <p:cNvPr id="11" name="wire"/>
          <p:cNvSpPr/>
          <p:nvPr>
            <p:extLst>
              <p:ext uri="{F5677B7D-0D2A-4D9B-9A5C-6D8D7D0E5A5D}">
                <pptd:line encoding="base64url">eyJ2aWV3Qm94IjpbMTgwLDRdLCJwb2ludHMiOiIwLDIgMTgwLDIiLCJjdXJ2ZSI6InNoYXJwIn0</pptd:line>
              </p:ext>
            </p:extLst>
          </p:nvPr>
        </p:nvSpPr>
        <p:spPr>
          <a:xfrm>
            <a:off x="8382000" y="3022600"/>
            <a:ext cx="2286000" cy="50800"/>
          </a:xfrm>
          <a:custGeom>
            <a:avLst/>
            <a:gdLst/>
            <a:ahLst/>
            <a:cxnLst/>
            <a:rect l="l" t="t" r="r" b="b"/>
            <a:pathLst>
              <a:path w="180" h="4">
                <a:moveTo>
                  <a:pt x="0" y="2"/>
                </a:moveTo>
                <a:lnTo>
                  <a:pt x="180" y="2"/>
                </a:lnTo>
              </a:path>
            </a:pathLst>
          </a:custGeom>
          <a:noFill/>
          <a:ln w="25400">
            <a:solidFill>
              <a:srgbClr val="22303A"/>
            </a:solidFill>
          </a:ln>
        </p:spPr>
      </p:sp>
      <p:sp>
        <p:nvSpPr>
          <p:cNvPr id="12" name="marker"/>
          <p:cNvSpPr/>
          <p:nvPr/>
        </p:nvSpPr>
        <p:spPr>
          <a:xfrm>
            <a:off x="8890000" y="2946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16" h="16">
                <a:moveTo>
                  <a:pt x="0" y="16"/>
                </a:moveTo>
                <a:lnTo>
                  <a:pt x="8" y="0"/>
                </a:lnTo>
                <a:lnTo>
                  <a:pt x="16" y="16"/>
                </a:lnTo>
                <a:close/>
              </a:path>
            </a:pathLst>
          </a:custGeom>
          <a:solidFill>
            <a:srgbClr val="C96F16"/>
          </a:solidFill>
          <a:ln>
            <a:noFill/>
          </a:ln>
        </p:spPr>
      </p:sp>
      <p:sp>
        <p:nvSpPr>
          <p:cNvPr id="13" name="ruler"/>
          <p:cNvSpPr/>
          <p:nvPr/>
        </p:nvSpPr>
        <p:spPr>
          <a:xfrm>
            <a:off x="8382000" y="3200400"/>
            <a:ext cx="2286000" cy="177800"/>
          </a:xfrm>
          <a:prstGeom prst="rect">
            <a:avLst/>
          </a:prstGeom>
          <a:solidFill>
            <a:srgbClr val="EFE9DF"/>
          </a:solidFill>
          <a:ln w="19050">
            <a:solidFill>
              <a:srgbClr val="0E5A55"/>
            </a:solidFill>
          </a:ln>
        </p:spPr>
      </p:sp>
      <p:sp>
        <p:nvSpPr>
          <p:cNvPr id="14" name="ruler-label"/>
          <p:cNvSpPr txBox="1"/>
          <p:nvPr/>
        </p:nvSpPr>
        <p:spPr>
          <a:xfrm>
            <a:off x="8890000" y="3429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0E5A55"/>
                </a:solidFill>
                <a:latin typeface="MiSans"/>
                <a:ea typeface="MiSans"/>
              </a:rPr>
              <a:t>米尺 metre rule</a:t>
            </a:r>
            <a:endParaRPr lang="en-US" sz="1100" noProof="1"/>
          </a:p>
        </p:txBody>
      </p:sp>
      <p:sp>
        <p:nvSpPr>
          <p:cNvPr id="15" name="string"/>
          <p:cNvSpPr/>
          <p:nvPr>
            <p:extLst>
              <p:ext uri="{F5677B7D-0D2A-4D9B-9A5C-6D8D7D0E5A5D}">
                <pptd:line encoding="base64url">eyJ2aWV3Qm94IjpbNCw2MF0sInBvaW50cyI6IjIsMCAyLDYwIiwiY3VydmUiOiJzaGFycCJ9</pptd:line>
              </p:ext>
            </p:extLst>
          </p:nvPr>
        </p:nvSpPr>
        <p:spPr>
          <a:xfrm>
            <a:off x="10617200" y="30734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4" h="60">
                <a:moveTo>
                  <a:pt x="2" y="0"/>
                </a:moveTo>
                <a:lnTo>
                  <a:pt x="2" y="60"/>
                </a:lnTo>
              </a:path>
            </a:pathLst>
          </a:custGeom>
          <a:noFill/>
          <a:ln w="19050">
            <a:solidFill>
              <a:srgbClr val="6E6A62"/>
            </a:solidFill>
          </a:ln>
        </p:spPr>
      </p:sp>
      <p:sp>
        <p:nvSpPr>
          <p:cNvPr id="16" name="mass"/>
          <p:cNvSpPr/>
          <p:nvPr/>
        </p:nvSpPr>
        <p:spPr>
          <a:xfrm>
            <a:off x="10414000" y="3835400"/>
            <a:ext cx="457200" cy="381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7" name="mass-label"/>
          <p:cNvSpPr txBox="1"/>
          <p:nvPr/>
        </p:nvSpPr>
        <p:spPr>
          <a:xfrm>
            <a:off x="10414000" y="4267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22303A"/>
                </a:solidFill>
                <a:latin typeface="MiSans"/>
                <a:ea typeface="MiSans"/>
              </a:rPr>
              <a:t>砝码 masses</a:t>
            </a:r>
            <a:endParaRPr lang="en-US" sz="1150" noProof="1"/>
          </a:p>
        </p:txBody>
      </p:sp>
      <p:sp>
        <p:nvSpPr>
          <p:cNvPr id="18" name="clamp-label"/>
          <p:cNvSpPr txBox="1"/>
          <p:nvPr/>
        </p:nvSpPr>
        <p:spPr>
          <a:xfrm>
            <a:off x="7112000" y="38862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台钳 + 木块</a:t>
            </a:r>
            <a:endParaRPr lang="en-US" sz="1150" noProof="1"/>
          </a:p>
        </p:txBody>
      </p:sp>
      <p:sp>
        <p:nvSpPr>
          <p:cNvPr id="19" name="tip-box"/>
          <p:cNvSpPr/>
          <p:nvPr/>
        </p:nvSpPr>
        <p:spPr>
          <a:xfrm>
            <a:off x="7366000" y="4826000"/>
            <a:ext cx="4191000" cy="1117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0" name="tip-body"/>
          <p:cNvSpPr txBox="1"/>
          <p:nvPr/>
        </p:nvSpPr>
        <p:spPr>
          <a:xfrm>
            <a:off x="7569200" y="4927600"/>
            <a:ext cx="3810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加分问答：</a:t>
            </a: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为什么测 3 次直径？减少随机误差。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为什么用长而细的丝？伸长量大、易测准。</a:t>
            </a:r>
            <a:endParaRPr lang="en-US" sz="1200" noProof="1"/>
          </a:p>
        </p:txBody>
      </p:sp>
      <p:sp>
        <p:nvSpPr>
          <p:cNvPr id="21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2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23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6.2 · ELASTIC STRAIN ENERGY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弹性应变能 = 图下的面积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Why the half? The force grows from zero as the spring stretches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为什么不能直接用 W = Fx？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拉弹簧时力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从 0 线性增大到 F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——力不是常量，W = Fs cos θ 不适用。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改用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F-x 图下的面积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：三角形面积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½Fx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，代入 F = kx 得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½kx²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½ 的来源：平均力只有 F/2——简答题可以直接这样答。</a:t>
            </a:r>
            <a:endParaRPr lang="en-US" sz="1350" noProof="1"/>
          </a:p>
        </p:txBody>
      </p:sp>
      <p:sp>
        <p:nvSpPr>
          <p:cNvPr id="8" name="warn-box"/>
          <p:cNvSpPr/>
          <p:nvPr/>
        </p:nvSpPr>
        <p:spPr>
          <a:xfrm>
            <a:off x="762000" y="3556000"/>
            <a:ext cx="5969000" cy="1219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9" name="warn-body"/>
          <p:cNvSpPr txBox="1"/>
          <p:nvPr/>
        </p:nvSpPr>
        <p:spPr>
          <a:xfrm>
            <a:off x="965200" y="3683000"/>
            <a:ext cx="5562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½Fx = ½kx²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只在比例极限以内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成立；超过 P 点只能数面积。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从 x₁ 拉到 x₂ 的能量变化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½kx₂² − ½kx₁²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（两个三角形面积之差），不是 ½k(x₂−x₁)²！</a:t>
            </a:r>
            <a:endParaRPr lang="en-US" sz="1250" noProof="1"/>
          </a:p>
        </p:txBody>
      </p:sp>
      <p:sp>
        <p:nvSpPr>
          <p:cNvPr id="10" name="h2"/>
          <p:cNvSpPr txBox="1"/>
          <p:nvPr/>
        </p:nvSpPr>
        <p:spPr>
          <a:xfrm>
            <a:off x="762000" y="50292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与上一章的联系</a:t>
            </a:r>
            <a:endParaRPr lang="en-US" sz="1500" noProof="1"/>
          </a:p>
        </p:txBody>
      </p:sp>
      <p:sp>
        <p:nvSpPr>
          <p:cNvPr id="11" name="b2"/>
          <p:cNvSpPr txBox="1"/>
          <p:nvPr/>
        </p:nvSpPr>
        <p:spPr>
          <a:xfrm>
            <a:off x="762000" y="5384800"/>
            <a:ext cx="5969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弹性应变能是势能家族的新成员——能量守恒题里它和 E_k、mgΔh 并列出现。</a:t>
            </a:r>
            <a:endParaRPr lang="en-US" sz="1350" noProof="1"/>
          </a:p>
        </p:txBody>
      </p:sp>
      <p:sp>
        <p:nvSpPr>
          <p:cNvPr id="12" name="axis-y"/>
          <p:cNvSpPr/>
          <p:nvPr>
            <p:extLst>
              <p:ext uri="{F5677B7D-0D2A-4D9B-9A5C-6D8D7D0E5A5D}">
                <pptd:line encoding="base64url">eyJ2aWV3Qm94IjpbNCwyMjBdLCJwb2ludHMiOiIyLDIyMCAyLDAiLCJjdXJ2ZSI6InNoYXJwIn0</pptd:line>
              </p:ext>
            </p:extLst>
          </p:nvPr>
        </p:nvSpPr>
        <p:spPr>
          <a:xfrm>
            <a:off x="7620000" y="2032000"/>
            <a:ext cx="50800" cy="2794000"/>
          </a:xfrm>
          <a:custGeom>
            <a:avLst/>
            <a:gdLst/>
            <a:ahLst/>
            <a:cxnLst/>
            <a:rect l="l" t="t" r="r" b="b"/>
            <a:pathLst>
              <a:path w="4" h="220">
                <a:moveTo>
                  <a:pt x="2" y="22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3" name="axis-x"/>
          <p:cNvSpPr/>
          <p:nvPr>
            <p:extLst>
              <p:ext uri="{F5677B7D-0D2A-4D9B-9A5C-6D8D7D0E5A5D}">
                <pptd:line encoding="base64url">eyJ2aWV3Qm94IjpbMjcwLDRdLCJwb2ludHMiOiIwLDIgMjcwLDIiLCJjdXJ2ZSI6InNoYXJwIn0</pptd:line>
              </p:ext>
            </p:extLst>
          </p:nvPr>
        </p:nvSpPr>
        <p:spPr>
          <a:xfrm>
            <a:off x="7620000" y="4775200"/>
            <a:ext cx="3429000" cy="50800"/>
          </a:xfrm>
          <a:custGeom>
            <a:avLst/>
            <a:gdLst/>
            <a:ahLst/>
            <a:cxnLst/>
            <a:rect l="l" t="t" r="r" b="b"/>
            <a:pathLst>
              <a:path w="270" h="4">
                <a:moveTo>
                  <a:pt x="0" y="2"/>
                </a:moveTo>
                <a:lnTo>
                  <a:pt x="27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4" name="shade"/>
          <p:cNvSpPr/>
          <p:nvPr/>
        </p:nvSpPr>
        <p:spPr>
          <a:xfrm>
            <a:off x="7645400" y="2997200"/>
            <a:ext cx="2413000" cy="1778000"/>
          </a:xfrm>
          <a:custGeom>
            <a:avLst/>
            <a:gdLst/>
            <a:ahLst/>
            <a:cxnLst/>
            <a:rect l="l" t="t" r="r" b="b"/>
            <a:pathLst>
              <a:path w="190" h="140">
                <a:moveTo>
                  <a:pt x="0" y="140"/>
                </a:moveTo>
                <a:lnTo>
                  <a:pt x="0" y="140"/>
                </a:lnTo>
                <a:lnTo>
                  <a:pt x="190" y="0"/>
                </a:lnTo>
                <a:lnTo>
                  <a:pt x="190" y="140"/>
                </a:lnTo>
                <a:close/>
              </a:path>
            </a:pathLst>
          </a:custGeom>
          <a:solidFill>
            <a:srgbClr val="0E5A55">
              <a:alpha val="14902"/>
            </a:srgbClr>
          </a:solidFill>
          <a:ln>
            <a:noFill/>
          </a:ln>
        </p:spPr>
      </p:sp>
      <p:sp>
        <p:nvSpPr>
          <p:cNvPr id="15" name="gline"/>
          <p:cNvSpPr/>
          <p:nvPr>
            <p:extLst>
              <p:ext uri="{F5677B7D-0D2A-4D9B-9A5C-6D8D7D0E5A5D}">
                <pptd:line encoding="base64url">eyJ2aWV3Qm94IjpbMTkwLDE0MF0sInBvaW50cyI6IjAsMTQwIDE5MCwwIiwiY3VydmUiOiJzaGFycCJ9</pptd:line>
              </p:ext>
            </p:extLst>
          </p:nvPr>
        </p:nvSpPr>
        <p:spPr>
          <a:xfrm>
            <a:off x="7645400" y="2997200"/>
            <a:ext cx="2413000" cy="1778000"/>
          </a:xfrm>
          <a:custGeom>
            <a:avLst/>
            <a:gdLst/>
            <a:ahLst/>
            <a:cxnLst/>
            <a:rect l="l" t="t" r="r" b="b"/>
            <a:pathLst>
              <a:path w="190" h="140">
                <a:moveTo>
                  <a:pt x="0" y="140"/>
                </a:moveTo>
                <a:lnTo>
                  <a:pt x="190" y="0"/>
                </a:lnTo>
              </a:path>
            </a:pathLst>
          </a:custGeom>
          <a:noFill/>
          <a:ln w="38100">
            <a:solidFill>
              <a:srgbClr val="0E5A55"/>
            </a:solidFill>
          </a:ln>
        </p:spPr>
      </p:sp>
      <p:sp>
        <p:nvSpPr>
          <p:cNvPr id="16" name="lb-f"/>
          <p:cNvSpPr txBox="1"/>
          <p:nvPr/>
        </p:nvSpPr>
        <p:spPr>
          <a:xfrm>
            <a:off x="6959600" y="20320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F</a:t>
            </a:r>
            <a:endParaRPr lang="en-US" sz="1300" noProof="1"/>
          </a:p>
        </p:txBody>
      </p:sp>
      <p:sp>
        <p:nvSpPr>
          <p:cNvPr id="17" name="lb-x"/>
          <p:cNvSpPr txBox="1"/>
          <p:nvPr/>
        </p:nvSpPr>
        <p:spPr>
          <a:xfrm>
            <a:off x="10998200" y="48768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x</a:t>
            </a:r>
            <a:endParaRPr lang="en-US" sz="1300" noProof="1"/>
          </a:p>
        </p:txBody>
      </p:sp>
      <p:sp>
        <p:nvSpPr>
          <p:cNvPr id="18" name="lb-area"/>
          <p:cNvSpPr txBox="1"/>
          <p:nvPr/>
        </p:nvSpPr>
        <p:spPr>
          <a:xfrm>
            <a:off x="8509000" y="4064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E5A55"/>
                </a:solidFill>
                <a:latin typeface="MiSans"/>
                <a:ea typeface="MiSans"/>
              </a:rPr>
              <a:t>面积 = ½Fx = ½kx²</a:t>
            </a:r>
            <a:endParaRPr lang="en-US" sz="1250" noProof="1"/>
          </a:p>
        </p:txBody>
      </p:sp>
      <p:sp>
        <p:nvSpPr>
          <p:cNvPr id="19" name="dia-caption"/>
          <p:cNvSpPr txBox="1"/>
          <p:nvPr/>
        </p:nvSpPr>
        <p:spPr>
          <a:xfrm>
            <a:off x="7366000" y="53848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比例极限内，阴影三角形面积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= 储存在弹簧中的弹性应变能。</a:t>
            </a:r>
            <a:endParaRPr lang="en-US" sz="110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6.2 · ELASTIC VS PLASTIC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弹性形变与塑性形变：从能量角度理解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Elastic — all work stored; plastic — some dissipated as heat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el-box"/>
          <p:cNvSpPr/>
          <p:nvPr/>
        </p:nvSpPr>
        <p:spPr>
          <a:xfrm>
            <a:off x="762000" y="1676400"/>
            <a:ext cx="5143500" cy="2159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el-head"/>
          <p:cNvSpPr txBox="1"/>
          <p:nvPr/>
        </p:nvSpPr>
        <p:spPr>
          <a:xfrm>
            <a:off x="965200" y="1803400"/>
            <a:ext cx="47371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弹性形变 Elastic</a:t>
            </a:r>
            <a:endParaRPr lang="en-US" sz="1500" noProof="1"/>
          </a:p>
        </p:txBody>
      </p:sp>
      <p:sp>
        <p:nvSpPr>
          <p:cNvPr id="8" name="el-body"/>
          <p:cNvSpPr txBox="1"/>
          <p:nvPr/>
        </p:nvSpPr>
        <p:spPr>
          <a:xfrm>
            <a:off x="965200" y="2184400"/>
            <a:ext cx="47371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卸力后材料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完全恢复原状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能量角度：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所有做功都储存为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弹性应变能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，没有耗散。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例：弹簧在弹性极限以内</a:t>
            </a:r>
            <a:endParaRPr lang="en-US" sz="1300" noProof="1"/>
          </a:p>
        </p:txBody>
      </p:sp>
      <p:sp>
        <p:nvSpPr>
          <p:cNvPr id="9" name="pl-box"/>
          <p:cNvSpPr/>
          <p:nvPr/>
        </p:nvSpPr>
        <p:spPr>
          <a:xfrm>
            <a:off x="6286500" y="1676400"/>
            <a:ext cx="5143500" cy="2159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0" name="pl-head"/>
          <p:cNvSpPr txBox="1"/>
          <p:nvPr/>
        </p:nvSpPr>
        <p:spPr>
          <a:xfrm>
            <a:off x="6489700" y="1803400"/>
            <a:ext cx="47371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塑性形变 Plastic</a:t>
            </a:r>
            <a:endParaRPr lang="en-US" sz="1500" noProof="1"/>
          </a:p>
        </p:txBody>
      </p:sp>
      <p:sp>
        <p:nvSpPr>
          <p:cNvPr id="11" name="pl-body"/>
          <p:cNvSpPr txBox="1"/>
          <p:nvPr/>
        </p:nvSpPr>
        <p:spPr>
          <a:xfrm>
            <a:off x="6489700" y="2184400"/>
            <a:ext cx="47371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形状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永久改变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，卸力后不能恢复。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能量角度：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做功用于拉开原子间距——一部分储存，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一部分以热耗散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例：拉过弹性极限的铜丝</a:t>
            </a:r>
            <a:endParaRPr lang="en-US" sz="1300" noProof="1"/>
          </a:p>
        </p:txBody>
      </p:sp>
      <p:sp>
        <p:nvSpPr>
          <p:cNvPr id="12" name="h2"/>
          <p:cNvSpPr txBox="1"/>
          <p:nvPr/>
        </p:nvSpPr>
        <p:spPr>
          <a:xfrm>
            <a:off x="762000" y="4140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两种材料行为：塑性 vs 脆性</a:t>
            </a:r>
            <a:endParaRPr lang="en-US" sz="1500" noProof="1"/>
          </a:p>
        </p:txBody>
      </p:sp>
      <p:sp>
        <p:nvSpPr>
          <p:cNvPr id="13" name="b2"/>
          <p:cNvSpPr txBox="1"/>
          <p:nvPr/>
        </p:nvSpPr>
        <p:spPr>
          <a:xfrm>
            <a:off x="762000" y="4495800"/>
            <a:ext cx="1066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塑性材料（plastic）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：载荷增大时伸长量很大，尤其超过弹性极限后——铜丝、橡皮泥。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脆性材料（brittle）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：伸长极小，在很小的伸长量处突然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断裂（fracture）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——玻璃、陶瓷。</a:t>
            </a:r>
            <a:endParaRPr lang="en-US" sz="1350" noProof="1"/>
          </a:p>
        </p:txBody>
      </p:sp>
      <p:sp>
        <p:nvSpPr>
          <p:cNvPr id="14" name="warn-box"/>
          <p:cNvSpPr/>
          <p:nvPr/>
        </p:nvSpPr>
        <p:spPr>
          <a:xfrm>
            <a:off x="762000" y="56896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warn-body"/>
          <p:cNvSpPr txBox="1"/>
          <p:nvPr/>
        </p:nvSpPr>
        <p:spPr>
          <a:xfrm>
            <a:off x="965200" y="5765800"/>
            <a:ext cx="10261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注意：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"plastic 材料" 与 "plastic 形变" 是两个考点——前者是材料类别，后者是形变类型，别混。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6.2 · MATERIAL BEHAVIOUR ON GRAPHS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看曲线识材料：塑性 vs 脆性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Reading force-extension graphs — large extension vs sudden fracture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塑性材料 Plastic（如铜）</a:t>
            </a:r>
            <a:endParaRPr lang="en-US" sz="1500" noProof="1"/>
          </a:p>
        </p:txBody>
      </p:sp>
      <p:sp>
        <p:nvSpPr>
          <p:cNvPr id="7" name="ax1-y"/>
          <p:cNvSpPr/>
          <p:nvPr>
            <p:extLst>
              <p:ext uri="{F5677B7D-0D2A-4D9B-9A5C-6D8D7D0E5A5D}">
                <pptd:line encoding="base64url">eyJ2aWV3Qm94IjpbNCwxODBdLCJwb2ludHMiOiIyLDE4MCAyLDAiLCJjdXJ2ZSI6InNoYXJwIn0</pptd:line>
              </p:ext>
            </p:extLst>
          </p:nvPr>
        </p:nvSpPr>
        <p:spPr>
          <a:xfrm>
            <a:off x="1143000" y="2159000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4" h="180">
                <a:moveTo>
                  <a:pt x="2" y="18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8" name="ax1-x"/>
          <p:cNvSpPr/>
          <p:nvPr>
            <p:extLst>
              <p:ext uri="{F5677B7D-0D2A-4D9B-9A5C-6D8D7D0E5A5D}">
                <pptd:line encoding="base64url">eyJ2aWV3Qm94IjpbMzMwLDRdLCJwb2ludHMiOiIwLDIgMzMwLDIiLCJjdXJ2ZSI6InNoYXJwIn0</pptd:line>
              </p:ext>
            </p:extLst>
          </p:nvPr>
        </p:nvSpPr>
        <p:spPr>
          <a:xfrm>
            <a:off x="1143000" y="4394200"/>
            <a:ext cx="4191000" cy="50800"/>
          </a:xfrm>
          <a:custGeom>
            <a:avLst/>
            <a:gdLst/>
            <a:ahLst/>
            <a:cxnLst/>
            <a:rect l="l" t="t" r="r" b="b"/>
            <a:pathLst>
              <a:path w="330" h="4">
                <a:moveTo>
                  <a:pt x="0" y="2"/>
                </a:moveTo>
                <a:lnTo>
                  <a:pt x="33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9" name="pl-line"/>
          <p:cNvSpPr/>
          <p:nvPr>
            <p:extLst>
              <p:ext uri="{F5677B7D-0D2A-4D9B-9A5C-6D8D7D0E5A5D}">
                <pptd:line encoding="base64url">eyJ2aWV3Qm94IjpbMzAwLDEzNF0sInBvaW50cyI6IjAsMTM0IDYwLDY2IDExMCw0NiAzMDAsNiIsImN1cnZlIjoic21vb3RoIn0</pptd:line>
              </p:ext>
            </p:extLst>
          </p:nvPr>
        </p:nvSpPr>
        <p:spPr>
          <a:xfrm>
            <a:off x="1168400" y="2667000"/>
            <a:ext cx="3810000" cy="1701800"/>
          </a:xfrm>
          <a:custGeom>
            <a:avLst/>
            <a:gdLst/>
            <a:ahLst/>
            <a:cxnLst/>
            <a:rect l="l" t="t" r="r" b="b"/>
            <a:pathLst>
              <a:path w="300" h="134">
                <a:moveTo>
                  <a:pt x="0" y="134"/>
                </a:moveTo>
                <a:cubicBezTo>
                  <a:pt x="60" y="66"/>
                  <a:pt x="110" y="46"/>
                  <a:pt x="300" y="6"/>
                </a:cubicBezTo>
              </a:path>
            </a:pathLst>
          </a:custGeom>
          <a:noFill/>
          <a:ln w="38100" cap="rnd">
            <a:solidFill>
              <a:srgbClr val="0E5A55"/>
            </a:solidFill>
            <a:round/>
          </a:ln>
        </p:spPr>
      </p:sp>
      <p:sp>
        <p:nvSpPr>
          <p:cNvPr id="10" name="pl-e-dot"/>
          <p:cNvSpPr/>
          <p:nvPr/>
        </p:nvSpPr>
        <p:spPr>
          <a:xfrm>
            <a:off x="1854200" y="3429000"/>
            <a:ext cx="152400" cy="1524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1" name="pl-e-label"/>
          <p:cNvSpPr txBox="1"/>
          <p:nvPr/>
        </p:nvSpPr>
        <p:spPr>
          <a:xfrm>
            <a:off x="1473200" y="3200400"/>
            <a:ext cx="762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E</a:t>
            </a:r>
            <a:endParaRPr lang="en-US" sz="1200" noProof="1"/>
          </a:p>
        </p:txBody>
      </p:sp>
      <p:sp>
        <p:nvSpPr>
          <p:cNvPr id="12" name="pl-anno"/>
          <p:cNvSpPr txBox="1"/>
          <p:nvPr/>
        </p:nvSpPr>
        <p:spPr>
          <a:xfrm>
            <a:off x="3175000" y="2133600"/>
            <a:ext cx="2413000" cy="50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过 E 点后伸长量剧增——</a:t>
            </a:r>
            <a:endParaRPr lang="en-US" sz="1150" noProof="1"/>
          </a:p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"越拉越软"</a:t>
            </a:r>
            <a:endParaRPr lang="en-US" sz="1150" noProof="1"/>
          </a:p>
        </p:txBody>
      </p:sp>
      <p:sp>
        <p:nvSpPr>
          <p:cNvPr id="13" name="lb1-f"/>
          <p:cNvSpPr txBox="1"/>
          <p:nvPr/>
        </p:nvSpPr>
        <p:spPr>
          <a:xfrm>
            <a:off x="711200" y="21590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F</a:t>
            </a:r>
            <a:endParaRPr lang="en-US" sz="1200" noProof="1"/>
          </a:p>
        </p:txBody>
      </p:sp>
      <p:sp>
        <p:nvSpPr>
          <p:cNvPr id="14" name="lb1-x"/>
          <p:cNvSpPr txBox="1"/>
          <p:nvPr/>
        </p:nvSpPr>
        <p:spPr>
          <a:xfrm>
            <a:off x="5283200" y="44958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x</a:t>
            </a:r>
            <a:endParaRPr lang="en-US" sz="1200" noProof="1"/>
          </a:p>
        </p:txBody>
      </p:sp>
      <p:sp>
        <p:nvSpPr>
          <p:cNvPr id="15" name="h2"/>
          <p:cNvSpPr txBox="1"/>
          <p:nvPr/>
        </p:nvSpPr>
        <p:spPr>
          <a:xfrm>
            <a:off x="6350000" y="170180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脆性材料 Brittle（如玻璃）</a:t>
            </a:r>
            <a:endParaRPr lang="en-US" sz="1500" noProof="1"/>
          </a:p>
        </p:txBody>
      </p:sp>
      <p:sp>
        <p:nvSpPr>
          <p:cNvPr id="16" name="ax2-y"/>
          <p:cNvSpPr/>
          <p:nvPr>
            <p:extLst>
              <p:ext uri="{F5677B7D-0D2A-4D9B-9A5C-6D8D7D0E5A5D}">
                <pptd:line encoding="base64url">eyJ2aWV3Qm94IjpbNCwxODBdLCJwb2ludHMiOiIyLDE4MCAyLDAiLCJjdXJ2ZSI6InNoYXJwIn0</pptd:line>
              </p:ext>
            </p:extLst>
          </p:nvPr>
        </p:nvSpPr>
        <p:spPr>
          <a:xfrm>
            <a:off x="6731000" y="2159000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4" h="180">
                <a:moveTo>
                  <a:pt x="2" y="18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7" name="ax2-x"/>
          <p:cNvSpPr/>
          <p:nvPr>
            <p:extLst>
              <p:ext uri="{F5677B7D-0D2A-4D9B-9A5C-6D8D7D0E5A5D}">
                <pptd:line encoding="base64url">eyJ2aWV3Qm94IjpbMzMwLDRdLCJwb2ludHMiOiIwLDIgMzMwLDIiLCJjdXJ2ZSI6InNoYXJwIn0</pptd:line>
              </p:ext>
            </p:extLst>
          </p:nvPr>
        </p:nvSpPr>
        <p:spPr>
          <a:xfrm>
            <a:off x="6731000" y="4394200"/>
            <a:ext cx="4191000" cy="50800"/>
          </a:xfrm>
          <a:custGeom>
            <a:avLst/>
            <a:gdLst/>
            <a:ahLst/>
            <a:cxnLst/>
            <a:rect l="l" t="t" r="r" b="b"/>
            <a:pathLst>
              <a:path w="330" h="4">
                <a:moveTo>
                  <a:pt x="0" y="2"/>
                </a:moveTo>
                <a:lnTo>
                  <a:pt x="33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8" name="br-line"/>
          <p:cNvSpPr/>
          <p:nvPr>
            <p:extLst>
              <p:ext uri="{F5677B7D-0D2A-4D9B-9A5C-6D8D7D0E5A5D}">
                <pptd:line encoding="base64url">eyJ2aWV3Qm94IjpbNzAsMTU0XSwicG9pbnRzIjoiMCwxNTQgNzAsMCIsImN1cnZlIjoic2hhcnAifQ</pptd:line>
              </p:ext>
            </p:extLst>
          </p:nvPr>
        </p:nvSpPr>
        <p:spPr>
          <a:xfrm>
            <a:off x="6756400" y="2413000"/>
            <a:ext cx="889000" cy="1955800"/>
          </a:xfrm>
          <a:custGeom>
            <a:avLst/>
            <a:gdLst/>
            <a:ahLst/>
            <a:cxnLst/>
            <a:rect l="l" t="t" r="r" b="b"/>
            <a:pathLst>
              <a:path w="70" h="154">
                <a:moveTo>
                  <a:pt x="0" y="154"/>
                </a:moveTo>
                <a:lnTo>
                  <a:pt x="70" y="0"/>
                </a:lnTo>
              </a:path>
            </a:pathLst>
          </a:custGeom>
          <a:noFill/>
          <a:ln w="38100">
            <a:solidFill>
              <a:srgbClr val="C96F16"/>
            </a:solidFill>
          </a:ln>
        </p:spPr>
      </p:sp>
      <p:sp>
        <p:nvSpPr>
          <p:cNvPr id="19" name="br-cross1"/>
          <p:cNvSpPr/>
          <p:nvPr>
            <p:extLst>
              <p:ext uri="{F5677B7D-0D2A-4D9B-9A5C-6D8D7D0E5A5D}">
                <pptd:line encoding="base64url">eyJ2aWV3Qm94IjpbMjQsMjRdLCJwb2ludHMiOiIwLDAgMjQsMjQiLCJjdXJ2ZSI6InNoYXJwIn0</pptd:line>
              </p:ext>
            </p:extLst>
          </p:nvPr>
        </p:nvSpPr>
        <p:spPr>
          <a:xfrm>
            <a:off x="7493000" y="226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0" y="0"/>
                </a:moveTo>
                <a:lnTo>
                  <a:pt x="24" y="24"/>
                </a:lnTo>
              </a:path>
            </a:pathLst>
          </a:custGeom>
          <a:noFill/>
          <a:ln w="31750">
            <a:solidFill>
              <a:srgbClr val="22303A"/>
            </a:solidFill>
          </a:ln>
        </p:spPr>
      </p:sp>
      <p:sp>
        <p:nvSpPr>
          <p:cNvPr id="20" name="br-cross2"/>
          <p:cNvSpPr/>
          <p:nvPr>
            <p:extLst>
              <p:ext uri="{F5677B7D-0D2A-4D9B-9A5C-6D8D7D0E5A5D}">
                <pptd:line encoding="base64url">eyJ2aWV3Qm94IjpbMjQsMjRdLCJwb2ludHMiOiIyNCwwIDAsMjQiLCJjdXJ2ZSI6InNoYXJwIn0</pptd:line>
              </p:ext>
            </p:extLst>
          </p:nvPr>
        </p:nvSpPr>
        <p:spPr>
          <a:xfrm>
            <a:off x="7493000" y="226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24" y="0"/>
                </a:moveTo>
                <a:lnTo>
                  <a:pt x="0" y="24"/>
                </a:lnTo>
              </a:path>
            </a:pathLst>
          </a:custGeom>
          <a:noFill/>
          <a:ln w="31750">
            <a:solidFill>
              <a:srgbClr val="22303A"/>
            </a:solidFill>
          </a:ln>
        </p:spPr>
      </p:sp>
      <p:sp>
        <p:nvSpPr>
          <p:cNvPr id="21" name="br-anno"/>
          <p:cNvSpPr txBox="1"/>
          <p:nvPr/>
        </p:nvSpPr>
        <p:spPr>
          <a:xfrm>
            <a:off x="7950200" y="23114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× = 断裂点 fracture：</a:t>
            </a:r>
            <a:endParaRPr lang="en-US" sz="1150" noProof="1"/>
          </a:p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伸长极小就突然断</a:t>
            </a:r>
            <a:endParaRPr lang="en-US" sz="1150" noProof="1"/>
          </a:p>
        </p:txBody>
      </p:sp>
      <p:sp>
        <p:nvSpPr>
          <p:cNvPr id="22" name="lb2-f"/>
          <p:cNvSpPr txBox="1"/>
          <p:nvPr/>
        </p:nvSpPr>
        <p:spPr>
          <a:xfrm>
            <a:off x="6299200" y="21590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F</a:t>
            </a:r>
            <a:endParaRPr lang="en-US" sz="1200" noProof="1"/>
          </a:p>
        </p:txBody>
      </p:sp>
      <p:sp>
        <p:nvSpPr>
          <p:cNvPr id="23" name="lb2-x"/>
          <p:cNvSpPr txBox="1"/>
          <p:nvPr/>
        </p:nvSpPr>
        <p:spPr>
          <a:xfrm>
            <a:off x="10871200" y="44958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x</a:t>
            </a:r>
            <a:endParaRPr lang="en-US" sz="1200" noProof="1"/>
          </a:p>
        </p:txBody>
      </p:sp>
      <p:sp>
        <p:nvSpPr>
          <p:cNvPr id="24" name="cmp-box"/>
          <p:cNvSpPr/>
          <p:nvPr/>
        </p:nvSpPr>
        <p:spPr>
          <a:xfrm>
            <a:off x="762000" y="5207000"/>
            <a:ext cx="10668000" cy="914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5" name="cmp-body"/>
          <p:cNvSpPr txBox="1"/>
          <p:nvPr/>
        </p:nvSpPr>
        <p:spPr>
          <a:xfrm>
            <a:off x="965200" y="5334000"/>
            <a:ext cx="1026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答题关键词：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塑性 → large extension beyond the elastic limit；脆性 → very little extension, fractures at low extension。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图像题先找：有没有长长的"尾巴"（塑性）？还是陡直线戛然而止（脆性）？</a:t>
            </a:r>
            <a:endParaRPr lang="en-US" sz="1250" noProof="1"/>
          </a:p>
        </p:txBody>
      </p:sp>
      <p:sp>
        <p:nvSpPr>
          <p:cNvPr id="2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2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6.2 · LOADING AND UNLOADING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加载-卸载曲线：回不去的原点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Parallel lines, permanent extension, and the area between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拉过弹性极限再卸力，会怎样？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卸载线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不再回到原点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——力回到零时，仍有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残余伸长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（permanent extension）。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但加载线与卸载线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互相平行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：材料的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刚度（k）没有改变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两线之间的面积 = 使材料永久形变所做的功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（耗散为热的能量）。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38100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图像题三步读法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4165600"/>
            <a:ext cx="5969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① 卸载线不过原点 → 已超过弹性极限；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② 两线平行 → 刚度不变；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③ 两线间面积 → 耗散的能量（常以热形式）。</a:t>
            </a:r>
            <a:endParaRPr lang="en-US" sz="1350" noProof="1"/>
          </a:p>
        </p:txBody>
      </p:sp>
      <p:sp>
        <p:nvSpPr>
          <p:cNvPr id="10" name="warn-box"/>
          <p:cNvSpPr/>
          <p:nvPr/>
        </p:nvSpPr>
        <p:spPr>
          <a:xfrm>
            <a:off x="762000" y="5689600"/>
            <a:ext cx="5969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body"/>
          <p:cNvSpPr txBox="1"/>
          <p:nvPr/>
        </p:nvSpPr>
        <p:spPr>
          <a:xfrm>
            <a:off x="965200" y="5765800"/>
            <a:ext cx="5562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别把两线间面积答成"储存的能量"——是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耗散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的。</a:t>
            </a:r>
            <a:endParaRPr lang="en-US" sz="1250" noProof="1"/>
          </a:p>
        </p:txBody>
      </p:sp>
      <p:sp>
        <p:nvSpPr>
          <p:cNvPr id="12" name="axis-y"/>
          <p:cNvSpPr/>
          <p:nvPr>
            <p:extLst>
              <p:ext uri="{F5677B7D-0D2A-4D9B-9A5C-6D8D7D0E5A5D}">
                <pptd:line encoding="base64url">eyJ2aWV3Qm94IjpbNCwyMzBdLCJwb2ludHMiOiIyLDIzMCAyLDAiLCJjdXJ2ZSI6InNoYXJwIn0</pptd:line>
              </p:ext>
            </p:extLst>
          </p:nvPr>
        </p:nvSpPr>
        <p:spPr>
          <a:xfrm>
            <a:off x="7620000" y="1905000"/>
            <a:ext cx="50800" cy="2921000"/>
          </a:xfrm>
          <a:custGeom>
            <a:avLst/>
            <a:gdLst/>
            <a:ahLst/>
            <a:cxnLst/>
            <a:rect l="l" t="t" r="r" b="b"/>
            <a:pathLst>
              <a:path w="4" h="230">
                <a:moveTo>
                  <a:pt x="2" y="23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3" name="axis-x"/>
          <p:cNvSpPr/>
          <p:nvPr>
            <p:extLst>
              <p:ext uri="{F5677B7D-0D2A-4D9B-9A5C-6D8D7D0E5A5D}">
                <pptd:line encoding="base64url">eyJ2aWV3Qm94IjpbMjkwLDRdLCJwb2ludHMiOiIwLDIgMjkwLDIiLCJjdXJ2ZSI6InNoYXJwIn0</pptd:line>
              </p:ext>
            </p:extLst>
          </p:nvPr>
        </p:nvSpPr>
        <p:spPr>
          <a:xfrm>
            <a:off x="7620000" y="4775200"/>
            <a:ext cx="3683000" cy="50800"/>
          </a:xfrm>
          <a:custGeom>
            <a:avLst/>
            <a:gdLst/>
            <a:ahLst/>
            <a:cxnLst/>
            <a:rect l="l" t="t" r="r" b="b"/>
            <a:pathLst>
              <a:path w="290" h="4">
                <a:moveTo>
                  <a:pt x="0" y="2"/>
                </a:moveTo>
                <a:lnTo>
                  <a:pt x="29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4" name="shade"/>
          <p:cNvSpPr/>
          <p:nvPr/>
        </p:nvSpPr>
        <p:spPr>
          <a:xfrm>
            <a:off x="7645400" y="2489200"/>
            <a:ext cx="2133600" cy="2286000"/>
          </a:xfrm>
          <a:custGeom>
            <a:avLst/>
            <a:gdLst/>
            <a:ahLst/>
            <a:cxnLst/>
            <a:rect l="l" t="t" r="r" b="b"/>
            <a:pathLst>
              <a:path w="168" h="180">
                <a:moveTo>
                  <a:pt x="0" y="180"/>
                </a:moveTo>
                <a:lnTo>
                  <a:pt x="120" y="0"/>
                </a:lnTo>
                <a:lnTo>
                  <a:pt x="168" y="180"/>
                </a:lnTo>
                <a:close/>
              </a:path>
            </a:pathLst>
          </a:custGeom>
          <a:solidFill>
            <a:srgbClr val="C96F16">
              <a:alpha val="13333"/>
            </a:srgbClr>
          </a:solidFill>
          <a:ln>
            <a:noFill/>
          </a:ln>
        </p:spPr>
      </p:sp>
      <p:sp>
        <p:nvSpPr>
          <p:cNvPr id="15" name="load-line"/>
          <p:cNvSpPr/>
          <p:nvPr>
            <p:extLst>
              <p:ext uri="{F5677B7D-0D2A-4D9B-9A5C-6D8D7D0E5A5D}">
                <pptd:line encoding="base64url">eyJ2aWV3Qm94IjpbMTIyLDE4MF0sInBvaW50cyI6IjAsMTgwIDEyMiwwIiwiY3VydmUiOiJzaGFycCJ9</pptd:line>
              </p:ext>
            </p:extLst>
          </p:nvPr>
        </p:nvSpPr>
        <p:spPr>
          <a:xfrm>
            <a:off x="7645400" y="2489200"/>
            <a:ext cx="1549400" cy="2286000"/>
          </a:xfrm>
          <a:custGeom>
            <a:avLst/>
            <a:gdLst/>
            <a:ahLst/>
            <a:cxnLst/>
            <a:rect l="l" t="t" r="r" b="b"/>
            <a:pathLst>
              <a:path w="122" h="180">
                <a:moveTo>
                  <a:pt x="0" y="180"/>
                </a:moveTo>
                <a:lnTo>
                  <a:pt x="122" y="0"/>
                </a:lnTo>
              </a:path>
            </a:pathLst>
          </a:custGeom>
          <a:noFill/>
          <a:ln w="38100">
            <a:solidFill>
              <a:srgbClr val="0E5A55"/>
            </a:solidFill>
          </a:ln>
        </p:spPr>
      </p:sp>
      <p:sp>
        <p:nvSpPr>
          <p:cNvPr id="16" name="unload-line"/>
          <p:cNvSpPr/>
          <p:nvPr>
            <p:extLst>
              <p:ext uri="{F5677B7D-0D2A-4D9B-9A5C-6D8D7D0E5A5D}">
                <pptd:line encoding="base64url">eyJ2aWV3Qm94IjpbNTAsMTgwXSwicG9pbnRzIjoiMCwwIDUwLDE4MCIsImN1cnZlIjoic2hhcnAifQ</pptd:line>
              </p:ext>
            </p:extLst>
          </p:nvPr>
        </p:nvSpPr>
        <p:spPr>
          <a:xfrm>
            <a:off x="9169400" y="2489200"/>
            <a:ext cx="635000" cy="2286000"/>
          </a:xfrm>
          <a:custGeom>
            <a:avLst/>
            <a:gdLst/>
            <a:ahLst/>
            <a:cxnLst/>
            <a:rect l="l" t="t" r="r" b="b"/>
            <a:pathLst>
              <a:path w="50" h="180">
                <a:moveTo>
                  <a:pt x="0" y="0"/>
                </a:moveTo>
                <a:lnTo>
                  <a:pt x="50" y="180"/>
                </a:lnTo>
              </a:path>
            </a:pathLst>
          </a:custGeom>
          <a:noFill/>
          <a:ln w="38100">
            <a:solidFill>
              <a:srgbClr val="C96F16"/>
            </a:solidFill>
          </a:ln>
        </p:spPr>
      </p:sp>
      <p:sp>
        <p:nvSpPr>
          <p:cNvPr id="17" name="lb-f"/>
          <p:cNvSpPr txBox="1"/>
          <p:nvPr/>
        </p:nvSpPr>
        <p:spPr>
          <a:xfrm>
            <a:off x="6959600" y="19050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F</a:t>
            </a:r>
            <a:endParaRPr lang="en-US" sz="1300" noProof="1"/>
          </a:p>
        </p:txBody>
      </p:sp>
      <p:sp>
        <p:nvSpPr>
          <p:cNvPr id="18" name="lb-x"/>
          <p:cNvSpPr txBox="1"/>
          <p:nvPr/>
        </p:nvSpPr>
        <p:spPr>
          <a:xfrm>
            <a:off x="11252200" y="48768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x</a:t>
            </a:r>
            <a:endParaRPr lang="en-US" sz="1300" noProof="1"/>
          </a:p>
        </p:txBody>
      </p:sp>
      <p:sp>
        <p:nvSpPr>
          <p:cNvPr id="19" name="lb-load"/>
          <p:cNvSpPr txBox="1"/>
          <p:nvPr/>
        </p:nvSpPr>
        <p:spPr>
          <a:xfrm>
            <a:off x="7874000" y="2997200"/>
            <a:ext cx="1397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5A55"/>
                </a:solidFill>
                <a:latin typeface="MiSans"/>
                <a:ea typeface="MiSans"/>
              </a:rPr>
              <a:t>加载 loading</a:t>
            </a:r>
            <a:endParaRPr lang="en-US" sz="1200" noProof="1"/>
          </a:p>
        </p:txBody>
      </p:sp>
      <p:sp>
        <p:nvSpPr>
          <p:cNvPr id="20" name="lb-unload"/>
          <p:cNvSpPr txBox="1"/>
          <p:nvPr/>
        </p:nvSpPr>
        <p:spPr>
          <a:xfrm>
            <a:off x="9398000" y="3810000"/>
            <a:ext cx="1524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卸载 unloading</a:t>
            </a:r>
            <a:endParaRPr lang="en-US" sz="1200" noProof="1"/>
          </a:p>
        </p:txBody>
      </p:sp>
      <p:sp>
        <p:nvSpPr>
          <p:cNvPr id="21" name="lb-perm"/>
          <p:cNvSpPr txBox="1"/>
          <p:nvPr/>
        </p:nvSpPr>
        <p:spPr>
          <a:xfrm>
            <a:off x="8763000" y="48768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残余伸长</a:t>
            </a:r>
            <a:endParaRPr lang="en-US" sz="1150" noProof="1"/>
          </a:p>
        </p:txBody>
      </p:sp>
      <p:sp>
        <p:nvSpPr>
          <p:cNvPr id="22" name="lb-area"/>
          <p:cNvSpPr txBox="1"/>
          <p:nvPr/>
        </p:nvSpPr>
        <p:spPr>
          <a:xfrm>
            <a:off x="8128000" y="36830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 b="1">
                <a:solidFill>
                  <a:srgbClr val="C96F16"/>
                </a:solidFill>
                <a:latin typeface="MiSans"/>
                <a:ea typeface="MiSans"/>
              </a:rPr>
              <a:t>面积 =</a:t>
            </a:r>
            <a:endParaRPr lang="en-US" sz="1150" noProof="1"/>
          </a:p>
          <a:p>
            <a:pPr>
              <a:lnSpc>
                <a:spcPct val="135000"/>
              </a:lnSpc>
            </a:pPr>
            <a:r>
              <a:rPr lang="en-US" sz="1150" noProof="1" b="1">
                <a:solidFill>
                  <a:srgbClr val="C96F16"/>
                </a:solidFill>
                <a:latin typeface="MiSans"/>
                <a:ea typeface="MiSans"/>
              </a:rPr>
              <a:t>耗散能量</a:t>
            </a:r>
            <a:endParaRPr lang="en-US" sz="1150" noProof="1"/>
          </a:p>
        </p:txBody>
      </p:sp>
      <p:sp>
        <p:nvSpPr>
          <p:cNvPr id="23" name="dia-caption"/>
          <p:cNvSpPr txBox="1"/>
          <p:nvPr/>
        </p:nvSpPr>
        <p:spPr>
          <a:xfrm>
            <a:off x="7366000" y="53848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两线平行（刚度不变），卸载止于残余伸长；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阴影面积 = 永久形变耗散的能量。</a:t>
            </a:r>
            <a:endParaRPr lang="en-US" sz="1100" noProof="1"/>
          </a:p>
        </p:txBody>
      </p:sp>
      <p:sp>
        <p:nvSpPr>
          <p:cNvPr id="2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2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WORKED EXAMPLE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综合例题：测钢丝的杨氏模量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From wire measurements to Young modulus and strain energy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-box"/>
          <p:cNvSpPr/>
          <p:nvPr/>
        </p:nvSpPr>
        <p:spPr>
          <a:xfrm>
            <a:off x="762000" y="1625600"/>
            <a:ext cx="10668000" cy="939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q-body"/>
          <p:cNvSpPr txBox="1"/>
          <p:nvPr/>
        </p:nvSpPr>
        <p:spPr>
          <a:xfrm>
            <a:off x="965200" y="1727200"/>
            <a:ext cx="10261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一根钢丝原长 L = 2.0 m，直径 d = 0.40 mm。挂上 2.0 kg 砝码后，伸长 1.6 mm（g = 9.81 m/s²）。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(a) 求钢丝的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杨氏模量 E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；　(b) 求此时储存在钢丝中的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弹性应变能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</p:txBody>
      </p:sp>
      <p:sp>
        <p:nvSpPr>
          <p:cNvPr id="8" name="s1-tag"/>
          <p:cNvSpPr txBox="1"/>
          <p:nvPr/>
        </p:nvSpPr>
        <p:spPr>
          <a:xfrm>
            <a:off x="762000" y="27940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 1 步 · 算截面积 A</a:t>
            </a:r>
            <a:endParaRPr lang="en-US" sz="1500" noProof="1"/>
          </a:p>
        </p:txBody>
      </p:sp>
      <p:sp>
        <p:nvSpPr>
          <p:cNvPr id="9" name="s1-body"/>
          <p:cNvSpPr txBox="1"/>
          <p:nvPr/>
        </p:nvSpPr>
        <p:spPr>
          <a:xfrm>
            <a:off x="762000" y="3124200"/>
            <a:ext cx="5842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A = πd²/4 = π × (0.40×10⁻³)² / 4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A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1.26×10⁻⁷ m²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（直径先换米，别忘了 ÷4）</a:t>
            </a:r>
            <a:endParaRPr lang="en-US" sz="1350" noProof="1"/>
          </a:p>
        </p:txBody>
      </p:sp>
      <p:sp>
        <p:nvSpPr>
          <p:cNvPr id="10" name="s2-tag"/>
          <p:cNvSpPr txBox="1"/>
          <p:nvPr/>
        </p:nvSpPr>
        <p:spPr>
          <a:xfrm>
            <a:off x="762000" y="40894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 2 步 · 算应力 σ 与应变 ε</a:t>
            </a:r>
            <a:endParaRPr lang="en-US" sz="1500" noProof="1"/>
          </a:p>
        </p:txBody>
      </p:sp>
      <p:sp>
        <p:nvSpPr>
          <p:cNvPr id="11" name="s2-body"/>
          <p:cNvSpPr txBox="1"/>
          <p:nvPr/>
        </p:nvSpPr>
        <p:spPr>
          <a:xfrm>
            <a:off x="762000" y="4419600"/>
            <a:ext cx="5842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F = mg = 2.0 × 9.81 = 19.62 N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σ = F/A = 19.62 / 1.26×10⁻⁷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1.56×10⁸ Pa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ε = x/L = 1.6×10⁻³ / 2.0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8.0×10⁻⁴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（无单位）</a:t>
            </a:r>
            <a:endParaRPr lang="en-US" sz="1350" noProof="1"/>
          </a:p>
        </p:txBody>
      </p:sp>
      <p:sp>
        <p:nvSpPr>
          <p:cNvPr id="12" name="s3-tag"/>
          <p:cNvSpPr txBox="1"/>
          <p:nvPr/>
        </p:nvSpPr>
        <p:spPr>
          <a:xfrm>
            <a:off x="7112000" y="27940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 3 步 · 求 E</a:t>
            </a:r>
            <a:endParaRPr lang="en-US" sz="1500" noProof="1"/>
          </a:p>
        </p:txBody>
      </p:sp>
      <p:sp>
        <p:nvSpPr>
          <p:cNvPr id="13" name="s3-body"/>
          <p:cNvSpPr txBox="1"/>
          <p:nvPr/>
        </p:nvSpPr>
        <p:spPr>
          <a:xfrm>
            <a:off x="7112000" y="3124200"/>
            <a:ext cx="431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E = σ/ε = 1.56×10⁸ / 8.0×10⁻⁴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E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1.95×10¹¹ Pa ≈ 2.0×10¹¹ Pa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✓</a:t>
            </a:r>
            <a:endParaRPr lang="en-US" sz="1350" noProof="1"/>
          </a:p>
        </p:txBody>
      </p:sp>
      <p:sp>
        <p:nvSpPr>
          <p:cNvPr id="14" name="s4-tag"/>
          <p:cNvSpPr txBox="1"/>
          <p:nvPr/>
        </p:nvSpPr>
        <p:spPr>
          <a:xfrm>
            <a:off x="7112000" y="40894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 4 步 · (b) 弹性应变能</a:t>
            </a:r>
            <a:endParaRPr lang="en-US" sz="1500" noProof="1"/>
          </a:p>
        </p:txBody>
      </p:sp>
      <p:sp>
        <p:nvSpPr>
          <p:cNvPr id="15" name="s4-body"/>
          <p:cNvSpPr txBox="1"/>
          <p:nvPr/>
        </p:nvSpPr>
        <p:spPr>
          <a:xfrm>
            <a:off x="7112000" y="4419600"/>
            <a:ext cx="431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E = ½Fx = ½ × 19.62 × 1.6×10⁻³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E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1.6×10⁻² J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✓</a:t>
            </a:r>
            <a:endParaRPr lang="en-US" sz="1350" noProof="1"/>
          </a:p>
        </p:txBody>
      </p:sp>
      <p:sp>
        <p:nvSpPr>
          <p:cNvPr id="16" name="tip-box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7" name="tip-body"/>
          <p:cNvSpPr txBox="1"/>
          <p:nvPr/>
        </p:nvSpPr>
        <p:spPr>
          <a:xfrm>
            <a:off x="965200" y="5816600"/>
            <a:ext cx="10261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提示：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整题只考两件事——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单位全换成 SI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（mm→m），以及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面积用 πd²/4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。这两步对，后面就是代入。</a:t>
            </a:r>
            <a:endParaRPr lang="en-US" sz="1250" noProof="1"/>
          </a:p>
        </p:txBody>
      </p:sp>
      <p:sp>
        <p:nvSpPr>
          <p:cNvPr id="18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YOUR TURN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课堂练习：三道题过关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Hooke's law · stress and strain · loading-unloading graph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1-badge"/>
          <p:cNvSpPr/>
          <p:nvPr/>
        </p:nvSpPr>
        <p:spPr>
          <a:xfrm>
            <a:off x="762000" y="17272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q1-badge-t"/>
          <p:cNvSpPr txBox="1"/>
          <p:nvPr/>
        </p:nvSpPr>
        <p:spPr>
          <a:xfrm>
            <a:off x="762000" y="17272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Q1</a:t>
            </a:r>
            <a:endParaRPr lang="en-US" sz="1400" noProof="1"/>
          </a:p>
        </p:txBody>
      </p:sp>
      <p:sp>
        <p:nvSpPr>
          <p:cNvPr id="8" name="q1-tag"/>
          <p:cNvSpPr txBox="1"/>
          <p:nvPr/>
        </p:nvSpPr>
        <p:spPr>
          <a:xfrm>
            <a:off x="1346200" y="1752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胡克定律 + 应变能</a:t>
            </a:r>
            <a:endParaRPr lang="en-US" sz="1500" noProof="1"/>
          </a:p>
        </p:txBody>
      </p:sp>
      <p:sp>
        <p:nvSpPr>
          <p:cNvPr id="9" name="q1-body"/>
          <p:cNvSpPr txBox="1"/>
          <p:nvPr/>
        </p:nvSpPr>
        <p:spPr>
          <a:xfrm>
            <a:off x="1346200" y="2057400"/>
            <a:ext cx="10083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一根 k = 40 N/m 的弹簧挂上 0.50 kg 砝码（g = 9.81 m/s²）。求：(a) 伸长量 x；(b) 储存的弹性应变能。</a:t>
            </a:r>
            <a:endParaRPr lang="en-US" sz="1350" noProof="1"/>
          </a:p>
        </p:txBody>
      </p:sp>
      <p:sp>
        <p:nvSpPr>
          <p:cNvPr id="10" name="q2-badge"/>
          <p:cNvSpPr/>
          <p:nvPr/>
        </p:nvSpPr>
        <p:spPr>
          <a:xfrm>
            <a:off x="762000" y="29464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1" name="q2-badge-t"/>
          <p:cNvSpPr txBox="1"/>
          <p:nvPr/>
        </p:nvSpPr>
        <p:spPr>
          <a:xfrm>
            <a:off x="762000" y="29464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Q2</a:t>
            </a:r>
            <a:endParaRPr lang="en-US" sz="1400" noProof="1"/>
          </a:p>
        </p:txBody>
      </p:sp>
      <p:sp>
        <p:nvSpPr>
          <p:cNvPr id="12" name="q2-tag"/>
          <p:cNvSpPr txBox="1"/>
          <p:nvPr/>
        </p:nvSpPr>
        <p:spPr>
          <a:xfrm>
            <a:off x="1346200" y="29718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应力 · 应变 · 杨氏模量</a:t>
            </a:r>
            <a:endParaRPr lang="en-US" sz="1500" noProof="1"/>
          </a:p>
        </p:txBody>
      </p:sp>
      <p:sp>
        <p:nvSpPr>
          <p:cNvPr id="13" name="q2-body"/>
          <p:cNvSpPr txBox="1"/>
          <p:nvPr/>
        </p:nvSpPr>
        <p:spPr>
          <a:xfrm>
            <a:off x="1346200" y="3276600"/>
            <a:ext cx="10083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钢丝原长 1.5 m、截面积 2.0×10⁻⁷ m²，受 60 N 拉力后伸长 2.3 mm。求 σ、ε 和杨氏模量 E。</a:t>
            </a:r>
            <a:endParaRPr lang="en-US" sz="1350" noProof="1"/>
          </a:p>
        </p:txBody>
      </p:sp>
      <p:sp>
        <p:nvSpPr>
          <p:cNvPr id="14" name="q3-badge"/>
          <p:cNvSpPr/>
          <p:nvPr/>
        </p:nvSpPr>
        <p:spPr>
          <a:xfrm>
            <a:off x="762000" y="41656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5" name="q3-badge-t"/>
          <p:cNvSpPr txBox="1"/>
          <p:nvPr/>
        </p:nvSpPr>
        <p:spPr>
          <a:xfrm>
            <a:off x="762000" y="41656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Q3</a:t>
            </a:r>
            <a:endParaRPr lang="en-US" sz="1400" noProof="1"/>
          </a:p>
        </p:txBody>
      </p:sp>
      <p:sp>
        <p:nvSpPr>
          <p:cNvPr id="16" name="q3-tag"/>
          <p:cNvSpPr txBox="1"/>
          <p:nvPr/>
        </p:nvSpPr>
        <p:spPr>
          <a:xfrm>
            <a:off x="1346200" y="4191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图像简答</a:t>
            </a:r>
            <a:endParaRPr lang="en-US" sz="1500" noProof="1"/>
          </a:p>
        </p:txBody>
      </p:sp>
      <p:sp>
        <p:nvSpPr>
          <p:cNvPr id="17" name="q3-body"/>
          <p:cNvSpPr txBox="1"/>
          <p:nvPr/>
        </p:nvSpPr>
        <p:spPr>
          <a:xfrm>
            <a:off x="1346200" y="4495800"/>
            <a:ext cx="10083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一根金属丝被拉过弹性极限后完全卸载。描述它 F-x 图的三个特征，并说明各自对应的物理意义。</a:t>
            </a:r>
            <a:endParaRPr lang="en-US" sz="1350" noProof="1"/>
          </a:p>
        </p:txBody>
      </p:sp>
      <p:sp>
        <p:nvSpPr>
          <p:cNvPr id="18" name="std-box"/>
          <p:cNvSpPr/>
          <p:nvPr/>
        </p:nvSpPr>
        <p:spPr>
          <a:xfrm>
            <a:off x="762000" y="5461000"/>
            <a:ext cx="10668000" cy="787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9" name="std-body"/>
          <p:cNvSpPr txBox="1"/>
          <p:nvPr/>
        </p:nvSpPr>
        <p:spPr>
          <a:xfrm>
            <a:off x="965200" y="5562600"/>
            <a:ext cx="10261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完成标准：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计算题写清公式 → 代入 → 数值 + 单位；Q3 至少答出"不过原点 / 两线平行 / 面积含义"三点。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建议用时 12 分钟，做完翻页对答案。</a:t>
            </a:r>
            <a:endParaRPr lang="en-US" sz="125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FEEDBACK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练习讲评：答案与错因排查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Answers, marking points, and the traps behind each error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254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a1-tag"/>
          <p:cNvSpPr txBox="1"/>
          <p:nvPr/>
        </p:nvSpPr>
        <p:spPr>
          <a:xfrm>
            <a:off x="762000" y="1651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Q1 · 胡克定律 + 应变能</a:t>
            </a:r>
            <a:endParaRPr lang="en-US" sz="1500" noProof="1"/>
          </a:p>
        </p:txBody>
      </p:sp>
      <p:sp>
        <p:nvSpPr>
          <p:cNvPr id="7" name="a1-body"/>
          <p:cNvSpPr txBox="1"/>
          <p:nvPr/>
        </p:nvSpPr>
        <p:spPr>
          <a:xfrm>
            <a:off x="762000" y="1955800"/>
            <a:ext cx="5969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(a) x = mg/k = (0.50 × 9.81)/40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0.12 m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(b) E = ½kx² = ½ × 40 × 0.12²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0.29 J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用 W = Fx 忘记 ½；g 随手取 10。</a:t>
            </a:r>
            <a:endParaRPr lang="en-US" sz="1250" noProof="1"/>
          </a:p>
        </p:txBody>
      </p:sp>
      <p:sp>
        <p:nvSpPr>
          <p:cNvPr id="8" name="a2-tag"/>
          <p:cNvSpPr txBox="1"/>
          <p:nvPr/>
        </p:nvSpPr>
        <p:spPr>
          <a:xfrm>
            <a:off x="762000" y="31242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Q2 · 应力 · 应变 · 杨氏模量</a:t>
            </a:r>
            <a:endParaRPr lang="en-US" sz="1500" noProof="1"/>
          </a:p>
        </p:txBody>
      </p:sp>
      <p:sp>
        <p:nvSpPr>
          <p:cNvPr id="9" name="a2-body"/>
          <p:cNvSpPr txBox="1"/>
          <p:nvPr/>
        </p:nvSpPr>
        <p:spPr>
          <a:xfrm>
            <a:off x="762000" y="3429000"/>
            <a:ext cx="5969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σ = F/A = 60 / 2.0×10⁻⁷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3.0×10⁸ Pa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ε = x/L = 2.3×10⁻³ / 1.5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1.53×10⁻³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E = σ/ε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2.0×10¹¹ Pa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题目若给直径，A 要 πd²/4；mm 没换 m。</a:t>
            </a:r>
            <a:endParaRPr lang="en-US" sz="1250" noProof="1"/>
          </a:p>
        </p:txBody>
      </p:sp>
      <p:sp>
        <p:nvSpPr>
          <p:cNvPr id="10" name="a3-tag"/>
          <p:cNvSpPr txBox="1"/>
          <p:nvPr/>
        </p:nvSpPr>
        <p:spPr>
          <a:xfrm>
            <a:off x="762000" y="4800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Q3 · 加载-卸载图像</a:t>
            </a:r>
            <a:endParaRPr lang="en-US" sz="1500" noProof="1"/>
          </a:p>
        </p:txBody>
      </p:sp>
      <p:sp>
        <p:nvSpPr>
          <p:cNvPr id="11" name="a3-body"/>
          <p:cNvSpPr txBox="1"/>
          <p:nvPr/>
        </p:nvSpPr>
        <p:spPr>
          <a:xfrm>
            <a:off x="762000" y="5105400"/>
            <a:ext cx="5969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卸载线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不过原点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→ 有残余伸长（塑性形变）；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卸载线与加载线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平行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→ 刚度 k 不变；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③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两线间面积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= 耗散的能量（转为热）。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把面积答成"储存的能量"。</a:t>
            </a:r>
            <a:endParaRPr lang="en-US" sz="1250" noProof="1"/>
          </a:p>
        </p:txBody>
      </p:sp>
      <p:sp>
        <p:nvSpPr>
          <p:cNvPr id="12" name="rule-v"/>
          <p:cNvSpPr/>
          <p:nvPr/>
        </p:nvSpPr>
        <p:spPr>
          <a:xfrm>
            <a:off x="7061200" y="1651000"/>
            <a:ext cx="19050" cy="45720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3" name="chk-tag"/>
          <p:cNvSpPr txBox="1"/>
          <p:nvPr/>
        </p:nvSpPr>
        <p:spPr>
          <a:xfrm>
            <a:off x="7366000" y="16510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自查清单 Marking checklist</a:t>
            </a:r>
            <a:endParaRPr lang="en-US" sz="1500" noProof="1"/>
          </a:p>
        </p:txBody>
      </p:sp>
      <p:sp>
        <p:nvSpPr>
          <p:cNvPr id="14" name="chk-body"/>
          <p:cNvSpPr txBox="1"/>
          <p:nvPr/>
        </p:nvSpPr>
        <p:spPr>
          <a:xfrm>
            <a:off x="7366000" y="2006600"/>
            <a:ext cx="4064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公式先写符号式，再代数字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长度一律换成 m，面积用 m²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应变无单位，应力单位 Pa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应变能公式带 ½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有效数字与题目一致（2–3 位）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图像题按"三点读法"逐条作答</a:t>
            </a:r>
            <a:endParaRPr lang="en-US" sz="1250" noProof="1"/>
          </a:p>
        </p:txBody>
      </p:sp>
      <p:sp>
        <p:nvSpPr>
          <p:cNvPr id="15" name="chk-box"/>
          <p:cNvSpPr/>
          <p:nvPr/>
        </p:nvSpPr>
        <p:spPr>
          <a:xfrm>
            <a:off x="7366000" y="4749800"/>
            <a:ext cx="4064000" cy="1473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chk-box-t"/>
          <p:cNvSpPr txBox="1"/>
          <p:nvPr/>
        </p:nvSpPr>
        <p:spPr>
          <a:xfrm>
            <a:off x="7569200" y="4876800"/>
            <a:ext cx="36576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评分参考：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Q1/Q2 各 4 分（公式 1 + 代入 1 + 结果 1 + 单位 1），Q3 共 3 分（每点 1 分）。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拿到 9/11 以上即可进入下一章。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SUMMARY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本章小结：固体的形变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Deformation of Solids · five takeaways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-body"/>
          <p:cNvSpPr txBox="1"/>
          <p:nvPr/>
        </p:nvSpPr>
        <p:spPr>
          <a:xfrm>
            <a:off x="762000" y="1676400"/>
            <a:ext cx="7112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拉伸 tensile / 压缩 compressive；比例极限内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F = kx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2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两点辨析：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P 比例极限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（F-x 图直线终点）与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E 弹性极限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（卸载不回原长的分界）。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3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σ = F/A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（Pa）、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ε = x/L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（无单位）、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E = σ/ε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是材料属性，k 是物体属性。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4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测 E 实验：micrometer 测 3 处直径取平均、A = πd²/4、至少 7 组数据、画 σ-ε 图取斜率。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应变能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½Fx = ½kx²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（限比例极限内）；加载-卸载图三读法：不过原点 / 两线平行 / 面积 = 耗散能量。</a:t>
            </a:r>
            <a:endParaRPr lang="en-US" sz="1350" noProof="1"/>
          </a:p>
        </p:txBody>
      </p:sp>
      <p:sp>
        <p:nvSpPr>
          <p:cNvPr id="7" name="res-box"/>
          <p:cNvSpPr/>
          <p:nvPr/>
        </p:nvSpPr>
        <p:spPr>
          <a:xfrm>
            <a:off x="762000" y="5689600"/>
            <a:ext cx="7112000" cy="558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8" name="res-body"/>
          <p:cNvSpPr txBox="1"/>
          <p:nvPr/>
        </p:nvSpPr>
        <p:spPr>
          <a:xfrm>
            <a:off x="965200" y="5765800"/>
            <a:ext cx="6705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配套资源：</a:t>
            </a: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《Topic 6 中英对照笔记》PDF / MD + 本课件；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建议先做题再回查笔记对应小节。</a:t>
            </a:r>
            <a:endParaRPr lang="en-US" sz="1200" noProof="1"/>
          </a:p>
        </p:txBody>
      </p:sp>
      <p:sp>
        <p:nvSpPr>
          <p:cNvPr id="9" name="next-rule"/>
          <p:cNvSpPr/>
          <p:nvPr/>
        </p:nvSpPr>
        <p:spPr>
          <a:xfrm>
            <a:off x="8331200" y="1676400"/>
            <a:ext cx="19050" cy="45720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0" name="next-tag"/>
          <p:cNvSpPr txBox="1"/>
          <p:nvPr/>
        </p:nvSpPr>
        <p:spPr>
          <a:xfrm>
            <a:off x="8636000" y="16764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NEXT · 下一章</a:t>
            </a:r>
            <a:endParaRPr lang="en-US" sz="1500" noProof="1"/>
          </a:p>
        </p:txBody>
      </p:sp>
      <p:sp>
        <p:nvSpPr>
          <p:cNvPr id="11" name="next-title"/>
          <p:cNvSpPr txBox="1"/>
          <p:nvPr/>
        </p:nvSpPr>
        <p:spPr>
          <a:xfrm>
            <a:off x="8636000" y="20320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2000" noProof="1" b="1">
                <a:solidFill>
                  <a:srgbClr val="22303A"/>
                </a:solidFill>
                <a:latin typeface="MiSans"/>
                <a:ea typeface="MiSans"/>
              </a:rPr>
              <a:t>Topic 7</a:t>
            </a:r>
            <a:endParaRPr lang="en-US" sz="2000" noProof="1"/>
          </a:p>
          <a:p>
            <a:pPr>
              <a:lnSpc>
                <a:spcPct val="130000"/>
              </a:lnSpc>
            </a:pPr>
            <a:r>
              <a:rPr lang="en-US" sz="2000" noProof="1" b="1">
                <a:solidFill>
                  <a:srgbClr val="22303A"/>
                </a:solidFill>
                <a:latin typeface="MiSans"/>
                <a:ea typeface="MiSans"/>
              </a:rPr>
              <a:t>Waves 波</a:t>
            </a:r>
            <a:endParaRPr lang="en-US" sz="2000" noProof="1"/>
          </a:p>
        </p:txBody>
      </p:sp>
      <p:sp>
        <p:nvSpPr>
          <p:cNvPr id="12" name="next-body"/>
          <p:cNvSpPr txBox="1"/>
          <p:nvPr/>
        </p:nvSpPr>
        <p:spPr>
          <a:xfrm>
            <a:off x="8636000" y="2946400"/>
            <a:ext cx="2794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 progressive waves 与 stationary waves；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波长、频率、波速 v = fλ；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波的图象与能量传输。</a:t>
            </a:r>
            <a:endParaRPr lang="en-US" sz="1100" noProof="1"/>
          </a:p>
        </p:txBody>
      </p:sp>
      <p:sp>
        <p:nvSpPr>
          <p:cNvPr id="13" name="next-hint"/>
          <p:cNvSpPr txBox="1"/>
          <p:nvPr/>
        </p:nvSpPr>
        <p:spPr>
          <a:xfrm>
            <a:off x="8636000" y="4826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回复"继续"，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即开始制作第七章资料。</a:t>
            </a:r>
            <a:endParaRPr lang="en-US" sz="120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6 固体的形变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Topic6_Deformation_of_Solids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