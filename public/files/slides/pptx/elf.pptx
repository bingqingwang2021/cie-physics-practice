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 ∝ 1/r²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Sheet1!$A$2:$A$32</c:f>
              <c:strCache>
                <c:ptCount val="31"/>
                <c:pt idx="0">
                  <c:v>0.5</c:v>
                </c:pt>
                <c:pt idx="1">
                  <c:v>0.6</c:v>
                </c:pt>
                <c:pt idx="2">
                  <c:v>0.7</c:v>
                </c:pt>
                <c:pt idx="3">
                  <c:v>0.8</c:v>
                </c:pt>
                <c:pt idx="4">
                  <c:v>0.9</c:v>
                </c:pt>
                <c:pt idx="5">
                  <c:v>1.0</c:v>
                </c:pt>
                <c:pt idx="6">
                  <c:v>1.1</c:v>
                </c:pt>
                <c:pt idx="7">
                  <c:v>1.2</c:v>
                </c:pt>
                <c:pt idx="8">
                  <c:v>1.3</c:v>
                </c:pt>
                <c:pt idx="9">
                  <c:v>1.4</c:v>
                </c:pt>
                <c:pt idx="10">
                  <c:v>1.5</c:v>
                </c:pt>
                <c:pt idx="11">
                  <c:v>1.6</c:v>
                </c:pt>
                <c:pt idx="12">
                  <c:v>1.7</c:v>
                </c:pt>
                <c:pt idx="13">
                  <c:v>1.8</c:v>
                </c:pt>
                <c:pt idx="14">
                  <c:v>1.9</c:v>
                </c:pt>
                <c:pt idx="15">
                  <c:v>2.0</c:v>
                </c:pt>
                <c:pt idx="16">
                  <c:v>2.1</c:v>
                </c:pt>
                <c:pt idx="17">
                  <c:v>2.2</c:v>
                </c:pt>
                <c:pt idx="18">
                  <c:v>2.3</c:v>
                </c:pt>
                <c:pt idx="19">
                  <c:v>2.4</c:v>
                </c:pt>
                <c:pt idx="20">
                  <c:v>2.5</c:v>
                </c:pt>
                <c:pt idx="21">
                  <c:v>2.6</c:v>
                </c:pt>
                <c:pt idx="22">
                  <c:v>2.7</c:v>
                </c:pt>
                <c:pt idx="23">
                  <c:v>2.8</c:v>
                </c:pt>
                <c:pt idx="24">
                  <c:v>2.9</c:v>
                </c:pt>
                <c:pt idx="25">
                  <c:v>3.0</c:v>
                </c:pt>
                <c:pt idx="26">
                  <c:v>3.1</c:v>
                </c:pt>
                <c:pt idx="27">
                  <c:v>3.2</c:v>
                </c:pt>
                <c:pt idx="28">
                  <c:v>3.3</c:v>
                </c:pt>
                <c:pt idx="29">
                  <c:v>3.4</c:v>
                </c:pt>
                <c:pt idx="30">
                  <c:v>3.5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4.0</c:v>
                </c:pt>
                <c:pt idx="1">
                  <c:v>2.78</c:v>
                </c:pt>
                <c:pt idx="2">
                  <c:v>2.04</c:v>
                </c:pt>
                <c:pt idx="3">
                  <c:v>1.56</c:v>
                </c:pt>
                <c:pt idx="4">
                  <c:v>1.23</c:v>
                </c:pt>
                <c:pt idx="5">
                  <c:v>1.0</c:v>
                </c:pt>
                <c:pt idx="6">
                  <c:v>0.83</c:v>
                </c:pt>
                <c:pt idx="7">
                  <c:v>0.69</c:v>
                </c:pt>
                <c:pt idx="8">
                  <c:v>0.59</c:v>
                </c:pt>
                <c:pt idx="9">
                  <c:v>0.51</c:v>
                </c:pt>
                <c:pt idx="10">
                  <c:v>0.44</c:v>
                </c:pt>
                <c:pt idx="11">
                  <c:v>0.39</c:v>
                </c:pt>
                <c:pt idx="12">
                  <c:v>0.35</c:v>
                </c:pt>
                <c:pt idx="13">
                  <c:v>0.31</c:v>
                </c:pt>
                <c:pt idx="14">
                  <c:v>0.28</c:v>
                </c:pt>
                <c:pt idx="15">
                  <c:v>0.25</c:v>
                </c:pt>
                <c:pt idx="16">
                  <c:v>0.23</c:v>
                </c:pt>
                <c:pt idx="17">
                  <c:v>0.21</c:v>
                </c:pt>
                <c:pt idx="18">
                  <c:v>0.19</c:v>
                </c:pt>
                <c:pt idx="19">
                  <c:v>0.17</c:v>
                </c:pt>
                <c:pt idx="20">
                  <c:v>0.16</c:v>
                </c:pt>
                <c:pt idx="21">
                  <c:v>0.15</c:v>
                </c:pt>
                <c:pt idx="22">
                  <c:v>0.14</c:v>
                </c:pt>
                <c:pt idx="23">
                  <c:v>0.13</c:v>
                </c:pt>
                <c:pt idx="24">
                  <c:v>0.12</c:v>
                </c:pt>
                <c:pt idx="25">
                  <c:v>0.11</c:v>
                </c:pt>
                <c:pt idx="26">
                  <c:v>0.1</c:v>
                </c:pt>
                <c:pt idx="27">
                  <c:v>0.1</c:v>
                </c:pt>
                <c:pt idx="28">
                  <c:v>0.09</c:v>
                </c:pt>
                <c:pt idx="29">
                  <c:v>0.09</c:v>
                </c:pt>
                <c:pt idx="30">
                  <c:v>0.08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r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E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 ∝ 1/r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Sheet1!$A$2:$A$32</c:f>
              <c:strCache>
                <c:ptCount val="31"/>
                <c:pt idx="0">
                  <c:v>0.5</c:v>
                </c:pt>
                <c:pt idx="1">
                  <c:v>0.6</c:v>
                </c:pt>
                <c:pt idx="2">
                  <c:v>0.7</c:v>
                </c:pt>
                <c:pt idx="3">
                  <c:v>0.8</c:v>
                </c:pt>
                <c:pt idx="4">
                  <c:v>0.9</c:v>
                </c:pt>
                <c:pt idx="5">
                  <c:v>1.0</c:v>
                </c:pt>
                <c:pt idx="6">
                  <c:v>1.1</c:v>
                </c:pt>
                <c:pt idx="7">
                  <c:v>1.2</c:v>
                </c:pt>
                <c:pt idx="8">
                  <c:v>1.3</c:v>
                </c:pt>
                <c:pt idx="9">
                  <c:v>1.4</c:v>
                </c:pt>
                <c:pt idx="10">
                  <c:v>1.5</c:v>
                </c:pt>
                <c:pt idx="11">
                  <c:v>1.6</c:v>
                </c:pt>
                <c:pt idx="12">
                  <c:v>1.7</c:v>
                </c:pt>
                <c:pt idx="13">
                  <c:v>1.8</c:v>
                </c:pt>
                <c:pt idx="14">
                  <c:v>1.9</c:v>
                </c:pt>
                <c:pt idx="15">
                  <c:v>2.0</c:v>
                </c:pt>
                <c:pt idx="16">
                  <c:v>2.1</c:v>
                </c:pt>
                <c:pt idx="17">
                  <c:v>2.2</c:v>
                </c:pt>
                <c:pt idx="18">
                  <c:v>2.3</c:v>
                </c:pt>
                <c:pt idx="19">
                  <c:v>2.4</c:v>
                </c:pt>
                <c:pt idx="20">
                  <c:v>2.5</c:v>
                </c:pt>
                <c:pt idx="21">
                  <c:v>2.6</c:v>
                </c:pt>
                <c:pt idx="22">
                  <c:v>2.7</c:v>
                </c:pt>
                <c:pt idx="23">
                  <c:v>2.8</c:v>
                </c:pt>
                <c:pt idx="24">
                  <c:v>2.9</c:v>
                </c:pt>
                <c:pt idx="25">
                  <c:v>3.0</c:v>
                </c:pt>
                <c:pt idx="26">
                  <c:v>3.1</c:v>
                </c:pt>
                <c:pt idx="27">
                  <c:v>3.2</c:v>
                </c:pt>
                <c:pt idx="28">
                  <c:v>3.3</c:v>
                </c:pt>
                <c:pt idx="29">
                  <c:v>3.4</c:v>
                </c:pt>
                <c:pt idx="30">
                  <c:v>3.5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2.0</c:v>
                </c:pt>
                <c:pt idx="1">
                  <c:v>1.67</c:v>
                </c:pt>
                <c:pt idx="2">
                  <c:v>1.43</c:v>
                </c:pt>
                <c:pt idx="3">
                  <c:v>1.25</c:v>
                </c:pt>
                <c:pt idx="4">
                  <c:v>1.11</c:v>
                </c:pt>
                <c:pt idx="5">
                  <c:v>1.0</c:v>
                </c:pt>
                <c:pt idx="6">
                  <c:v>0.91</c:v>
                </c:pt>
                <c:pt idx="7">
                  <c:v>0.83</c:v>
                </c:pt>
                <c:pt idx="8">
                  <c:v>0.77</c:v>
                </c:pt>
                <c:pt idx="9">
                  <c:v>0.71</c:v>
                </c:pt>
                <c:pt idx="10">
                  <c:v>0.67</c:v>
                </c:pt>
                <c:pt idx="11">
                  <c:v>0.62</c:v>
                </c:pt>
                <c:pt idx="12">
                  <c:v>0.59</c:v>
                </c:pt>
                <c:pt idx="13">
                  <c:v>0.56</c:v>
                </c:pt>
                <c:pt idx="14">
                  <c:v>0.53</c:v>
                </c:pt>
                <c:pt idx="15">
                  <c:v>0.5</c:v>
                </c:pt>
                <c:pt idx="16">
                  <c:v>0.48</c:v>
                </c:pt>
                <c:pt idx="17">
                  <c:v>0.45</c:v>
                </c:pt>
                <c:pt idx="18">
                  <c:v>0.43</c:v>
                </c:pt>
                <c:pt idx="19">
                  <c:v>0.42</c:v>
                </c:pt>
                <c:pt idx="20">
                  <c:v>0.4</c:v>
                </c:pt>
                <c:pt idx="21">
                  <c:v>0.38</c:v>
                </c:pt>
                <c:pt idx="22">
                  <c:v>0.37</c:v>
                </c:pt>
                <c:pt idx="23">
                  <c:v>0.36</c:v>
                </c:pt>
                <c:pt idx="24">
                  <c:v>0.34</c:v>
                </c:pt>
                <c:pt idx="25">
                  <c:v>0.33</c:v>
                </c:pt>
                <c:pt idx="26">
                  <c:v>0.32</c:v>
                </c:pt>
                <c:pt idx="27">
                  <c:v>0.31</c:v>
                </c:pt>
                <c:pt idx="28">
                  <c:v>0.3</c:v>
                </c:pt>
                <c:pt idx="29">
                  <c:v>0.29</c:v>
                </c:pt>
                <c:pt idx="30">
                  <c:v>0.29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 ∝ 1/r²</c:v>
                </c:pt>
              </c:strCache>
            </c:strRef>
          </c:tx>
          <c:spPr>
            <a:solidFill>
              <a:srgbClr val="D97D29"/>
            </a:solidFill>
            <a:ln w="19050">
              <a:solidFill>
                <a:srgbClr val="D97D29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Sheet1!$A$2:$A$32</c:f>
              <c:strCache>
                <c:ptCount val="31"/>
                <c:pt idx="0">
                  <c:v>0.5</c:v>
                </c:pt>
                <c:pt idx="1">
                  <c:v>0.6</c:v>
                </c:pt>
                <c:pt idx="2">
                  <c:v>0.7</c:v>
                </c:pt>
                <c:pt idx="3">
                  <c:v>0.8</c:v>
                </c:pt>
                <c:pt idx="4">
                  <c:v>0.9</c:v>
                </c:pt>
                <c:pt idx="5">
                  <c:v>1.0</c:v>
                </c:pt>
                <c:pt idx="6">
                  <c:v>1.1</c:v>
                </c:pt>
                <c:pt idx="7">
                  <c:v>1.2</c:v>
                </c:pt>
                <c:pt idx="8">
                  <c:v>1.3</c:v>
                </c:pt>
                <c:pt idx="9">
                  <c:v>1.4</c:v>
                </c:pt>
                <c:pt idx="10">
                  <c:v>1.5</c:v>
                </c:pt>
                <c:pt idx="11">
                  <c:v>1.6</c:v>
                </c:pt>
                <c:pt idx="12">
                  <c:v>1.7</c:v>
                </c:pt>
                <c:pt idx="13">
                  <c:v>1.8</c:v>
                </c:pt>
                <c:pt idx="14">
                  <c:v>1.9</c:v>
                </c:pt>
                <c:pt idx="15">
                  <c:v>2.0</c:v>
                </c:pt>
                <c:pt idx="16">
                  <c:v>2.1</c:v>
                </c:pt>
                <c:pt idx="17">
                  <c:v>2.2</c:v>
                </c:pt>
                <c:pt idx="18">
                  <c:v>2.3</c:v>
                </c:pt>
                <c:pt idx="19">
                  <c:v>2.4</c:v>
                </c:pt>
                <c:pt idx="20">
                  <c:v>2.5</c:v>
                </c:pt>
                <c:pt idx="21">
                  <c:v>2.6</c:v>
                </c:pt>
                <c:pt idx="22">
                  <c:v>2.7</c:v>
                </c:pt>
                <c:pt idx="23">
                  <c:v>2.8</c:v>
                </c:pt>
                <c:pt idx="24">
                  <c:v>2.9</c:v>
                </c:pt>
                <c:pt idx="25">
                  <c:v>3.0</c:v>
                </c:pt>
                <c:pt idx="26">
                  <c:v>3.1</c:v>
                </c:pt>
                <c:pt idx="27">
                  <c:v>3.2</c:v>
                </c:pt>
                <c:pt idx="28">
                  <c:v>3.3</c:v>
                </c:pt>
                <c:pt idx="29">
                  <c:v>3.4</c:v>
                </c:pt>
                <c:pt idx="30">
                  <c:v>3.5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4.0</c:v>
                </c:pt>
                <c:pt idx="1">
                  <c:v>2.78</c:v>
                </c:pt>
                <c:pt idx="2">
                  <c:v>2.04</c:v>
                </c:pt>
                <c:pt idx="3">
                  <c:v>1.56</c:v>
                </c:pt>
                <c:pt idx="4">
                  <c:v>1.23</c:v>
                </c:pt>
                <c:pt idx="5">
                  <c:v>1.0</c:v>
                </c:pt>
                <c:pt idx="6">
                  <c:v>0.83</c:v>
                </c:pt>
                <c:pt idx="7">
                  <c:v>0.69</c:v>
                </c:pt>
                <c:pt idx="8">
                  <c:v>0.59</c:v>
                </c:pt>
                <c:pt idx="9">
                  <c:v>0.51</c:v>
                </c:pt>
                <c:pt idx="10">
                  <c:v>0.44</c:v>
                </c:pt>
                <c:pt idx="11">
                  <c:v>0.39</c:v>
                </c:pt>
                <c:pt idx="12">
                  <c:v>0.35</c:v>
                </c:pt>
                <c:pt idx="13">
                  <c:v>0.31</c:v>
                </c:pt>
                <c:pt idx="14">
                  <c:v>0.28</c:v>
                </c:pt>
                <c:pt idx="15">
                  <c:v>0.25</c:v>
                </c:pt>
                <c:pt idx="16">
                  <c:v>0.23</c:v>
                </c:pt>
                <c:pt idx="17">
                  <c:v>0.21</c:v>
                </c:pt>
                <c:pt idx="18">
                  <c:v>0.19</c:v>
                </c:pt>
                <c:pt idx="19">
                  <c:v>0.17</c:v>
                </c:pt>
                <c:pt idx="20">
                  <c:v>0.16</c:v>
                </c:pt>
                <c:pt idx="21">
                  <c:v>0.15</c:v>
                </c:pt>
                <c:pt idx="22">
                  <c:v>0.14</c:v>
                </c:pt>
                <c:pt idx="23">
                  <c:v>0.13</c:v>
                </c:pt>
                <c:pt idx="24">
                  <c:v>0.12</c:v>
                </c:pt>
                <c:pt idx="25">
                  <c:v>0.11</c:v>
                </c:pt>
                <c:pt idx="26">
                  <c:v>0.1</c:v>
                </c:pt>
                <c:pt idx="27">
                  <c:v>0.1</c:v>
                </c:pt>
                <c:pt idx="28">
                  <c:v>0.09</c:v>
                </c:pt>
                <c:pt idx="29">
                  <c:v>0.09</c:v>
                </c:pt>
                <c:pt idx="30">
                  <c:v>0.08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r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 spcFirstLastPara="1" vertOverflow="ellipsis" vert="horz" wrap="square" lIns="38100" tIns="19050" rIns="38100" bIns="19050" anchor="ctr" anchorCtr="1">
          <a:spAutoFit/>
        </a:bodyPr>
        <a:lstStyle/>
        <a:p>
          <a:pPr>
            <a:defRPr sz="1019">
              <a:solidFill>
                <a:srgbClr val="6D6E73"/>
              </a:solidFill>
              <a:latin typeface="Calibri"/>
              <a:ea typeface="MiSans"/>
            </a:defRPr>
          </a:pPr>
        </a:p>
      </c:txPr>
    </c:legend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3748"/>
            </a:gs>
            <a:gs pos="100000">
              <a:srgbClr val="0E4D64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dc-m"/>
          <p:cNvSpPr/>
          <p:nvPr/>
        </p:nvSpPr>
        <p:spPr>
          <a:xfrm>
            <a:off x="9258300" y="3067050"/>
            <a:ext cx="342900" cy="342900"/>
          </a:xfrm>
          <a:prstGeom prst="ellipse">
            <a:avLst/>
          </a:prstGeom>
          <a:solidFill>
            <a:srgbClr val="D97D2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dsl:dc-f0"/>
          <p:cNvCxnSpPr/>
          <p:nvPr/>
        </p:nvCxnSpPr>
        <p:spPr>
          <a:xfrm>
            <a:off x="9696450" y="3238500"/>
            <a:ext cx="1162050" cy="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sl:dc-f1"/>
          <p:cNvCxnSpPr/>
          <p:nvPr/>
        </p:nvCxnSpPr>
        <p:spPr>
          <a:xfrm>
            <a:off x="9660718" y="3371850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sl:dc-f2"/>
          <p:cNvCxnSpPr/>
          <p:nvPr/>
        </p:nvCxnSpPr>
        <p:spPr>
          <a:xfrm>
            <a:off x="9563100" y="3469468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sl:dc-f3"/>
          <p:cNvCxnSpPr/>
          <p:nvPr/>
        </p:nvCxnSpPr>
        <p:spPr>
          <a:xfrm>
            <a:off x="9429750" y="3505200"/>
            <a:ext cx="0" cy="116205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sl:dc-f4"/>
          <p:cNvCxnSpPr/>
          <p:nvPr/>
        </p:nvCxnSpPr>
        <p:spPr>
          <a:xfrm flipH="1">
            <a:off x="8715375" y="3469468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sl:dc-f5"/>
          <p:cNvCxnSpPr/>
          <p:nvPr/>
        </p:nvCxnSpPr>
        <p:spPr>
          <a:xfrm flipH="1">
            <a:off x="8192416" y="3371850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sl:dc-f6"/>
          <p:cNvCxnSpPr/>
          <p:nvPr/>
        </p:nvCxnSpPr>
        <p:spPr>
          <a:xfrm>
            <a:off x="8001000" y="3238500"/>
            <a:ext cx="1162050" cy="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dsl:dc-f7"/>
          <p:cNvCxnSpPr/>
          <p:nvPr/>
        </p:nvCxnSpPr>
        <p:spPr>
          <a:xfrm>
            <a:off x="8192416" y="2524125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sl:dc-f8"/>
          <p:cNvCxnSpPr/>
          <p:nvPr/>
        </p:nvCxnSpPr>
        <p:spPr>
          <a:xfrm>
            <a:off x="8715374" y="2001166"/>
            <a:ext cx="581026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sl:dc-f9"/>
          <p:cNvCxnSpPr/>
          <p:nvPr/>
        </p:nvCxnSpPr>
        <p:spPr>
          <a:xfrm>
            <a:off x="9429750" y="1809750"/>
            <a:ext cx="0" cy="116205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sl:dc-f10"/>
          <p:cNvCxnSpPr/>
          <p:nvPr/>
        </p:nvCxnSpPr>
        <p:spPr>
          <a:xfrm flipH="1">
            <a:off x="9563100" y="2001166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sl:dc-f11"/>
          <p:cNvCxnSpPr/>
          <p:nvPr/>
        </p:nvCxnSpPr>
        <p:spPr>
          <a:xfrm flipH="1">
            <a:off x="9660718" y="2524124"/>
            <a:ext cx="1006365" cy="581026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topic-tag"/>
          <p:cNvSpPr txBox="1"/>
          <p:nvPr/>
        </p:nvSpPr>
        <p:spPr>
          <a:xfrm>
            <a:off x="838200" y="1428750"/>
            <a:ext cx="4762500" cy="2667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noProof="1" spc="300">
                <a:solidFill>
                  <a:srgbClr val="D97D29"/>
                </a:solidFill>
                <a:latin typeface="QuattrocentoSans"/>
                <a:ea typeface="MiSans"/>
              </a:rPr>
              <a:t>TOPIC 18</a:t>
            </a:r>
          </a:p>
        </p:txBody>
      </p:sp>
      <p:sp>
        <p:nvSpPr>
          <p:cNvPr id="16" name="dsl:title-main"/>
          <p:cNvSpPr txBox="1"/>
          <p:nvPr/>
        </p:nvSpPr>
        <p:spPr>
          <a:xfrm>
            <a:off x="838200" y="2000250"/>
            <a:ext cx="6286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300" noProof="1">
                <a:solidFill>
                  <a:srgbClr val="FFFFFF"/>
                </a:solidFill>
                <a:latin typeface="Unna"/>
                <a:ea typeface="siyuanSongti"/>
              </a:rPr>
              <a:t>Electric Fields</a:t>
            </a:r>
          </a:p>
        </p:txBody>
      </p:sp>
      <p:sp>
        <p:nvSpPr>
          <p:cNvPr id="17" name="dsl:title-cn"/>
          <p:cNvSpPr txBox="1"/>
          <p:nvPr/>
        </p:nvSpPr>
        <p:spPr>
          <a:xfrm>
            <a:off x="838200" y="3352800"/>
            <a:ext cx="6286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FFFFF"/>
                </a:solidFill>
                <a:latin typeface="siyuanSongti"/>
                <a:ea typeface="siyuanSongti"/>
              </a:rPr>
              <a:t>电场</a:t>
            </a:r>
          </a:p>
        </p:txBody>
      </p:sp>
      <p:cxnSp>
        <p:nvCxnSpPr>
          <p:cNvPr id="18" name="dsl:div"/>
          <p:cNvCxnSpPr/>
          <p:nvPr/>
        </p:nvCxnSpPr>
        <p:spPr>
          <a:xfrm>
            <a:off x="838200" y="4000500"/>
            <a:ext cx="201930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exam-info"/>
          <p:cNvSpPr txBox="1"/>
          <p:nvPr/>
        </p:nvSpPr>
        <p:spPr>
          <a:xfrm>
            <a:off x="838200" y="5715000"/>
            <a:ext cx="6667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FFFFF"/>
                </a:solidFill>
                <a:latin typeface="QuattrocentoSans"/>
                <a:ea typeface="MiSans"/>
              </a:rPr>
              <a:t>CIE 9702 · A Level Physics A2 · Paper 4</a:t>
            </a:r>
          </a:p>
        </p:txBody>
      </p:sp>
      <p:sp>
        <p:nvSpPr>
          <p:cNvPr id="20" name="dsl:series-info"/>
          <p:cNvSpPr txBox="1"/>
          <p:nvPr/>
        </p:nvSpPr>
        <p:spPr>
          <a:xfrm>
            <a:off x="838200" y="6019800"/>
            <a:ext cx="6667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剑桥国际物理 A2 分章节讲义 · 中英双语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18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Learning Outcomes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学习目标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18 Electric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02 / 16</a:t>
            </a:r>
          </a:p>
        </p:txBody>
      </p:sp>
      <p:sp>
        <p:nvSpPr>
          <p:cNvPr id="9" name="dsl:ol-panel"/>
          <p:cNvSpPr/>
          <p:nvPr/>
        </p:nvSpPr>
        <p:spPr>
          <a:xfrm>
            <a:off x="609600" y="1695450"/>
            <a:ext cx="2476500" cy="44767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ol-big"/>
          <p:cNvSpPr txBox="1"/>
          <p:nvPr/>
        </p:nvSpPr>
        <p:spPr>
          <a:xfrm>
            <a:off x="838200" y="1981200"/>
            <a:ext cx="2019300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LEARNING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
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OUTCOMES</a:t>
            </a:r>
          </a:p>
        </p:txBody>
      </p:sp>
      <p:sp>
        <p:nvSpPr>
          <p:cNvPr id="11" name="dsl:ol-cn"/>
          <p:cNvSpPr txBox="1"/>
          <p:nvPr/>
        </p:nvSpPr>
        <p:spPr>
          <a:xfrm>
            <a:off x="838200" y="3695700"/>
            <a:ext cx="20193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500" noProof="1">
                <a:solidFill>
                  <a:srgbClr val="FFFFFF"/>
                </a:solidFill>
                <a:latin typeface="siyuanSongti"/>
                <a:ea typeface="siyuanSongti"/>
              </a:rPr>
              <a:t>学习目标</a:t>
            </a:r>
          </a:p>
        </p:txBody>
      </p:sp>
      <p:sp>
        <p:nvSpPr>
          <p:cNvPr id="12" name="dsl:ol-note"/>
          <p:cNvSpPr txBox="1"/>
          <p:nvPr/>
        </p:nvSpPr>
        <p:spPr>
          <a:xfrm>
            <a:off x="838200" y="5505450"/>
            <a:ext cx="20193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75" noProof="1">
                <a:solidFill>
                  <a:srgbClr val="FFFFFF"/>
                </a:solidFill>
                <a:latin typeface="MiSans"/>
                <a:ea typeface="MiSans"/>
              </a:rPr>
              <a:t>By the end of this topic, you will be able to…</a:t>
            </a:r>
          </a:p>
        </p:txBody>
      </p:sp>
      <p:sp>
        <p:nvSpPr>
          <p:cNvPr id="13" name="dsl:og0"/>
          <p:cNvSpPr txBox="1"/>
          <p:nvPr/>
        </p:nvSpPr>
        <p:spPr>
          <a:xfrm>
            <a:off x="3467100" y="17526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18.1 Electric fields &amp; field lines 电场与电场线</a:t>
            </a:r>
          </a:p>
        </p:txBody>
      </p:sp>
      <p:pic>
        <p:nvPicPr>
          <p:cNvPr id="14" name="dsl:oc0_0|i=fas:square-check" descr="tmpkvqcag8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1050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ot0_0"/>
          <p:cNvSpPr txBox="1"/>
          <p:nvPr/>
        </p:nvSpPr>
        <p:spPr>
          <a:xfrm>
            <a:off x="3752850" y="20764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Electric field = force per unit positive charge: E = F/q 场强定义</a:t>
            </a:r>
          </a:p>
        </p:txBody>
      </p:sp>
      <p:pic>
        <p:nvPicPr>
          <p:cNvPr id="16" name="dsl:oc0_1|i=fas:square-check" descr="tmpkvqcag8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4098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ot0_1"/>
          <p:cNvSpPr txBox="1"/>
          <p:nvPr/>
        </p:nvSpPr>
        <p:spPr>
          <a:xfrm>
            <a:off x="3752850" y="23812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Recall and use F = qE; represent fields by field lines 电场线表示</a:t>
            </a:r>
          </a:p>
        </p:txBody>
      </p:sp>
      <p:sp>
        <p:nvSpPr>
          <p:cNvPr id="18" name="dsl:og1"/>
          <p:cNvSpPr txBox="1"/>
          <p:nvPr/>
        </p:nvSpPr>
        <p:spPr>
          <a:xfrm>
            <a:off x="3467100" y="280035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18.2 Uniform electric fields 匀强电场</a:t>
            </a:r>
          </a:p>
        </p:txBody>
      </p:sp>
      <p:pic>
        <p:nvPicPr>
          <p:cNvPr id="19" name="dsl:oc1_0|i=fas:square-check" descr="tmpkvqcag8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1527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ot1_0"/>
          <p:cNvSpPr txBox="1"/>
          <p:nvPr/>
        </p:nvSpPr>
        <p:spPr>
          <a:xfrm>
            <a:off x="3752850" y="31242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E = ΔV/Δd between charged parallel plates 平行板场强</a:t>
            </a:r>
          </a:p>
        </p:txBody>
      </p:sp>
      <p:pic>
        <p:nvPicPr>
          <p:cNvPr id="21" name="dsl:oc1_1|i=fas:square-check" descr="tmpkvqcag8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4575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ot1_1"/>
          <p:cNvSpPr txBox="1"/>
          <p:nvPr/>
        </p:nvSpPr>
        <p:spPr>
          <a:xfrm>
            <a:off x="3752850" y="34290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Effect of a uniform field on moving charged particles 带电粒子偏转</a:t>
            </a:r>
          </a:p>
        </p:txBody>
      </p:sp>
      <p:sp>
        <p:nvSpPr>
          <p:cNvPr id="23" name="dsl:og2"/>
          <p:cNvSpPr txBox="1"/>
          <p:nvPr/>
        </p:nvSpPr>
        <p:spPr>
          <a:xfrm>
            <a:off x="3467100" y="38481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18.3–18.4 Point charges 点电荷</a:t>
            </a:r>
          </a:p>
        </p:txBody>
      </p:sp>
      <p:pic>
        <p:nvPicPr>
          <p:cNvPr id="24" name="dsl:oc2_0|i=fas:square-check" descr="tmpkvqcag8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2005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5" name="dsl:ot2_0"/>
          <p:cNvSpPr txBox="1"/>
          <p:nvPr/>
        </p:nvSpPr>
        <p:spPr>
          <a:xfrm>
            <a:off x="3752850" y="41719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Coulomb’s law F = Q₁Q₂/(4πε₀r²) 库仑定律</a:t>
            </a:r>
          </a:p>
        </p:txBody>
      </p:sp>
      <p:pic>
        <p:nvPicPr>
          <p:cNvPr id="26" name="dsl:oc2_1|i=fas:square-check" descr="tmpkvqcag8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5053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7" name="dsl:ot2_1"/>
          <p:cNvSpPr txBox="1"/>
          <p:nvPr/>
        </p:nvSpPr>
        <p:spPr>
          <a:xfrm>
            <a:off x="3752850" y="44767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Field of a point charge E = Q/(4πε₀r²) 点电荷场强</a:t>
            </a:r>
          </a:p>
        </p:txBody>
      </p:sp>
      <p:sp>
        <p:nvSpPr>
          <p:cNvPr id="28" name="dsl:og3"/>
          <p:cNvSpPr txBox="1"/>
          <p:nvPr/>
        </p:nvSpPr>
        <p:spPr>
          <a:xfrm>
            <a:off x="3467100" y="489585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18.5 Electric potential 电势</a:t>
            </a:r>
          </a:p>
        </p:txBody>
      </p:sp>
      <p:pic>
        <p:nvPicPr>
          <p:cNvPr id="29" name="dsl:oc3_0|i=fas:square-check" descr="tmpkvqcag8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52482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0" name="dsl:ot3_0"/>
          <p:cNvSpPr txBox="1"/>
          <p:nvPr/>
        </p:nvSpPr>
        <p:spPr>
          <a:xfrm>
            <a:off x="3752850" y="52197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Potential V = Q/(4πε₀r); potential energy Ep = qV 电势与电势能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18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Electric Field &amp; Field Lines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电场与电场线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18 Electric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03 / 16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3335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3335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104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An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electric field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is a region of space where 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stationary charge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experiences a force. Field strength E is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force per unit positive charge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电场是电荷受力的区域；场强=单位正电荷受力。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31470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314700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F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q</m:t>
                    </m:r>
                  </m:den>
                </m:f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3543300" y="3314700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矢量 · 单位 N C⁻¹ (= V m⁻¹)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4095750"/>
            <a:ext cx="5334000" cy="1400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Field lines point from + to −（正电荷出发，负电荷终止）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Line density shows field strength 疏密表强弱；lines never cross 不相交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Direction = force on a positive test charge 方向=正电荷受力方向</a:t>
            </a:r>
          </a:p>
        </p:txBody>
      </p:sp>
      <p:sp>
        <p:nvSpPr>
          <p:cNvPr id="16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dg-m"/>
          <p:cNvSpPr/>
          <p:nvPr/>
        </p:nvSpPr>
        <p:spPr>
          <a:xfrm>
            <a:off x="8782050" y="3609975"/>
            <a:ext cx="304800" cy="3048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dg-ms"/>
          <p:cNvSpPr txBox="1"/>
          <p:nvPr/>
        </p:nvSpPr>
        <p:spPr>
          <a:xfrm>
            <a:off x="8782050" y="3609975"/>
            <a:ext cx="3048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noProof="1">
                <a:solidFill>
                  <a:srgbClr val="FFFFFF"/>
                </a:solidFill>
                <a:latin typeface="MiSans"/>
                <a:ea typeface="MiSans"/>
              </a:rPr>
              <a:t>+</a:t>
            </a:r>
          </a:p>
        </p:txBody>
      </p:sp>
      <p:cxnSp>
        <p:nvCxnSpPr>
          <p:cNvPr id="19" name="dsl:dg-l0"/>
          <p:cNvCxnSpPr/>
          <p:nvPr/>
        </p:nvCxnSpPr>
        <p:spPr>
          <a:xfrm>
            <a:off x="9220200" y="3762375"/>
            <a:ext cx="1047750" cy="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dg-l1"/>
          <p:cNvCxnSpPr/>
          <p:nvPr/>
        </p:nvCxnSpPr>
        <p:spPr>
          <a:xfrm>
            <a:off x="9136505" y="3964430"/>
            <a:ext cx="740871" cy="740871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sl:dg-l2"/>
          <p:cNvCxnSpPr/>
          <p:nvPr/>
        </p:nvCxnSpPr>
        <p:spPr>
          <a:xfrm>
            <a:off x="8934450" y="4048125"/>
            <a:ext cx="0" cy="10477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sl:dg-l3"/>
          <p:cNvCxnSpPr/>
          <p:nvPr/>
        </p:nvCxnSpPr>
        <p:spPr>
          <a:xfrm flipH="1">
            <a:off x="7991523" y="3964430"/>
            <a:ext cx="740871" cy="740871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sl:dg-l4"/>
          <p:cNvCxnSpPr/>
          <p:nvPr/>
        </p:nvCxnSpPr>
        <p:spPr>
          <a:xfrm>
            <a:off x="7600950" y="3762375"/>
            <a:ext cx="1047750" cy="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sl:dg-l5"/>
          <p:cNvCxnSpPr/>
          <p:nvPr/>
        </p:nvCxnSpPr>
        <p:spPr>
          <a:xfrm>
            <a:off x="7991523" y="2819448"/>
            <a:ext cx="740871" cy="740871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sl:dg-l6"/>
          <p:cNvCxnSpPr/>
          <p:nvPr/>
        </p:nvCxnSpPr>
        <p:spPr>
          <a:xfrm>
            <a:off x="8934450" y="2428875"/>
            <a:ext cx="0" cy="10477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sl:dg-l7"/>
          <p:cNvCxnSpPr/>
          <p:nvPr/>
        </p:nvCxnSpPr>
        <p:spPr>
          <a:xfrm flipH="1">
            <a:off x="9136505" y="2819448"/>
            <a:ext cx="740871" cy="740871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sl:dg-cap|s=$small"/>
          <p:cNvSpPr txBox="1"/>
          <p:nvPr/>
        </p:nvSpPr>
        <p:spPr>
          <a:xfrm>
            <a:off x="6286500" y="558165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field lines of a point charge 电荷 点charge 电荷的场线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18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Field Patterns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典型电场线分布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18 Electric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04 / 16</a:t>
            </a:r>
          </a:p>
        </p:txBody>
      </p:sp>
      <p:sp>
        <p:nvSpPr>
          <p:cNvPr id="9" name="dsl:fp0-bg"/>
          <p:cNvSpPr/>
          <p:nvPr/>
        </p:nvSpPr>
        <p:spPr>
          <a:xfrm>
            <a:off x="609600" y="1809750"/>
            <a:ext cx="2514600" cy="28575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fp0-q"/>
          <p:cNvSpPr/>
          <p:nvPr/>
        </p:nvSpPr>
        <p:spPr>
          <a:xfrm>
            <a:off x="1733550" y="3009900"/>
            <a:ext cx="266700" cy="2667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fp0-s"/>
          <p:cNvSpPr txBox="1"/>
          <p:nvPr/>
        </p:nvSpPr>
        <p:spPr>
          <a:xfrm>
            <a:off x="1733550" y="3009900"/>
            <a:ext cx="2667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FFFFFF"/>
                </a:solidFill>
                <a:latin typeface="MiSans"/>
                <a:ea typeface="MiSans"/>
              </a:rPr>
              <a:t>+</a:t>
            </a:r>
          </a:p>
        </p:txBody>
      </p:sp>
      <p:cxnSp>
        <p:nvCxnSpPr>
          <p:cNvPr id="12" name="dsl:fp0-0"/>
          <p:cNvCxnSpPr/>
          <p:nvPr/>
        </p:nvCxnSpPr>
        <p:spPr>
          <a:xfrm>
            <a:off x="2043095" y="3215675"/>
            <a:ext cx="660732" cy="271597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sl:fp0-1"/>
          <p:cNvCxnSpPr/>
          <p:nvPr/>
        </p:nvCxnSpPr>
        <p:spPr>
          <a:xfrm>
            <a:off x="1940275" y="3319051"/>
            <a:ext cx="275160" cy="659256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sl:fp0-2"/>
          <p:cNvCxnSpPr/>
          <p:nvPr/>
        </p:nvCxnSpPr>
        <p:spPr>
          <a:xfrm flipH="1">
            <a:off x="1522877" y="3319445"/>
            <a:ext cx="271597" cy="660732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sl:fp0-3"/>
          <p:cNvCxnSpPr/>
          <p:nvPr/>
        </p:nvCxnSpPr>
        <p:spPr>
          <a:xfrm flipH="1">
            <a:off x="1031842" y="3216625"/>
            <a:ext cx="659256" cy="275160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sl:fp0-4"/>
          <p:cNvCxnSpPr/>
          <p:nvPr/>
        </p:nvCxnSpPr>
        <p:spPr>
          <a:xfrm>
            <a:off x="1029972" y="2799227"/>
            <a:ext cx="660732" cy="271597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sl:fp0-5"/>
          <p:cNvCxnSpPr/>
          <p:nvPr/>
        </p:nvCxnSpPr>
        <p:spPr>
          <a:xfrm>
            <a:off x="1518364" y="2308192"/>
            <a:ext cx="275160" cy="659256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sl:fp0-6"/>
          <p:cNvCxnSpPr/>
          <p:nvPr/>
        </p:nvCxnSpPr>
        <p:spPr>
          <a:xfrm flipH="1">
            <a:off x="1939325" y="2306322"/>
            <a:ext cx="271597" cy="660732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sl:fp0-7"/>
          <p:cNvCxnSpPr/>
          <p:nvPr/>
        </p:nvCxnSpPr>
        <p:spPr>
          <a:xfrm flipH="1">
            <a:off x="2042701" y="2794714"/>
            <a:ext cx="659256" cy="275160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sl:fp0-lab"/>
          <p:cNvSpPr txBox="1"/>
          <p:nvPr/>
        </p:nvSpPr>
        <p:spPr>
          <a:xfrm>
            <a:off x="609600" y="4743450"/>
            <a:ext cx="25146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1C2B33"/>
                </a:solidFill>
                <a:latin typeface="MiSans"/>
                <a:ea typeface="MiSans"/>
              </a:rPr>
              <a:t>Positive point charge 正点电荷</a:t>
            </a:r>
          </a:p>
        </p:txBody>
      </p:sp>
      <p:sp>
        <p:nvSpPr>
          <p:cNvPr id="21" name="dsl:fp1-bg"/>
          <p:cNvSpPr/>
          <p:nvPr/>
        </p:nvSpPr>
        <p:spPr>
          <a:xfrm>
            <a:off x="3390900" y="1809750"/>
            <a:ext cx="2514600" cy="28575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fp1-q"/>
          <p:cNvSpPr/>
          <p:nvPr/>
        </p:nvSpPr>
        <p:spPr>
          <a:xfrm>
            <a:off x="4514850" y="3009900"/>
            <a:ext cx="266700" cy="2667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fp1-s"/>
          <p:cNvSpPr txBox="1"/>
          <p:nvPr/>
        </p:nvSpPr>
        <p:spPr>
          <a:xfrm>
            <a:off x="4514850" y="3009900"/>
            <a:ext cx="2667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FFFFFF"/>
                </a:solidFill>
                <a:latin typeface="MiSans"/>
                <a:ea typeface="MiSans"/>
              </a:rPr>
              <a:t>−</a:t>
            </a:r>
          </a:p>
        </p:txBody>
      </p:sp>
      <p:cxnSp>
        <p:nvCxnSpPr>
          <p:cNvPr id="24" name="dsl:fp1-0"/>
          <p:cNvCxnSpPr/>
          <p:nvPr/>
        </p:nvCxnSpPr>
        <p:spPr>
          <a:xfrm>
            <a:off x="4824395" y="3215675"/>
            <a:ext cx="660732" cy="271597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sl:fp1-1"/>
          <p:cNvCxnSpPr/>
          <p:nvPr/>
        </p:nvCxnSpPr>
        <p:spPr>
          <a:xfrm>
            <a:off x="4721575" y="3319051"/>
            <a:ext cx="275160" cy="659256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sl:fp1-2"/>
          <p:cNvCxnSpPr/>
          <p:nvPr/>
        </p:nvCxnSpPr>
        <p:spPr>
          <a:xfrm flipH="1">
            <a:off x="4304177" y="3319445"/>
            <a:ext cx="271597" cy="660732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dsl:fp1-3"/>
          <p:cNvCxnSpPr/>
          <p:nvPr/>
        </p:nvCxnSpPr>
        <p:spPr>
          <a:xfrm flipH="1">
            <a:off x="3813142" y="3216625"/>
            <a:ext cx="659256" cy="275160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sl:fp1-4"/>
          <p:cNvCxnSpPr/>
          <p:nvPr/>
        </p:nvCxnSpPr>
        <p:spPr>
          <a:xfrm>
            <a:off x="3811272" y="2799227"/>
            <a:ext cx="660732" cy="271597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dsl:fp1-5"/>
          <p:cNvCxnSpPr/>
          <p:nvPr/>
        </p:nvCxnSpPr>
        <p:spPr>
          <a:xfrm>
            <a:off x="4299664" y="2308192"/>
            <a:ext cx="275160" cy="659256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dsl:fp1-6"/>
          <p:cNvCxnSpPr/>
          <p:nvPr/>
        </p:nvCxnSpPr>
        <p:spPr>
          <a:xfrm flipH="1">
            <a:off x="4720625" y="2306322"/>
            <a:ext cx="271597" cy="660732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dsl:fp1-7"/>
          <p:cNvCxnSpPr/>
          <p:nvPr/>
        </p:nvCxnSpPr>
        <p:spPr>
          <a:xfrm flipH="1">
            <a:off x="4824001" y="2794714"/>
            <a:ext cx="659256" cy="275160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sl:fp1-lab"/>
          <p:cNvSpPr txBox="1"/>
          <p:nvPr/>
        </p:nvSpPr>
        <p:spPr>
          <a:xfrm>
            <a:off x="3390900" y="4743450"/>
            <a:ext cx="25146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1C2B33"/>
                </a:solidFill>
                <a:latin typeface="MiSans"/>
                <a:ea typeface="MiSans"/>
              </a:rPr>
              <a:t>Negative point charge 负点电荷</a:t>
            </a:r>
          </a:p>
        </p:txBody>
      </p:sp>
      <p:sp>
        <p:nvSpPr>
          <p:cNvPr id="33" name="dsl:fp2-bg"/>
          <p:cNvSpPr/>
          <p:nvPr/>
        </p:nvSpPr>
        <p:spPr>
          <a:xfrm>
            <a:off x="6172200" y="1809750"/>
            <a:ext cx="2514600" cy="28575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sl:fp2-a1"/>
          <p:cNvSpPr/>
          <p:nvPr/>
        </p:nvSpPr>
        <p:spPr>
          <a:xfrm>
            <a:off x="6858000" y="2476500"/>
            <a:ext cx="1143000" cy="762000"/>
          </a:xfrm>
          <a:prstGeom prst="arc">
            <a:avLst>
              <a:gd name="adj1" fmla="val 10800000"/>
              <a:gd name="adj2" fmla="val 21600000"/>
            </a:avLst>
          </a:prstGeom>
          <a:noFill/>
          <a:ln w="15240">
            <a:solidFill>
              <a:srgbClr val="5C7A8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sl:fp2-a2"/>
          <p:cNvSpPr/>
          <p:nvPr/>
        </p:nvSpPr>
        <p:spPr>
          <a:xfrm>
            <a:off x="6858000" y="3048000"/>
            <a:ext cx="1143000" cy="762000"/>
          </a:xfrm>
          <a:prstGeom prst="arc">
            <a:avLst>
              <a:gd name="adj1" fmla="val 0"/>
              <a:gd name="adj2" fmla="val 10800000"/>
            </a:avLst>
          </a:prstGeom>
          <a:noFill/>
          <a:ln w="15240">
            <a:solidFill>
              <a:srgbClr val="5C7A8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dsl:fp2-l0"/>
          <p:cNvCxnSpPr/>
          <p:nvPr/>
        </p:nvCxnSpPr>
        <p:spPr>
          <a:xfrm>
            <a:off x="6858000" y="3143250"/>
            <a:ext cx="1143000" cy="0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sl:fp2-q1"/>
          <p:cNvSpPr/>
          <p:nvPr/>
        </p:nvSpPr>
        <p:spPr>
          <a:xfrm>
            <a:off x="6553200" y="3009900"/>
            <a:ext cx="266700" cy="266700"/>
          </a:xfrm>
          <a:prstGeom prst="ellipse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sl:fp2-s1"/>
          <p:cNvSpPr txBox="1"/>
          <p:nvPr/>
        </p:nvSpPr>
        <p:spPr>
          <a:xfrm>
            <a:off x="6553200" y="3009900"/>
            <a:ext cx="2667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FFFFFF"/>
                </a:solidFill>
                <a:latin typeface="MiSans"/>
                <a:ea typeface="MiSans"/>
              </a:rPr>
              <a:t>+</a:t>
            </a:r>
          </a:p>
        </p:txBody>
      </p:sp>
      <p:sp>
        <p:nvSpPr>
          <p:cNvPr id="39" name="dsl:fp2-q2"/>
          <p:cNvSpPr/>
          <p:nvPr/>
        </p:nvSpPr>
        <p:spPr>
          <a:xfrm>
            <a:off x="8039100" y="3009900"/>
            <a:ext cx="266700" cy="2667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sl:fp2-s2"/>
          <p:cNvSpPr txBox="1"/>
          <p:nvPr/>
        </p:nvSpPr>
        <p:spPr>
          <a:xfrm>
            <a:off x="8039100" y="3009900"/>
            <a:ext cx="2667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FFFFFF"/>
                </a:solidFill>
                <a:latin typeface="MiSans"/>
                <a:ea typeface="MiSans"/>
              </a:rPr>
              <a:t>−</a:t>
            </a:r>
          </a:p>
        </p:txBody>
      </p:sp>
      <p:sp>
        <p:nvSpPr>
          <p:cNvPr id="41" name="dsl:fp2-lab"/>
          <p:cNvSpPr txBox="1"/>
          <p:nvPr/>
        </p:nvSpPr>
        <p:spPr>
          <a:xfrm>
            <a:off x="6172200" y="4743450"/>
            <a:ext cx="25146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1C2B33"/>
                </a:solidFill>
                <a:latin typeface="MiSans"/>
                <a:ea typeface="MiSans"/>
              </a:rPr>
              <a:t>Opposite charges 异种电荷</a:t>
            </a:r>
          </a:p>
        </p:txBody>
      </p:sp>
      <p:sp>
        <p:nvSpPr>
          <p:cNvPr id="42" name="dsl:fp3-bg"/>
          <p:cNvSpPr/>
          <p:nvPr/>
        </p:nvSpPr>
        <p:spPr>
          <a:xfrm>
            <a:off x="8953500" y="1809750"/>
            <a:ext cx="2514600" cy="28575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dsl:fp3-p1"/>
          <p:cNvCxnSpPr/>
          <p:nvPr/>
        </p:nvCxnSpPr>
        <p:spPr>
          <a:xfrm>
            <a:off x="9239250" y="2381250"/>
            <a:ext cx="1943100" cy="0"/>
          </a:xfrm>
          <a:prstGeom prst="straightConnector1">
            <a:avLst/>
          </a:prstGeom>
          <a:ln w="508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dsl:fp3-p2"/>
          <p:cNvCxnSpPr/>
          <p:nvPr/>
        </p:nvCxnSpPr>
        <p:spPr>
          <a:xfrm>
            <a:off x="9239250" y="3905250"/>
            <a:ext cx="1943100" cy="0"/>
          </a:xfrm>
          <a:prstGeom prst="straightConnector1">
            <a:avLst/>
          </a:prstGeom>
          <a:ln w="508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dsl:fp3-e0"/>
          <p:cNvCxnSpPr/>
          <p:nvPr/>
        </p:nvCxnSpPr>
        <p:spPr>
          <a:xfrm>
            <a:off x="9544050" y="2476500"/>
            <a:ext cx="0" cy="1333500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dsl:fp3-e1"/>
          <p:cNvCxnSpPr/>
          <p:nvPr/>
        </p:nvCxnSpPr>
        <p:spPr>
          <a:xfrm>
            <a:off x="9963150" y="2476500"/>
            <a:ext cx="0" cy="1333500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dsl:fp3-e2"/>
          <p:cNvCxnSpPr/>
          <p:nvPr/>
        </p:nvCxnSpPr>
        <p:spPr>
          <a:xfrm>
            <a:off x="10382250" y="2476500"/>
            <a:ext cx="0" cy="1333500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dsl:fp3-e3"/>
          <p:cNvCxnSpPr/>
          <p:nvPr/>
        </p:nvCxnSpPr>
        <p:spPr>
          <a:xfrm>
            <a:off x="10801350" y="2476500"/>
            <a:ext cx="0" cy="1333500"/>
          </a:xfrm>
          <a:prstGeom prst="straightConnector1">
            <a:avLst/>
          </a:prstGeom>
          <a:ln w="1524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dsl:fp3-p"/>
          <p:cNvSpPr txBox="1"/>
          <p:nvPr/>
        </p:nvSpPr>
        <p:spPr>
          <a:xfrm>
            <a:off x="9239250" y="2133600"/>
            <a:ext cx="19431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75" noProof="1">
                <a:solidFill>
                  <a:srgbClr val="D97D29"/>
                </a:solidFill>
                <a:latin typeface="MiSans"/>
                <a:ea typeface="MiSans"/>
              </a:rPr>
              <a:t>＋ ＋ ＋ ＋ ＋</a:t>
            </a:r>
          </a:p>
        </p:txBody>
      </p:sp>
      <p:sp>
        <p:nvSpPr>
          <p:cNvPr id="50" name="dsl:fp3-n"/>
          <p:cNvSpPr txBox="1"/>
          <p:nvPr/>
        </p:nvSpPr>
        <p:spPr>
          <a:xfrm>
            <a:off x="9239250" y="3981450"/>
            <a:ext cx="19431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− − − − −</a:t>
            </a:r>
          </a:p>
        </p:txBody>
      </p:sp>
      <p:sp>
        <p:nvSpPr>
          <p:cNvPr id="51" name="dsl:fp3-lab"/>
          <p:cNvSpPr txBox="1"/>
          <p:nvPr/>
        </p:nvSpPr>
        <p:spPr>
          <a:xfrm>
            <a:off x="8953500" y="4743450"/>
            <a:ext cx="25146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1C2B33"/>
                </a:solidFill>
                <a:latin typeface="MiSans"/>
                <a:ea typeface="MiSans"/>
              </a:rPr>
              <a:t>Parallel plates 平行板</a:t>
            </a:r>
          </a:p>
        </p:txBody>
      </p:sp>
      <p:sp>
        <p:nvSpPr>
          <p:cNvPr id="52" name="dsl:fp-rule"/>
          <p:cNvSpPr/>
          <p:nvPr/>
        </p:nvSpPr>
        <p:spPr>
          <a:xfrm>
            <a:off x="609600" y="5334000"/>
            <a:ext cx="10972800" cy="19050"/>
          </a:xfrm>
          <a:prstGeom prst="rect">
            <a:avLst/>
          </a:prstGeom>
          <a:solidFill>
            <a:srgbClr val="D5D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sl:fp-note"/>
          <p:cNvSpPr txBox="1"/>
          <p:nvPr/>
        </p:nvSpPr>
        <p:spPr>
          <a:xfrm>
            <a:off x="609600" y="5524500"/>
            <a:ext cx="109728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Rules 规则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：lines leave + and end on −；density ∝ strength 密=强；never cross 不相交；parallel plates give a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uniform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field (edge effects ignored 忽略边缘)。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18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Uniform Fields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平行板间的匀强电场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18 Electric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05 / 16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fx"/>
          <p:cNvSpPr txBox="1"/>
          <p:nvPr/>
        </p:nvSpPr>
        <p:spPr>
          <a:xfrm>
            <a:off x="838200" y="1809750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d</m:t>
                    </m:r>
                  </m:den>
                </m:f>
              </m:oMath>
            </a14:m>
          </a:p>
        </p:txBody>
      </p:sp>
      <p:sp>
        <p:nvSpPr>
          <p:cNvPr id="11" name="dsl:b0-nt|s=$small"/>
          <p:cNvSpPr txBox="1"/>
          <p:nvPr/>
        </p:nvSpPr>
        <p:spPr>
          <a:xfrm>
            <a:off x="3543300" y="1809750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匀强电场场强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2590800"/>
            <a:ext cx="5334000" cy="1724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Field lines are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parallel and evenly spaced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平行等间距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Derivation 推导: moving charge q across the gap,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W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⇒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d</m:t>
                </m:r>
              </m:oMath>
            </a14:m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 in V m⁻¹ ≡ N C⁻¹ 两种单位等价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Edge effects ignored — field is uniform in the central region 中央区域匀强</a:t>
            </a:r>
          </a:p>
        </p:txBody>
      </p:sp>
      <p:sp>
        <p:nvSpPr>
          <p:cNvPr id="13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dsl:dg-p1"/>
          <p:cNvCxnSpPr/>
          <p:nvPr/>
        </p:nvCxnSpPr>
        <p:spPr>
          <a:xfrm>
            <a:off x="6953250" y="2667000"/>
            <a:ext cx="3962400" cy="0"/>
          </a:xfrm>
          <a:prstGeom prst="straightConnector1">
            <a:avLst/>
          </a:prstGeom>
          <a:ln w="508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sl:dg-p2"/>
          <p:cNvCxnSpPr/>
          <p:nvPr/>
        </p:nvCxnSpPr>
        <p:spPr>
          <a:xfrm>
            <a:off x="6953250" y="4857750"/>
            <a:ext cx="3962400" cy="0"/>
          </a:xfrm>
          <a:prstGeom prst="straightConnector1">
            <a:avLst/>
          </a:prstGeom>
          <a:ln w="508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sl:dg-s1"/>
          <p:cNvSpPr txBox="1"/>
          <p:nvPr/>
        </p:nvSpPr>
        <p:spPr>
          <a:xfrm>
            <a:off x="6953250" y="2381250"/>
            <a:ext cx="39624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D97D29"/>
                </a:solidFill>
                <a:latin typeface="MiSans"/>
                <a:ea typeface="MiSans"/>
              </a:rPr>
              <a:t>＋＋＋＋＋＋＋＋＋＋＋＋</a:t>
            </a:r>
          </a:p>
        </p:txBody>
      </p:sp>
      <p:sp>
        <p:nvSpPr>
          <p:cNvPr id="17" name="dsl:dg-s2"/>
          <p:cNvSpPr txBox="1"/>
          <p:nvPr/>
        </p:nvSpPr>
        <p:spPr>
          <a:xfrm>
            <a:off x="6953250" y="4933950"/>
            <a:ext cx="39624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−−−−−−−−−−−−</a:t>
            </a:r>
          </a:p>
        </p:txBody>
      </p:sp>
      <p:cxnSp>
        <p:nvCxnSpPr>
          <p:cNvPr id="18" name="dsl:dg-e0"/>
          <p:cNvCxnSpPr/>
          <p:nvPr/>
        </p:nvCxnSpPr>
        <p:spPr>
          <a:xfrm>
            <a:off x="7283450" y="2781300"/>
            <a:ext cx="0" cy="19621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sl:dg-e1"/>
          <p:cNvCxnSpPr/>
          <p:nvPr/>
        </p:nvCxnSpPr>
        <p:spPr>
          <a:xfrm>
            <a:off x="7943850" y="2781300"/>
            <a:ext cx="0" cy="19621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dg-e2"/>
          <p:cNvCxnSpPr/>
          <p:nvPr/>
        </p:nvCxnSpPr>
        <p:spPr>
          <a:xfrm>
            <a:off x="8604250" y="2781300"/>
            <a:ext cx="0" cy="19621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sl:dg-e3"/>
          <p:cNvCxnSpPr/>
          <p:nvPr/>
        </p:nvCxnSpPr>
        <p:spPr>
          <a:xfrm>
            <a:off x="9264650" y="2781300"/>
            <a:ext cx="0" cy="19621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sl:dg-e4"/>
          <p:cNvCxnSpPr/>
          <p:nvPr/>
        </p:nvCxnSpPr>
        <p:spPr>
          <a:xfrm>
            <a:off x="9925050" y="2781300"/>
            <a:ext cx="0" cy="19621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sl:dg-e5"/>
          <p:cNvCxnSpPr/>
          <p:nvPr/>
        </p:nvCxnSpPr>
        <p:spPr>
          <a:xfrm>
            <a:off x="10585450" y="2781300"/>
            <a:ext cx="0" cy="19621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sl:dg-ev"/>
          <p:cNvSpPr txBox="1"/>
          <p:nvPr/>
        </p:nvSpPr>
        <p:spPr>
          <a:xfrm>
            <a:off x="10991850" y="3667125"/>
            <a:ext cx="381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200" noProof="1">
                <a:solidFill>
                  <a:srgbClr val="0E4D64"/>
                </a:solidFill>
                <a:latin typeface="MiSans"/>
                <a:ea typeface="MiSans"/>
              </a:rPr>
              <a:t>E</a:t>
            </a:r>
          </a:p>
        </p:txBody>
      </p:sp>
      <p:cxnSp>
        <p:nvCxnSpPr>
          <p:cNvPr id="25" name="dsl:dg-dd"/>
          <p:cNvCxnSpPr/>
          <p:nvPr/>
        </p:nvCxnSpPr>
        <p:spPr>
          <a:xfrm>
            <a:off x="6724650" y="2667000"/>
            <a:ext cx="0" cy="2190750"/>
          </a:xfrm>
          <a:prstGeom prst="straightConnector1">
            <a:avLst/>
          </a:prstGeom>
          <a:ln w="12700">
            <a:solidFill>
              <a:srgbClr val="1C2B33"/>
            </a:solidFill>
            <a:prstDash val="solid"/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sl:dg-dl"/>
          <p:cNvSpPr txBox="1"/>
          <p:nvPr/>
        </p:nvSpPr>
        <p:spPr>
          <a:xfrm>
            <a:off x="6419850" y="3667125"/>
            <a:ext cx="2286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200" noProof="1">
                <a:solidFill>
                  <a:srgbClr val="1C2B33"/>
                </a:solidFill>
                <a:latin typeface="MiSans"/>
                <a:ea typeface="MiSans"/>
              </a:rPr>
              <a:t>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18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Charged Particles in Uniform Fields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带电粒子在匀强电场中的运动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18 Electric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06 / 16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2790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Force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is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constant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⇒ constant acceleration（类重力场）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Particle entering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parallel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to the field: speeds up / slows down in a straight line 平行入射：匀加/减速直线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Particle entering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perpendicular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to the field: parabolic path 垂直入射：抛物线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Horizontal: uniform velocity；Vertical: uniform acceleration — just like projectile motion 类抛体运动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Positive and negative charges deflect in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opposite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directions 正负电荷偏转方向相反</a:t>
            </a:r>
          </a:p>
        </p:txBody>
      </p:sp>
      <p:sp>
        <p:nvSpPr>
          <p:cNvPr id="10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dsl:df-p1"/>
          <p:cNvCxnSpPr/>
          <p:nvPr/>
        </p:nvCxnSpPr>
        <p:spPr>
          <a:xfrm>
            <a:off x="6667500" y="2286000"/>
            <a:ext cx="4572000" cy="0"/>
          </a:xfrm>
          <a:prstGeom prst="straightConnector1">
            <a:avLst/>
          </a:prstGeom>
          <a:ln w="508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sl:df-p2"/>
          <p:cNvCxnSpPr/>
          <p:nvPr/>
        </p:nvCxnSpPr>
        <p:spPr>
          <a:xfrm>
            <a:off x="6667500" y="4953000"/>
            <a:ext cx="4572000" cy="0"/>
          </a:xfrm>
          <a:prstGeom prst="straightConnector1">
            <a:avLst/>
          </a:prstGeom>
          <a:ln w="508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sl:df-s1"/>
          <p:cNvSpPr txBox="1"/>
          <p:nvPr/>
        </p:nvSpPr>
        <p:spPr>
          <a:xfrm>
            <a:off x="6667500" y="2019300"/>
            <a:ext cx="4572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D97D29"/>
                </a:solidFill>
                <a:latin typeface="MiSans"/>
                <a:ea typeface="MiSans"/>
              </a:rPr>
              <a:t>＋ ＋ ＋ ＋ ＋ ＋ ＋ ＋</a:t>
            </a:r>
          </a:p>
        </p:txBody>
      </p:sp>
      <p:sp>
        <p:nvSpPr>
          <p:cNvPr id="14" name="dsl:df-s2"/>
          <p:cNvSpPr txBox="1"/>
          <p:nvPr/>
        </p:nvSpPr>
        <p:spPr>
          <a:xfrm>
            <a:off x="6667500" y="5029200"/>
            <a:ext cx="4572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− − − − − − − −</a:t>
            </a:r>
          </a:p>
        </p:txBody>
      </p:sp>
      <p:cxnSp>
        <p:nvCxnSpPr>
          <p:cNvPr id="15" name="dsl:df-t0"/>
          <p:cNvCxnSpPr/>
          <p:nvPr/>
        </p:nvCxnSpPr>
        <p:spPr>
          <a:xfrm flipH="1">
            <a:off x="6667500" y="4557447"/>
            <a:ext cx="381000" cy="14553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sl:df-t1"/>
          <p:cNvCxnSpPr/>
          <p:nvPr/>
        </p:nvCxnSpPr>
        <p:spPr>
          <a:xfrm flipH="1">
            <a:off x="7048500" y="4513791"/>
            <a:ext cx="381000" cy="43656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sl:df-t2"/>
          <p:cNvCxnSpPr/>
          <p:nvPr/>
        </p:nvCxnSpPr>
        <p:spPr>
          <a:xfrm flipH="1">
            <a:off x="7429500" y="4441031"/>
            <a:ext cx="381000" cy="7276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sl:df-t3"/>
          <p:cNvCxnSpPr/>
          <p:nvPr/>
        </p:nvCxnSpPr>
        <p:spPr>
          <a:xfrm flipH="1">
            <a:off x="7810500" y="4339166"/>
            <a:ext cx="381000" cy="101865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sl:df-t4"/>
          <p:cNvCxnSpPr/>
          <p:nvPr/>
        </p:nvCxnSpPr>
        <p:spPr>
          <a:xfrm flipH="1">
            <a:off x="8191500" y="4208197"/>
            <a:ext cx="381000" cy="130969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sl:df-t5"/>
          <p:cNvCxnSpPr/>
          <p:nvPr/>
        </p:nvCxnSpPr>
        <p:spPr>
          <a:xfrm flipH="1">
            <a:off x="8572500" y="4048125"/>
            <a:ext cx="381000" cy="160072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sl:df-t6"/>
          <p:cNvCxnSpPr/>
          <p:nvPr/>
        </p:nvCxnSpPr>
        <p:spPr>
          <a:xfrm flipH="1">
            <a:off x="8953500" y="3858947"/>
            <a:ext cx="381000" cy="189178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sl:df-t7"/>
          <p:cNvCxnSpPr/>
          <p:nvPr/>
        </p:nvCxnSpPr>
        <p:spPr>
          <a:xfrm flipH="1">
            <a:off x="9334500" y="3640666"/>
            <a:ext cx="381000" cy="218281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sl:df-t8"/>
          <p:cNvCxnSpPr/>
          <p:nvPr/>
        </p:nvCxnSpPr>
        <p:spPr>
          <a:xfrm flipH="1">
            <a:off x="9715500" y="3393281"/>
            <a:ext cx="381000" cy="247385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sl:df-t9"/>
          <p:cNvCxnSpPr/>
          <p:nvPr/>
        </p:nvCxnSpPr>
        <p:spPr>
          <a:xfrm flipH="1">
            <a:off x="10096500" y="3116791"/>
            <a:ext cx="381000" cy="27649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sl:df-t10"/>
          <p:cNvCxnSpPr/>
          <p:nvPr/>
        </p:nvCxnSpPr>
        <p:spPr>
          <a:xfrm flipH="1">
            <a:off x="10477500" y="2811197"/>
            <a:ext cx="381000" cy="305594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sl:df-t11"/>
          <p:cNvCxnSpPr/>
          <p:nvPr/>
        </p:nvCxnSpPr>
        <p:spPr>
          <a:xfrm flipH="1">
            <a:off x="10858500" y="2476500"/>
            <a:ext cx="381000" cy="334697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dsl:df-v0"/>
          <p:cNvCxnSpPr/>
          <p:nvPr/>
        </p:nvCxnSpPr>
        <p:spPr>
          <a:xfrm>
            <a:off x="6667500" y="4572000"/>
            <a:ext cx="95250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sl:df-v0l"/>
          <p:cNvSpPr txBox="1"/>
          <p:nvPr/>
        </p:nvSpPr>
        <p:spPr>
          <a:xfrm>
            <a:off x="6762750" y="4629150"/>
            <a:ext cx="571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125" noProof="1">
                <a:solidFill>
                  <a:srgbClr val="1C2B33"/>
                </a:solidFill>
                <a:latin typeface="MiSans"/>
                <a:ea typeface="MiSans"/>
              </a:rPr>
              <a:t>v₀</a:t>
            </a:r>
          </a:p>
        </p:txBody>
      </p:sp>
      <p:sp>
        <p:nvSpPr>
          <p:cNvPr id="29" name="dsl:df-cap|s=$small"/>
          <p:cNvSpPr txBox="1"/>
          <p:nvPr/>
        </p:nvSpPr>
        <p:spPr>
          <a:xfrm>
            <a:off x="6286500" y="5524500"/>
            <a:ext cx="52959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Parabolic deflection of a negative charge 负电荷的抛物线偏转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18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Coulomb's Law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库仑定律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18 Electric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07 / 16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fx"/>
          <p:cNvSpPr txBox="1"/>
          <p:nvPr/>
        </p:nvSpPr>
        <p:spPr>
          <a:xfrm>
            <a:off x="838200" y="1809750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den>
                </m:f>
              </m:oMath>
            </a14:m>
          </a:p>
        </p:txBody>
      </p:sp>
      <p:sp>
        <p:nvSpPr>
          <p:cNvPr id="11" name="dsl:b0-nt|s=$small"/>
          <p:cNvSpPr txBox="1"/>
          <p:nvPr/>
        </p:nvSpPr>
        <p:spPr>
          <a:xfrm>
            <a:off x="3543300" y="1809750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真空中的点电荷相互作用力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2590800"/>
            <a:ext cx="5334000" cy="22193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14:m>
              <m:oMath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ε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8.85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12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F m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permittivity of free space 真空介电常数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Like charges repel, unlike attract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同号相斥异号相吸（与万有引力不同！）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Inverse-square law — same form as Newton’s law of gravitation 平方反比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Charge on a spherical conductor acts as a point charge at its centre 球导体电荷等效于球心点电荷</a:t>
            </a:r>
          </a:p>
        </p:txBody>
      </p:sp>
      <p:sp>
        <p:nvSpPr>
          <p:cNvPr id="13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dg-m1"/>
          <p:cNvSpPr/>
          <p:nvPr/>
        </p:nvSpPr>
        <p:spPr>
          <a:xfrm>
            <a:off x="7181850" y="3514725"/>
            <a:ext cx="495300" cy="4953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dg-m1t"/>
          <p:cNvSpPr txBox="1"/>
          <p:nvPr/>
        </p:nvSpPr>
        <p:spPr>
          <a:xfrm>
            <a:off x="7181850" y="3514725"/>
            <a:ext cx="495300" cy="4953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i="1" sz="1275" noProof="1">
                <a:solidFill>
                  <a:srgbClr val="FFFFFF"/>
                </a:solidFill>
                <a:latin typeface="MiSans"/>
                <a:ea typeface="MiSans"/>
              </a:rPr>
              <a:t>Q₁</a:t>
            </a:r>
          </a:p>
        </p:txBody>
      </p:sp>
      <p:sp>
        <p:nvSpPr>
          <p:cNvPr id="16" name="dsl:dg-m2"/>
          <p:cNvSpPr/>
          <p:nvPr/>
        </p:nvSpPr>
        <p:spPr>
          <a:xfrm>
            <a:off x="10267950" y="3590925"/>
            <a:ext cx="342900" cy="342900"/>
          </a:xfrm>
          <a:prstGeom prst="ellipse">
            <a:avLst/>
          </a:prstGeom>
          <a:solidFill>
            <a:srgbClr val="5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dg-m2t"/>
          <p:cNvSpPr txBox="1"/>
          <p:nvPr/>
        </p:nvSpPr>
        <p:spPr>
          <a:xfrm>
            <a:off x="10267950" y="3590925"/>
            <a:ext cx="3429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i="1" sz="1125" noProof="1">
                <a:solidFill>
                  <a:srgbClr val="FFFFFF"/>
                </a:solidFill>
                <a:latin typeface="MiSans"/>
                <a:ea typeface="MiSans"/>
              </a:rPr>
              <a:t>Q₂</a:t>
            </a:r>
          </a:p>
        </p:txBody>
      </p:sp>
      <p:cxnSp>
        <p:nvCxnSpPr>
          <p:cNvPr id="18" name="dsl:dg-rl"/>
          <p:cNvCxnSpPr/>
          <p:nvPr/>
        </p:nvCxnSpPr>
        <p:spPr>
          <a:xfrm>
            <a:off x="7715250" y="4181475"/>
            <a:ext cx="2514600" cy="0"/>
          </a:xfrm>
          <a:prstGeom prst="straightConnector1">
            <a:avLst/>
          </a:prstGeom>
          <a:ln w="12700">
            <a:solidFill>
              <a:srgbClr val="1C2B3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dg-rt"/>
          <p:cNvSpPr txBox="1"/>
          <p:nvPr/>
        </p:nvSpPr>
        <p:spPr>
          <a:xfrm>
            <a:off x="8801100" y="4238625"/>
            <a:ext cx="2667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200" noProof="1">
                <a:solidFill>
                  <a:srgbClr val="1C2B33"/>
                </a:solidFill>
                <a:latin typeface="MiSans"/>
                <a:ea typeface="MiSans"/>
              </a:rPr>
              <a:t>r</a:t>
            </a:r>
          </a:p>
        </p:txBody>
      </p:sp>
      <p:cxnSp>
        <p:nvCxnSpPr>
          <p:cNvPr id="20" name="dsl:dg-f1"/>
          <p:cNvCxnSpPr/>
          <p:nvPr/>
        </p:nvCxnSpPr>
        <p:spPr>
          <a:xfrm>
            <a:off x="7753350" y="3762375"/>
            <a:ext cx="552450" cy="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dg-f1t"/>
          <p:cNvSpPr txBox="1"/>
          <p:nvPr/>
        </p:nvSpPr>
        <p:spPr>
          <a:xfrm>
            <a:off x="7924800" y="3495675"/>
            <a:ext cx="28575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125" noProof="1">
                <a:solidFill>
                  <a:srgbClr val="D97D29"/>
                </a:solidFill>
                <a:latin typeface="MiSans"/>
                <a:ea typeface="MiSans"/>
              </a:rPr>
              <a:t>F</a:t>
            </a:r>
          </a:p>
        </p:txBody>
      </p:sp>
      <p:cxnSp>
        <p:nvCxnSpPr>
          <p:cNvPr id="22" name="dsl:dg-f2"/>
          <p:cNvCxnSpPr/>
          <p:nvPr/>
        </p:nvCxnSpPr>
        <p:spPr>
          <a:xfrm>
            <a:off x="9639300" y="3762375"/>
            <a:ext cx="552450" cy="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sl:dg-f2t"/>
          <p:cNvSpPr txBox="1"/>
          <p:nvPr/>
        </p:nvSpPr>
        <p:spPr>
          <a:xfrm>
            <a:off x="9658350" y="3495675"/>
            <a:ext cx="28575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125" noProof="1">
                <a:solidFill>
                  <a:srgbClr val="D97D29"/>
                </a:solidFill>
                <a:latin typeface="MiSans"/>
                <a:ea typeface="MiSans"/>
              </a:rPr>
              <a:t>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18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Field of a Point Charge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点电荷的电场强度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18 Electric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08 / 16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257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From Coulomb’s law and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由库仑定律与场强定义</a:t>
            </a:r>
          </a:p>
        </p:txBody>
      </p:sp>
      <p:sp>
        <p:nvSpPr>
          <p:cNvPr id="10" name="dsl:b1-bg"/>
          <p:cNvSpPr/>
          <p:nvPr/>
        </p:nvSpPr>
        <p:spPr>
          <a:xfrm>
            <a:off x="609600" y="2238375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1-fx"/>
          <p:cNvSpPr txBox="1"/>
          <p:nvPr/>
        </p:nvSpPr>
        <p:spPr>
          <a:xfrm>
            <a:off x="838200" y="2238375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Q</m:t>
                    </m:r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den>
                </m:f>
              </m:oMath>
            </a14:m>
          </a:p>
        </p:txBody>
      </p:sp>
      <p:sp>
        <p:nvSpPr>
          <p:cNvPr id="12" name="dsl:b1-nt|s=$small"/>
          <p:cNvSpPr txBox="1"/>
          <p:nvPr/>
        </p:nvSpPr>
        <p:spPr>
          <a:xfrm>
            <a:off x="3543300" y="2238375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radial field 径向电场</a:t>
            </a:r>
          </a:p>
        </p:txBody>
      </p:sp>
      <p:sp>
        <p:nvSpPr>
          <p:cNvPr id="13" name="dsl:b2"/>
          <p:cNvSpPr txBox="1"/>
          <p:nvPr/>
        </p:nvSpPr>
        <p:spPr>
          <a:xfrm>
            <a:off x="609600" y="3019425"/>
            <a:ext cx="5334000" cy="1400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Direction: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away from +, towards −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正电荷向外，负电荷向内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∝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falls rapidly with distance 平方反比衰减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Applies outside a charged sphere (charge acts at centre) 球外等效球心点电荷</a:t>
            </a:r>
          </a:p>
        </p:txBody>
      </p:sp>
      <p:sp>
        <p:nvSpPr>
          <p:cNvPr id="14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dsl:er-chart"/>
          <p:cNvGraphicFramePr>
            <a:graphicFrameLocks noGrp="1"/>
          </p:cNvGraphicFramePr>
          <p:nvPr/>
        </p:nvGraphicFramePr>
        <p:xfrm>
          <a:off x="6667500" y="2095500"/>
          <a:ext cx="466725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E against r for a point charge 平方反比曲线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18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Electric Potential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电势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18 Electric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09 / 16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3335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3335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104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Electric potential V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at a point: the work done per unit positive charge in bringing a small test charge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from infinity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to that point.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把单位正电荷从无穷远移到该点所做的功。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31470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314700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Q</m:t>
                    </m:r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r</m:t>
                    </m:r>
                  </m:den>
                </m:f>
                <m:r>
                  <m:t> </m:t>
                </m:r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p</m:t>
                    </m:r>
                  </m:sub>
                </m:sSub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3543300" y="3314700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标量 · 单位 volt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4095750"/>
            <a:ext cx="5334000" cy="1724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V is 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scalar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— add potentials algebraically 标量叠加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Positive Q ⇒ positive V; negative Q ⇒ negative V 正负由场源电荷决定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Potential energy of charge q at that point: </a:t>
            </a:r>
            <a14:m>
              <m:oMath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p</m:t>
                    </m:r>
                  </m:sub>
                </m:sSub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电势能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Equipotential surfaces ⊥ field lines 等势面与电场线正交</a:t>
            </a:r>
          </a:p>
        </p:txBody>
      </p:sp>
      <p:sp>
        <p:nvSpPr>
          <p:cNvPr id="16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eq-c1"/>
          <p:cNvSpPr/>
          <p:nvPr/>
        </p:nvSpPr>
        <p:spPr>
          <a:xfrm>
            <a:off x="8096250" y="2667000"/>
            <a:ext cx="1676400" cy="1676400"/>
          </a:xfrm>
          <a:prstGeom prst="ellipse">
            <a:avLst/>
          </a:prstGeom>
          <a:noFill/>
          <a:ln w="19050">
            <a:solidFill>
              <a:srgbClr val="0E4D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eq-c2"/>
          <p:cNvSpPr/>
          <p:nvPr/>
        </p:nvSpPr>
        <p:spPr>
          <a:xfrm>
            <a:off x="7524750" y="2095500"/>
            <a:ext cx="2819400" cy="2819400"/>
          </a:xfrm>
          <a:prstGeom prst="ellipse">
            <a:avLst/>
          </a:prstGeom>
          <a:noFill/>
          <a:ln w="19050">
            <a:solidFill>
              <a:srgbClr val="0E4D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eq-q"/>
          <p:cNvSpPr/>
          <p:nvPr/>
        </p:nvSpPr>
        <p:spPr>
          <a:xfrm>
            <a:off x="8763000" y="3333750"/>
            <a:ext cx="342900" cy="342900"/>
          </a:xfrm>
          <a:prstGeom prst="ellipse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eq-qt"/>
          <p:cNvSpPr txBox="1"/>
          <p:nvPr/>
        </p:nvSpPr>
        <p:spPr>
          <a:xfrm>
            <a:off x="8763000" y="3333750"/>
            <a:ext cx="3429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+</a:t>
            </a:r>
          </a:p>
        </p:txBody>
      </p:sp>
      <p:cxnSp>
        <p:nvCxnSpPr>
          <p:cNvPr id="21" name="dsl:eq-fl"/>
          <p:cNvCxnSpPr/>
          <p:nvPr/>
        </p:nvCxnSpPr>
        <p:spPr>
          <a:xfrm>
            <a:off x="9163050" y="3505200"/>
            <a:ext cx="1790700" cy="0"/>
          </a:xfrm>
          <a:prstGeom prst="straightConnector1">
            <a:avLst/>
          </a:prstGeom>
          <a:ln w="2540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eq-f1"/>
          <p:cNvSpPr txBox="1"/>
          <p:nvPr/>
        </p:nvSpPr>
        <p:spPr>
          <a:xfrm>
            <a:off x="8572500" y="2381250"/>
            <a:ext cx="85725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0E4D64"/>
                </a:solidFill>
                <a:latin typeface="MiSans"/>
                <a:ea typeface="MiSans"/>
              </a:rPr>
              <a:t>V₁</a:t>
            </a:r>
          </a:p>
        </p:txBody>
      </p:sp>
      <p:sp>
        <p:nvSpPr>
          <p:cNvPr id="23" name="dsl:eq-f2"/>
          <p:cNvSpPr txBox="1"/>
          <p:nvPr/>
        </p:nvSpPr>
        <p:spPr>
          <a:xfrm>
            <a:off x="7905750" y="1809750"/>
            <a:ext cx="85725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0E4D64"/>
                </a:solidFill>
                <a:latin typeface="MiSans"/>
                <a:ea typeface="MiSans"/>
              </a:rPr>
              <a:t>V₂ </a:t>
            </a:r>
            <a:r>
              <a:rPr sz="1125" noProof="1">
                <a:solidFill>
                  <a:srgbClr val="0E4D64"/>
                </a:solidFill>
                <a:latin typeface="MiSans"/>
                <a:ea typeface="MiSans"/>
              </a:rPr>
              <a:t>&lt;</a:t>
            </a:r>
            <a:r>
              <a:rPr sz="1125" noProof="1">
                <a:solidFill>
                  <a:srgbClr val="0E4D64"/>
                </a:solidFill>
                <a:latin typeface="MiSans"/>
                <a:ea typeface="MiSans"/>
              </a:rPr>
              <a:t> V₁</a:t>
            </a:r>
          </a:p>
        </p:txBody>
      </p:sp>
      <p:sp>
        <p:nvSpPr>
          <p:cNvPr id="24" name="dsl:eq-cap|s=$small"/>
          <p:cNvSpPr txBox="1"/>
          <p:nvPr/>
        </p:nvSpPr>
        <p:spPr>
          <a:xfrm>
            <a:off x="6286500" y="5334000"/>
            <a:ext cx="52959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Equipotentials around a point charge 点电荷的等势面（虚线）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18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Linking Field &amp; Potential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场强与电势的关系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18 Electric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10 / 16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504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Field strength is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negative potential gradient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场强=电势梯度的负值</a:t>
            </a:r>
          </a:p>
        </p:txBody>
      </p:sp>
      <p:sp>
        <p:nvSpPr>
          <p:cNvPr id="10" name="dsl:b1-bg"/>
          <p:cNvSpPr/>
          <p:nvPr/>
        </p:nvSpPr>
        <p:spPr>
          <a:xfrm>
            <a:off x="609600" y="2486025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1-fx"/>
          <p:cNvSpPr txBox="1"/>
          <p:nvPr/>
        </p:nvSpPr>
        <p:spPr>
          <a:xfrm>
            <a:off x="838200" y="2486025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−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r</m:t>
                    </m:r>
                  </m:den>
                </m:f>
              </m:oMath>
            </a14:m>
          </a:p>
        </p:txBody>
      </p:sp>
      <p:sp>
        <p:nvSpPr>
          <p:cNvPr id="12" name="dsl:b1-nt|s=$small"/>
          <p:cNvSpPr txBox="1"/>
          <p:nvPr/>
        </p:nvSpPr>
        <p:spPr>
          <a:xfrm>
            <a:off x="3543300" y="2486025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uniform 特例 E = V/d</a:t>
            </a:r>
          </a:p>
        </p:txBody>
      </p:sp>
      <p:sp>
        <p:nvSpPr>
          <p:cNvPr id="13" name="dsl:b2"/>
          <p:cNvSpPr txBox="1"/>
          <p:nvPr/>
        </p:nvSpPr>
        <p:spPr>
          <a:xfrm>
            <a:off x="609600" y="3267075"/>
            <a:ext cx="5334000" cy="1647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Closely spaced equipotentials ⇒ strong field 等势面越密场越强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Compare with gravitation: g = −Δφ/Δr, φ = −GM/r 与引力场完全类比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V is scalar, E is vector: superpose V first, then differentiate 先标量叠加再求梯度</a:t>
            </a:r>
          </a:p>
        </p:txBody>
      </p:sp>
      <p:sp>
        <p:nvSpPr>
          <p:cNvPr id="14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dsl:ev-chart"/>
          <p:cNvGraphicFramePr>
            <a:graphicFrameLocks noGrp="1"/>
          </p:cNvGraphicFramePr>
          <p:nvPr/>
        </p:nvGraphicFramePr>
        <p:xfrm>
          <a:off x="6667500" y="2095500"/>
          <a:ext cx="466725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V and E against r (normalised) 对比曲线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18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18A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18 Electric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11 / 16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18A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6478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381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Two parallel metal plates are separated by 5.0 cm. The uniform electric field between them is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2.0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 m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 Calculate the force on a charge of +5.0 nC situated mid-way between the plates.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匀强场中力与位置无关。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523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Uniform field ⇒ use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（位置无关，mid-way 不影响结果）.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5.0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9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2.0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</m:sup>
                </m:sSup>
              </m:oMath>
            </a14:m>
          </a:p>
        </p:txBody>
      </p:sp>
      <p:sp>
        <p:nvSpPr>
          <p:cNvPr id="14" name="dsl:ex-abg"/>
          <p:cNvSpPr/>
          <p:nvPr/>
        </p:nvSpPr>
        <p:spPr>
          <a:xfrm>
            <a:off x="5372100" y="2752725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2752725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2752725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1.0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4</m:t>
                    </m:r>
                  </m:sup>
                </m:sSup>
                <m:r>
                  <m:t> 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N</m:t>
                </m:r>
              </m:oMath>
            </a14:m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，方向指向负极板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18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Examples 18B &amp; 18C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18 Electric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12 / 16</a:t>
            </a:r>
          </a:p>
        </p:txBody>
      </p:sp>
      <p:sp>
        <p:nvSpPr>
          <p:cNvPr id="9" name="dsl:te0-tag|s=$badge"/>
          <p:cNvSpPr txBox="1"/>
          <p:nvPr/>
        </p:nvSpPr>
        <p:spPr>
          <a:xfrm>
            <a:off x="6096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18B</a:t>
            </a:r>
          </a:p>
        </p:txBody>
      </p:sp>
      <p:sp>
        <p:nvSpPr>
          <p:cNvPr id="10" name="dsl:te0-qbg"/>
          <p:cNvSpPr/>
          <p:nvPr/>
        </p:nvSpPr>
        <p:spPr>
          <a:xfrm>
            <a:off x="609600" y="2038350"/>
            <a:ext cx="5334000" cy="809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e0-q"/>
          <p:cNvSpPr txBox="1"/>
          <p:nvPr/>
        </p:nvSpPr>
        <p:spPr>
          <a:xfrm>
            <a:off x="762000" y="2152650"/>
            <a:ext cx="50292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Two parallel plates are 5.0 cm apart with a p.d. of 1000 V between them. Calculate the electric field strength between the plates.</a:t>
            </a:r>
          </a:p>
        </p:txBody>
      </p:sp>
      <p:sp>
        <p:nvSpPr>
          <p:cNvPr id="12" name="dsl:te0-st"/>
          <p:cNvSpPr txBox="1"/>
          <p:nvPr/>
        </p:nvSpPr>
        <p:spPr>
          <a:xfrm>
            <a:off x="609600" y="2981325"/>
            <a:ext cx="5334000" cy="466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num>
                  <m:den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d</m:t>
                    </m:r>
                  </m:den>
                </m:f>
              </m:oMath>
            </a14:m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1000</m:t>
                    </m:r>
                  </m:num>
                  <m:den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5.0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den>
                </m:f>
              </m:oMath>
            </a14:m>
          </a:p>
        </p:txBody>
      </p:sp>
      <p:sp>
        <p:nvSpPr>
          <p:cNvPr id="13" name="dsl:te0-abg"/>
          <p:cNvSpPr/>
          <p:nvPr/>
        </p:nvSpPr>
        <p:spPr>
          <a:xfrm>
            <a:off x="609600" y="35623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0-abar"/>
          <p:cNvSpPr/>
          <p:nvPr/>
        </p:nvSpPr>
        <p:spPr>
          <a:xfrm>
            <a:off x="609600" y="35623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te0-ans"/>
          <p:cNvSpPr txBox="1"/>
          <p:nvPr/>
        </p:nvSpPr>
        <p:spPr>
          <a:xfrm>
            <a:off x="781050" y="35623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2.0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4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V m</m:t>
                    </m:r>
                  </m:e>
                  <m:sup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</a:p>
        </p:txBody>
      </p:sp>
      <p:sp>
        <p:nvSpPr>
          <p:cNvPr id="16" name="dsl:te1-tag|s=$badge"/>
          <p:cNvSpPr txBox="1"/>
          <p:nvPr/>
        </p:nvSpPr>
        <p:spPr>
          <a:xfrm>
            <a:off x="62484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18C</a:t>
            </a:r>
          </a:p>
        </p:txBody>
      </p:sp>
      <p:sp>
        <p:nvSpPr>
          <p:cNvPr id="17" name="dsl:te1-qbg"/>
          <p:cNvSpPr/>
          <p:nvPr/>
        </p:nvSpPr>
        <p:spPr>
          <a:xfrm>
            <a:off x="6248400" y="2038350"/>
            <a:ext cx="5334000" cy="809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e1-q"/>
          <p:cNvSpPr txBox="1"/>
          <p:nvPr/>
        </p:nvSpPr>
        <p:spPr>
          <a:xfrm>
            <a:off x="6400800" y="2152650"/>
            <a:ext cx="50292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Plates 15 mm apart, p.d. 600 V, in vacuum. An α-particle (m = 6.7×10⁻²⁷ kg, q = +3.2×10⁻¹⁹ C) starts from rest at the + plate. Find (a) force; (b) acceleration; (c) speed at the − plate.</a:t>
            </a:r>
          </a:p>
        </p:txBody>
      </p:sp>
      <p:sp>
        <p:nvSpPr>
          <p:cNvPr id="19" name="dsl:te1-st"/>
          <p:cNvSpPr txBox="1"/>
          <p:nvPr/>
        </p:nvSpPr>
        <p:spPr>
          <a:xfrm>
            <a:off x="6248400" y="2981325"/>
            <a:ext cx="5334000" cy="9239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(a)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</m:num>
                  <m:den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d</m:t>
                    </m:r>
                  </m:den>
                </m:f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600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3.2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</m:num>
                  <m:den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den>
                </m:f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1.28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14</m:t>
                    </m:r>
                  </m:sup>
                </m:sSup>
                <m:r>
                  <m:t> 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</m:oMath>
            </a14:m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(b)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1.9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12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 s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3.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(c)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ad>
                  <m:radPr>
                    <m:degHide m:val="1"/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s</m:t>
                    </m:r>
                  </m:e>
                </m:rad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ad>
                  <m:radPr>
                    <m:degHide m:val="1"/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1.9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0.015</m:t>
                    </m:r>
                  </m:e>
                </m:rad>
              </m:oMath>
            </a14:m>
          </a:p>
        </p:txBody>
      </p:sp>
      <p:sp>
        <p:nvSpPr>
          <p:cNvPr id="20" name="dsl:te1-abg"/>
          <p:cNvSpPr/>
          <p:nvPr/>
        </p:nvSpPr>
        <p:spPr>
          <a:xfrm>
            <a:off x="6248400" y="40195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1-abar"/>
          <p:cNvSpPr/>
          <p:nvPr/>
        </p:nvSpPr>
        <p:spPr>
          <a:xfrm>
            <a:off x="6248400" y="40195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e1-ans"/>
          <p:cNvSpPr txBox="1"/>
          <p:nvPr/>
        </p:nvSpPr>
        <p:spPr>
          <a:xfrm>
            <a:off x="6419850" y="40195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(c) </a:t>
            </a:r>
            <a14:m>
              <m:oMath>
                <m:r>
                  <a:rPr lang="en-US" i="1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2.4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5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m s</m:t>
                    </m:r>
                  </m:e>
                  <m:sup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18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Examples 18D &amp; 18E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18 Electric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13 / 16</a:t>
            </a:r>
          </a:p>
        </p:txBody>
      </p:sp>
      <p:sp>
        <p:nvSpPr>
          <p:cNvPr id="9" name="dsl:te0-tag|s=$badge"/>
          <p:cNvSpPr txBox="1"/>
          <p:nvPr/>
        </p:nvSpPr>
        <p:spPr>
          <a:xfrm>
            <a:off x="6096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18D</a:t>
            </a:r>
          </a:p>
        </p:txBody>
      </p:sp>
      <p:sp>
        <p:nvSpPr>
          <p:cNvPr id="10" name="dsl:te0-qbg"/>
          <p:cNvSpPr/>
          <p:nvPr/>
        </p:nvSpPr>
        <p:spPr>
          <a:xfrm>
            <a:off x="609600" y="2038350"/>
            <a:ext cx="5334000" cy="809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e0-q"/>
          <p:cNvSpPr txBox="1"/>
          <p:nvPr/>
        </p:nvSpPr>
        <p:spPr>
          <a:xfrm>
            <a:off x="762000" y="2152650"/>
            <a:ext cx="50292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Calculate the force between two point charges, each of 1.4 µC, which are 6.0 cm apart in a vacuum. (</a:t>
            </a:r>
            <a14:m>
              <m:oMath>
                <m:sSub>
                  <m:sSub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ε</m:t>
                    </m:r>
                  </m:e>
                  <m:sub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8.85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12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F m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)</a:t>
            </a:r>
          </a:p>
        </p:txBody>
      </p:sp>
      <p:sp>
        <p:nvSpPr>
          <p:cNvPr id="12" name="dsl:te0-st"/>
          <p:cNvSpPr txBox="1"/>
          <p:nvPr/>
        </p:nvSpPr>
        <p:spPr>
          <a:xfrm>
            <a:off x="609600" y="2981325"/>
            <a:ext cx="5334000" cy="466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num>
                  <m:den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>
                      <m:sSub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den>
                </m:f>
              </m:oMath>
            </a14:m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1.4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sSup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num>
                  <m:den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8.85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0.060</m:t>
                    </m:r>
                    <m:sSup>
                      <m:sSup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den>
                </m:f>
              </m:oMath>
            </a14:m>
          </a:p>
        </p:txBody>
      </p:sp>
      <p:sp>
        <p:nvSpPr>
          <p:cNvPr id="13" name="dsl:te0-abg"/>
          <p:cNvSpPr/>
          <p:nvPr/>
        </p:nvSpPr>
        <p:spPr>
          <a:xfrm>
            <a:off x="609600" y="35623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0-abar"/>
          <p:cNvSpPr/>
          <p:nvPr/>
        </p:nvSpPr>
        <p:spPr>
          <a:xfrm>
            <a:off x="609600" y="35623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te0-ans"/>
          <p:cNvSpPr txBox="1"/>
          <p:nvPr/>
        </p:nvSpPr>
        <p:spPr>
          <a:xfrm>
            <a:off x="781050" y="35623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4.9</m:t>
                </m:r>
                <m:r>
                  <m:t> 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N</m:t>
                </m:r>
              </m:oMath>
            </a14:m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，同号相斥 repulsive</a:t>
            </a:r>
          </a:p>
        </p:txBody>
      </p:sp>
      <p:sp>
        <p:nvSpPr>
          <p:cNvPr id="16" name="dsl:te1-tag|s=$badge"/>
          <p:cNvSpPr txBox="1"/>
          <p:nvPr/>
        </p:nvSpPr>
        <p:spPr>
          <a:xfrm>
            <a:off x="62484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18E</a:t>
            </a:r>
          </a:p>
        </p:txBody>
      </p:sp>
      <p:sp>
        <p:nvSpPr>
          <p:cNvPr id="17" name="dsl:te1-qbg"/>
          <p:cNvSpPr/>
          <p:nvPr/>
        </p:nvSpPr>
        <p:spPr>
          <a:xfrm>
            <a:off x="6248400" y="2038350"/>
            <a:ext cx="5334000" cy="809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e1-q"/>
          <p:cNvSpPr txBox="1"/>
          <p:nvPr/>
        </p:nvSpPr>
        <p:spPr>
          <a:xfrm>
            <a:off x="6400800" y="2152650"/>
            <a:ext cx="50292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In a simplified hydrogen atom, the electron is </a:t>
            </a:r>
            <a14:m>
              <m:oMath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5.3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11</m:t>
                    </m:r>
                  </m:sup>
                </m:sSup>
                <m:r>
                  <m:t> 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from the proton (</a:t>
            </a:r>
            <a14:m>
              <m:oMath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1.6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19</m:t>
                    </m:r>
                  </m:sup>
                </m:sSup>
                <m:r>
                  <m:t> 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). Calculate the field strength of the proton at this distance.</a:t>
            </a:r>
          </a:p>
        </p:txBody>
      </p:sp>
      <p:sp>
        <p:nvSpPr>
          <p:cNvPr id="19" name="dsl:te1-st"/>
          <p:cNvSpPr txBox="1"/>
          <p:nvPr/>
        </p:nvSpPr>
        <p:spPr>
          <a:xfrm>
            <a:off x="6248400" y="2981325"/>
            <a:ext cx="5334000" cy="466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</m:num>
                  <m:den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>
                      <m:sSub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den>
                </m:f>
              </m:oMath>
            </a14:m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1.6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</m:num>
                  <m:den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8.85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5.3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p>
                      <m:sSup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den>
                </m:f>
              </m:oMath>
            </a14:m>
          </a:p>
        </p:txBody>
      </p:sp>
      <p:sp>
        <p:nvSpPr>
          <p:cNvPr id="20" name="dsl:te1-abg"/>
          <p:cNvSpPr/>
          <p:nvPr/>
        </p:nvSpPr>
        <p:spPr>
          <a:xfrm>
            <a:off x="6248400" y="35623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1-abar"/>
          <p:cNvSpPr/>
          <p:nvPr/>
        </p:nvSpPr>
        <p:spPr>
          <a:xfrm>
            <a:off x="6248400" y="35623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e1-ans"/>
          <p:cNvSpPr txBox="1"/>
          <p:nvPr/>
        </p:nvSpPr>
        <p:spPr>
          <a:xfrm>
            <a:off x="6419850" y="35623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5.1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11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V m</m:t>
                    </m:r>
                  </m:e>
                  <m:sup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，径向向外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18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Class Practice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随堂练习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18 Electric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14 / 16</a:t>
            </a:r>
          </a:p>
        </p:txBody>
      </p:sp>
      <p:sp>
        <p:nvSpPr>
          <p:cNvPr id="9" name="dsl:pq0-bg"/>
          <p:cNvSpPr/>
          <p:nvPr/>
        </p:nvSpPr>
        <p:spPr>
          <a:xfrm>
            <a:off x="609600" y="17907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pq0-num"/>
          <p:cNvSpPr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pq0-n"/>
          <p:cNvSpPr txBox="1"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Q1</a:t>
            </a:r>
          </a:p>
        </p:txBody>
      </p:sp>
      <p:sp>
        <p:nvSpPr>
          <p:cNvPr id="12" name="dsl:pq0-t"/>
          <p:cNvSpPr txBox="1"/>
          <p:nvPr/>
        </p:nvSpPr>
        <p:spPr>
          <a:xfrm>
            <a:off x="1409700" y="18859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Two plates 15 mm apart have a p.d. of 750 V. The force on a small charged sphere between them is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1.2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7</m:t>
                    </m:r>
                  </m:sup>
                </m:sSup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 Calculate (a) the field strength; (b) the charge on the sphere.</a:t>
            </a:r>
          </a:p>
        </p:txBody>
      </p:sp>
      <p:sp>
        <p:nvSpPr>
          <p:cNvPr id="13" name="dsl:pq1-bg"/>
          <p:cNvSpPr/>
          <p:nvPr/>
        </p:nvSpPr>
        <p:spPr>
          <a:xfrm>
            <a:off x="609600" y="253365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pq1-num"/>
          <p:cNvSpPr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q1-n"/>
          <p:cNvSpPr txBox="1"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Q2</a:t>
            </a:r>
          </a:p>
        </p:txBody>
      </p:sp>
      <p:sp>
        <p:nvSpPr>
          <p:cNvPr id="16" name="dsl:pq1-t"/>
          <p:cNvSpPr txBox="1"/>
          <p:nvPr/>
        </p:nvSpPr>
        <p:spPr>
          <a:xfrm>
            <a:off x="1409700" y="262890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Calculate the force on an α-particle (charge +3.2 × 10⁻¹⁹ C) placed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3.2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7</m:t>
                    </m:r>
                  </m:sup>
                </m:sSup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from a gold nucleus (charge +1.3 × 10⁻¹⁷ C) in a vacuum. 库仑定律计算。</a:t>
            </a:r>
          </a:p>
        </p:txBody>
      </p:sp>
      <p:sp>
        <p:nvSpPr>
          <p:cNvPr id="17" name="dsl:pq2-bg"/>
          <p:cNvSpPr/>
          <p:nvPr/>
        </p:nvSpPr>
        <p:spPr>
          <a:xfrm>
            <a:off x="609600" y="32766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pq2-num"/>
          <p:cNvSpPr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pq2-n"/>
          <p:cNvSpPr txBox="1"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Q3</a:t>
            </a:r>
          </a:p>
        </p:txBody>
      </p:sp>
      <p:sp>
        <p:nvSpPr>
          <p:cNvPr id="20" name="dsl:pq2-t"/>
          <p:cNvSpPr txBox="1"/>
          <p:nvPr/>
        </p:nvSpPr>
        <p:spPr>
          <a:xfrm>
            <a:off x="1409700" y="33718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 Van de Graaff dome has radius 18 cm. The maximum field at its surface is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2.0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 m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 Treating the charge as concentrated at the centre, calculate the charge on the dome.</a:t>
            </a:r>
          </a:p>
        </p:txBody>
      </p:sp>
      <p:sp>
        <p:nvSpPr>
          <p:cNvPr id="21" name="dsl:pq-ans"/>
          <p:cNvSpPr txBox="1"/>
          <p:nvPr/>
        </p:nvSpPr>
        <p:spPr>
          <a:xfrm>
            <a:off x="609600" y="6096000"/>
            <a:ext cx="10972800" cy="285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975" noProof="1">
                <a:solidFill>
                  <a:srgbClr val="5C7A84"/>
                </a:solidFill>
                <a:latin typeface="MiSans"/>
                <a:ea typeface="MiSans"/>
              </a:rPr>
              <a:t>Answers</a:t>
            </a:r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Q1 (a) </a:t>
            </a:r>
            <a14:m>
              <m:oMath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5.0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4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V m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 (b) 2.4 pC　Q2 </a:t>
            </a:r>
            <a14:m>
              <m:oMath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3.7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13</m:t>
                    </m:r>
                  </m:sup>
                </m:sSup>
                <m:r>
                  <m:t> 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N</m:t>
                </m:r>
              </m:oMath>
            </a14:m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Q3 </a:t>
            </a:r>
            <a14:m>
              <m:oMath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7.2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8</m:t>
                    </m:r>
                  </m:sup>
                </m:sSup>
                <m:r>
                  <m:t> 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C</m:t>
                </m:r>
              </m:oMath>
            </a14:m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（72 nC）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18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Summary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本章小结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18 Electric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15 / 16</a:t>
            </a:r>
          </a:p>
        </p:txBody>
      </p:sp>
      <p:sp>
        <p:nvSpPr>
          <p:cNvPr id="9" name="dsl:sm-h1|s=$badge"/>
          <p:cNvSpPr txBox="1"/>
          <p:nvPr/>
        </p:nvSpPr>
        <p:spPr>
          <a:xfrm>
            <a:off x="609600" y="17335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FORMULAS 核心公式</a:t>
            </a:r>
          </a:p>
        </p:txBody>
      </p:sp>
      <p:sp>
        <p:nvSpPr>
          <p:cNvPr id="10" name="dsl:smf0-bg"/>
          <p:cNvSpPr/>
          <p:nvPr/>
        </p:nvSpPr>
        <p:spPr>
          <a:xfrm>
            <a:off x="609600" y="20574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mf0-f"/>
          <p:cNvSpPr txBox="1"/>
          <p:nvPr/>
        </p:nvSpPr>
        <p:spPr>
          <a:xfrm>
            <a:off x="762000" y="20955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F</m:t>
                    </m:r>
                  </m:num>
                  <m:den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q</m:t>
                    </m:r>
                  </m:den>
                </m:f>
              </m:oMath>
            </a14:m>
          </a:p>
        </p:txBody>
      </p:sp>
      <p:sp>
        <p:nvSpPr>
          <p:cNvPr id="12" name="dsl:smf0-n"/>
          <p:cNvSpPr txBox="1"/>
          <p:nvPr/>
        </p:nvSpPr>
        <p:spPr>
          <a:xfrm>
            <a:off x="762000" y="23812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field strength 场强</a:t>
            </a:r>
          </a:p>
        </p:txBody>
      </p:sp>
      <p:sp>
        <p:nvSpPr>
          <p:cNvPr id="13" name="dsl:smf1-bg"/>
          <p:cNvSpPr/>
          <p:nvPr/>
        </p:nvSpPr>
        <p:spPr>
          <a:xfrm>
            <a:off x="4314825" y="20574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mf1-f"/>
          <p:cNvSpPr txBox="1"/>
          <p:nvPr/>
        </p:nvSpPr>
        <p:spPr>
          <a:xfrm>
            <a:off x="4467225" y="20955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num>
                  <m:den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d</m:t>
                    </m:r>
                  </m:den>
                </m:f>
              </m:oMath>
            </a14:m>
          </a:p>
        </p:txBody>
      </p:sp>
      <p:sp>
        <p:nvSpPr>
          <p:cNvPr id="15" name="dsl:smf1-n"/>
          <p:cNvSpPr txBox="1"/>
          <p:nvPr/>
        </p:nvSpPr>
        <p:spPr>
          <a:xfrm>
            <a:off x="4467225" y="23812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uniform field 匀强场</a:t>
            </a:r>
          </a:p>
        </p:txBody>
      </p:sp>
      <p:sp>
        <p:nvSpPr>
          <p:cNvPr id="16" name="dsl:smf2-bg"/>
          <p:cNvSpPr/>
          <p:nvPr/>
        </p:nvSpPr>
        <p:spPr>
          <a:xfrm>
            <a:off x="8020050" y="20574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smf2-f"/>
          <p:cNvSpPr txBox="1"/>
          <p:nvPr/>
        </p:nvSpPr>
        <p:spPr>
          <a:xfrm>
            <a:off x="8172450" y="20955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num>
                  <m:den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den>
                </m:f>
              </m:oMath>
            </a14:m>
          </a:p>
        </p:txBody>
      </p:sp>
      <p:sp>
        <p:nvSpPr>
          <p:cNvPr id="18" name="dsl:smf2-n"/>
          <p:cNvSpPr txBox="1"/>
          <p:nvPr/>
        </p:nvSpPr>
        <p:spPr>
          <a:xfrm>
            <a:off x="8172450" y="23812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Coulomb 库仑定律</a:t>
            </a:r>
          </a:p>
        </p:txBody>
      </p:sp>
      <p:sp>
        <p:nvSpPr>
          <p:cNvPr id="19" name="dsl:smf3-bg"/>
          <p:cNvSpPr/>
          <p:nvPr/>
        </p:nvSpPr>
        <p:spPr>
          <a:xfrm>
            <a:off x="609600" y="27813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mf3-f"/>
          <p:cNvSpPr txBox="1"/>
          <p:nvPr/>
        </p:nvSpPr>
        <p:spPr>
          <a:xfrm>
            <a:off x="762000" y="28194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Q</m:t>
                    </m:r>
                  </m:num>
                  <m:den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den>
                </m:f>
              </m:oMath>
            </a14:m>
          </a:p>
        </p:txBody>
      </p:sp>
      <p:sp>
        <p:nvSpPr>
          <p:cNvPr id="21" name="dsl:smf3-n"/>
          <p:cNvSpPr txBox="1"/>
          <p:nvPr/>
        </p:nvSpPr>
        <p:spPr>
          <a:xfrm>
            <a:off x="762000" y="31051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point charge 点电荷</a:t>
            </a:r>
          </a:p>
        </p:txBody>
      </p:sp>
      <p:sp>
        <p:nvSpPr>
          <p:cNvPr id="22" name="dsl:smf4-bg"/>
          <p:cNvSpPr/>
          <p:nvPr/>
        </p:nvSpPr>
        <p:spPr>
          <a:xfrm>
            <a:off x="4314825" y="27813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smf4-f"/>
          <p:cNvSpPr txBox="1"/>
          <p:nvPr/>
        </p:nvSpPr>
        <p:spPr>
          <a:xfrm>
            <a:off x="4467225" y="28194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Q</m:t>
                    </m:r>
                  </m:num>
                  <m:den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r</m:t>
                    </m:r>
                  </m:den>
                </m:f>
              </m:oMath>
            </a14:m>
          </a:p>
        </p:txBody>
      </p:sp>
      <p:sp>
        <p:nvSpPr>
          <p:cNvPr id="24" name="dsl:smf4-n"/>
          <p:cNvSpPr txBox="1"/>
          <p:nvPr/>
        </p:nvSpPr>
        <p:spPr>
          <a:xfrm>
            <a:off x="4467225" y="31051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potential 电势</a:t>
            </a:r>
          </a:p>
        </p:txBody>
      </p:sp>
      <p:sp>
        <p:nvSpPr>
          <p:cNvPr id="25" name="dsl:smf5-bg"/>
          <p:cNvSpPr/>
          <p:nvPr/>
        </p:nvSpPr>
        <p:spPr>
          <a:xfrm>
            <a:off x="8020050" y="27813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smf5-f"/>
          <p:cNvSpPr txBox="1"/>
          <p:nvPr/>
        </p:nvSpPr>
        <p:spPr>
          <a:xfrm>
            <a:off x="8172450" y="28194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p</m:t>
                    </m:r>
                  </m:sub>
                </m:sSub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</a:p>
        </p:txBody>
      </p:sp>
      <p:sp>
        <p:nvSpPr>
          <p:cNvPr id="27" name="dsl:smf5-n"/>
          <p:cNvSpPr txBox="1"/>
          <p:nvPr/>
        </p:nvSpPr>
        <p:spPr>
          <a:xfrm>
            <a:off x="8172450" y="31051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potential energy 电势能</a:t>
            </a:r>
          </a:p>
        </p:txBody>
      </p:sp>
      <p:sp>
        <p:nvSpPr>
          <p:cNvPr id="28" name="dsl:smf6-bg"/>
          <p:cNvSpPr/>
          <p:nvPr/>
        </p:nvSpPr>
        <p:spPr>
          <a:xfrm>
            <a:off x="609600" y="35052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smf6-f"/>
          <p:cNvSpPr txBox="1"/>
          <p:nvPr/>
        </p:nvSpPr>
        <p:spPr>
          <a:xfrm>
            <a:off x="762000" y="35433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−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num>
                  <m:den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r</m:t>
                    </m:r>
                  </m:den>
                </m:f>
              </m:oMath>
            </a14:m>
          </a:p>
        </p:txBody>
      </p:sp>
      <p:sp>
        <p:nvSpPr>
          <p:cNvPr id="30" name="dsl:smf6-n"/>
          <p:cNvSpPr txBox="1"/>
          <p:nvPr/>
        </p:nvSpPr>
        <p:spPr>
          <a:xfrm>
            <a:off x="762000" y="38290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field–potential link</a:t>
            </a:r>
          </a:p>
        </p:txBody>
      </p:sp>
      <p:sp>
        <p:nvSpPr>
          <p:cNvPr id="31" name="dsl:smf7-bg"/>
          <p:cNvSpPr/>
          <p:nvPr/>
        </p:nvSpPr>
        <p:spPr>
          <a:xfrm>
            <a:off x="4314825" y="35052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smf7-f"/>
          <p:cNvSpPr txBox="1"/>
          <p:nvPr/>
        </p:nvSpPr>
        <p:spPr>
          <a:xfrm>
            <a:off x="4467225" y="35433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1</m:t>
                </m:r>
                <m:r>
                  <m:t> 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eV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1.60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19</m:t>
                    </m:r>
                  </m:sup>
                </m:sSup>
                <m:r>
                  <m:t> 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</a:p>
        </p:txBody>
      </p:sp>
      <p:sp>
        <p:nvSpPr>
          <p:cNvPr id="33" name="dsl:smf7-n"/>
          <p:cNvSpPr txBox="1"/>
          <p:nvPr/>
        </p:nvSpPr>
        <p:spPr>
          <a:xfrm>
            <a:off x="4467225" y="38290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electronvolt 电子伏特</a:t>
            </a:r>
          </a:p>
        </p:txBody>
      </p:sp>
      <p:sp>
        <p:nvSpPr>
          <p:cNvPr id="34" name="dsl:sm-h2|s=$badge"/>
          <p:cNvSpPr txBox="1"/>
          <p:nvPr/>
        </p:nvSpPr>
        <p:spPr>
          <a:xfrm>
            <a:off x="609600" y="43243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IDEAS 核心思想</a:t>
            </a:r>
          </a:p>
        </p:txBody>
      </p:sp>
      <p:sp>
        <p:nvSpPr>
          <p:cNvPr id="35" name="dsl:sm-ideas"/>
          <p:cNvSpPr txBox="1"/>
          <p:nvPr/>
        </p:nvSpPr>
        <p:spPr>
          <a:xfrm>
            <a:off x="609600" y="4629150"/>
            <a:ext cx="10972800" cy="7810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Field lines show direction and strength; uniform field between plates 场线规则与匀强场。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Coulomb’s law mirrors Newton’s law of gravitation — but charges can repel 与引力定律类比。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V is scalar, E is vector; E = −ΔV/Δr 标量场与矢量场的关系。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18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Exam Tips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备考提示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18 Electric Fields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16 / 16</a:t>
            </a:r>
          </a:p>
        </p:txBody>
      </p:sp>
      <p:sp>
        <p:nvSpPr>
          <p:cNvPr id="9" name="dsl:tp0-bg"/>
          <p:cNvSpPr/>
          <p:nvPr/>
        </p:nvSpPr>
        <p:spPr>
          <a:xfrm>
            <a:off x="609600" y="17907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tp0-ic|i=fas:vector-square" descr="tmp3o7tjk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240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tp0-t"/>
          <p:cNvSpPr txBox="1"/>
          <p:nvPr/>
        </p:nvSpPr>
        <p:spPr>
          <a:xfrm>
            <a:off x="1143000" y="18859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E is a vector, V is a scalar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: fields superpose vectorially, potentials algebraically. 叠加规则不同。</a:t>
            </a:r>
          </a:p>
        </p:txBody>
      </p:sp>
      <p:sp>
        <p:nvSpPr>
          <p:cNvPr id="12" name="dsl:tp1-bg"/>
          <p:cNvSpPr/>
          <p:nvPr/>
        </p:nvSpPr>
        <p:spPr>
          <a:xfrm>
            <a:off x="609600" y="24384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tp1-ic|i=fas:arrows-up-down" descr="tmp3o7tjk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717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tp1-t"/>
          <p:cNvSpPr txBox="1"/>
          <p:nvPr/>
        </p:nvSpPr>
        <p:spPr>
          <a:xfrm>
            <a:off x="1143000" y="25336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Force direction: positive charge follows the field, negative charge opposes it. 正顺负逆。</a:t>
            </a:r>
          </a:p>
        </p:txBody>
      </p:sp>
      <p:sp>
        <p:nvSpPr>
          <p:cNvPr id="15" name="dsl:tp2-bg"/>
          <p:cNvSpPr/>
          <p:nvPr/>
        </p:nvSpPr>
        <p:spPr>
          <a:xfrm>
            <a:off x="609600" y="30861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tp2-ic|i=fas:calculator" descr="tmp3o7tjk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194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tp2-t"/>
          <p:cNvSpPr txBox="1"/>
          <p:nvPr/>
        </p:nvSpPr>
        <p:spPr>
          <a:xfrm>
            <a:off x="1143000" y="31813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Unit traps: nC, µC, cm → convert before substituting. 单位换算。</a:t>
            </a:r>
          </a:p>
        </p:txBody>
      </p:sp>
      <p:sp>
        <p:nvSpPr>
          <p:cNvPr id="18" name="dsl:tp3-bg"/>
          <p:cNvSpPr/>
          <p:nvPr/>
        </p:nvSpPr>
        <p:spPr>
          <a:xfrm>
            <a:off x="609600" y="37338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tp3-ic|i=fas:scale-balanced" descr="tmp3o7tjk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671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tp3-t"/>
          <p:cNvSpPr txBox="1"/>
          <p:nvPr/>
        </p:nvSpPr>
        <p:spPr>
          <a:xfrm>
            <a:off x="1143000" y="38290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Expect comparison questions with Topic 13: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G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vs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Q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4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π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ε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, φ vs V. 与引力场对比是高频考法。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0E4D64"/>
    <Color name="primaryDark" value="#093748"/>
    <Color name="secondary" value="#5C7A84"/>
    <Color name="accent" value="#D97D29"/>
    <Color name="accentSoft" value="#FBEFE1"/>
    <Color name="background" value="#FBFAF7"/>
    <Color name="card" value="#EEF3F3"/>
    <Color name="cardDeep" value="#E2EBEC"/>
    <Color name="line" value="#D5DFE0"/>
    <Color name="text" value="#1C2B33"/>
    <Color name="white" value="#FFFFFF"/>
  </Colors>
  <TextStyles>
    <TextStyle name="badge" font_size="13.0" color="$accent" font_family="QuattrocentoSans, MiSans" letter_spacing="2.0"/>
    <TextStyle name="title" font_size="29.0" color="$primary" font_family="QuattrocentoSans, MiSans"/>
    <TextStyle name="subtitle" font_size="16.0" color="$secondary" font_family="QuattrocentoSans, MiSans"/>
    <TextStyle name="body" font_size="18.0" color="$text" font_family="QuattrocentoSans, MiSans" line_height="1.5"/>
    <TextStyle name="small" font_size="14.0" color="$secondary" font_family="QuattrocentoSans, MiSans" line_height="1.4"/>
    <TextStyle name="formula" font_size="22.0" color="$primary" font_family="QuattrocentoSans, MiSans"/>
  </TextStyles>
  <TableStyles>
    <TableStyle name="default" fontSize="16.0" fontFamily="QuattrocentoSans, MiSans" headerFill="$primary" headerColor="#FFFFFF" headerBold="true" bodyFill="#FFFFFF,#F2F6F6" bodyColor="$text" firstColumnBold="false">
      <Border style="solid" width="1.0" color="$line"/>
    </TableStyle>
  </TableStyles>
</DslMetadata>
</file>

<file path=customXml/itemProps1.xml><?xml version="1.0" encoding="utf-8"?>
<ns0:datastoreItem xmlns:ns0="http://schemas.openxmlformats.org/officeDocument/2006/customXml" ns0:itemID="{ADB969F2-C563-4EDD-984E-0A3D3173BC86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