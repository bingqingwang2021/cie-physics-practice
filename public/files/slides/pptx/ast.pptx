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 star 热星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Sheet1!$A$2:$A$47</c:f>
              <c:strCache>
                <c:ptCount val="46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  <c:pt idx="4">
                  <c:v>180</c:v>
                </c:pt>
                <c:pt idx="5">
                  <c:v>200</c:v>
                </c:pt>
                <c:pt idx="6">
                  <c:v>220</c:v>
                </c:pt>
                <c:pt idx="7">
                  <c:v>240</c:v>
                </c:pt>
                <c:pt idx="8">
                  <c:v>260</c:v>
                </c:pt>
                <c:pt idx="9">
                  <c:v>280</c:v>
                </c:pt>
                <c:pt idx="10">
                  <c:v>300</c:v>
                </c:pt>
                <c:pt idx="11">
                  <c:v>320</c:v>
                </c:pt>
                <c:pt idx="12">
                  <c:v>340</c:v>
                </c:pt>
                <c:pt idx="13">
                  <c:v>360</c:v>
                </c:pt>
                <c:pt idx="14">
                  <c:v>380</c:v>
                </c:pt>
                <c:pt idx="15">
                  <c:v>400</c:v>
                </c:pt>
                <c:pt idx="16">
                  <c:v>420</c:v>
                </c:pt>
                <c:pt idx="17">
                  <c:v>440</c:v>
                </c:pt>
                <c:pt idx="18">
                  <c:v>460</c:v>
                </c:pt>
                <c:pt idx="19">
                  <c:v>480</c:v>
                </c:pt>
                <c:pt idx="20">
                  <c:v>500</c:v>
                </c:pt>
                <c:pt idx="21">
                  <c:v>520</c:v>
                </c:pt>
                <c:pt idx="22">
                  <c:v>540</c:v>
                </c:pt>
                <c:pt idx="23">
                  <c:v>560</c:v>
                </c:pt>
                <c:pt idx="24">
                  <c:v>580</c:v>
                </c:pt>
                <c:pt idx="25">
                  <c:v>600</c:v>
                </c:pt>
                <c:pt idx="26">
                  <c:v>620</c:v>
                </c:pt>
                <c:pt idx="27">
                  <c:v>640</c:v>
                </c:pt>
                <c:pt idx="28">
                  <c:v>660</c:v>
                </c:pt>
                <c:pt idx="29">
                  <c:v>680</c:v>
                </c:pt>
                <c:pt idx="30">
                  <c:v>700</c:v>
                </c:pt>
                <c:pt idx="31">
                  <c:v>720</c:v>
                </c:pt>
                <c:pt idx="32">
                  <c:v>740</c:v>
                </c:pt>
                <c:pt idx="33">
                  <c:v>760</c:v>
                </c:pt>
                <c:pt idx="34">
                  <c:v>780</c:v>
                </c:pt>
                <c:pt idx="35">
                  <c:v>800</c:v>
                </c:pt>
                <c:pt idx="36">
                  <c:v>820</c:v>
                </c:pt>
                <c:pt idx="37">
                  <c:v>840</c:v>
                </c:pt>
                <c:pt idx="38">
                  <c:v>860</c:v>
                </c:pt>
                <c:pt idx="39">
                  <c:v>880</c:v>
                </c:pt>
                <c:pt idx="40">
                  <c:v>900</c:v>
                </c:pt>
                <c:pt idx="41">
                  <c:v>920</c:v>
                </c:pt>
                <c:pt idx="42">
                  <c:v>940</c:v>
                </c:pt>
                <c:pt idx="43">
                  <c:v>960</c:v>
                </c:pt>
                <c:pt idx="44">
                  <c:v>980</c:v>
                </c:pt>
                <c:pt idx="45">
                  <c:v>1000</c:v>
                </c:pt>
              </c:strCache>
            </c:strRef>
          </c:cat>
          <c:val>
            <c:numRef>
              <c:f>Sheet1!$B$2:$B$47</c:f>
              <c:numCache>
                <c:formatCode>General</c:formatCode>
                <c:ptCount val="46"/>
                <c:pt idx="0">
                  <c:v>0.0</c:v>
                </c:pt>
                <c:pt idx="1">
                  <c:v>0.1</c:v>
                </c:pt>
                <c:pt idx="2">
                  <c:v>0.92</c:v>
                </c:pt>
                <c:pt idx="3">
                  <c:v>4.39</c:v>
                </c:pt>
                <c:pt idx="4">
                  <c:v>13.83</c:v>
                </c:pt>
                <c:pt idx="5">
                  <c:v>32.75</c:v>
                </c:pt>
                <c:pt idx="6">
                  <c:v>63.36</c:v>
                </c:pt>
                <c:pt idx="7">
                  <c:v>105.72</c:v>
                </c:pt>
                <c:pt idx="8">
                  <c:v>157.89</c:v>
                </c:pt>
                <c:pt idx="9">
                  <c:v>216.64</c:v>
                </c:pt>
                <c:pt idx="10">
                  <c:v>278.27</c:v>
                </c:pt>
                <c:pt idx="11">
                  <c:v>339.31</c:v>
                </c:pt>
                <c:pt idx="12">
                  <c:v>396.86</c:v>
                </c:pt>
                <c:pt idx="13">
                  <c:v>448.81</c:v>
                </c:pt>
                <c:pt idx="14">
                  <c:v>493.83</c:v>
                </c:pt>
                <c:pt idx="15">
                  <c:v>531.24</c:v>
                </c:pt>
                <c:pt idx="16">
                  <c:v>560.91</c:v>
                </c:pt>
                <c:pt idx="17">
                  <c:v>583.08</c:v>
                </c:pt>
                <c:pt idx="18">
                  <c:v>598.28</c:v>
                </c:pt>
                <c:pt idx="19">
                  <c:v>607.18</c:v>
                </c:pt>
                <c:pt idx="20">
                  <c:v>610.53</c:v>
                </c:pt>
                <c:pt idx="21">
                  <c:v>609.09</c:v>
                </c:pt>
                <c:pt idx="22">
                  <c:v>603.61</c:v>
                </c:pt>
                <c:pt idx="23">
                  <c:v>594.79</c:v>
                </c:pt>
                <c:pt idx="24">
                  <c:v>583.26</c:v>
                </c:pt>
                <c:pt idx="25">
                  <c:v>569.59</c:v>
                </c:pt>
                <c:pt idx="26">
                  <c:v>554.27</c:v>
                </c:pt>
                <c:pt idx="27">
                  <c:v>537.72</c:v>
                </c:pt>
                <c:pt idx="28">
                  <c:v>520.31</c:v>
                </c:pt>
                <c:pt idx="29">
                  <c:v>502.36</c:v>
                </c:pt>
                <c:pt idx="30">
                  <c:v>484.1</c:v>
                </c:pt>
                <c:pt idx="31">
                  <c:v>465.76</c:v>
                </c:pt>
                <c:pt idx="32">
                  <c:v>447.5</c:v>
                </c:pt>
                <c:pt idx="33">
                  <c:v>429.46</c:v>
                </c:pt>
                <c:pt idx="34">
                  <c:v>411.75</c:v>
                </c:pt>
                <c:pt idx="35">
                  <c:v>394.44</c:v>
                </c:pt>
                <c:pt idx="36">
                  <c:v>377.62</c:v>
                </c:pt>
                <c:pt idx="37">
                  <c:v>361.31</c:v>
                </c:pt>
                <c:pt idx="38">
                  <c:v>345.56</c:v>
                </c:pt>
                <c:pt idx="39">
                  <c:v>330.38</c:v>
                </c:pt>
                <c:pt idx="40">
                  <c:v>315.78</c:v>
                </c:pt>
                <c:pt idx="41">
                  <c:v>301.77</c:v>
                </c:pt>
                <c:pt idx="42">
                  <c:v>288.35</c:v>
                </c:pt>
                <c:pt idx="43">
                  <c:v>275.51</c:v>
                </c:pt>
                <c:pt idx="44">
                  <c:v>263.23</c:v>
                </c:pt>
                <c:pt idx="45">
                  <c:v>251.51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cool star 冷星</c:v>
                </c:pt>
              </c:strCache>
            </c:strRef>
          </c:tx>
          <c:spPr>
            <a:solidFill>
              <a:srgbClr val="D97D29"/>
            </a:solidFill>
            <a:ln w="19050">
              <a:solidFill>
                <a:srgbClr val="D97D29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Sheet1!$A$2:$A$47</c:f>
              <c:strCache>
                <c:ptCount val="46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  <c:pt idx="4">
                  <c:v>180</c:v>
                </c:pt>
                <c:pt idx="5">
                  <c:v>200</c:v>
                </c:pt>
                <c:pt idx="6">
                  <c:v>220</c:v>
                </c:pt>
                <c:pt idx="7">
                  <c:v>240</c:v>
                </c:pt>
                <c:pt idx="8">
                  <c:v>260</c:v>
                </c:pt>
                <c:pt idx="9">
                  <c:v>280</c:v>
                </c:pt>
                <c:pt idx="10">
                  <c:v>300</c:v>
                </c:pt>
                <c:pt idx="11">
                  <c:v>320</c:v>
                </c:pt>
                <c:pt idx="12">
                  <c:v>340</c:v>
                </c:pt>
                <c:pt idx="13">
                  <c:v>360</c:v>
                </c:pt>
                <c:pt idx="14">
                  <c:v>380</c:v>
                </c:pt>
                <c:pt idx="15">
                  <c:v>400</c:v>
                </c:pt>
                <c:pt idx="16">
                  <c:v>420</c:v>
                </c:pt>
                <c:pt idx="17">
                  <c:v>440</c:v>
                </c:pt>
                <c:pt idx="18">
                  <c:v>460</c:v>
                </c:pt>
                <c:pt idx="19">
                  <c:v>480</c:v>
                </c:pt>
                <c:pt idx="20">
                  <c:v>500</c:v>
                </c:pt>
                <c:pt idx="21">
                  <c:v>520</c:v>
                </c:pt>
                <c:pt idx="22">
                  <c:v>540</c:v>
                </c:pt>
                <c:pt idx="23">
                  <c:v>560</c:v>
                </c:pt>
                <c:pt idx="24">
                  <c:v>580</c:v>
                </c:pt>
                <c:pt idx="25">
                  <c:v>600</c:v>
                </c:pt>
                <c:pt idx="26">
                  <c:v>620</c:v>
                </c:pt>
                <c:pt idx="27">
                  <c:v>640</c:v>
                </c:pt>
                <c:pt idx="28">
                  <c:v>660</c:v>
                </c:pt>
                <c:pt idx="29">
                  <c:v>680</c:v>
                </c:pt>
                <c:pt idx="30">
                  <c:v>700</c:v>
                </c:pt>
                <c:pt idx="31">
                  <c:v>720</c:v>
                </c:pt>
                <c:pt idx="32">
                  <c:v>740</c:v>
                </c:pt>
                <c:pt idx="33">
                  <c:v>760</c:v>
                </c:pt>
                <c:pt idx="34">
                  <c:v>780</c:v>
                </c:pt>
                <c:pt idx="35">
                  <c:v>800</c:v>
                </c:pt>
                <c:pt idx="36">
                  <c:v>820</c:v>
                </c:pt>
                <c:pt idx="37">
                  <c:v>840</c:v>
                </c:pt>
                <c:pt idx="38">
                  <c:v>860</c:v>
                </c:pt>
                <c:pt idx="39">
                  <c:v>880</c:v>
                </c:pt>
                <c:pt idx="40">
                  <c:v>900</c:v>
                </c:pt>
                <c:pt idx="41">
                  <c:v>920</c:v>
                </c:pt>
                <c:pt idx="42">
                  <c:v>940</c:v>
                </c:pt>
                <c:pt idx="43">
                  <c:v>960</c:v>
                </c:pt>
                <c:pt idx="44">
                  <c:v>980</c:v>
                </c:pt>
                <c:pt idx="45">
                  <c:v>1000</c:v>
                </c:pt>
              </c:strCache>
            </c:strRef>
          </c:cat>
          <c:val>
            <c:numRef>
              <c:f>Sheet1!$C$2:$C$47</c:f>
              <c:numCache>
                <c:formatCode>General</c:formatCode>
                <c:ptCount val="46"/>
                <c:pt idx="0">
                  <c:v>0.0</c:v>
                </c:pt>
                <c:pt idx="1">
                  <c:v>0.01</c:v>
                </c:pt>
                <c:pt idx="2">
                  <c:v>0.16</c:v>
                </c:pt>
                <c:pt idx="3">
                  <c:v>1.07</c:v>
                </c:pt>
                <c:pt idx="4">
                  <c:v>4.4</c:v>
                </c:pt>
                <c:pt idx="5">
                  <c:v>12.86</c:v>
                </c:pt>
                <c:pt idx="6">
                  <c:v>29.56</c:v>
                </c:pt>
                <c:pt idx="7">
                  <c:v>56.96</c:v>
                </c:pt>
                <c:pt idx="8">
                  <c:v>96.08</c:v>
                </c:pt>
                <c:pt idx="9">
                  <c:v>146.32</c:v>
                </c:pt>
                <c:pt idx="10">
                  <c:v>205.74</c:v>
                </c:pt>
                <c:pt idx="11">
                  <c:v>271.5</c:v>
                </c:pt>
                <c:pt idx="12">
                  <c:v>340.48</c:v>
                </c:pt>
                <c:pt idx="13">
                  <c:v>409.64</c:v>
                </c:pt>
                <c:pt idx="14">
                  <c:v>476.36</c:v>
                </c:pt>
                <c:pt idx="15">
                  <c:v>538.55</c:v>
                </c:pt>
                <c:pt idx="16">
                  <c:v>594.72</c:v>
                </c:pt>
                <c:pt idx="17">
                  <c:v>643.92</c:v>
                </c:pt>
                <c:pt idx="18">
                  <c:v>685.65</c:v>
                </c:pt>
                <c:pt idx="19">
                  <c:v>719.83</c:v>
                </c:pt>
                <c:pt idx="20">
                  <c:v>746.63</c:v>
                </c:pt>
                <c:pt idx="21">
                  <c:v>766.47</c:v>
                </c:pt>
                <c:pt idx="22">
                  <c:v>779.86</c:v>
                </c:pt>
                <c:pt idx="23">
                  <c:v>787.43</c:v>
                </c:pt>
                <c:pt idx="24">
                  <c:v>789.82</c:v>
                </c:pt>
                <c:pt idx="25">
                  <c:v>787.67</c:v>
                </c:pt>
                <c:pt idx="26">
                  <c:v>781.61</c:v>
                </c:pt>
                <c:pt idx="27">
                  <c:v>772.23</c:v>
                </c:pt>
                <c:pt idx="28">
                  <c:v>760.09</c:v>
                </c:pt>
                <c:pt idx="29">
                  <c:v>745.67</c:v>
                </c:pt>
                <c:pt idx="30">
                  <c:v>729.42</c:v>
                </c:pt>
                <c:pt idx="31">
                  <c:v>711.72</c:v>
                </c:pt>
                <c:pt idx="32">
                  <c:v>692.93</c:v>
                </c:pt>
                <c:pt idx="33">
                  <c:v>673.35</c:v>
                </c:pt>
                <c:pt idx="34">
                  <c:v>653.22</c:v>
                </c:pt>
                <c:pt idx="35">
                  <c:v>632.77</c:v>
                </c:pt>
                <c:pt idx="36">
                  <c:v>612.18</c:v>
                </c:pt>
                <c:pt idx="37">
                  <c:v>591.61</c:v>
                </c:pt>
                <c:pt idx="38">
                  <c:v>571.19</c:v>
                </c:pt>
                <c:pt idx="39">
                  <c:v>551.01</c:v>
                </c:pt>
                <c:pt idx="40">
                  <c:v>531.18</c:v>
                </c:pt>
                <c:pt idx="41">
                  <c:v>511.75</c:v>
                </c:pt>
                <c:pt idx="42">
                  <c:v>492.78</c:v>
                </c:pt>
                <c:pt idx="43">
                  <c:v>474.31</c:v>
                </c:pt>
                <c:pt idx="44">
                  <c:v>456.37</c:v>
                </c:pt>
                <c:pt idx="45">
                  <c:v>438.98</c:v>
                </c:pt>
              </c:numCache>
            </c:numRef>
          </c:val>
          <c:smooth val="1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λ / nm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intensity (arb.)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= H₀d</c:v>
                </c:pt>
              </c:strCache>
            </c:strRef>
          </c:tx>
          <c:spPr>
            <a:solidFill>
              <a:srgbClr val="0E4D64"/>
            </a:solidFill>
            <a:ln w="19050">
              <a:solidFill>
                <a:srgbClr val="0E4D64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500">
                    <a:latin typeface="Calibri"/>
                    <a:ea typeface="MiSans"/>
                  </a:defRPr>
                </a:pPr>
                <a:endParaRPr/>
              </a:p>
            </c:txPr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Sheet1!$A$2:$A$32</c:f>
              <c:strCache>
                <c:ptCount val="31"/>
                <c:pt idx="0">
                  <c:v>0.0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1.0</c:v>
                </c:pt>
                <c:pt idx="6">
                  <c:v>1.2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2.0</c:v>
                </c:pt>
                <c:pt idx="11">
                  <c:v>2.2</c:v>
                </c:pt>
                <c:pt idx="12">
                  <c:v>2.4</c:v>
                </c:pt>
                <c:pt idx="13">
                  <c:v>2.6</c:v>
                </c:pt>
                <c:pt idx="14">
                  <c:v>2.8</c:v>
                </c:pt>
                <c:pt idx="15">
                  <c:v>3.0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4.0</c:v>
                </c:pt>
                <c:pt idx="21">
                  <c:v>4.2</c:v>
                </c:pt>
                <c:pt idx="22">
                  <c:v>4.4</c:v>
                </c:pt>
                <c:pt idx="23">
                  <c:v>4.6</c:v>
                </c:pt>
                <c:pt idx="24">
                  <c:v>4.8</c:v>
                </c:pt>
                <c:pt idx="25">
                  <c:v>5.0</c:v>
                </c:pt>
                <c:pt idx="26">
                  <c:v>5.2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6.0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</c:v>
                </c:pt>
                <c:pt idx="1">
                  <c:v>0.48</c:v>
                </c:pt>
                <c:pt idx="2">
                  <c:v>0.96</c:v>
                </c:pt>
                <c:pt idx="3">
                  <c:v>1.44</c:v>
                </c:pt>
                <c:pt idx="4">
                  <c:v>1.92</c:v>
                </c:pt>
                <c:pt idx="5">
                  <c:v>2.4</c:v>
                </c:pt>
                <c:pt idx="6">
                  <c:v>2.88</c:v>
                </c:pt>
                <c:pt idx="7">
                  <c:v>3.36</c:v>
                </c:pt>
                <c:pt idx="8">
                  <c:v>3.84</c:v>
                </c:pt>
                <c:pt idx="9">
                  <c:v>4.32</c:v>
                </c:pt>
                <c:pt idx="10">
                  <c:v>4.8</c:v>
                </c:pt>
                <c:pt idx="11">
                  <c:v>5.28</c:v>
                </c:pt>
                <c:pt idx="12">
                  <c:v>5.76</c:v>
                </c:pt>
                <c:pt idx="13">
                  <c:v>6.24</c:v>
                </c:pt>
                <c:pt idx="14">
                  <c:v>6.72</c:v>
                </c:pt>
                <c:pt idx="15">
                  <c:v>7.2</c:v>
                </c:pt>
                <c:pt idx="16">
                  <c:v>7.68</c:v>
                </c:pt>
                <c:pt idx="17">
                  <c:v>8.16</c:v>
                </c:pt>
                <c:pt idx="18">
                  <c:v>8.64</c:v>
                </c:pt>
                <c:pt idx="19">
                  <c:v>9.12</c:v>
                </c:pt>
                <c:pt idx="20">
                  <c:v>9.6</c:v>
                </c:pt>
                <c:pt idx="21">
                  <c:v>10.08</c:v>
                </c:pt>
                <c:pt idx="22">
                  <c:v>10.56</c:v>
                </c:pt>
                <c:pt idx="23">
                  <c:v>11.04</c:v>
                </c:pt>
                <c:pt idx="24">
                  <c:v>11.52</c:v>
                </c:pt>
                <c:pt idx="25">
                  <c:v>12.0</c:v>
                </c:pt>
                <c:pt idx="26">
                  <c:v>12.48</c:v>
                </c:pt>
                <c:pt idx="27">
                  <c:v>12.96</c:v>
                </c:pt>
                <c:pt idx="28">
                  <c:v>13.44</c:v>
                </c:pt>
                <c:pt idx="29">
                  <c:v>13.92</c:v>
                </c:pt>
                <c:pt idx="30">
                  <c:v>14.4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d / 10²⁴ m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BDEE4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825" lang="zh-CN">
                    <a:solidFill>
                      <a:srgbClr val="54555A"/>
                    </a:solidFill>
                    <a:latin typeface="Calibri"/>
                    <a:ea typeface="MiSans"/>
                  </a:rPr>
                  <a:t>v / 10⁶ m s⁻¹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4555A"/>
            </a:solidFill>
          </a:ln>
        </c:spPr>
        <c:txPr>
          <a:bodyPr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sz="825">
                <a:solidFill>
                  <a:srgbClr val="54555A"/>
                </a:solidFill>
                <a:latin typeface="Calibri"/>
                <a:ea typeface="MiSan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 spcFirstLastPara="1" vertOverflow="ellipsis" vert="horz" wrap="square" lIns="38100" tIns="19050" rIns="38100" bIns="19050" anchor="ctr" anchorCtr="1">
      <a:spAutoFit/>
    </a:bodyPr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scaled="1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c-s0"/>
          <p:cNvSpPr/>
          <p:nvPr/>
        </p:nvSpPr>
        <p:spPr>
          <a:xfrm>
            <a:off x="8191500" y="2095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c-s1"/>
          <p:cNvSpPr/>
          <p:nvPr/>
        </p:nvSpPr>
        <p:spPr>
          <a:xfrm>
            <a:off x="8953500" y="2857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dc-s2"/>
          <p:cNvSpPr/>
          <p:nvPr/>
        </p:nvSpPr>
        <p:spPr>
          <a:xfrm>
            <a:off x="10001250" y="1714500"/>
            <a:ext cx="76200" cy="762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dc-s3"/>
          <p:cNvSpPr/>
          <p:nvPr/>
        </p:nvSpPr>
        <p:spPr>
          <a:xfrm>
            <a:off x="10668000" y="3619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c-s4"/>
          <p:cNvSpPr/>
          <p:nvPr/>
        </p:nvSpPr>
        <p:spPr>
          <a:xfrm>
            <a:off x="9334500" y="4381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c-s5"/>
          <p:cNvSpPr/>
          <p:nvPr/>
        </p:nvSpPr>
        <p:spPr>
          <a:xfrm>
            <a:off x="11239500" y="24765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c-s6"/>
          <p:cNvSpPr/>
          <p:nvPr/>
        </p:nvSpPr>
        <p:spPr>
          <a:xfrm>
            <a:off x="8382000" y="3810000"/>
            <a:ext cx="38100" cy="3810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dc-s7"/>
          <p:cNvSpPr/>
          <p:nvPr/>
        </p:nvSpPr>
        <p:spPr>
          <a:xfrm>
            <a:off x="10382250" y="4762500"/>
            <a:ext cx="57150" cy="57150"/>
          </a:xfrm>
          <a:prstGeom prst="ellipse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dc-o1"/>
          <p:cNvSpPr/>
          <p:nvPr/>
        </p:nvSpPr>
        <p:spPr>
          <a:xfrm>
            <a:off x="7905750" y="1714500"/>
            <a:ext cx="3238500" cy="32385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0"/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opic-tag"/>
          <p:cNvSpPr txBox="1"/>
          <p:nvPr/>
        </p:nvSpPr>
        <p:spPr>
          <a:xfrm>
            <a:off x="838200" y="1428750"/>
            <a:ext cx="4762500" cy="2667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 spc="300">
                <a:solidFill>
                  <a:srgbClr val="D97D29"/>
                </a:solidFill>
                <a:latin typeface="QuattrocentoSans"/>
                <a:ea typeface="MiSans"/>
              </a:rPr>
              <a:t>TOPIC 25</a:t>
            </a:r>
          </a:p>
        </p:txBody>
      </p:sp>
      <p:sp>
        <p:nvSpPr>
          <p:cNvPr id="12" name="dsl:title-main"/>
          <p:cNvSpPr txBox="1"/>
          <p:nvPr/>
        </p:nvSpPr>
        <p:spPr>
          <a:xfrm>
            <a:off x="838200" y="2000250"/>
            <a:ext cx="6286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noProof="1">
                <a:solidFill>
                  <a:srgbClr val="FFFFFF"/>
                </a:solidFill>
                <a:latin typeface="Unna"/>
                <a:ea typeface="siyuanSongti"/>
              </a:rPr>
              <a:t>Astronomy &amp; Cosmology</a:t>
            </a:r>
          </a:p>
        </p:txBody>
      </p:sp>
      <p:sp>
        <p:nvSpPr>
          <p:cNvPr id="13" name="dsl:title-cn"/>
          <p:cNvSpPr txBox="1"/>
          <p:nvPr/>
        </p:nvSpPr>
        <p:spPr>
          <a:xfrm>
            <a:off x="838200" y="3352800"/>
            <a:ext cx="62865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siyuanSongti"/>
                <a:ea typeface="siyuanSongti"/>
              </a:rPr>
              <a:t>天文与宇宙学</a:t>
            </a:r>
          </a:p>
        </p:txBody>
      </p:sp>
      <p:cxnSp>
        <p:nvCxnSpPr>
          <p:cNvPr id="14" name="dsl:div"/>
          <p:cNvCxnSpPr/>
          <p:nvPr/>
        </p:nvCxnSpPr>
        <p:spPr>
          <a:xfrm>
            <a:off x="838200" y="4000500"/>
            <a:ext cx="20193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sl:exam-info"/>
          <p:cNvSpPr txBox="1"/>
          <p:nvPr/>
        </p:nvSpPr>
        <p:spPr>
          <a:xfrm>
            <a:off x="838200" y="5715000"/>
            <a:ext cx="666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CIE 9702 · A Level Physics A2 · Paper 4</a:t>
            </a:r>
          </a:p>
        </p:txBody>
      </p:sp>
      <p:sp>
        <p:nvSpPr>
          <p:cNvPr id="16" name="dsl:series-info"/>
          <p:cNvSpPr txBox="1"/>
          <p:nvPr/>
        </p:nvSpPr>
        <p:spPr>
          <a:xfrm>
            <a:off x="838200" y="6019800"/>
            <a:ext cx="6667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>
                <a:solidFill>
                  <a:srgbClr val="FFFFFF"/>
                </a:solidFill>
                <a:latin typeface="QuattrocentoSans"/>
                <a:ea typeface="MiSans"/>
              </a:rPr>
              <a:t>剑桥国际物理 A2 分章节讲义 · 中英双语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16</a:t>
            </a:r>
          </a:p>
        </p:txBody>
      </p:sp>
      <p:sp>
        <p:nvSpPr>
          <p:cNvPr id="9" name="dsl:ol-panel"/>
          <p:cNvSpPr/>
          <p:nvPr/>
        </p:nvSpPr>
        <p:spPr>
          <a:xfrm>
            <a:off x="609600" y="1695450"/>
            <a:ext cx="2476500" cy="4476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ol-big"/>
          <p:cNvSpPr txBox="1"/>
          <p:nvPr/>
        </p:nvSpPr>
        <p:spPr>
          <a:xfrm>
            <a:off x="838200" y="1981200"/>
            <a:ext cx="2019300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LEARNING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b="1" sz="2250" noProof="1">
                <a:solidFill>
                  <a:srgbClr val="FFFFFF"/>
                </a:solidFill>
                <a:latin typeface="Unna"/>
                <a:ea typeface="siyuanSongti"/>
              </a:rPr>
              <a:t>OUTCOMES</a:t>
            </a:r>
          </a:p>
        </p:txBody>
      </p:sp>
      <p:sp>
        <p:nvSpPr>
          <p:cNvPr id="11" name="dsl:ol-cn"/>
          <p:cNvSpPr txBox="1"/>
          <p:nvPr/>
        </p:nvSpPr>
        <p:spPr>
          <a:xfrm>
            <a:off x="838200" y="3695700"/>
            <a:ext cx="2019300" cy="2857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500" noProof="1">
                <a:solidFill>
                  <a:srgbClr val="FFFFFF"/>
                </a:solidFill>
                <a:latin typeface="siyuanSongti"/>
                <a:ea typeface="siyuanSongti"/>
              </a:rPr>
              <a:t>学习目标</a:t>
            </a:r>
          </a:p>
        </p:txBody>
      </p:sp>
      <p:sp>
        <p:nvSpPr>
          <p:cNvPr id="12" name="dsl:ol-note"/>
          <p:cNvSpPr txBox="1"/>
          <p:nvPr/>
        </p:nvSpPr>
        <p:spPr>
          <a:xfrm>
            <a:off x="838200" y="5505450"/>
            <a:ext cx="20193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75" noProof="1">
                <a:solidFill>
                  <a:srgbClr val="FFFFFF"/>
                </a:solidFill>
                <a:latin typeface="MiSans"/>
                <a:ea typeface="MiSans"/>
              </a:rPr>
              <a:t>By the end of this topic, you will be able to…</a:t>
            </a:r>
          </a:p>
        </p:txBody>
      </p:sp>
      <p:sp>
        <p:nvSpPr>
          <p:cNvPr id="13" name="dsl:og0"/>
          <p:cNvSpPr txBox="1"/>
          <p:nvPr/>
        </p:nvSpPr>
        <p:spPr>
          <a:xfrm>
            <a:off x="3467100" y="17526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25.1 Luminosity and radiant flux 光度与辐射通量</a:t>
            </a:r>
          </a:p>
        </p:txBody>
      </p:sp>
      <p:pic>
        <p:nvPicPr>
          <p:cNvPr id="14" name="dsl:oc0_0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1050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ot0_0"/>
          <p:cNvSpPr txBox="1"/>
          <p:nvPr/>
        </p:nvSpPr>
        <p:spPr>
          <a:xfrm>
            <a:off x="3752850" y="20764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Luminosity L and radiant flux intensity F = L/(4πd²) 光度与通量</a:t>
            </a:r>
          </a:p>
        </p:txBody>
      </p:sp>
      <p:pic>
        <p:nvPicPr>
          <p:cNvPr id="16" name="dsl:oc0_1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24098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ot0_1"/>
          <p:cNvSpPr txBox="1"/>
          <p:nvPr/>
        </p:nvSpPr>
        <p:spPr>
          <a:xfrm>
            <a:off x="3752850" y="23812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Standard candles: Cepheid variables 标准烛光与造父变星</a:t>
            </a:r>
          </a:p>
        </p:txBody>
      </p:sp>
      <p:sp>
        <p:nvSpPr>
          <p:cNvPr id="18" name="dsl:og1"/>
          <p:cNvSpPr txBox="1"/>
          <p:nvPr/>
        </p:nvSpPr>
        <p:spPr>
          <a:xfrm>
            <a:off x="3467100" y="280035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25.2 Stellar radii 恒星半径</a:t>
            </a:r>
          </a:p>
        </p:txBody>
      </p:sp>
      <p:pic>
        <p:nvPicPr>
          <p:cNvPr id="19" name="dsl:oc1_0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1527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ot1_0"/>
          <p:cNvSpPr txBox="1"/>
          <p:nvPr/>
        </p:nvSpPr>
        <p:spPr>
          <a:xfrm>
            <a:off x="3752850" y="31242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Wien's displacement law λmax T = 2.898×10⁻³ m K 维恩位移定律</a:t>
            </a:r>
          </a:p>
        </p:txBody>
      </p:sp>
      <p:pic>
        <p:nvPicPr>
          <p:cNvPr id="21" name="dsl:oc1_1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4575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ot1_1"/>
          <p:cNvSpPr txBox="1"/>
          <p:nvPr/>
        </p:nvSpPr>
        <p:spPr>
          <a:xfrm>
            <a:off x="3752850" y="34290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Stefan–Boltzmann law L = 4πσr²T⁴ 斯忒藩-玻尔兹曼定律</a:t>
            </a:r>
          </a:p>
        </p:txBody>
      </p:sp>
      <p:pic>
        <p:nvPicPr>
          <p:cNvPr id="23" name="dsl:oc1_2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376237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4" name="dsl:ot1_2"/>
          <p:cNvSpPr txBox="1"/>
          <p:nvPr/>
        </p:nvSpPr>
        <p:spPr>
          <a:xfrm>
            <a:off x="3752850" y="373380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Combine the two laws to estimate stellar radii 联立估算半径</a:t>
            </a:r>
          </a:p>
        </p:txBody>
      </p:sp>
      <p:sp>
        <p:nvSpPr>
          <p:cNvPr id="25" name="dsl:og2"/>
          <p:cNvSpPr txBox="1"/>
          <p:nvPr/>
        </p:nvSpPr>
        <p:spPr>
          <a:xfrm>
            <a:off x="3467100" y="4152900"/>
            <a:ext cx="81153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b="1" sz="1275" noProof="1">
                <a:solidFill>
                  <a:srgbClr val="0E4D64"/>
                </a:solidFill>
                <a:latin typeface="MiSans"/>
                <a:ea typeface="MiSans"/>
              </a:rPr>
              <a:t>25.3 Hubble's law and the Big Bang 哈勃定律与大爆炸</a:t>
            </a:r>
          </a:p>
        </p:txBody>
      </p:sp>
      <p:pic>
        <p:nvPicPr>
          <p:cNvPr id="26" name="dsl:oc2_0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5053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7" name="dsl:ot2_0"/>
          <p:cNvSpPr txBox="1"/>
          <p:nvPr/>
        </p:nvSpPr>
        <p:spPr>
          <a:xfrm>
            <a:off x="3752850" y="44767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Redshift: Δλ/λ ≈ v/c 红移</a:t>
            </a:r>
          </a:p>
        </p:txBody>
      </p:sp>
      <p:pic>
        <p:nvPicPr>
          <p:cNvPr id="28" name="dsl:oc2_1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48101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9" name="dsl:ot2_1"/>
          <p:cNvSpPr txBox="1"/>
          <p:nvPr/>
        </p:nvSpPr>
        <p:spPr>
          <a:xfrm>
            <a:off x="3752850" y="47815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Hubble's law v ≈ H₀d; expanding Universe 哈勃定律</a:t>
            </a:r>
          </a:p>
        </p:txBody>
      </p:sp>
      <p:pic>
        <p:nvPicPr>
          <p:cNvPr id="30" name="dsl:oc2_2|i=fas:square-check" descr="tmpmnqeb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5114925"/>
            <a:ext cx="152400" cy="1524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1" name="dsl:ot2_2"/>
          <p:cNvSpPr txBox="1"/>
          <p:nvPr/>
        </p:nvSpPr>
        <p:spPr>
          <a:xfrm>
            <a:off x="3752850" y="5086350"/>
            <a:ext cx="78295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Age of the Universe t ≈ 1/H₀ 宇宙年龄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Luminosity &amp; Radiant Flux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光度与辐射通量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59067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59067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3620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luminosity 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of a star is its total radiated power (W).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radiant flux intensity F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the radiant power per unit area received at distance d (W m⁻²).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光度=恒星辐射总功率；辐射通量=单位面积接收功率。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571875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571875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571875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反平方定律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352925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Radiation spreads over a sphere of area 4πd² 球面扩散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F is what we measure as "apparent brightness" 表观亮度即 F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Same star at double distance ⇒ quarter of the flux 距离加倍通量减为 1/4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rf-star"/>
          <p:cNvSpPr/>
          <p:nvPr/>
        </p:nvSpPr>
        <p:spPr>
          <a:xfrm>
            <a:off x="8382000" y="3476625"/>
            <a:ext cx="381000" cy="3810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rf-s1"/>
          <p:cNvSpPr/>
          <p:nvPr/>
        </p:nvSpPr>
        <p:spPr>
          <a:xfrm>
            <a:off x="7810500" y="2905125"/>
            <a:ext cx="1524000" cy="1524000"/>
          </a:xfrm>
          <a:prstGeom prst="ellipse">
            <a:avLst/>
          </a:prstGeom>
          <a:noFill/>
          <a:ln w="1905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rf-s2"/>
          <p:cNvSpPr/>
          <p:nvPr/>
        </p:nvSpPr>
        <p:spPr>
          <a:xfrm>
            <a:off x="7143750" y="2238375"/>
            <a:ext cx="2857500" cy="2857500"/>
          </a:xfrm>
          <a:prstGeom prst="ellipse">
            <a:avLst/>
          </a:prstGeom>
          <a:noFill/>
          <a:ln w="19050">
            <a:solidFill>
              <a:srgbClr val="0E4D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rf-d1"/>
          <p:cNvSpPr txBox="1"/>
          <p:nvPr/>
        </p:nvSpPr>
        <p:spPr>
          <a:xfrm>
            <a:off x="9382125" y="3143250"/>
            <a:ext cx="571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i="1" sz="1200" noProof="1">
                <a:solidFill>
                  <a:srgbClr val="5C7A84"/>
                </a:solidFill>
                <a:latin typeface="MiSans"/>
                <a:ea typeface="MiSans"/>
              </a:rPr>
              <a:t>d</a:t>
            </a:r>
          </a:p>
        </p:txBody>
      </p:sp>
      <p:sp>
        <p:nvSpPr>
          <p:cNvPr id="21" name="dsl:rf-d2"/>
          <p:cNvSpPr txBox="1"/>
          <p:nvPr/>
        </p:nvSpPr>
        <p:spPr>
          <a:xfrm>
            <a:off x="10248900" y="2495550"/>
            <a:ext cx="762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>
                <a:solidFill>
                  <a:srgbClr val="0E4D64"/>
                </a:solidFill>
                <a:latin typeface="MiSans"/>
                <a:ea typeface="MiSans"/>
              </a:rPr>
              <a:t>2</a:t>
            </a:r>
            <a:r>
              <a:rPr i="1" sz="1200" noProof="1">
                <a:solidFill>
                  <a:srgbClr val="0E4D64"/>
                </a:solidFill>
                <a:latin typeface="MiSans"/>
                <a:ea typeface="MiSans"/>
              </a:rPr>
              <a:t>d</a:t>
            </a:r>
          </a:p>
        </p:txBody>
      </p:sp>
      <p:sp>
        <p:nvSpPr>
          <p:cNvPr id="22" name="dsl:rf-cap|s=$small"/>
          <p:cNvSpPr txBox="1"/>
          <p:nvPr/>
        </p:nvSpPr>
        <p:spPr>
          <a:xfrm>
            <a:off x="6286500" y="53340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Flux spreads over area 4πd² 通量随球面扩散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Standard Candles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标准烛光与造父变星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A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standard candle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is a class of stellar object of known luminosity, whose distance can be calculated from its measured radiant flux intensity and its luminosity.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光度已知的一类天体；由 L 与测得的 F 求距离。</a:t>
            </a:r>
          </a:p>
        </p:txBody>
      </p:sp>
      <p:sp>
        <p:nvSpPr>
          <p:cNvPr id="12" name="dsl:b1"/>
          <p:cNvSpPr txBox="1"/>
          <p:nvPr/>
        </p:nvSpPr>
        <p:spPr>
          <a:xfrm>
            <a:off x="609600" y="305752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Cepheid variables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luminosity varies periodically (1–100 days) 造父变星周期性变光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Period–luminosity relation: measure the period ⇒ know L 周期-光度关系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Method: measure period ⇒ L; measure F; compute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</m:rad>
              </m:oMath>
            </a14:m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测距三步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Reaches distances of millions of light-years; 1 ly = 9.46 × 10¹⁵ m 适用遥远星系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Wien's Displacement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维恩位移定律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Stars behave approximately as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black bodies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: their emission spectrum peaks at a wavelength λmax which depends only on surface temperature 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恒星近似黑体辐射，谱峰波长只与表面温度有关。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e>
                  <m:sub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2.898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m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K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 必须用开尔文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1525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Hotter star ⇒ shorter λmax (bluer); cooler ⇒ longer (redder) 越热越蓝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Measure λmax ⇒ surface temperature 测峰值得温度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The Sun: λmax ≈ 510 nm ⇒ T ≈ 5700 K 太阳示例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dsl:bb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Black-body spectra at two temperatures 两个温度的黑体谱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Stefan–Boltzmann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斯忒藩-玻尔兹曼定律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The luminosity of a spherical black body of radius r at temperature T is proportional to its surface area and to the fourth power of T.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光度正比于表面积与温度的四次方。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σ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σ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5.67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8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W</m:t>
                </m:r>
                <m:r>
                  <m:t> 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斯忒藩-玻尔兹曼常量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Luminosity is set by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both size and temperature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L 由 r 与 T 共同决定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T⁴ makes L extremely sensitive to temperature T⁴ 敏感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 red giant can outshine a small hot star by its huge r² 红巨星靠体积取胜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Unit check: m² × K⁴ × W m⁻² K⁻⁴ = W 量纲自检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Estimating Stellar Radii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估算恒星半径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16</a:t>
            </a:r>
          </a:p>
        </p:txBody>
      </p:sp>
      <p:sp>
        <p:nvSpPr>
          <p:cNvPr id="9" name="dsl:b0"/>
          <p:cNvSpPr txBox="1"/>
          <p:nvPr/>
        </p:nvSpPr>
        <p:spPr>
          <a:xfrm>
            <a:off x="609600" y="1809750"/>
            <a:ext cx="109728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Measure λmax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from the spectrum ⇒ Wien's law gives surface temperature T 谱峰⇒温度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Find L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from a standard-candle method (e.g. Cepheid period + measured F) 标准烛光⇒光度</a:t>
            </a:r>
          </a:p>
          <a:p>
            <a:pPr algn="l">
              <a:lnSpc>
                <a:spcPct val="145000"/>
              </a:lnSpc>
            </a:pP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Solve L = 4πσr²T⁴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for r 联立求半径</a:t>
            </a:r>
          </a:p>
        </p:txBody>
      </p:sp>
      <p:sp>
        <p:nvSpPr>
          <p:cNvPr id="10" name="dsl:b1"/>
          <p:cNvSpPr txBox="1"/>
          <p:nvPr/>
        </p:nvSpPr>
        <p:spPr>
          <a:xfrm>
            <a:off x="609600" y="288607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</a:t>
            </a:r>
            <a14:m>
              <m:oMath>
                <m:r>
                  <a:rPr lang="en-US" i="1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r</m:t>
                </m:r>
                <m:r>
                  <a:rPr lang="en-US" sz="1350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rad>
              </m:oMath>
            </a14:m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Only an estimate — luminosity itself is estimated 结果是估算值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Compare with the Sun: r☉ = 7.0 × 10⁸ m, L☉ = 3.9 × 10²⁶ W 太阳参考值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Giant stars: r up to hundreds of r☉; white dwarfs ≈ Earth-sized 量级感受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Redshift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红移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Spectral lines from distant galaxies are shifted to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longer wavelengths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(redshift). This is a Doppler-type effect: the galaxy is receding from us.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遥远星系谱线波长变长=红移，表明星系正在退行。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  <m:r>
                  <m:t> 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≪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低速近似；z 为红移量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Δλ &gt; 0: redshift, object receding; Δλ 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&lt;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0: blueshift, approaching 红移退行、蓝移接近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Compare galaxy lines with laboratory wavelengths 与实验室波长对比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Almost all galaxies show redshift ⇒ the Universe is expanding 宇宙膨胀证据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sl:rs-a1"/>
          <p:cNvCxnSpPr/>
          <p:nvPr/>
        </p:nvCxnSpPr>
        <p:spPr>
          <a:xfrm>
            <a:off x="6858000" y="2667000"/>
            <a:ext cx="4191000" cy="0"/>
          </a:xfrm>
          <a:prstGeom prst="straightConnector1">
            <a:avLst/>
          </a:prstGeom>
          <a:ln w="127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rs-l1"/>
          <p:cNvSpPr/>
          <p:nvPr/>
        </p:nvSpPr>
        <p:spPr>
          <a:xfrm>
            <a:off x="7810500" y="2552700"/>
            <a:ext cx="38100" cy="228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rs-l2"/>
          <p:cNvSpPr/>
          <p:nvPr/>
        </p:nvSpPr>
        <p:spPr>
          <a:xfrm>
            <a:off x="8572500" y="2552700"/>
            <a:ext cx="38100" cy="228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rs-t1"/>
          <p:cNvSpPr txBox="1"/>
          <p:nvPr/>
        </p:nvSpPr>
        <p:spPr>
          <a:xfrm>
            <a:off x="6858000" y="2286000"/>
            <a:ext cx="28575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0E4D64"/>
                </a:solidFill>
                <a:latin typeface="MiSans"/>
                <a:ea typeface="MiSans"/>
              </a:rPr>
              <a:t>laboratory 实验室谱线</a:t>
            </a:r>
          </a:p>
        </p:txBody>
      </p:sp>
      <p:cxnSp>
        <p:nvCxnSpPr>
          <p:cNvPr id="21" name="dsl:rs-a2"/>
          <p:cNvCxnSpPr/>
          <p:nvPr/>
        </p:nvCxnSpPr>
        <p:spPr>
          <a:xfrm>
            <a:off x="6858000" y="4000500"/>
            <a:ext cx="4191000" cy="0"/>
          </a:xfrm>
          <a:prstGeom prst="straightConnector1">
            <a:avLst/>
          </a:prstGeom>
          <a:ln w="12700">
            <a:solidFill>
              <a:srgbClr val="1C2B33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rs-l3"/>
          <p:cNvSpPr/>
          <p:nvPr/>
        </p:nvSpPr>
        <p:spPr>
          <a:xfrm>
            <a:off x="8096250" y="3886200"/>
            <a:ext cx="38100" cy="2286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rs-l4"/>
          <p:cNvSpPr/>
          <p:nvPr/>
        </p:nvSpPr>
        <p:spPr>
          <a:xfrm>
            <a:off x="8915400" y="3886200"/>
            <a:ext cx="38100" cy="2286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dsl:rs-sh"/>
          <p:cNvCxnSpPr/>
          <p:nvPr/>
        </p:nvCxnSpPr>
        <p:spPr>
          <a:xfrm>
            <a:off x="8572500" y="2857500"/>
            <a:ext cx="342900" cy="990600"/>
          </a:xfrm>
          <a:prstGeom prst="straightConnector1">
            <a:avLst/>
          </a:prstGeom>
          <a:ln w="12700">
            <a:solidFill>
              <a:srgbClr val="D97D29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rs-t2"/>
          <p:cNvSpPr txBox="1"/>
          <p:nvPr/>
        </p:nvSpPr>
        <p:spPr>
          <a:xfrm>
            <a:off x="6858000" y="4191000"/>
            <a:ext cx="3810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050" noProof="1">
                <a:solidFill>
                  <a:srgbClr val="D97D29"/>
                </a:solidFill>
                <a:latin typeface="MiSans"/>
                <a:ea typeface="MiSans"/>
              </a:rPr>
              <a:t>distant galaxy 星系谱线（向红端移动）</a:t>
            </a:r>
          </a:p>
        </p:txBody>
      </p:sp>
      <p:sp>
        <p:nvSpPr>
          <p:cNvPr id="26" name="dsl:rs-cap|s=$small"/>
          <p:cNvSpPr txBox="1"/>
          <p:nvPr/>
        </p:nvSpPr>
        <p:spPr>
          <a:xfrm>
            <a:off x="6286500" y="49530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Lines shifted to longer λ 谱线红移对比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Hubble's Law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哈勃定律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5334000" cy="13335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3335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4876800" cy="1104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Hubble found that the recession speed v of a galaxy is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directly proportional to its distance 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the signature of a uniformly expanding Universe.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星系退行速度与距离成正比——宇宙均匀膨胀的标志。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3147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314700"/>
            <a:ext cx="25527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,</m:t>
                </m:r>
                <m:r>
                  <m:t> </m:t>
                </m:r>
                <m:sSub>
                  <m:sSub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2.4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18</m:t>
                    </m:r>
                  </m:sup>
                </m:sSup>
                <m:r>
                  <m:t> 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s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sup>
                </m:sSup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3543300" y="3314700"/>
            <a:ext cx="22479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哈勃常数（教材取值）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4095750"/>
            <a:ext cx="5334000" cy="14001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H₀ = gradient of the v–d graph 图线斜率即 H₀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Unit of H₀: s⁻¹ (often quoted as km s⁻¹ Mpc⁻¹; 1 Mpc = 3.09 × 10¹⁹ km) 单位换算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All galaxies recede ⇒ space itself expands, no centre 膨胀无中心</a:t>
            </a:r>
          </a:p>
        </p:txBody>
      </p:sp>
      <p:sp>
        <p:nvSpPr>
          <p:cNvPr id="16" name="dsl:dg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dsl:hub-chart"/>
          <p:cNvGraphicFramePr>
            <a:graphicFrameLocks noGrp="1"/>
          </p:cNvGraphicFramePr>
          <p:nvPr/>
        </p:nvGraphicFramePr>
        <p:xfrm>
          <a:off x="6667500" y="2000250"/>
          <a:ext cx="4667250" cy="3333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dsl:dg-cap2|s=$small"/>
          <p:cNvSpPr txBox="1"/>
          <p:nvPr/>
        </p:nvSpPr>
        <p:spPr>
          <a:xfrm>
            <a:off x="6286500" y="5943600"/>
            <a:ext cx="52959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Recession speed against distance v–d 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The Big Bang Theory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大爆炸理论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16</a:t>
            </a:r>
          </a:p>
        </p:txBody>
      </p:sp>
      <p:sp>
        <p:nvSpPr>
          <p:cNvPr id="9" name="dsl:b0-bg"/>
          <p:cNvSpPr/>
          <p:nvPr/>
        </p:nvSpPr>
        <p:spPr>
          <a:xfrm>
            <a:off x="609600" y="1809750"/>
            <a:ext cx="10972800" cy="1076325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0-bar"/>
          <p:cNvSpPr/>
          <p:nvPr/>
        </p:nvSpPr>
        <p:spPr>
          <a:xfrm>
            <a:off x="609600" y="1809750"/>
            <a:ext cx="38100" cy="1076325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0-tx"/>
          <p:cNvSpPr txBox="1"/>
          <p:nvPr/>
        </p:nvSpPr>
        <p:spPr>
          <a:xfrm>
            <a:off x="838200" y="1924050"/>
            <a:ext cx="10515600" cy="847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Extrapolating the expansion backwards, the Universe began as an extremely hot, dense point — the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Big Bang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— and has been expanding ever since.</a:t>
            </a:r>
          </a:p>
          <a:p>
            <a:pPr algn="l">
              <a:lnSpc>
                <a:spcPct val="145000"/>
              </a:lnSpc>
            </a:pPr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回溯膨胀：宇宙起源于极热极密的起点，此后不断膨胀。</a:t>
            </a:r>
          </a:p>
        </p:txBody>
      </p:sp>
      <p:sp>
        <p:nvSpPr>
          <p:cNvPr id="12" name="dsl:b1-bg"/>
          <p:cNvSpPr/>
          <p:nvPr/>
        </p:nvSpPr>
        <p:spPr>
          <a:xfrm>
            <a:off x="609600" y="3057525"/>
            <a:ext cx="109728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b1-fx"/>
          <p:cNvSpPr txBox="1"/>
          <p:nvPr/>
        </p:nvSpPr>
        <p:spPr>
          <a:xfrm>
            <a:off x="838200" y="3057525"/>
            <a:ext cx="52578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sSub>
                      <m:sSub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den>
                </m:f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50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den>
                </m:f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1.3</m:t>
                </m:r>
                <m:r>
                  <a:rPr lang="en-US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650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sup>
                </m:sSup>
                <m:r>
                  <m:t> 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y</m:t>
                </m:r>
                <m:r>
                  <a:rPr lang="en-US" i="1" sz="1650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r</m:t>
                </m:r>
              </m:oMath>
            </a14:m>
          </a:p>
        </p:txBody>
      </p:sp>
      <p:sp>
        <p:nvSpPr>
          <p:cNvPr id="14" name="dsl:b1-nt|s=$small"/>
          <p:cNvSpPr txBox="1"/>
          <p:nvPr/>
        </p:nvSpPr>
        <p:spPr>
          <a:xfrm>
            <a:off x="6638925" y="3057525"/>
            <a:ext cx="4791075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宇宙年龄估算</a:t>
            </a:r>
          </a:p>
        </p:txBody>
      </p:sp>
      <p:sp>
        <p:nvSpPr>
          <p:cNvPr id="15" name="dsl:b2"/>
          <p:cNvSpPr txBox="1"/>
          <p:nvPr/>
        </p:nvSpPr>
        <p:spPr>
          <a:xfrm>
            <a:off x="609600" y="3838575"/>
            <a:ext cx="10972800" cy="1228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Evidence: galaxy redshift (Hubble's law) 证据一：红移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Evidence: </a:t>
            </a:r>
            <a:r>
              <a:rPr b="1" sz="1350" noProof="1">
                <a:solidFill>
                  <a:srgbClr val="1C2B33"/>
                </a:solidFill>
                <a:latin typeface="MiSans"/>
                <a:ea typeface="MiSans"/>
              </a:rPr>
              <a:t>cosmic microwave background</a:t>
            </a: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 radiation — the cooled relic of the hot early Universe 证据二：微波背景辐射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Evidence: relative abundance of light elements (H, He) 证据三：轻元素丰度</a:t>
            </a:r>
          </a:p>
          <a:p>
            <a:pPr algn="l">
              <a:lnSpc>
                <a:spcPct val="145000"/>
              </a:lnSpc>
            </a:pPr>
            <a:r>
              <a:rPr sz="1350" noProof="1">
                <a:solidFill>
                  <a:srgbClr val="1C2B33"/>
                </a:solidFill>
                <a:latin typeface="MiSans"/>
                <a:ea typeface="MiSans"/>
              </a:rPr>
              <a:t>• 1/H₀ conversion: 4.2 × 10¹⁷ s ÷ (3.16 × 10⁷ s yr⁻¹) ≈ 1.3 × 10¹⁰ years 秒换算为年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 25A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16</a:t>
            </a:r>
          </a:p>
        </p:txBody>
      </p:sp>
      <p:sp>
        <p:nvSpPr>
          <p:cNvPr id="9" name="dsl:ex-tag|s=$badge"/>
          <p:cNvSpPr txBox="1"/>
          <p:nvPr/>
        </p:nvSpPr>
        <p:spPr>
          <a:xfrm>
            <a:off x="609600" y="1752600"/>
            <a:ext cx="4572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25A</a:t>
            </a:r>
          </a:p>
        </p:txBody>
      </p:sp>
      <p:sp>
        <p:nvSpPr>
          <p:cNvPr id="10" name="dsl:ex-qbg"/>
          <p:cNvSpPr/>
          <p:nvPr/>
        </p:nvSpPr>
        <p:spPr>
          <a:xfrm>
            <a:off x="609600" y="2076450"/>
            <a:ext cx="4381500" cy="14287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ex-q"/>
          <p:cNvSpPr txBox="1"/>
          <p:nvPr/>
        </p:nvSpPr>
        <p:spPr>
          <a:xfrm>
            <a:off x="800100" y="2209800"/>
            <a:ext cx="4000500" cy="11620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luminosity of the Sun is 3.9 × 10²⁶ W. The Earth orbits the Sun at a mean distance of 1.5 × 10⁸ km. Calculate the radiant flux intensity of the Sun near the Earth.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050" noProof="1">
                <a:solidFill>
                  <a:srgbClr val="5C7A84"/>
                </a:solidFill>
                <a:latin typeface="MiSans"/>
                <a:ea typeface="MiSans"/>
              </a:rPr>
              <a:t>先把 km 换成 m；此即地球轨道处的"太阳常数"。</a:t>
            </a:r>
          </a:p>
        </p:txBody>
      </p:sp>
      <p:sp>
        <p:nvSpPr>
          <p:cNvPr id="12" name="dsl:ex-sol|s=$badge"/>
          <p:cNvSpPr txBox="1"/>
          <p:nvPr/>
        </p:nvSpPr>
        <p:spPr>
          <a:xfrm>
            <a:off x="5372100" y="175260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</a:p>
        </p:txBody>
      </p:sp>
      <p:sp>
        <p:nvSpPr>
          <p:cNvPr id="13" name="dsl:ex-steps"/>
          <p:cNvSpPr txBox="1"/>
          <p:nvPr/>
        </p:nvSpPr>
        <p:spPr>
          <a:xfrm>
            <a:off x="5372100" y="2076450"/>
            <a:ext cx="6210300" cy="838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1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Convert distance: d = 1.5 × 10⁸ km = 1.5 × 10¹¹ m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2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Area of sphere: 4πd² = 4π × (1.5×10¹¹)² = 2.83 × 10²³ m²</a:t>
            </a:r>
          </a:p>
          <a:p>
            <a:pPr algn="l">
              <a:lnSpc>
                <a:spcPct val="140000"/>
              </a:lnSpc>
            </a:pPr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Step 3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F = L/4πd² = 3.9×10²⁶ / 2.83×10²³</a:t>
            </a:r>
          </a:p>
        </p:txBody>
      </p:sp>
      <p:sp>
        <p:nvSpPr>
          <p:cNvPr id="14" name="dsl:ex-abg"/>
          <p:cNvSpPr/>
          <p:nvPr/>
        </p:nvSpPr>
        <p:spPr>
          <a:xfrm>
            <a:off x="5372100" y="3067050"/>
            <a:ext cx="6210300" cy="5143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ex-abar"/>
          <p:cNvSpPr/>
          <p:nvPr/>
        </p:nvSpPr>
        <p:spPr>
          <a:xfrm>
            <a:off x="5372100" y="3067050"/>
            <a:ext cx="38100" cy="5143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ex-ans"/>
          <p:cNvSpPr txBox="1"/>
          <p:nvPr/>
        </p:nvSpPr>
        <p:spPr>
          <a:xfrm>
            <a:off x="5562600" y="3067050"/>
            <a:ext cx="586740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75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75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75" noProof="1">
                <a:solidFill>
                  <a:srgbClr val="D97D29"/>
                </a:solidFill>
                <a:latin typeface="MiSans"/>
                <a:ea typeface="MiSans"/>
              </a:rPr>
              <a:t>F ≈ 1.4 × 10³ W m⁻²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25B &amp; 25C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16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25B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 Cepheid variable has luminosity L = 4.6 × 10¹⁵ W (from its period). Its radiant flux intensity measured on Earth is F = 1.3 × 10⁻²³ W m⁻². Determine its distance from Earth.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Rearrange: </a:t>
            </a:r>
            <a14:m>
              <m:oMath>
                <m:r>
                  <a:rPr lang="en-US" i="1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lang="en-US" sz="1125">
                    <a:solidFill>
                      <a:srgbClr val="1C2B33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degHide m:val="1"/>
                    <m:ctrlP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</m:ctrlPr>
                  </m:radPr>
                  <m:deg/>
                  <m:e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sz="1125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</m:rad>
              </m:oMath>
            </a14:m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d = √(4.6×10¹⁵ / (4π × 1.3×10⁻²³)) = √(2.8×10³⁷)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≈ 560 light-years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38290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8290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8290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d ≈ 5.3 × 10¹⁸ m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25C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The wavelength of peak intensity of the Sun's radiation is 510 nm. Use Wien's displacement law to calculate the surface temperature of the Sun.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T = 2.898×10⁻³ / λmax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T = 2.898×10⁻³ / 510×10⁻⁹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T ≈ 5700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Worked Examples 25D &amp; 25E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例题解析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16</a:t>
            </a:r>
          </a:p>
        </p:txBody>
      </p:sp>
      <p:sp>
        <p:nvSpPr>
          <p:cNvPr id="9" name="dsl:te0-tag|s=$badge"/>
          <p:cNvSpPr txBox="1"/>
          <p:nvPr/>
        </p:nvSpPr>
        <p:spPr>
          <a:xfrm>
            <a:off x="6096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25D</a:t>
            </a:r>
          </a:p>
        </p:txBody>
      </p:sp>
      <p:sp>
        <p:nvSpPr>
          <p:cNvPr id="10" name="dsl:te0-qbg"/>
          <p:cNvSpPr/>
          <p:nvPr/>
        </p:nvSpPr>
        <p:spPr>
          <a:xfrm>
            <a:off x="6096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te0-q"/>
          <p:cNvSpPr txBox="1"/>
          <p:nvPr/>
        </p:nvSpPr>
        <p:spPr>
          <a:xfrm>
            <a:off x="7620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Sirius: luminosity L = 1.6 × 10²⁸ W, intensity maximum at 290 nm. Estimate its radius. (b = 2.898×10⁻³ m K; σ = 5.67×10⁻⁸ W m⁻² K⁻⁴)</a:t>
            </a:r>
          </a:p>
        </p:txBody>
      </p:sp>
      <p:sp>
        <p:nvSpPr>
          <p:cNvPr id="12" name="dsl:te0-st"/>
          <p:cNvSpPr txBox="1"/>
          <p:nvPr/>
        </p:nvSpPr>
        <p:spPr>
          <a:xfrm>
            <a:off x="609600" y="2981325"/>
            <a:ext cx="5334000" cy="7334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Wien: T = 2.898×10⁻³ / 290×10⁻⁹ = 1.0×10⁴ K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 = √(L/4πσT⁴) = √(1.6×10²⁸ / (4π×5.67×10⁻⁸×10¹⁶))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3.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r = √(2.25×10¹⁸)</a:t>
            </a:r>
          </a:p>
        </p:txBody>
      </p:sp>
      <p:sp>
        <p:nvSpPr>
          <p:cNvPr id="13" name="dsl:te0-abg"/>
          <p:cNvSpPr/>
          <p:nvPr/>
        </p:nvSpPr>
        <p:spPr>
          <a:xfrm>
            <a:off x="609600" y="38290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0-abar"/>
          <p:cNvSpPr/>
          <p:nvPr/>
        </p:nvSpPr>
        <p:spPr>
          <a:xfrm>
            <a:off x="609600" y="38290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e0-ans"/>
          <p:cNvSpPr txBox="1"/>
          <p:nvPr/>
        </p:nvSpPr>
        <p:spPr>
          <a:xfrm>
            <a:off x="781050" y="38290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r ≈ 1.5 × 10⁹ m (≈ 2 r☉)</a:t>
            </a:r>
          </a:p>
        </p:txBody>
      </p:sp>
      <p:sp>
        <p:nvSpPr>
          <p:cNvPr id="16" name="dsl:te1-tag|s=$badge"/>
          <p:cNvSpPr txBox="1"/>
          <p:nvPr/>
        </p:nvSpPr>
        <p:spPr>
          <a:xfrm>
            <a:off x="6248400" y="1733550"/>
            <a:ext cx="5334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WORKED EXAMPLE 25E</a:t>
            </a:r>
          </a:p>
        </p:txBody>
      </p:sp>
      <p:sp>
        <p:nvSpPr>
          <p:cNvPr id="17" name="dsl:te1-qbg"/>
          <p:cNvSpPr/>
          <p:nvPr/>
        </p:nvSpPr>
        <p:spPr>
          <a:xfrm>
            <a:off x="6248400" y="2038350"/>
            <a:ext cx="5334000" cy="809625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te1-q"/>
          <p:cNvSpPr txBox="1"/>
          <p:nvPr/>
        </p:nvSpPr>
        <p:spPr>
          <a:xfrm>
            <a:off x="6400800" y="2152650"/>
            <a:ext cx="5029200" cy="5810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 hydrogen line from Ursa Majoris has wavelength 486.112 nm; in the laboratory it is 486.133 nm. Determine the velocity of the star relative to Earth. (c = 3.0 × 10⁸ m s⁻¹)</a:t>
            </a:r>
          </a:p>
        </p:txBody>
      </p:sp>
      <p:sp>
        <p:nvSpPr>
          <p:cNvPr id="19" name="dsl:te1-st"/>
          <p:cNvSpPr txBox="1"/>
          <p:nvPr/>
        </p:nvSpPr>
        <p:spPr>
          <a:xfrm>
            <a:off x="6248400" y="2981325"/>
            <a:ext cx="5334000" cy="4667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1.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Δλ = 486.112 − 486.133 = −0.021 nm (blueshift — approaching)</a:t>
            </a:r>
          </a:p>
          <a:p>
            <a:pPr algn="l">
              <a:lnSpc>
                <a:spcPct val="135000"/>
              </a:lnSpc>
            </a:pPr>
            <a:r>
              <a:rPr b="1" sz="1125" noProof="1">
                <a:solidFill>
                  <a:srgbClr val="1C2B33"/>
                </a:solidFill>
                <a:latin typeface="MiSans"/>
                <a:ea typeface="MiSans"/>
              </a:rPr>
              <a:t>2.</a:t>
            </a:r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 v = c Δλ/λ = 3.0×10⁸ × (−0.021/486.133)</a:t>
            </a:r>
          </a:p>
        </p:txBody>
      </p:sp>
      <p:sp>
        <p:nvSpPr>
          <p:cNvPr id="20" name="dsl:te1-abg"/>
          <p:cNvSpPr/>
          <p:nvPr/>
        </p:nvSpPr>
        <p:spPr>
          <a:xfrm>
            <a:off x="6248400" y="3562350"/>
            <a:ext cx="5334000" cy="4381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1-abar"/>
          <p:cNvSpPr/>
          <p:nvPr/>
        </p:nvSpPr>
        <p:spPr>
          <a:xfrm>
            <a:off x="6248400" y="3562350"/>
            <a:ext cx="38100" cy="43815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te1-ans"/>
          <p:cNvSpPr txBox="1"/>
          <p:nvPr/>
        </p:nvSpPr>
        <p:spPr>
          <a:xfrm>
            <a:off x="6419850" y="3562350"/>
            <a:ext cx="5029200" cy="4381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200" noProof="1">
                <a:solidFill>
                  <a:srgbClr val="1C2B33"/>
                </a:solidFill>
                <a:latin typeface="MiSans"/>
                <a:ea typeface="MiSans"/>
              </a:rPr>
              <a:t>Answer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　</a:t>
            </a:r>
            <a:r>
              <a:rPr b="1" sz="1200" noProof="1">
                <a:solidFill>
                  <a:srgbClr val="D97D29"/>
                </a:solidFill>
                <a:latin typeface="MiSans"/>
                <a:ea typeface="MiSans"/>
              </a:rPr>
              <a:t>v ≈ 1.3 × 10⁴ m s⁻¹ towards Earth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14 / 16</a:t>
            </a:r>
          </a:p>
        </p:txBody>
      </p:sp>
      <p:sp>
        <p:nvSpPr>
          <p:cNvPr id="9" name="dsl:pq0-bg"/>
          <p:cNvSpPr/>
          <p:nvPr/>
        </p:nvSpPr>
        <p:spPr>
          <a:xfrm>
            <a:off x="609600" y="17907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pq0-num"/>
          <p:cNvSpPr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pq0-n"/>
          <p:cNvSpPr txBox="1"/>
          <p:nvPr/>
        </p:nvSpPr>
        <p:spPr>
          <a:xfrm>
            <a:off x="609600" y="17907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Q1</a:t>
            </a:r>
          </a:p>
        </p:txBody>
      </p:sp>
      <p:sp>
        <p:nvSpPr>
          <p:cNvPr id="12" name="dsl:pq0-t"/>
          <p:cNvSpPr txBox="1"/>
          <p:nvPr/>
        </p:nvSpPr>
        <p:spPr>
          <a:xfrm>
            <a:off x="1409700" y="18859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radiant flux intensity of the Sun at Earth is 1400 W m⁻². The mean orbital radii of Earth and Mars are 1.5 × 10⁸ km and 2.3 × 10⁸ km. Determine the flux intensity at Mars.</a:t>
            </a:r>
          </a:p>
        </p:txBody>
      </p:sp>
      <p:sp>
        <p:nvSpPr>
          <p:cNvPr id="13" name="dsl:pq1-bg"/>
          <p:cNvSpPr/>
          <p:nvPr/>
        </p:nvSpPr>
        <p:spPr>
          <a:xfrm>
            <a:off x="609600" y="253365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pq1-num"/>
          <p:cNvSpPr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pq1-n"/>
          <p:cNvSpPr txBox="1"/>
          <p:nvPr/>
        </p:nvSpPr>
        <p:spPr>
          <a:xfrm>
            <a:off x="609600" y="253365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Q2</a:t>
            </a:r>
          </a:p>
        </p:txBody>
      </p:sp>
      <p:sp>
        <p:nvSpPr>
          <p:cNvPr id="16" name="dsl:pq1-t"/>
          <p:cNvSpPr txBox="1"/>
          <p:nvPr/>
        </p:nvSpPr>
        <p:spPr>
          <a:xfrm>
            <a:off x="1409700" y="262890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 star has intensity maximum at 650 nm and luminosity 3.0 × 10²⁹ W. Estimate its surface temperature and radius. (b = 2.898×10⁻³ m K; σ = 5.67×10⁻⁸ W m⁻² K⁻⁴)</a:t>
            </a:r>
          </a:p>
        </p:txBody>
      </p:sp>
      <p:sp>
        <p:nvSpPr>
          <p:cNvPr id="17" name="dsl:pq2-bg"/>
          <p:cNvSpPr/>
          <p:nvPr/>
        </p:nvSpPr>
        <p:spPr>
          <a:xfrm>
            <a:off x="609600" y="3276600"/>
            <a:ext cx="10972800" cy="6096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pq2-num"/>
          <p:cNvSpPr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pq2-n"/>
          <p:cNvSpPr txBox="1"/>
          <p:nvPr/>
        </p:nvSpPr>
        <p:spPr>
          <a:xfrm>
            <a:off x="609600" y="3276600"/>
            <a:ext cx="609600" cy="609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FFFFFF"/>
                </a:solidFill>
                <a:latin typeface="MiSans"/>
                <a:ea typeface="MiSans"/>
              </a:rPr>
              <a:t>Q3</a:t>
            </a:r>
          </a:p>
        </p:txBody>
      </p:sp>
      <p:sp>
        <p:nvSpPr>
          <p:cNvPr id="20" name="dsl:pq2-t"/>
          <p:cNvSpPr txBox="1"/>
          <p:nvPr/>
        </p:nvSpPr>
        <p:spPr>
          <a:xfrm>
            <a:off x="1409700" y="3371850"/>
            <a:ext cx="99441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The K-line of calcium from galaxy NGC 4889 is measured at 401.8 nm; in the laboratory it is 393.3 nm. Find the galaxy's speed, direction and distance. (H₀ = 2.4 × 10⁻¹⁸ s⁻¹)</a:t>
            </a:r>
          </a:p>
        </p:txBody>
      </p:sp>
      <p:sp>
        <p:nvSpPr>
          <p:cNvPr id="21" name="dsl:pq-ans"/>
          <p:cNvSpPr txBox="1"/>
          <p:nvPr/>
        </p:nvSpPr>
        <p:spPr>
          <a:xfrm>
            <a:off x="609600" y="6096000"/>
            <a:ext cx="109728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975" noProof="1">
                <a:solidFill>
                  <a:srgbClr val="5C7A84"/>
                </a:solidFill>
                <a:latin typeface="MiSans"/>
                <a:ea typeface="MiSans"/>
              </a:rPr>
              <a:t>Answers</a:t>
            </a:r>
            <a:r>
              <a:rPr sz="975" noProof="1">
                <a:solidFill>
                  <a:srgbClr val="5C7A84"/>
                </a:solidFill>
                <a:latin typeface="MiSans"/>
                <a:ea typeface="MiSans"/>
              </a:rPr>
              <a:t>　Q1: F = 1400×(1.5/2.3)² ≈ 600 W m⁻²　Q2: T ≈ 4500 K, r ≈ 3.3×10¹⁰ m　Q3: v = 6.5×10⁶ m s⁻¹ 退行, d ≈ 2.7×10²⁴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a14="http://schemas.microsoft.com/office/drawing/2010/main" xmlns:m="http://schemas.openxmlformats.org/officeDocument/2006/math" xmlns:mc="http://schemas.openxmlformats.org/markup-compatibility/2006" mc:Ignorable="a14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本章小结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15 / 16</a:t>
            </a:r>
          </a:p>
        </p:txBody>
      </p:sp>
      <p:sp>
        <p:nvSpPr>
          <p:cNvPr id="9" name="dsl:sm-h1|s=$badge"/>
          <p:cNvSpPr txBox="1"/>
          <p:nvPr/>
        </p:nvSpPr>
        <p:spPr>
          <a:xfrm>
            <a:off x="609600" y="17335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</a:p>
        </p:txBody>
      </p:sp>
      <p:sp>
        <p:nvSpPr>
          <p:cNvPr id="10" name="dsl:smf0-bg"/>
          <p:cNvSpPr/>
          <p:nvPr/>
        </p:nvSpPr>
        <p:spPr>
          <a:xfrm>
            <a:off x="6096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mf0-f"/>
          <p:cNvSpPr txBox="1"/>
          <p:nvPr/>
        </p:nvSpPr>
        <p:spPr>
          <a:xfrm>
            <a:off x="7620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L</m:t>
                    </m:r>
                  </m:num>
                  <m:den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sSupPr>
                        <m:ctrlP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en-US" sz="1425">
                            <a:solidFill>
                              <a:srgbClr val="0E4D6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</a:p>
        </p:txBody>
      </p:sp>
      <p:sp>
        <p:nvSpPr>
          <p:cNvPr id="12" name="dsl:smf0-n"/>
          <p:cNvSpPr txBox="1"/>
          <p:nvPr/>
        </p:nvSpPr>
        <p:spPr>
          <a:xfrm>
            <a:off x="7620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辐射通量（反平方）</a:t>
            </a:r>
          </a:p>
        </p:txBody>
      </p:sp>
      <p:sp>
        <p:nvSpPr>
          <p:cNvPr id="13" name="dsl:smf1-bg"/>
          <p:cNvSpPr/>
          <p:nvPr/>
        </p:nvSpPr>
        <p:spPr>
          <a:xfrm>
            <a:off x="6172200" y="20574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mf1-f"/>
          <p:cNvSpPr txBox="1"/>
          <p:nvPr/>
        </p:nvSpPr>
        <p:spPr>
          <a:xfrm>
            <a:off x="6324600" y="20955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e>
                  <m:sub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x</m:t>
                    </m:r>
                  </m:sub>
                </m:sSub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2.898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×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10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3</m:t>
                    </m:r>
                  </m:sup>
                </m:sSup>
              </m:oMath>
            </a14:m>
          </a:p>
        </p:txBody>
      </p:sp>
      <p:sp>
        <p:nvSpPr>
          <p:cNvPr id="15" name="dsl:smf1-n"/>
          <p:cNvSpPr txBox="1"/>
          <p:nvPr/>
        </p:nvSpPr>
        <p:spPr>
          <a:xfrm>
            <a:off x="6324600" y="23812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维恩位移定律</a:t>
            </a:r>
          </a:p>
        </p:txBody>
      </p:sp>
      <p:sp>
        <p:nvSpPr>
          <p:cNvPr id="16" name="dsl:smf2-bg"/>
          <p:cNvSpPr/>
          <p:nvPr/>
        </p:nvSpPr>
        <p:spPr>
          <a:xfrm>
            <a:off x="6096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mf2-f"/>
          <p:cNvSpPr txBox="1"/>
          <p:nvPr/>
        </p:nvSpPr>
        <p:spPr>
          <a:xfrm>
            <a:off x="7620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σ</m:t>
                </m:r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sSup>
                  <m:sSup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T</m:t>
                    </m:r>
                  </m:e>
                  <m:sup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4</m:t>
                    </m:r>
                  </m:sup>
                </m:sSup>
              </m:oMath>
            </a14:m>
          </a:p>
        </p:txBody>
      </p:sp>
      <p:sp>
        <p:nvSpPr>
          <p:cNvPr id="18" name="dsl:smf2-n"/>
          <p:cNvSpPr txBox="1"/>
          <p:nvPr/>
        </p:nvSpPr>
        <p:spPr>
          <a:xfrm>
            <a:off x="7620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斯忒藩-玻尔兹曼</a:t>
            </a:r>
          </a:p>
        </p:txBody>
      </p:sp>
      <p:sp>
        <p:nvSpPr>
          <p:cNvPr id="19" name="dsl:smf3-bg"/>
          <p:cNvSpPr/>
          <p:nvPr/>
        </p:nvSpPr>
        <p:spPr>
          <a:xfrm>
            <a:off x="6172200" y="27813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mf3-f"/>
          <p:cNvSpPr txBox="1"/>
          <p:nvPr/>
        </p:nvSpPr>
        <p:spPr>
          <a:xfrm>
            <a:off x="6324600" y="28194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z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λ</m:t>
                    </m:r>
                  </m:den>
                </m:f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f>
                  <m:f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c</m:t>
                    </m:r>
                  </m:den>
                </m:f>
              </m:oMath>
            </a14:m>
          </a:p>
        </p:txBody>
      </p:sp>
      <p:sp>
        <p:nvSpPr>
          <p:cNvPr id="21" name="dsl:smf3-n"/>
          <p:cNvSpPr txBox="1"/>
          <p:nvPr/>
        </p:nvSpPr>
        <p:spPr>
          <a:xfrm>
            <a:off x="6324600" y="31051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红移</a:t>
            </a:r>
          </a:p>
        </p:txBody>
      </p:sp>
      <p:sp>
        <p:nvSpPr>
          <p:cNvPr id="22" name="dsl:smf4-bg"/>
          <p:cNvSpPr/>
          <p:nvPr/>
        </p:nvSpPr>
        <p:spPr>
          <a:xfrm>
            <a:off x="6096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smf4-f"/>
          <p:cNvSpPr txBox="1"/>
          <p:nvPr/>
        </p:nvSpPr>
        <p:spPr>
          <a:xfrm>
            <a:off x="7620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d</m:t>
                </m:r>
              </m:oMath>
            </a14:m>
          </a:p>
        </p:txBody>
      </p:sp>
      <p:sp>
        <p:nvSpPr>
          <p:cNvPr id="24" name="dsl:smf4-n"/>
          <p:cNvSpPr txBox="1"/>
          <p:nvPr/>
        </p:nvSpPr>
        <p:spPr>
          <a:xfrm>
            <a:off x="7620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哈勃定律</a:t>
            </a:r>
          </a:p>
        </p:txBody>
      </p:sp>
      <p:sp>
        <p:nvSpPr>
          <p:cNvPr id="25" name="dsl:smf5-bg"/>
          <p:cNvSpPr/>
          <p:nvPr/>
        </p:nvSpPr>
        <p:spPr>
          <a:xfrm>
            <a:off x="6172200" y="3505200"/>
            <a:ext cx="5410200" cy="60960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smf5-f"/>
          <p:cNvSpPr txBox="1"/>
          <p:nvPr/>
        </p:nvSpPr>
        <p:spPr>
          <a:xfrm>
            <a:off x="6324600" y="3543300"/>
            <a:ext cx="51054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14:m>
              <m:oMath>
                <m:r>
                  <a:rPr lang="en-US" i="1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≈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lang="en-US" sz="1425">
                    <a:solidFill>
                      <a:srgbClr val="0E4D64"/>
                    </a:solidFill>
                    <a:latin typeface="Cambria Math" panose="02040503050406030204" pitchFamily="18" charset="0"/>
                  </a:rPr>
                  <m:t>/</m:t>
                </m:r>
                <m:sSub>
                  <m:sSubPr>
                    <m:ctrlP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i="1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b>
                    <m:r>
                      <a:rPr lang="en-US" sz="1425">
                        <a:solidFill>
                          <a:srgbClr val="0E4D64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</m:oMath>
            </a14:m>
          </a:p>
        </p:txBody>
      </p:sp>
      <p:sp>
        <p:nvSpPr>
          <p:cNvPr id="27" name="dsl:smf5-n"/>
          <p:cNvSpPr txBox="1"/>
          <p:nvPr/>
        </p:nvSpPr>
        <p:spPr>
          <a:xfrm>
            <a:off x="6324600" y="3829050"/>
            <a:ext cx="5105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00" noProof="1">
                <a:solidFill>
                  <a:srgbClr val="5C7A84"/>
                </a:solidFill>
                <a:latin typeface="MiSans"/>
                <a:ea typeface="MiSans"/>
              </a:rPr>
              <a:t>宇宙年龄</a:t>
            </a:r>
          </a:p>
        </p:txBody>
      </p:sp>
      <p:sp>
        <p:nvSpPr>
          <p:cNvPr id="28" name="dsl:sm-h2|s=$badge"/>
          <p:cNvSpPr txBox="1"/>
          <p:nvPr/>
        </p:nvSpPr>
        <p:spPr>
          <a:xfrm>
            <a:off x="609600" y="4324350"/>
            <a:ext cx="5715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KEY IDEAS 核心思想</a:t>
            </a:r>
          </a:p>
        </p:txBody>
      </p:sp>
      <p:sp>
        <p:nvSpPr>
          <p:cNvPr id="29" name="dsl:sm-ideas"/>
          <p:cNvSpPr txBox="1"/>
          <p:nvPr/>
        </p:nvSpPr>
        <p:spPr>
          <a:xfrm>
            <a:off x="609600" y="4629150"/>
            <a:ext cx="10972800" cy="10572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L is intrinsic power; F is what we measure — do not confuse 光度≠通量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Standard candle: period ⇒ L; L and F ⇒ d 标准烛光测距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Wien + Stefan–Boltzmann together give stellar radius 两定律联立求半径</a:t>
            </a:r>
          </a:p>
          <a:p>
            <a:pPr algn="l">
              <a:lnSpc>
                <a:spcPct val="14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• Expansion ⇒ Big Bang; age ≈ 1/H₀ ≈ 13 billion years 膨胀⇒大爆炸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953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noProof="1" spc="150">
                <a:solidFill>
                  <a:srgbClr val="D97D29"/>
                </a:solidFill>
                <a:latin typeface="QuattrocentoSans"/>
                <a:ea typeface="MiSans"/>
              </a:rPr>
              <a:t>TOPIC 25 · CIE 9702 A2 PHYSICS</a:t>
            </a: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175" noProof="1">
                <a:solidFill>
                  <a:srgbClr val="0E4D64"/>
                </a:solidFill>
                <a:latin typeface="QuattrocentoSans"/>
                <a:ea typeface="MiSans"/>
              </a:rPr>
              <a:t>Exam Tips</a:t>
            </a: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</a:t>
            </a: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sl:footer-left|s=$small"/>
          <p:cNvSpPr txBox="1"/>
          <p:nvPr/>
        </p:nvSpPr>
        <p:spPr>
          <a:xfrm>
            <a:off x="609600" y="6515100"/>
            <a:ext cx="6096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25 Astronomy and Cosmology</a:t>
            </a:r>
          </a:p>
        </p:txBody>
      </p:sp>
      <p:sp>
        <p:nvSpPr>
          <p:cNvPr id="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16 / 16</a:t>
            </a:r>
          </a:p>
        </p:txBody>
      </p:sp>
      <p:sp>
        <p:nvSpPr>
          <p:cNvPr id="9" name="dsl:tp0-bg"/>
          <p:cNvSpPr/>
          <p:nvPr/>
        </p:nvSpPr>
        <p:spPr>
          <a:xfrm>
            <a:off x="609600" y="17907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tp0-ic|i=fas:triangle-exclamation" descr="tmpgaeocm4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240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tp0-t"/>
          <p:cNvSpPr txBox="1"/>
          <p:nvPr/>
        </p:nvSpPr>
        <p:spPr>
          <a:xfrm>
            <a:off x="1143000" y="18859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Luminosity L (W) vs radiant flux F (W m⁻²): check units before choosing a formula. L 与 F 单位区分。</a:t>
            </a:r>
          </a:p>
        </p:txBody>
      </p:sp>
      <p:sp>
        <p:nvSpPr>
          <p:cNvPr id="12" name="dsl:tp1-bg"/>
          <p:cNvSpPr/>
          <p:nvPr/>
        </p:nvSpPr>
        <p:spPr>
          <a:xfrm>
            <a:off x="609600" y="24384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dsl:tp1-ic|i=fas:temperature-high" descr="tmpgaeocm4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tp1-t"/>
          <p:cNvSpPr txBox="1"/>
          <p:nvPr/>
        </p:nvSpPr>
        <p:spPr>
          <a:xfrm>
            <a:off x="1143000" y="25336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T must be in kelvin in both Wien's and Stefan–Boltzmann laws. 温度一律用 K。</a:t>
            </a:r>
          </a:p>
        </p:txBody>
      </p:sp>
      <p:sp>
        <p:nvSpPr>
          <p:cNvPr id="15" name="dsl:tp2-bg"/>
          <p:cNvSpPr/>
          <p:nvPr/>
        </p:nvSpPr>
        <p:spPr>
          <a:xfrm>
            <a:off x="609600" y="30861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dsl:tp2-ic|i=fas:arrows-left-right" descr="tmpgaeocm4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194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tp2-t"/>
          <p:cNvSpPr txBox="1"/>
          <p:nvPr/>
        </p:nvSpPr>
        <p:spPr>
          <a:xfrm>
            <a:off x="1143000" y="31813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Unit conversions: 1 ly = 9.46×10¹⁵ m; 1 Mpc = 3.09×10¹⁹ km; convert H₀ consistently. ly、Mpc 换算。</a:t>
            </a:r>
          </a:p>
        </p:txBody>
      </p:sp>
      <p:sp>
        <p:nvSpPr>
          <p:cNvPr id="18" name="dsl:tp3-bg"/>
          <p:cNvSpPr/>
          <p:nvPr/>
        </p:nvSpPr>
        <p:spPr>
          <a:xfrm>
            <a:off x="609600" y="3733800"/>
            <a:ext cx="10972800" cy="5334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dsl:tp3-ic|i=fas:clock" descr="tmpgaeocm4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671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tp3-t"/>
          <p:cNvSpPr txBox="1"/>
          <p:nvPr/>
        </p:nvSpPr>
        <p:spPr>
          <a:xfrm>
            <a:off x="1143000" y="3829050"/>
            <a:ext cx="10210800" cy="3429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Age of Universe: 1/H₀ gives seconds — divide by 3.16×10⁷ s yr⁻¹ for years. 秒→年换算。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ns0:datastoreItem xmlns:ns0="http://schemas.openxmlformats.org/officeDocument/2006/customXml" ns0:itemID="{6B640F5E-1230-4D82-90D2-86DD0CE96770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