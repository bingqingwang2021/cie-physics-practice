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11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粒子物理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Particle Physics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ᴬzX  ·  比荷 = Q/m  ·  α：A−4, Z−2  ·  β⁻：Z+1  ·  β⁺：Z−1  ·  p = uud，n = udd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从卢瑟福的金箔到夸克 —— 一章看懂原子的内部世界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11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four stops from gold foil to quarks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032000"/>
            <a:ext cx="25400" cy="3556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752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778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卢瑟福 α 散射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金箔实验如何推翻"葡萄干布丁"模型：三个观察结果与三个结论一一对应。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Rutherford scattering — observations matched to conclusions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641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667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核素符号与守恒量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ᴬzX 读法、质子数与核子数、同位素；比荷 Q/m；核过程中的电荷、核子数、轻子数守恒。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Nuclide notation, isotopes, specific charge and conservation laws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3530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3556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三种衰变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α、β⁻、β⁺、γ 的组成与性质；衰变方程配平；α 能谱分立而 β 能谱连续的原因。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Decay equations · discrete alpha vs continuous beta energy spectra</a:t>
            </a:r>
            <a:endParaRPr lang="en-US" sz="1350" noProof="1"/>
          </a:p>
        </p:txBody>
      </p:sp>
      <p:sp>
        <p:nvSpPr>
          <p:cNvPr id="13" name="n4"/>
          <p:cNvSpPr txBox="1"/>
          <p:nvPr/>
        </p:nvSpPr>
        <p:spPr>
          <a:xfrm>
            <a:off x="762000" y="441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endParaRPr lang="en-US" sz="2400" noProof="1"/>
          </a:p>
        </p:txBody>
      </p:sp>
      <p:sp>
        <p:nvSpPr>
          <p:cNvPr id="14" name="s4"/>
          <p:cNvSpPr txBox="1"/>
          <p:nvPr/>
        </p:nvSpPr>
        <p:spPr>
          <a:xfrm>
            <a:off x="1625600" y="4445000"/>
            <a:ext cx="965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夸克模型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六味夸克与电荷；质子 uud、中子 udd；重子与介子；β 衰变的夸克层面解释 d ↔ u。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Quark flavours, baryons, mesons and beta decay at quark level</a:t>
            </a:r>
            <a:endParaRPr lang="en-US" sz="1350" noProof="1"/>
          </a:p>
        </p:txBody>
      </p:sp>
      <p:sp>
        <p:nvSpPr>
          <p:cNvPr id="15" name="exit-box"/>
          <p:cNvSpPr/>
          <p:nvPr/>
        </p:nvSpPr>
        <p:spPr>
          <a:xfrm>
            <a:off x="762000" y="54864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exit-text"/>
          <p:cNvSpPr txBox="1"/>
          <p:nvPr/>
        </p:nvSpPr>
        <p:spPr>
          <a:xfrm>
            <a:off x="965200" y="55880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能成对写出散射实验的观察与结论；会配平任何衰变方程并说明能谱形状；能用夸克电荷验算质子、中子和介子的组成。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RUTHERFORD SCATTERING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卢瑟福 α 散射：一张金箔改变原子模型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The experiment that killed the plum pudding model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old-box"/>
          <p:cNvSpPr/>
          <p:nvPr/>
        </p:nvSpPr>
        <p:spPr>
          <a:xfrm>
            <a:off x="762000" y="1701800"/>
            <a:ext cx="5969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old-text"/>
          <p:cNvSpPr txBox="1"/>
          <p:nvPr/>
        </p:nvSpPr>
        <p:spPr>
          <a:xfrm>
            <a:off x="965200" y="1803400"/>
            <a:ext cx="55626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旧模型 · 汤姆孙"葡萄干布丁" plum pudding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：原子是均匀带正电的球体，负电荷如果干散布其中。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按此模型，α 粒子穿过金箔应只轻微偏转。</a:t>
            </a:r>
            <a:endParaRPr lang="en-US" sz="1350" noProof="1"/>
          </a:p>
        </p:txBody>
      </p:sp>
      <p:sp>
        <p:nvSpPr>
          <p:cNvPr id="8" name="app-head"/>
          <p:cNvSpPr txBox="1"/>
          <p:nvPr/>
        </p:nvSpPr>
        <p:spPr>
          <a:xfrm>
            <a:off x="762000" y="30988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实验装置 Apparatus</a:t>
            </a:r>
            <a:endParaRPr lang="en-US" sz="1500" noProof="1"/>
          </a:p>
        </p:txBody>
      </p:sp>
      <p:sp>
        <p:nvSpPr>
          <p:cNvPr id="9" name="app-body"/>
          <p:cNvSpPr txBox="1"/>
          <p:nvPr/>
        </p:nvSpPr>
        <p:spPr>
          <a:xfrm>
            <a:off x="762000" y="3454400"/>
            <a:ext cx="5969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α 粒子源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+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金箔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gold foil（薄到只有几层原子）；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置于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真空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容器（防止 α 被空气吸收）；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容器内壁涂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荧光层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fluorescent coating——α 打上去发光，显示落点；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· 可绕容器转动的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显微镜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观察各个角度。</a:t>
            </a:r>
            <a:endParaRPr lang="en-US" sz="1350" noProof="1"/>
          </a:p>
        </p:txBody>
      </p:sp>
      <p:sp>
        <p:nvSpPr>
          <p:cNvPr id="10" name="why-box"/>
          <p:cNvSpPr/>
          <p:nvPr/>
        </p:nvSpPr>
        <p:spPr>
          <a:xfrm>
            <a:off x="762000" y="5308600"/>
            <a:ext cx="5969000" cy="88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why-text"/>
          <p:cNvSpPr txBox="1"/>
          <p:nvPr/>
        </p:nvSpPr>
        <p:spPr>
          <a:xfrm>
            <a:off x="965200" y="5410200"/>
            <a:ext cx="5562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考点：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为什么用金？——延展性极好可锤成超薄箔；为什么真空？——α 粒子在空气中只能走几厘米。</a:t>
            </a:r>
            <a:endParaRPr lang="en-US" sz="1250" noProof="1"/>
          </a:p>
        </p:txBody>
      </p:sp>
      <p:sp>
        <p:nvSpPr>
          <p:cNvPr id="12" name="src-box"/>
          <p:cNvSpPr/>
          <p:nvPr/>
        </p:nvSpPr>
        <p:spPr>
          <a:xfrm>
            <a:off x="7493000" y="2946400"/>
            <a:ext cx="584200" cy="50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src-label"/>
          <p:cNvSpPr txBox="1"/>
          <p:nvPr/>
        </p:nvSpPr>
        <p:spPr>
          <a:xfrm>
            <a:off x="7493000" y="29464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α源</a:t>
            </a:r>
            <a:endParaRPr lang="en-US" sz="1100" noProof="1"/>
          </a:p>
        </p:txBody>
      </p:sp>
      <p:sp>
        <p:nvSpPr>
          <p:cNvPr id="14" name="foil"/>
          <p:cNvSpPr/>
          <p:nvPr/>
        </p:nvSpPr>
        <p:spPr>
          <a:xfrm>
            <a:off x="9372600" y="1778000"/>
            <a:ext cx="76200" cy="27940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5" name="foil-label"/>
          <p:cNvSpPr txBox="1"/>
          <p:nvPr/>
        </p:nvSpPr>
        <p:spPr>
          <a:xfrm>
            <a:off x="9042400" y="46482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C96F16"/>
                </a:solidFill>
                <a:latin typeface="MiSans"/>
                <a:ea typeface="MiSans"/>
              </a:rPr>
              <a:t>金箔</a:t>
            </a:r>
            <a:endParaRPr lang="en-US" sz="1100" noProof="1"/>
          </a:p>
        </p:txBody>
      </p:sp>
      <p:sp>
        <p:nvSpPr>
          <p:cNvPr id="16" name="traj1"/>
          <p:cNvSpPr/>
          <p:nvPr>
            <p:extLst>
              <p:ext uri="{F5677B7D-0D2A-4D9B-9A5C-6D8D7D0E5A5D}">
                <pptd:line encoding="base64url">eyJ2aWV3Qm94IjpbMjY0LDRdLCJwb2ludHMiOiIwLDIgMjY0LDIiLCJjdXJ2ZSI6InNoYXJwIn0</pptd:line>
              </p:ext>
            </p:extLst>
          </p:nvPr>
        </p:nvSpPr>
        <p:spPr>
          <a:xfrm>
            <a:off x="8077200" y="3175000"/>
            <a:ext cx="3352800" cy="50800"/>
          </a:xfrm>
          <a:custGeom>
            <a:avLst/>
            <a:gdLst/>
            <a:ahLst/>
            <a:cxnLst/>
            <a:rect l="l" t="t" r="r" b="b"/>
            <a:pathLst>
              <a:path w="264" h="4">
                <a:moveTo>
                  <a:pt x="0" y="2"/>
                </a:moveTo>
                <a:lnTo>
                  <a:pt x="264" y="2"/>
                </a:lnTo>
              </a:path>
            </a:pathLst>
          </a:custGeom>
          <a:noFill/>
          <a:ln w="31750">
            <a:solidFill>
              <a:srgbClr val="0E5A55"/>
            </a:solidFill>
          </a:ln>
        </p:spPr>
      </p:sp>
      <p:sp>
        <p:nvSpPr>
          <p:cNvPr id="17" name="traj2"/>
          <p:cNvSpPr/>
          <p:nvPr>
            <p:extLst>
              <p:ext uri="{F5677B7D-0D2A-4D9B-9A5C-6D8D7D0E5A5D}">
                <pptd:line encoding="base64url">eyJ2aWV3Qm94IjpbMjY0LDY2XSwicG9pbnRzIjoiMCw2NCAxMDQsNjQgMjY0LDQiLCJjdXJ2ZSI6InNoYXJwIn0</pptd:line>
              </p:ext>
            </p:extLst>
          </p:nvPr>
        </p:nvSpPr>
        <p:spPr>
          <a:xfrm>
            <a:off x="8077200" y="2362200"/>
            <a:ext cx="3352800" cy="838200"/>
          </a:xfrm>
          <a:custGeom>
            <a:avLst/>
            <a:gdLst/>
            <a:ahLst/>
            <a:cxnLst/>
            <a:rect l="l" t="t" r="r" b="b"/>
            <a:pathLst>
              <a:path w="264" h="66">
                <a:moveTo>
                  <a:pt x="0" y="64"/>
                </a:moveTo>
                <a:lnTo>
                  <a:pt x="104" y="64"/>
                </a:lnTo>
                <a:lnTo>
                  <a:pt x="264" y="4"/>
                </a:lnTo>
              </a:path>
            </a:pathLst>
          </a:custGeom>
          <a:noFill/>
          <a:ln w="31750">
            <a:solidFill>
              <a:srgbClr val="6E6A62"/>
            </a:solidFill>
          </a:ln>
        </p:spPr>
      </p:sp>
      <p:sp>
        <p:nvSpPr>
          <p:cNvPr id="18" name="traj3"/>
          <p:cNvSpPr/>
          <p:nvPr>
            <p:extLst>
              <p:ext uri="{F5677B7D-0D2A-4D9B-9A5C-6D8D7D0E5A5D}">
                <pptd:line encoding="base64url">eyJ2aWV3Qm94IjpbOTIsOTZdLCJwb2ludHMiOiIwLDk0IDkyLDk0IDE2LDQiLCJjdXJ2ZSI6InNoYXJwIn0</pptd:line>
              </p:ext>
            </p:extLst>
          </p:nvPr>
        </p:nvSpPr>
        <p:spPr>
          <a:xfrm>
            <a:off x="8229600" y="1981200"/>
            <a:ext cx="1168400" cy="1219200"/>
          </a:xfrm>
          <a:custGeom>
            <a:avLst/>
            <a:gdLst/>
            <a:ahLst/>
            <a:cxnLst/>
            <a:rect l="l" t="t" r="r" b="b"/>
            <a:pathLst>
              <a:path w="92" h="96">
                <a:moveTo>
                  <a:pt x="0" y="94"/>
                </a:moveTo>
                <a:lnTo>
                  <a:pt x="92" y="94"/>
                </a:lnTo>
                <a:lnTo>
                  <a:pt x="16" y="4"/>
                </a:lnTo>
              </a:path>
            </a:pathLst>
          </a:custGeom>
          <a:noFill/>
          <a:ln w="31750">
            <a:solidFill>
              <a:srgbClr val="22303A"/>
            </a:solidFill>
          </a:ln>
        </p:spPr>
      </p:sp>
      <p:sp>
        <p:nvSpPr>
          <p:cNvPr id="19" name="lb1"/>
          <p:cNvSpPr txBox="1"/>
          <p:nvPr/>
        </p:nvSpPr>
        <p:spPr>
          <a:xfrm>
            <a:off x="8890000" y="3327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0E5A55"/>
                </a:solidFill>
                <a:latin typeface="MiSans"/>
                <a:ea typeface="MiSans"/>
              </a:rPr>
              <a:t>绝大多数：直接穿过</a:t>
            </a:r>
            <a:endParaRPr lang="en-US" sz="1100" noProof="1"/>
          </a:p>
        </p:txBody>
      </p:sp>
      <p:sp>
        <p:nvSpPr>
          <p:cNvPr id="20" name="lb2"/>
          <p:cNvSpPr txBox="1"/>
          <p:nvPr/>
        </p:nvSpPr>
        <p:spPr>
          <a:xfrm>
            <a:off x="9804400" y="21844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少数：大角度偏转</a:t>
            </a:r>
            <a:endParaRPr lang="en-US" sz="1100" noProof="1"/>
          </a:p>
        </p:txBody>
      </p:sp>
      <p:sp>
        <p:nvSpPr>
          <p:cNvPr id="21" name="lb3"/>
          <p:cNvSpPr txBox="1"/>
          <p:nvPr/>
        </p:nvSpPr>
        <p:spPr>
          <a:xfrm>
            <a:off x="7112000" y="187960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>
                <a:solidFill>
                  <a:srgbClr val="22303A"/>
                </a:solidFill>
                <a:latin typeface="MiSans"/>
                <a:ea typeface="MiSans"/>
              </a:rPr>
              <a:t>极少数：反弹 &gt;90°</a:t>
            </a:r>
            <a:endParaRPr lang="en-US" sz="1100" noProof="1"/>
          </a:p>
        </p:txBody>
      </p:sp>
      <p:sp>
        <p:nvSpPr>
          <p:cNvPr id="22" name="diagram-caption"/>
          <p:cNvSpPr txBox="1"/>
          <p:nvPr/>
        </p:nvSpPr>
        <p:spPr>
          <a:xfrm>
            <a:off x="7112000" y="5334000"/>
            <a:ext cx="4318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α 粒子的三条典型轨迹：穿过、偏转、反弹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下一页看每种轨迹对应的结论</a:t>
            </a:r>
            <a:endParaRPr lang="en-US" sz="110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OBSERVATIONS AND CONCLUSIONS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三个观察 → 三个结论：必须成对记忆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Each observation earns its conclusion — the classic 6-mark answer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air1-box"/>
          <p:cNvSpPr/>
          <p:nvPr/>
        </p:nvSpPr>
        <p:spPr>
          <a:xfrm>
            <a:off x="762000" y="1701800"/>
            <a:ext cx="106680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pair1-obs"/>
          <p:cNvSpPr txBox="1"/>
          <p:nvPr/>
        </p:nvSpPr>
        <p:spPr>
          <a:xfrm>
            <a:off x="965200" y="1803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观察 ①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绝大多数 α 粒子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直接穿过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金箔，几乎不偏转。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Most alpha particles passed straight through with no deflection.</a:t>
            </a:r>
            <a:endParaRPr lang="en-US" sz="1350" noProof="1"/>
          </a:p>
        </p:txBody>
      </p:sp>
      <p:sp>
        <p:nvSpPr>
          <p:cNvPr id="8" name="pair1-con"/>
          <p:cNvSpPr txBox="1"/>
          <p:nvPr/>
        </p:nvSpPr>
        <p:spPr>
          <a:xfrm>
            <a:off x="6350000" y="18034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C96F16"/>
                </a:solidFill>
                <a:latin typeface="MiSans"/>
                <a:ea typeface="MiSans"/>
              </a:rPr>
              <a:t>结论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原子内部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几乎是空的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The atom is mostly empty space（否定均匀密度的布丁模型）。</a:t>
            </a:r>
            <a:endParaRPr lang="en-US" sz="1350" noProof="1"/>
          </a:p>
        </p:txBody>
      </p:sp>
      <p:sp>
        <p:nvSpPr>
          <p:cNvPr id="9" name="pair2-box"/>
          <p:cNvSpPr/>
          <p:nvPr/>
        </p:nvSpPr>
        <p:spPr>
          <a:xfrm>
            <a:off x="762000" y="2844800"/>
            <a:ext cx="106680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pair2-obs"/>
          <p:cNvSpPr txBox="1"/>
          <p:nvPr/>
        </p:nvSpPr>
        <p:spPr>
          <a:xfrm>
            <a:off x="965200" y="2946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观察 ②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少数 α 粒子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大角度偏转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 small number were deflected through large angles.</a:t>
            </a:r>
            <a:endParaRPr lang="en-US" sz="1350" noProof="1"/>
          </a:p>
        </p:txBody>
      </p:sp>
      <p:sp>
        <p:nvSpPr>
          <p:cNvPr id="11" name="pair2-con"/>
          <p:cNvSpPr txBox="1"/>
          <p:nvPr/>
        </p:nvSpPr>
        <p:spPr>
          <a:xfrm>
            <a:off x="6350000" y="29464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C96F16"/>
                </a:solidFill>
                <a:latin typeface="MiSans"/>
                <a:ea typeface="MiSans"/>
              </a:rPr>
              <a:t>结论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原子中心带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正电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（同性相斥使 α 偏转）。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The centre is positively charged — like charges repel.</a:t>
            </a:r>
            <a:endParaRPr lang="en-US" sz="1350" noProof="1"/>
          </a:p>
        </p:txBody>
      </p:sp>
      <p:sp>
        <p:nvSpPr>
          <p:cNvPr id="12" name="pair3-box"/>
          <p:cNvSpPr/>
          <p:nvPr/>
        </p:nvSpPr>
        <p:spPr>
          <a:xfrm>
            <a:off x="762000" y="3987800"/>
            <a:ext cx="10668000" cy="9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ir3-obs"/>
          <p:cNvSpPr txBox="1"/>
          <p:nvPr/>
        </p:nvSpPr>
        <p:spPr>
          <a:xfrm>
            <a:off x="965200" y="4089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观察 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极少数 α 粒子被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反弹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（偏转超过 90°）。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Very few were deflected back by more than 90°.</a:t>
            </a:r>
            <a:endParaRPr lang="en-US" sz="1350" noProof="1"/>
          </a:p>
        </p:txBody>
      </p:sp>
      <p:sp>
        <p:nvSpPr>
          <p:cNvPr id="14" name="pair3-con"/>
          <p:cNvSpPr txBox="1"/>
          <p:nvPr/>
        </p:nvSpPr>
        <p:spPr>
          <a:xfrm>
            <a:off x="6350000" y="40894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C96F16"/>
                </a:solidFill>
                <a:latin typeface="MiSans"/>
                <a:ea typeface="MiSans"/>
              </a:rPr>
              <a:t>结论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中心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很小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（命中率极低）且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很致密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（能弹开高速 α）。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The nucleus is very small and very dense — both points needed.</a:t>
            </a:r>
            <a:endParaRPr lang="en-US" sz="1350" noProof="1"/>
          </a:p>
        </p:txBody>
      </p:sp>
      <p:sp>
        <p:nvSpPr>
          <p:cNvPr id="15" name="final-box"/>
          <p:cNvSpPr/>
          <p:nvPr/>
        </p:nvSpPr>
        <p:spPr>
          <a:xfrm>
            <a:off x="762000" y="5156200"/>
            <a:ext cx="10668000" cy="76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final-text"/>
          <p:cNvSpPr txBox="1"/>
          <p:nvPr/>
        </p:nvSpPr>
        <p:spPr>
          <a:xfrm>
            <a:off x="965200" y="5257800"/>
            <a:ext cx="10261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总结论：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原子中心有一个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小、致密、带正电的原子核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（nuclear model 核式模型诞生）。</a:t>
            </a:r>
            <a:endParaRPr lang="en-US" sz="1350" noProof="1"/>
          </a:p>
          <a:p>
            <a:pPr algn="l">
              <a:lnSpc>
                <a:spcPct val="150000"/>
              </a:lnSpc>
            </a:pPr>
            <a:r>
              <a:rPr lang="en-US" sz="1350" noProof="1">
                <a:solidFill>
                  <a:srgbClr val="C96F16"/>
                </a:solidFill>
                <a:latin typeface="MiSans"/>
                <a:ea typeface="MiSans"/>
              </a:rPr>
              <a:t>答题模板：每条观察后紧跟"this suggested that…"，一一对应才拿满分。</a:t>
            </a:r>
            <a:endParaRPr lang="en-US" sz="13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PARTICLES AND SPECIFIC CHARGE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三种粒子一张表，外加一个"比荷"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Protons, neutrons, electrons — and the charge-to-mass ratio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p-table"/>
          <p:cNvGraphicFramePr>
            <a:graphicFrameLocks noGrp="1"/>
          </p:cNvGraphicFramePr>
          <p:nvPr/>
        </p:nvGraphicFramePr>
        <p:xfrm>
          <a:off x="762000" y="1701800"/>
          <a:ext cx="10668000" cy="1905000"/>
        </p:xfrm>
        <a:graphic>
          <a:graphicData uri="http://schemas.openxmlformats.org/drawingml/2006/table">
            <a:tbl>
              <a:tblPr/>
              <a:tblGrid>
                <a:gridCol w="1386840000"/>
                <a:gridCol w="1813560000"/>
                <a:gridCol w="1386840000"/>
                <a:gridCol w="1813560000"/>
                <a:gridCol w="1280160000"/>
                <a:gridCol w="1280160000"/>
              </a:tblGrid>
              <a:tr h="68580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72390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2390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72390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tructure-body"/>
          <p:cNvSpPr txBox="1"/>
          <p:nvPr/>
        </p:nvSpPr>
        <p:spPr>
          <a:xfrm>
            <a:off x="762000" y="3835400"/>
            <a:ext cx="5969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原子结构：质子 + 中子（合称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核子 nucleons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）构成原子核；电子在核外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壳层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shells 上绕核运动。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整个原子直径约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−10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m，核只有约 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−15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m——"几乎都是空的"的直观尺度。</a:t>
            </a:r>
            <a:endParaRPr lang="en-US" sz="1350" noProof="1"/>
          </a:p>
        </p:txBody>
      </p:sp>
      <p:sp>
        <p:nvSpPr>
          <p:cNvPr id="8" name="sc-box"/>
          <p:cNvSpPr/>
          <p:nvPr/>
        </p:nvSpPr>
        <p:spPr>
          <a:xfrm>
            <a:off x="762000" y="5257800"/>
            <a:ext cx="5969000" cy="9398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sc-text"/>
          <p:cNvSpPr txBox="1"/>
          <p:nvPr/>
        </p:nvSpPr>
        <p:spPr>
          <a:xfrm>
            <a:off x="965200" y="5359400"/>
            <a:ext cx="55626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比荷 specific charge = Q/m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（电荷 ÷ 质量）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例：质子 1.6×10⁻¹⁹ ÷ 1.67×10⁻²⁷ = 9.58×10⁷ C kg⁻¹。电子质量极小 → 比荷极大。</a:t>
            </a:r>
            <a:endParaRPr lang="en-US" sz="1350" noProof="1"/>
          </a:p>
        </p:txBody>
      </p:sp>
      <p:sp>
        <p:nvSpPr>
          <p:cNvPr id="10" name="const-box"/>
          <p:cNvSpPr/>
          <p:nvPr/>
        </p:nvSpPr>
        <p:spPr>
          <a:xfrm>
            <a:off x="7239000" y="3835400"/>
            <a:ext cx="4191000" cy="236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const-head"/>
          <p:cNvSpPr txBox="1"/>
          <p:nvPr/>
        </p:nvSpPr>
        <p:spPr>
          <a:xfrm>
            <a:off x="7442200" y="39878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两个常数要背</a:t>
            </a:r>
            <a:endParaRPr lang="en-US" sz="1500" noProof="1"/>
          </a:p>
        </p:txBody>
      </p:sp>
      <p:sp>
        <p:nvSpPr>
          <p:cNvPr id="12" name="const-body"/>
          <p:cNvSpPr txBox="1"/>
          <p:nvPr/>
        </p:nvSpPr>
        <p:spPr>
          <a:xfrm>
            <a:off x="7442200" y="4343400"/>
            <a:ext cx="3784600" cy="172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元电荷 elementary charge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e = 1.6×10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−19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C（电子 −e，质子 +e）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统一原子质量单位 u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1 u = 1.66×10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−27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kg ≈ 一个核子的质量</a:t>
            </a:r>
            <a:endParaRPr lang="en-US" sz="1350" noProof="1"/>
          </a:p>
        </p:txBody>
      </p:sp>
      <p:sp>
        <p:nvSpPr>
          <p:cNvPr id="1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NUCLIDE NOTATION AND ISOTOPES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核素符号 ᴬzX 与同位素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Reading A and Z; conservation laws; antiparticles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az-box"/>
          <p:cNvSpPr/>
          <p:nvPr/>
        </p:nvSpPr>
        <p:spPr>
          <a:xfrm>
            <a:off x="762000" y="1701800"/>
            <a:ext cx="5969000" cy="1524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az-text"/>
          <p:cNvSpPr txBox="1"/>
          <p:nvPr/>
        </p:nvSpPr>
        <p:spPr>
          <a:xfrm>
            <a:off x="965200" y="1803400"/>
            <a:ext cx="5562600" cy="1320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核子数 A（上标）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质子 + 中子总数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质子数 Z（下标）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质子个数 = 元素的身份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中子数 = A − Z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例：¹⁴₆C —— 6 个质子、14 − 6 = 8 个中子。</a:t>
            </a:r>
            <a:endParaRPr lang="en-US" sz="1350" noProof="1"/>
          </a:p>
        </p:txBody>
      </p:sp>
      <p:sp>
        <p:nvSpPr>
          <p:cNvPr id="8" name="iso-head"/>
          <p:cNvSpPr txBox="1"/>
          <p:nvPr/>
        </p:nvSpPr>
        <p:spPr>
          <a:xfrm>
            <a:off x="762000" y="34544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同位素 Isotopes</a:t>
            </a:r>
            <a:endParaRPr lang="en-US" sz="1500" noProof="1"/>
          </a:p>
        </p:txBody>
      </p:sp>
      <p:sp>
        <p:nvSpPr>
          <p:cNvPr id="9" name="iso-body"/>
          <p:cNvSpPr txBox="1"/>
          <p:nvPr/>
        </p:nvSpPr>
        <p:spPr>
          <a:xfrm>
            <a:off x="762000" y="3810000"/>
            <a:ext cx="5969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质子数相同、中子数不同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的原子：化学性质几乎相同，核稳定性不同。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应用：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碳-14 定年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carbon dating——活体 ¹⁴C 比例恒定；死后按半衰期衰减，测剩余比例即可估算年代。</a:t>
            </a:r>
            <a:endParaRPr lang="en-US" sz="1350" noProof="1"/>
          </a:p>
        </p:txBody>
      </p:sp>
      <p:sp>
        <p:nvSpPr>
          <p:cNvPr id="10" name="cons-box"/>
          <p:cNvSpPr/>
          <p:nvPr/>
        </p:nvSpPr>
        <p:spPr>
          <a:xfrm>
            <a:off x="762000" y="5486400"/>
            <a:ext cx="5969000" cy="71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cons-text"/>
          <p:cNvSpPr txBox="1"/>
          <p:nvPr/>
        </p:nvSpPr>
        <p:spPr>
          <a:xfrm>
            <a:off x="965200" y="5562600"/>
            <a:ext cx="55626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核过程三守恒：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总电荷 ✔ 核子数 ✔ 轻子数 lepton number ✔</a:t>
            </a:r>
            <a:endParaRPr lang="en-US" sz="1250" noProof="1"/>
          </a:p>
        </p:txBody>
      </p:sp>
      <p:sp>
        <p:nvSpPr>
          <p:cNvPr id="12" name="anti-box"/>
          <p:cNvSpPr/>
          <p:nvPr/>
        </p:nvSpPr>
        <p:spPr>
          <a:xfrm>
            <a:off x="7239000" y="1701800"/>
            <a:ext cx="4191000" cy="20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anti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反粒子 Antiparticle</a:t>
            </a:r>
            <a:endParaRPr lang="en-US" sz="1500" noProof="1"/>
          </a:p>
        </p:txBody>
      </p:sp>
      <p:sp>
        <p:nvSpPr>
          <p:cNvPr id="14" name="anti-body"/>
          <p:cNvSpPr txBox="1"/>
          <p:nvPr/>
        </p:nvSpPr>
        <p:spPr>
          <a:xfrm>
            <a:off x="7442200" y="2209800"/>
            <a:ext cx="3784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与粒子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质量相同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、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电荷与量子数相反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的粒子。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正电子 positron (e⁺)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= 电子的反粒子。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β⁺ 衰变里就会放出一个正电子。</a:t>
            </a:r>
            <a:endParaRPr lang="en-US" sz="1350" noProof="1"/>
          </a:p>
        </p:txBody>
      </p:sp>
      <p:sp>
        <p:nvSpPr>
          <p:cNvPr id="15" name="tip-box"/>
          <p:cNvSpPr/>
          <p:nvPr/>
        </p:nvSpPr>
        <p:spPr>
          <a:xfrm>
            <a:off x="7239000" y="3962400"/>
            <a:ext cx="4191000" cy="2235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tip-text"/>
          <p:cNvSpPr txBox="1"/>
          <p:nvPr/>
        </p:nvSpPr>
        <p:spPr>
          <a:xfrm>
            <a:off x="7442200" y="4089400"/>
            <a:ext cx="37846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易错提醒：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A 是"总人头数"，Z 才是"质子数"——同位素变的只是中子。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· 问"¹⁴C 与 ¹²C 有何异同"：质子数相同（化学性质同），中子数不同（¹⁴C 有放射性）。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TYPES OF RADIATION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三种辐射：组成、质量、电荷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Unstable nuclei emit energy to become more stable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text"/>
          <p:cNvSpPr txBox="1"/>
          <p:nvPr/>
        </p:nvSpPr>
        <p:spPr>
          <a:xfrm>
            <a:off x="762000" y="1676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Radiation 辐射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：不稳定的原子核以电磁波或亚原子粒子的形式放出能量、变得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更稳定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的过程。</a:t>
            </a:r>
            <a:endParaRPr lang="en-US" sz="1350" noProof="1"/>
          </a:p>
        </p:txBody>
      </p:sp>
      <p:graphicFrame>
        <p:nvGraphicFramePr>
          <p:cNvPr id="7" name="rad-table"/>
          <p:cNvGraphicFramePr>
            <a:graphicFrameLocks noGrp="1"/>
          </p:cNvGraphicFramePr>
          <p:nvPr/>
        </p:nvGraphicFramePr>
        <p:xfrm>
          <a:off x="762000" y="2362200"/>
          <a:ext cx="10668000" cy="2413000"/>
        </p:xfrm>
        <a:graphic>
          <a:graphicData uri="http://schemas.openxmlformats.org/drawingml/2006/table">
            <a:tbl>
              <a:tblPr/>
              <a:tblGrid>
                <a:gridCol w="1386840000"/>
                <a:gridCol w="3520440000"/>
                <a:gridCol w="2240280000"/>
                <a:gridCol w="1813560000"/>
              </a:tblGrid>
              <a:tr h="86868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91694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694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96520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694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8" name="mem-box"/>
          <p:cNvSpPr/>
          <p:nvPr/>
        </p:nvSpPr>
        <p:spPr>
          <a:xfrm>
            <a:off x="762000" y="5029200"/>
            <a:ext cx="51435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mem-head"/>
          <p:cNvSpPr txBox="1"/>
          <p:nvPr/>
        </p:nvSpPr>
        <p:spPr>
          <a:xfrm>
            <a:off x="965200" y="5156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记忆钩子</a:t>
            </a:r>
            <a:endParaRPr lang="en-US" sz="1500" noProof="1"/>
          </a:p>
        </p:txBody>
      </p:sp>
      <p:sp>
        <p:nvSpPr>
          <p:cNvPr id="10" name="mem-text"/>
          <p:cNvSpPr txBox="1"/>
          <p:nvPr/>
        </p:nvSpPr>
        <p:spPr>
          <a:xfrm>
            <a:off x="965200" y="5461000"/>
            <a:ext cx="469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α 是"氦核"——又大又重带电 +2；β 是"电子家族"——轻，分正负；γ 是"光"——无质量不带电。</a:t>
            </a:r>
            <a:endParaRPr lang="en-US" sz="1250" noProof="1"/>
          </a:p>
        </p:txBody>
      </p:sp>
      <p:sp>
        <p:nvSpPr>
          <p:cNvPr id="11" name="why-box"/>
          <p:cNvSpPr/>
          <p:nvPr/>
        </p:nvSpPr>
        <p:spPr>
          <a:xfrm>
            <a:off x="6286500" y="5029200"/>
            <a:ext cx="5143500" cy="116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why-head"/>
          <p:cNvSpPr txBox="1"/>
          <p:nvPr/>
        </p:nvSpPr>
        <p:spPr>
          <a:xfrm>
            <a:off x="6489700" y="5156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为什么会衰变？</a:t>
            </a:r>
            <a:endParaRPr lang="en-US" sz="1500" noProof="1"/>
          </a:p>
        </p:txBody>
      </p:sp>
      <p:sp>
        <p:nvSpPr>
          <p:cNvPr id="13" name="why-text"/>
          <p:cNvSpPr txBox="1"/>
          <p:nvPr/>
        </p:nvSpPr>
        <p:spPr>
          <a:xfrm>
            <a:off x="6489700" y="5461000"/>
            <a:ext cx="4699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α 衰变：核内 nucleons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太多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；β⁻：中子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偏多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；β⁺：质子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偏多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——都为达到更稳定的质中比。</a:t>
            </a:r>
            <a:endParaRPr lang="en-US" sz="12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DECAY EQUATIONS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衰变方程：先配上标，再配下标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Balancing A and Z for alpha and beta decays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alpha-box"/>
          <p:cNvSpPr/>
          <p:nvPr/>
        </p:nvSpPr>
        <p:spPr>
          <a:xfrm>
            <a:off x="762000" y="1701800"/>
            <a:ext cx="106680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alpha-head"/>
          <p:cNvSpPr txBox="1"/>
          <p:nvPr/>
        </p:nvSpPr>
        <p:spPr>
          <a:xfrm>
            <a:off x="9652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α 衰变：A − 4，Z − 2</a:t>
            </a:r>
            <a:endParaRPr lang="en-US" sz="1500" noProof="1"/>
          </a:p>
        </p:txBody>
      </p:sp>
      <p:sp>
        <p:nvSpPr>
          <p:cNvPr id="8" name="alpha-body"/>
          <p:cNvSpPr txBox="1"/>
          <p:nvPr/>
        </p:nvSpPr>
        <p:spPr>
          <a:xfrm>
            <a:off x="965200" y="21336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ᴬzX →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ᴬ⁻⁴ z₋₂Y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+ ⁴₂α　　例：²³⁸₉₂U → ²³⁴₉₀Th + ⁴₂α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核内 nucleons 太多时抛出氦核；检验：238 = 234 + 4 ✔，92 = 90 + 2 ✔</a:t>
            </a:r>
            <a:endParaRPr lang="en-US" sz="1350" noProof="1"/>
          </a:p>
        </p:txBody>
      </p:sp>
      <p:sp>
        <p:nvSpPr>
          <p:cNvPr id="9" name="bminus-box"/>
          <p:cNvSpPr/>
          <p:nvPr/>
        </p:nvSpPr>
        <p:spPr>
          <a:xfrm>
            <a:off x="762000" y="3124200"/>
            <a:ext cx="106680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bminus-head"/>
          <p:cNvSpPr txBox="1"/>
          <p:nvPr/>
        </p:nvSpPr>
        <p:spPr>
          <a:xfrm>
            <a:off x="965200" y="32258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β⁻ 衰变：A 不变，Z + 1</a:t>
            </a:r>
            <a:endParaRPr lang="en-US" sz="1500" noProof="1"/>
          </a:p>
        </p:txBody>
      </p:sp>
      <p:sp>
        <p:nvSpPr>
          <p:cNvPr id="11" name="bminus-body"/>
          <p:cNvSpPr txBox="1"/>
          <p:nvPr/>
        </p:nvSpPr>
        <p:spPr>
          <a:xfrm>
            <a:off x="965200" y="35560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核内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中子偏多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：一个中子 → 质子 + 电子 +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反中微子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ᴬzX → ᴬ z₊₁Y + e⁻ + ν̄　　例：¹⁴₆C → ¹⁴₇N + ⁰₋₁e + ν̄</a:t>
            </a:r>
            <a:endParaRPr lang="en-US" sz="1350" noProof="1"/>
          </a:p>
        </p:txBody>
      </p:sp>
      <p:sp>
        <p:nvSpPr>
          <p:cNvPr id="12" name="bplus-box"/>
          <p:cNvSpPr/>
          <p:nvPr/>
        </p:nvSpPr>
        <p:spPr>
          <a:xfrm>
            <a:off x="762000" y="4546600"/>
            <a:ext cx="10668000" cy="121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bplus-head"/>
          <p:cNvSpPr txBox="1"/>
          <p:nvPr/>
        </p:nvSpPr>
        <p:spPr>
          <a:xfrm>
            <a:off x="965200" y="46482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β⁺ 衰变：A 不变，Z − 1</a:t>
            </a:r>
            <a:endParaRPr lang="en-US" sz="1500" noProof="1"/>
          </a:p>
        </p:txBody>
      </p:sp>
      <p:sp>
        <p:nvSpPr>
          <p:cNvPr id="14" name="bplus-body"/>
          <p:cNvSpPr txBox="1"/>
          <p:nvPr/>
        </p:nvSpPr>
        <p:spPr>
          <a:xfrm>
            <a:off x="965200" y="4978400"/>
            <a:ext cx="10261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核内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质子偏多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：一个质子 → 中子 +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正电子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+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中微子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ᴬzX → ᴬ z₋₁Y + e⁺ + ν</a:t>
            </a:r>
            <a:endParaRPr lang="en-US" sz="1350" noProof="1"/>
          </a:p>
        </p:txBody>
      </p:sp>
      <p:sp>
        <p:nvSpPr>
          <p:cNvPr id="15" name="tip-box"/>
          <p:cNvSpPr/>
          <p:nvPr/>
        </p:nvSpPr>
        <p:spPr>
          <a:xfrm>
            <a:off x="762000" y="5943600"/>
            <a:ext cx="10668000" cy="381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tip-text"/>
          <p:cNvSpPr txBox="1"/>
          <p:nvPr/>
        </p:nvSpPr>
        <p:spPr>
          <a:xfrm>
            <a:off x="965200" y="5994400"/>
            <a:ext cx="10261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易错提醒：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β⁻ 别忘写"反"中微子；电子记作 ⁰₋₁e，下标 −1 正好让 Z 配平。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11.1 · ENERGY SPECTRA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α 能量分立，β 能量连续——为什么？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Discrete alpha energies vs the continuous beta spectrum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a-box"/>
          <p:cNvSpPr/>
          <p:nvPr/>
        </p:nvSpPr>
        <p:spPr>
          <a:xfrm>
            <a:off x="762000" y="1701800"/>
            <a:ext cx="51435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a-head"/>
          <p:cNvSpPr txBox="1"/>
          <p:nvPr/>
        </p:nvSpPr>
        <p:spPr>
          <a:xfrm>
            <a:off x="9652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α 衰变：能量分立 discrete</a:t>
            </a:r>
            <a:endParaRPr lang="en-US" sz="1500" noProof="1"/>
          </a:p>
        </p:txBody>
      </p:sp>
      <p:sp>
        <p:nvSpPr>
          <p:cNvPr id="8" name="a-body"/>
          <p:cNvSpPr txBox="1"/>
          <p:nvPr/>
        </p:nvSpPr>
        <p:spPr>
          <a:xfrm>
            <a:off x="965200" y="2260600"/>
            <a:ext cx="46990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衰变能量差 = 母核与子核的能量差，是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确定值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产物只有 α 粒子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一个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飞出粒子——能量差由它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独占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0E5A55"/>
                </a:solidFill>
                <a:latin typeface="MiSans"/>
                <a:ea typeface="MiSans"/>
              </a:rPr>
              <a:t>所以同种核素放出的 α 粒子能量是固定的几个分立值。</a:t>
            </a:r>
            <a:endParaRPr lang="en-US" sz="1350" noProof="1"/>
          </a:p>
        </p:txBody>
      </p:sp>
      <p:sp>
        <p:nvSpPr>
          <p:cNvPr id="9" name="b-box"/>
          <p:cNvSpPr/>
          <p:nvPr/>
        </p:nvSpPr>
        <p:spPr>
          <a:xfrm>
            <a:off x="6286500" y="1701800"/>
            <a:ext cx="5143500" cy="279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b-head"/>
          <p:cNvSpPr txBox="1"/>
          <p:nvPr/>
        </p:nvSpPr>
        <p:spPr>
          <a:xfrm>
            <a:off x="6489700" y="1854200"/>
            <a:ext cx="4699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β 衰变：能量连续 continuous</a:t>
            </a:r>
            <a:endParaRPr lang="en-US" sz="1500" noProof="1"/>
          </a:p>
        </p:txBody>
      </p:sp>
      <p:sp>
        <p:nvSpPr>
          <p:cNvPr id="11" name="b-body"/>
          <p:cNvSpPr txBox="1"/>
          <p:nvPr/>
        </p:nvSpPr>
        <p:spPr>
          <a:xfrm>
            <a:off x="6489700" y="2260600"/>
            <a:ext cx="4699000" cy="208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β 衰变放出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两个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粒子：电子/正电子 + 中微子。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能量差在两者之间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任意分配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——中微子分多，电子就分少。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0E5A55"/>
                </a:solidFill>
                <a:latin typeface="MiSans"/>
                <a:ea typeface="MiSans"/>
              </a:rPr>
              <a:t>所以 β 粒子能量是从 0 到最大值之间的连续分布。</a:t>
            </a:r>
            <a:endParaRPr lang="en-US" sz="1350" noProof="1"/>
          </a:p>
        </p:txBody>
      </p:sp>
      <p:sp>
        <p:nvSpPr>
          <p:cNvPr id="12" name="hist-box"/>
          <p:cNvSpPr/>
          <p:nvPr/>
        </p:nvSpPr>
        <p:spPr>
          <a:xfrm>
            <a:off x="762000" y="4724400"/>
            <a:ext cx="10668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hist-head"/>
          <p:cNvSpPr txBox="1"/>
          <p:nvPr/>
        </p:nvSpPr>
        <p:spPr>
          <a:xfrm>
            <a:off x="965200" y="4851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简答题标准句式</a:t>
            </a:r>
            <a:endParaRPr lang="en-US" sz="1500" noProof="1"/>
          </a:p>
        </p:txBody>
      </p:sp>
      <p:sp>
        <p:nvSpPr>
          <p:cNvPr id="14" name="hist-text"/>
          <p:cNvSpPr txBox="1"/>
          <p:nvPr/>
        </p:nvSpPr>
        <p:spPr>
          <a:xfrm>
            <a:off x="965200" y="5181600"/>
            <a:ext cx="1026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"In alpha decay the energy difference is carried away by the alpha particle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alone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, so its energy is well-defined (discrete)."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"In beta decay the energy is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shared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between the beta particle and the neutrino, so beta particles have a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continuous range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of energies."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历史上正是"β 能谱连续"这个谜，预言了中微子的存在（否则能量守恒被破坏）。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11.2 · QUARKS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夸克：六种"味"，两种电荷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Six flavours of fundamental particles that build hadrons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text"/>
          <p:cNvSpPr txBox="1"/>
          <p:nvPr/>
        </p:nvSpPr>
        <p:spPr>
          <a:xfrm>
            <a:off x="762000" y="1676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Quarks 夸克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是一类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基本粒子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fundamental particles——它们不被认为由更小的东西组成——组合构成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强子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hadrons（质子、中子等）。</a:t>
            </a:r>
            <a:endParaRPr lang="en-US" sz="1350" noProof="1"/>
          </a:p>
        </p:txBody>
      </p:sp>
      <p:graphicFrame>
        <p:nvGraphicFramePr>
          <p:cNvPr id="7" name="q-table"/>
          <p:cNvGraphicFramePr>
            <a:graphicFrameLocks noGrp="1"/>
          </p:cNvGraphicFramePr>
          <p:nvPr/>
        </p:nvGraphicFramePr>
        <p:xfrm>
          <a:off x="762000" y="2362200"/>
          <a:ext cx="5969000" cy="2006600"/>
        </p:xfrm>
        <a:graphic>
          <a:graphicData uri="http://schemas.openxmlformats.org/drawingml/2006/table">
            <a:tbl>
              <a:tblPr/>
              <a:tblGrid>
                <a:gridCol w="1402715000"/>
                <a:gridCol w="1402715000"/>
              </a:tblGrid>
              <a:tr h="68224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80264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0264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882904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anti-body"/>
          <p:cNvSpPr txBox="1"/>
          <p:nvPr/>
        </p:nvSpPr>
        <p:spPr>
          <a:xfrm>
            <a:off x="762000" y="4572000"/>
            <a:ext cx="5969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每种夸克有对应的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反夸克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antiquark：电荷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变号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，符号上加一横。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例：反上夸克 ū 电荷 −2/3 e；反下夸克 đ 电荷 +1/3 e。</a:t>
            </a:r>
            <a:endParaRPr lang="en-US" sz="1350" noProof="1"/>
          </a:p>
        </p:txBody>
      </p:sp>
      <p:sp>
        <p:nvSpPr>
          <p:cNvPr id="9" name="mem-box"/>
          <p:cNvSpPr/>
          <p:nvPr/>
        </p:nvSpPr>
        <p:spPr>
          <a:xfrm>
            <a:off x="762000" y="5816600"/>
            <a:ext cx="5969000" cy="381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mem-text"/>
          <p:cNvSpPr txBox="1"/>
          <p:nvPr/>
        </p:nvSpPr>
        <p:spPr>
          <a:xfrm>
            <a:off x="965200" y="5867400"/>
            <a:ext cx="5562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记忆钩子：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utc 家族 +2/3；dbs 家族 −1/3。</a:t>
            </a:r>
            <a:endParaRPr lang="en-US" sz="1250" noProof="1"/>
          </a:p>
        </p:txBody>
      </p:sp>
      <p:sp>
        <p:nvSpPr>
          <p:cNvPr id="11" name="right-box"/>
          <p:cNvSpPr/>
          <p:nvPr/>
        </p:nvSpPr>
        <p:spPr>
          <a:xfrm>
            <a:off x="7239000" y="2362200"/>
            <a:ext cx="4191000" cy="383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" name="right-head"/>
          <p:cNvSpPr txBox="1"/>
          <p:nvPr/>
        </p:nvSpPr>
        <p:spPr>
          <a:xfrm>
            <a:off x="7442200" y="25146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考试只考这两件事</a:t>
            </a:r>
            <a:endParaRPr lang="en-US" sz="1500" noProof="1"/>
          </a:p>
        </p:txBody>
      </p:sp>
      <p:sp>
        <p:nvSpPr>
          <p:cNvPr id="13" name="right-body"/>
          <p:cNvSpPr txBox="1"/>
          <p:nvPr/>
        </p:nvSpPr>
        <p:spPr>
          <a:xfrm>
            <a:off x="7442200" y="2870200"/>
            <a:ext cx="3784600" cy="317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①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夸克电荷验算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：给出组成，求总电荷（或反过来推组成）。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例：uud = +2/3 + 2/3 − 1/3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+1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（质子）✔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②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β 衰变的夸克变味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：β⁻ 是 d → u，β⁺ 是 u → d（下一页详解）。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六种味的名字（up/down/top/bottom/charm/strange）要会认，考纲可能直接给名称。</a:t>
            </a:r>
            <a:endParaRPr lang="en-US" sz="1350" noProof="1"/>
          </a:p>
        </p:txBody>
      </p:sp>
      <p:sp>
        <p:nvSpPr>
          <p:cNvPr id="14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6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11.2 · HADRONS AND BETA DECAY AT QUARK LEVEL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重子、介子，与 β 衰变的"变味"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Baryons are three quarks; mesons are quark-antiquark pairs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n-box"/>
          <p:cNvSpPr/>
          <p:nvPr/>
        </p:nvSpPr>
        <p:spPr>
          <a:xfrm>
            <a:off x="762000" y="1701800"/>
            <a:ext cx="5969000" cy="165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pn-head"/>
          <p:cNvSpPr txBox="1"/>
          <p:nvPr/>
        </p:nvSpPr>
        <p:spPr>
          <a:xfrm>
            <a:off x="965200" y="18288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质子与中子不是基本粒子</a:t>
            </a:r>
            <a:endParaRPr lang="en-US" sz="1500" noProof="1"/>
          </a:p>
        </p:txBody>
      </p:sp>
      <p:sp>
        <p:nvSpPr>
          <p:cNvPr id="8" name="pn-body"/>
          <p:cNvSpPr txBox="1"/>
          <p:nvPr/>
        </p:nvSpPr>
        <p:spPr>
          <a:xfrm>
            <a:off x="965200" y="2184400"/>
            <a:ext cx="5461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质子 = uud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：+2/3 + 2/3 − 1/3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+1e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✔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中子 = udd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：+2/3 − 1/3 − 1/3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0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✔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各由三个夸克组成 → 属于重子 baryons。</a:t>
            </a:r>
            <a:endParaRPr lang="en-US" sz="1350" noProof="1"/>
          </a:p>
        </p:txBody>
      </p:sp>
      <p:graphicFrame>
        <p:nvGraphicFramePr>
          <p:cNvPr id="9" name="had-table"/>
          <p:cNvGraphicFramePr>
            <a:graphicFrameLocks noGrp="1"/>
          </p:cNvGraphicFramePr>
          <p:nvPr/>
        </p:nvGraphicFramePr>
        <p:xfrm>
          <a:off x="762000" y="3581400"/>
          <a:ext cx="5969000" cy="1524000"/>
        </p:xfrm>
        <a:graphic>
          <a:graphicData uri="http://schemas.openxmlformats.org/drawingml/2006/table">
            <a:tbl>
              <a:tblPr/>
              <a:tblGrid>
                <a:gridCol w="775970000"/>
                <a:gridCol w="2029460000"/>
              </a:tblGrid>
              <a:tr h="51816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64008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5600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10" name="pi-box"/>
          <p:cNvSpPr/>
          <p:nvPr/>
        </p:nvSpPr>
        <p:spPr>
          <a:xfrm>
            <a:off x="762000" y="5308600"/>
            <a:ext cx="5969000" cy="889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pi-text"/>
          <p:cNvSpPr txBox="1"/>
          <p:nvPr/>
        </p:nvSpPr>
        <p:spPr>
          <a:xfrm>
            <a:off x="965200" y="5410200"/>
            <a:ext cx="5562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验算 π⁺ = uđ：+2/3 + (+1/3)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+1e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✔（反下夸克 đ 带 +1/3）。</a:t>
            </a:r>
            <a:endParaRPr lang="en-US" sz="1250" noProof="1"/>
          </a:p>
        </p:txBody>
      </p:sp>
      <p:sp>
        <p:nvSpPr>
          <p:cNvPr id="12" name="beta-box"/>
          <p:cNvSpPr/>
          <p:nvPr/>
        </p:nvSpPr>
        <p:spPr>
          <a:xfrm>
            <a:off x="7239000" y="1701800"/>
            <a:ext cx="4191000" cy="449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beta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β 衰变的夸克层面 ★★★</a:t>
            </a:r>
            <a:endParaRPr lang="en-US" sz="1500" noProof="1"/>
          </a:p>
        </p:txBody>
      </p:sp>
      <p:sp>
        <p:nvSpPr>
          <p:cNvPr id="14" name="beta-body"/>
          <p:cNvSpPr txBox="1"/>
          <p:nvPr/>
        </p:nvSpPr>
        <p:spPr>
          <a:xfrm>
            <a:off x="7442200" y="2209800"/>
            <a:ext cx="37846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β 衰变的本质是一个夸克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变味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β⁻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（n → p）：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d → u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udd → uud（中子变成质子）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β⁺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（p → n）：</a:t>
            </a: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u → d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uud → udd（质子变成中子）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C96F16"/>
                </a:solidFill>
                <a:latin typeface="MiSans"/>
                <a:ea typeface="MiSans"/>
              </a:rPr>
              <a:t>考法：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"用夸克模型解释 β⁻ 衰变"——答：一个 down quark 变成 up quark，使中子变为质子，同时放出电子与反中微子。</a:t>
            </a:r>
            <a:endParaRPr lang="en-US" sz="13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WORKED EXAMPLE · 例题精讲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例题：配平方程 + 夸克验算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Two classic exam routines in one page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q1-box"/>
          <p:cNvSpPr/>
          <p:nvPr/>
        </p:nvSpPr>
        <p:spPr>
          <a:xfrm>
            <a:off x="762000" y="1701800"/>
            <a:ext cx="5969000" cy="2159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q1-head"/>
          <p:cNvSpPr txBox="1"/>
          <p:nvPr/>
        </p:nvSpPr>
        <p:spPr>
          <a:xfrm>
            <a:off x="965200" y="18288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第一问：α 衰变配平</a:t>
            </a:r>
            <a:endParaRPr lang="en-US" sz="1500" noProof="1"/>
          </a:p>
        </p:txBody>
      </p:sp>
      <p:sp>
        <p:nvSpPr>
          <p:cNvPr id="8" name="q1-body"/>
          <p:cNvSpPr txBox="1"/>
          <p:nvPr/>
        </p:nvSpPr>
        <p:spPr>
          <a:xfrm>
            <a:off x="965200" y="2184400"/>
            <a:ext cx="5461000" cy="154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²³⁸₉₂U 发生 α 衰变，写出衰变方程。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配上标：238 − 4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234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配下标：92 − 2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90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→ 查周期表得 Th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²³⁸₉₂U → ²³⁴₉₀Th + ⁴₂α</a:t>
            </a:r>
            <a:endParaRPr lang="en-US" sz="1350" noProof="1"/>
          </a:p>
        </p:txBody>
      </p:sp>
      <p:sp>
        <p:nvSpPr>
          <p:cNvPr id="9" name="q2-box"/>
          <p:cNvSpPr/>
          <p:nvPr/>
        </p:nvSpPr>
        <p:spPr>
          <a:xfrm>
            <a:off x="762000" y="4064000"/>
            <a:ext cx="5969000" cy="2133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0" name="q2-head"/>
          <p:cNvSpPr txBox="1"/>
          <p:nvPr/>
        </p:nvSpPr>
        <p:spPr>
          <a:xfrm>
            <a:off x="965200" y="41910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第二问：介子组成的电荷验算</a:t>
            </a:r>
            <a:endParaRPr lang="en-US" sz="1500" noProof="1"/>
          </a:p>
        </p:txBody>
      </p:sp>
      <p:sp>
        <p:nvSpPr>
          <p:cNvPr id="11" name="q2-body"/>
          <p:cNvSpPr txBox="1"/>
          <p:nvPr/>
        </p:nvSpPr>
        <p:spPr>
          <a:xfrm>
            <a:off x="965200" y="4546600"/>
            <a:ext cx="54610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某介子带 +1e，由一个上夸克与一个反夸克组成，写出其组成。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u 带 +2/3 → 反夸克须带 +1/3 → 即反下夸克 đ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π⁺ = uđ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（+2/3 + 1/3 = +1 ✔）</a:t>
            </a:r>
            <a:endParaRPr lang="en-US" sz="1350" noProof="1"/>
          </a:p>
        </p:txBody>
      </p:sp>
      <p:sp>
        <p:nvSpPr>
          <p:cNvPr id="12" name="right-box"/>
          <p:cNvSpPr/>
          <p:nvPr/>
        </p:nvSpPr>
        <p:spPr>
          <a:xfrm>
            <a:off x="7239000" y="1701800"/>
            <a:ext cx="4191000" cy="449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right-head"/>
          <p:cNvSpPr txBox="1"/>
          <p:nvPr/>
        </p:nvSpPr>
        <p:spPr>
          <a:xfrm>
            <a:off x="7442200" y="1854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评分点拆解 Mark scheme</a:t>
            </a:r>
            <a:endParaRPr lang="en-US" sz="1500" noProof="1"/>
          </a:p>
        </p:txBody>
      </p:sp>
      <p:sp>
        <p:nvSpPr>
          <p:cNvPr id="14" name="right-body"/>
          <p:cNvSpPr txBox="1"/>
          <p:nvPr/>
        </p:nvSpPr>
        <p:spPr>
          <a:xfrm>
            <a:off x="7442200" y="2209800"/>
            <a:ext cx="37846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配平题：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A 配平（上标守恒）——1 分；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Z 配平（下标守恒）——1 分；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正确写出 α 粒子 ⁴₂α——1 分。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夸克题：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写出 u = +2/3、反夸克 = +1/3；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✔ 指出反夸克是 đ 并给出 uđ。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口诀：上标管"人头"，下标管"电荷"，两头都守恒才算配平。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Scattering conclusions, decay equations, and quark bookkeeping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【卢瑟福散射】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α 散射实验中，极少数 α 粒子偏转超过 90° 被"弹回"。写出由该观察得出的两条结论，并说明理由。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State the two conclusions and justify each.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【衰变方程】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²¹⁰₈₄Po（钋）经 α 衰变生成铅 Pb（Z = 82）。写出完整衰变方程；该核素中子数是多少？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Balance the equation and count the neutrons in the parent nucleus.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【夸克模型】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用夸克模型解释 β⁻ 衰变（中子变为质子）发生了什么；并验算：由 ūd 组成的介子带多少电荷？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Which quark changes flavour? What is the charge of a ūd meson?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要答出 small 和 dense 两点并给出理由；② Q2 上下标都配平，中子数 = A − Z；③ Q3 指出 d → u，并用分数电荷算出介子电荷。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核很小 + 核很致密，两条缺一不可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被弹回的 α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极少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核的"靶面积"很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（绝大多数打不中）；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高速 α 竟能被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弹回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核必须质量集中、很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致密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（且带正电相斥）。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错因排查：只答"核很小"漏掉 dense；或没把"极少数"和"小"对应起来。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9210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30734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²¹⁰₈₄Po → ²⁰⁶₈₂Pb + ⁴₂α；126 个中子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782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上标：210 − 4 = 206；下标：84 − 2 = 82（恰为 Pb）→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²¹⁰₈₄Po → ²⁰⁶₈₂Pb + ⁴₂α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母核中子数 = A − Z = 210 − 84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126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错因排查：把中子数当成 A（210）；或下标忘减 2。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368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521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d → u；ūd 介子带 −1e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826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β⁻ 衰变：中子内一个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down quark 变成 up quark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（d → u），udd → uud，中子变质子，同时放出电子与反中微子。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ūd 介子电荷 = (−2/3) + (−1/3)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−1e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（这就是 π⁻ 介子）。</a:t>
            </a:r>
            <a:endParaRPr lang="en-US" sz="1250" noProof="1"/>
          </a:p>
        </p:txBody>
      </p:sp>
      <p:sp>
        <p:nvSpPr>
          <p:cNvPr id="14" name="check-box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check-text"/>
          <p:cNvSpPr txBox="1"/>
          <p:nvPr/>
        </p:nvSpPr>
        <p:spPr>
          <a:xfrm>
            <a:off x="965200" y="58801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自查口令：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观察与结论配对了？上下标都守恒了？反夸克电荷变号了吗？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离开本章前，请带走这五件事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11 checklist — the end of AS content, the start of modern physics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76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卢瑟福散射：穿过→原子是空的；大角度偏转→核带正电；反弹→核小且致密（成对记忆）。</a:t>
            </a:r>
            <a:endParaRPr lang="en-US" sz="140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33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ᴬzX：A 是核子总数、Z 是质子数；同位素质子同、中子不同；比荷 = Q/m。</a:t>
            </a:r>
            <a:endParaRPr lang="en-US" sz="140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90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三种辐射：α 氦核 +2e、β 电子家族、γ 光子；核过程电荷、核子数、轻子数三守恒。</a:t>
            </a:r>
            <a:endParaRPr lang="en-US" sz="140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48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衰变配平：α 减 4 减 2；β⁻ 加 1（d→u）；β⁺ 减 1（u→d）；α 能谱分立、β 能谱连续（中微子分能）。</a:t>
            </a:r>
            <a:endParaRPr lang="en-US" sz="140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505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　夸克：utc 带 +2/3、dbs 带 −1/3；质子 uud、中子 udd 是重子；介子 = 夸克 + 反夸克。</a:t>
            </a:r>
            <a:endParaRPr lang="en-US" sz="1400" noProof="1"/>
          </a:p>
        </p:txBody>
      </p:sp>
      <p:sp>
        <p:nvSpPr>
          <p:cNvPr id="11" name="res-rule"/>
          <p:cNvSpPr/>
          <p:nvPr/>
        </p:nvSpPr>
        <p:spPr>
          <a:xfrm>
            <a:off x="762000" y="4140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res-head"/>
          <p:cNvSpPr txBox="1"/>
          <p:nvPr/>
        </p:nvSpPr>
        <p:spPr>
          <a:xfrm>
            <a:off x="762000" y="4343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3" name="res-body"/>
          <p:cNvSpPr txBox="1"/>
          <p:nvPr/>
        </p:nvSpPr>
        <p:spPr>
          <a:xfrm>
            <a:off x="762000" y="4724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《中英对照笔记》：本课件全部内容的双语详版，含粒子性质表、衰变方程汇总与数据速查表，适合课后精读与考前背诵（中英结合笔记 文件夹）。</a:t>
            </a:r>
            <a:endParaRPr lang="en-US" sz="1300" noProof="1"/>
          </a:p>
        </p:txBody>
      </p:sp>
      <p:sp>
        <p:nvSpPr>
          <p:cNvPr id="14" name="next-box"/>
          <p:cNvSpPr/>
          <p:nvPr/>
        </p:nvSpPr>
        <p:spPr>
          <a:xfrm>
            <a:off x="762000" y="57404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next-text"/>
          <p:cNvSpPr txBox="1"/>
          <p:nvPr/>
        </p:nvSpPr>
        <p:spPr>
          <a:xfrm>
            <a:off x="965200" y="58166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AS 阶段收官：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至此 AS Level 11 个章节全部完成——下一步将进入 A2 阶段的圆周运动与引力场。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11 粒子物理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15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15</Slides>
</Properties>
</file>

<file path=docProps/core.xml><?xml version="1.0" encoding="utf-8"?>
<cp:coreProperties xmlns:dc="http://purl.org/dc/elements/1.1/" xmlns:cp="http://schemas.openxmlformats.org/package/2006/metadata/core-properties">
  <dc:title>Topic11_Particle_Physics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