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customXml" Target="../customXml/item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93748"/>
            </a:gs>
            <a:gs pos="100000">
              <a:srgbClr val="0E4D64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orbit-1"/>
          <p:cNvSpPr/>
          <p:nvPr/>
        </p:nvSpPr>
        <p:spPr>
          <a:xfrm>
            <a:off x="7239000" y="1238250"/>
            <a:ext cx="3810000" cy="38100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orbit-2"/>
          <p:cNvSpPr/>
          <p:nvPr/>
        </p:nvSpPr>
        <p:spPr>
          <a:xfrm>
            <a:off x="7905750" y="1905000"/>
            <a:ext cx="2476500" cy="2476500"/>
          </a:xfrm>
          <a:prstGeom prst="ellipse">
            <a:avLst/>
          </a:prstGeom>
          <a:noFill/>
          <a:ln w="12700">
            <a:solidFill>
              <a:srgbClr val="FFFFFF"/>
            </a:solidFill>
            <a:prstDash val="solid"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particle"/>
          <p:cNvSpPr/>
          <p:nvPr/>
        </p:nvSpPr>
        <p:spPr>
          <a:xfrm>
            <a:off x="10744200" y="2952750"/>
            <a:ext cx="190500" cy="190500"/>
          </a:xfrm>
          <a:prstGeom prst="ellipse">
            <a:avLst/>
          </a:prstGeom>
          <a:solidFill>
            <a:srgbClr val="D97D2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dsl:v-arrow"/>
          <p:cNvCxnSpPr/>
          <p:nvPr/>
        </p:nvCxnSpPr>
        <p:spPr>
          <a:xfrm>
            <a:off x="11010900" y="3048000"/>
            <a:ext cx="723900" cy="0"/>
          </a:xfrm>
          <a:prstGeom prst="straightConnector1">
            <a:avLst/>
          </a:prstGeom>
          <a:ln w="25400">
            <a:solidFill>
              <a:srgbClr val="FFFFFF">
                <a:alpha val="55000"/>
              </a:srgbClr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v-label"/>
          <p:cNvSpPr txBox="1"/>
          <p:nvPr/>
        </p:nvSpPr>
        <p:spPr>
          <a:xfrm>
            <a:off x="11049000" y="2762250"/>
            <a:ext cx="571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FFFFFF"/>
                </a:solidFill>
                <a:latin typeface="Unna"/>
                <a:ea typeface="siyuanSongti"/>
              </a:rPr>
              <a:t>v</a:t>
            </a:r>
            <a:endParaRPr sz="1350" i="1" noProof="1">
              <a:solidFill>
                <a:srgbClr val="FFFFFF"/>
              </a:solidFill>
              <a:latin typeface="Unna"/>
              <a:ea typeface="siyuanSongti"/>
            </a:endParaRPr>
          </a:p>
        </p:txBody>
      </p:sp>
      <p:cxnSp>
        <p:nvCxnSpPr>
          <p:cNvPr id="7" name="dsl:f-arrow"/>
          <p:cNvCxnSpPr/>
          <p:nvPr/>
        </p:nvCxnSpPr>
        <p:spPr>
          <a:xfrm>
            <a:off x="9258300" y="3048000"/>
            <a:ext cx="1409700" cy="0"/>
          </a:xfrm>
          <a:prstGeom prst="straightConnector1">
            <a:avLst/>
          </a:prstGeom>
          <a:ln w="25400">
            <a:solidFill>
              <a:srgbClr val="D97D29">
                <a:alpha val="70000"/>
              </a:srgbClr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f-label"/>
          <p:cNvSpPr txBox="1"/>
          <p:nvPr/>
        </p:nvSpPr>
        <p:spPr>
          <a:xfrm>
            <a:off x="9391650" y="3200400"/>
            <a:ext cx="914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350" i="1" noProof="1">
                <a:solidFill>
                  <a:srgbClr val="D97D29"/>
                </a:solidFill>
                <a:latin typeface="Unna"/>
                <a:ea typeface="siyuanSongti"/>
              </a:rPr>
              <a:t>F = mv²/r</a:t>
            </a:r>
            <a:endParaRPr sz="1350" i="1" noProof="1">
              <a:solidFill>
                <a:srgbClr val="D97D29"/>
              </a:solidFill>
              <a:latin typeface="Unna"/>
              <a:ea typeface="siyuanSongti"/>
            </a:endParaRPr>
          </a:p>
        </p:txBody>
      </p:sp>
      <p:sp>
        <p:nvSpPr>
          <p:cNvPr id="9" name="dsl:centre-dot"/>
          <p:cNvSpPr/>
          <p:nvPr/>
        </p:nvSpPr>
        <p:spPr>
          <a:xfrm>
            <a:off x="9086850" y="3086100"/>
            <a:ext cx="114300" cy="114300"/>
          </a:xfrm>
          <a:prstGeom prst="ellipse">
            <a:avLst/>
          </a:prstGeom>
          <a:solidFill>
            <a:srgbClr val="FFFFFF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opic-tag"/>
          <p:cNvSpPr txBox="1"/>
          <p:nvPr/>
        </p:nvSpPr>
        <p:spPr>
          <a:xfrm>
            <a:off x="838200" y="1676400"/>
            <a:ext cx="4953000" cy="2476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spc="225" noProof="1">
                <a:solidFill>
                  <a:srgbClr val="D97D29"/>
                </a:solidFill>
                <a:latin typeface="QuattrocentoSans"/>
                <a:ea typeface="MiSans"/>
              </a:rPr>
              <a:t>TOPIC 12 · A2 PHYSICS</a:t>
            </a:r>
            <a:endParaRPr sz="1125" spc="225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1" name="dsl:title-main"/>
          <p:cNvSpPr txBox="1"/>
          <p:nvPr/>
        </p:nvSpPr>
        <p:spPr>
          <a:xfrm>
            <a:off x="838200" y="2038350"/>
            <a:ext cx="62865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MOTION IN</a:t>
            </a: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
</a:t>
            </a:r>
            <a:r>
              <a:rPr sz="3450" b="1" noProof="1">
                <a:solidFill>
                  <a:srgbClr val="FFFFFF"/>
                </a:solidFill>
                <a:latin typeface="Unna"/>
                <a:ea typeface="siyuanSongti"/>
              </a:rPr>
              <a:t>A CIRCLE</a:t>
            </a:r>
            <a:endParaRPr sz="3450" b="1" noProof="1">
              <a:solidFill>
                <a:srgbClr val="FFFFFF"/>
              </a:solidFill>
              <a:latin typeface="Unna"/>
              <a:ea typeface="siyuanSongti"/>
            </a:endParaRPr>
          </a:p>
        </p:txBody>
      </p:sp>
      <p:sp>
        <p:nvSpPr>
          <p:cNvPr id="12" name="dsl:title-cn"/>
          <p:cNvSpPr txBox="1"/>
          <p:nvPr/>
        </p:nvSpPr>
        <p:spPr>
          <a:xfrm>
            <a:off x="838200" y="3429000"/>
            <a:ext cx="4762500" cy="3238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650" noProof="1">
                <a:solidFill>
                  <a:srgbClr val="FFFFFF"/>
                </a:solidFill>
                <a:latin typeface="Unna"/>
                <a:ea typeface="siyuanSongti"/>
              </a:rPr>
              <a:t>圆周运动</a:t>
            </a:r>
            <a:endParaRPr sz="1650" noProof="1">
              <a:solidFill>
                <a:srgbClr val="FFFFFF"/>
              </a:solidFill>
              <a:latin typeface="Unna"/>
              <a:ea typeface="siyuanSongti"/>
            </a:endParaRPr>
          </a:p>
        </p:txBody>
      </p:sp>
      <p:sp>
        <p:nvSpPr>
          <p:cNvPr id="13" name="dsl:title-rule"/>
          <p:cNvSpPr/>
          <p:nvPr/>
        </p:nvSpPr>
        <p:spPr>
          <a:xfrm>
            <a:off x="838200" y="3943350"/>
            <a:ext cx="9144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itle-desc"/>
          <p:cNvSpPr txBox="1"/>
          <p:nvPr/>
        </p:nvSpPr>
        <p:spPr>
          <a:xfrm>
            <a:off x="838200" y="4152900"/>
            <a:ext cx="5905500" cy="609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75" noProof="1">
                <a:solidFill>
                  <a:srgbClr val="FFFFFF"/>
                </a:solidFill>
                <a:latin typeface="QuattrocentoSans"/>
                <a:ea typeface="MiSans"/>
              </a:rPr>
              <a:t>Radian measure · angular speed · centripetal acceleration and force</a:t>
            </a:r>
            <a:endParaRPr sz="1275" noProof="1">
              <a:solidFill>
                <a:srgbClr val="FFFFFF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弧度制 · 角速度 · 向心加速度与向心力</a:t>
            </a:r>
            <a:endParaRPr sz="105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15" name="dsl:bottom-bar"/>
          <p:cNvSpPr/>
          <p:nvPr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rgbClr val="093748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bottom-info"/>
          <p:cNvSpPr txBox="1"/>
          <p:nvPr/>
        </p:nvSpPr>
        <p:spPr>
          <a:xfrm>
            <a:off x="838200" y="6172200"/>
            <a:ext cx="85725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spc="75" noProof="1">
                <a:solidFill>
                  <a:srgbClr val="FFFFFF"/>
                </a:solidFill>
                <a:latin typeface="QuattrocentoSans"/>
                <a:ea typeface="MiSans"/>
              </a:rPr>
              <a:t>CIE 9702 · Paper 4 · Topic 12</a:t>
            </a:r>
            <a:endParaRPr sz="1200" spc="75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  <p:sp>
        <p:nvSpPr>
          <p:cNvPr id="17" name="dsl:bottom-right"/>
          <p:cNvSpPr txBox="1"/>
          <p:nvPr/>
        </p:nvSpPr>
        <p:spPr>
          <a:xfrm>
            <a:off x="9677400" y="6172200"/>
            <a:ext cx="1676400" cy="685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1050" noProof="1">
                <a:solidFill>
                  <a:srgbClr val="FFFFFF"/>
                </a:solidFill>
                <a:latin typeface="QuattrocentoSans"/>
                <a:ea typeface="MiSans"/>
              </a:rPr>
              <a:t>Lecture Notes</a:t>
            </a:r>
            <a:endParaRPr sz="1050" noProof="1">
              <a:solidFill>
                <a:srgbClr val="FFFFFF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Learning Outcomes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学习目标 — 学完本章你应掌握以下内容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intro-card"/>
          <p:cNvSpPr/>
          <p:nvPr/>
        </p:nvSpPr>
        <p:spPr>
          <a:xfrm>
            <a:off x="609600" y="1809750"/>
            <a:ext cx="3238500" cy="44386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intro-label|s=$badge"/>
          <p:cNvSpPr txBox="1"/>
          <p:nvPr/>
        </p:nvSpPr>
        <p:spPr>
          <a:xfrm>
            <a:off x="838200" y="2038350"/>
            <a:ext cx="2781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BY THE END OF THIS TOPIC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intro-cn"/>
          <p:cNvSpPr txBox="1"/>
          <p:nvPr/>
        </p:nvSpPr>
        <p:spPr>
          <a:xfrm>
            <a:off x="838200" y="2324100"/>
            <a:ext cx="2781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5C7A84"/>
                </a:solidFill>
                <a:latin typeface="MiSans"/>
                <a:ea typeface="MiSans"/>
              </a:rPr>
              <a:t>学完本章，你将能够：</a:t>
            </a:r>
            <a:endParaRPr sz="1125" noProof="1">
              <a:solidFill>
                <a:srgbClr val="5C7A84"/>
              </a:solidFill>
              <a:latin typeface="MiSans"/>
              <a:ea typeface="MiSans"/>
            </a:endParaRPr>
          </a:p>
        </p:txBody>
      </p:sp>
      <p:sp>
        <p:nvSpPr>
          <p:cNvPr id="9" name="dsl:intro-text|s=$body"/>
          <p:cNvSpPr txBox="1"/>
          <p:nvPr/>
        </p:nvSpPr>
        <p:spPr>
          <a:xfrm>
            <a:off x="838200" y="2705100"/>
            <a:ext cx="2781300" cy="3238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12.1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Kinematics of uniform circular motion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匀速圆周运动的运动学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1350"/>
              </a:spcBef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12.2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Centripetal acceleration and force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向心加速度与向心力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13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考试关联：Paper 4 Section A 常考圆周运动公式应用与受力分析。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0" name="dsl:grp1-label|s=$badge"/>
          <p:cNvSpPr txBox="1"/>
          <p:nvPr/>
        </p:nvSpPr>
        <p:spPr>
          <a:xfrm>
            <a:off x="4191000" y="1809750"/>
            <a:ext cx="7391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12.1 KINEMATICS OF UNIFORM CIRCULAR MOTION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pic>
        <p:nvPicPr>
          <p:cNvPr id="11" name="dsl:grp1-icon1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171700"/>
            <a:ext cx="190500" cy="190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2" name="dsl:grp1-item1|s=$body"/>
          <p:cNvSpPr txBox="1"/>
          <p:nvPr/>
        </p:nvSpPr>
        <p:spPr>
          <a:xfrm>
            <a:off x="4533900" y="2114550"/>
            <a:ext cx="7048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Define the radian and express angular displacement in radians 定义弧度并用弧度表示角位移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13" name="dsl:grp1-icon2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552700"/>
            <a:ext cx="190500" cy="190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dsl:grp1-item2|s=$body"/>
          <p:cNvSpPr txBox="1"/>
          <p:nvPr/>
        </p:nvSpPr>
        <p:spPr>
          <a:xfrm>
            <a:off x="4533900" y="2495550"/>
            <a:ext cx="7048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Understand and use the concept of angular speed 理解并使用角速度概念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15" name="dsl:grp1-icon3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2933700"/>
            <a:ext cx="190500" cy="19050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grp1-item3|s=$body"/>
              <p:cNvSpPr txBox="1"/>
              <p:nvPr/>
            </p:nvSpPr>
            <p:spPr>
              <a:xfrm>
                <a:off x="4533900" y="2876550"/>
                <a:ext cx="7048500" cy="3048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Recall and use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6" name="dsl:grp1-item3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2876550"/>
                <a:ext cx="7048500" cy="304800"/>
              </a:xfrm>
              <a:prstGeom prst="rect">
                <a:avLst/>
              </a:prstGeom>
              <a:blipFill rotWithShape="1">
                <a:blip r:embed="rId2"/>
                <a:stretch>
                  <a:fillRect t="-28958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dsl:grp1-rule"/>
          <p:cNvCxnSpPr/>
          <p:nvPr/>
        </p:nvCxnSpPr>
        <p:spPr>
          <a:xfrm>
            <a:off x="4191000" y="3352800"/>
            <a:ext cx="73914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grp2-label|s=$badge"/>
          <p:cNvSpPr txBox="1"/>
          <p:nvPr/>
        </p:nvSpPr>
        <p:spPr>
          <a:xfrm>
            <a:off x="4191000" y="3562350"/>
            <a:ext cx="73914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12.2 CENTRIPETAL ACCELERATION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pic>
        <p:nvPicPr>
          <p:cNvPr id="19" name="dsl:grp2-icon1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3924300"/>
            <a:ext cx="190500" cy="190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dsl:grp2-item1|s=$body"/>
          <p:cNvSpPr txBox="1"/>
          <p:nvPr/>
        </p:nvSpPr>
        <p:spPr>
          <a:xfrm>
            <a:off x="4533900" y="3867150"/>
            <a:ext cx="7048500" cy="533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Understand that a force of constant magnitude, always perpendicular to the motion, causes centripetal acceleration 理解恒大力且始终垂直于运动方向的力产生向心加速度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21" name="dsl:grp2-icon2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4533900"/>
            <a:ext cx="190500" cy="1905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2" name="dsl:grp2-item2|s=$body"/>
          <p:cNvSpPr txBox="1"/>
          <p:nvPr/>
        </p:nvSpPr>
        <p:spPr>
          <a:xfrm>
            <a:off x="4533900" y="4476750"/>
            <a:ext cx="7048500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Understand that it causes circular motion with constant angular speed 理解它使物体做匀角速圆周运动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pic>
        <p:nvPicPr>
          <p:cNvPr id="23" name="dsl:grp2-icon3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4914900"/>
            <a:ext cx="190500" cy="19050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4" name="dsl:grp2-item3|s=$body"/>
              <p:cNvSpPr txBox="1"/>
              <p:nvPr/>
            </p:nvSpPr>
            <p:spPr>
              <a:xfrm>
                <a:off x="4533900" y="4857750"/>
                <a:ext cx="7048500" cy="3048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Recall and use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24" name="dsl:grp2-item3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4857750"/>
                <a:ext cx="7048500" cy="304800"/>
              </a:xfrm>
              <a:prstGeom prst="rect">
                <a:avLst/>
              </a:prstGeom>
              <a:blipFill rotWithShape="1">
                <a:blip r:embed="rId3"/>
                <a:stretch>
                  <a:fillRect t="-35833" b="-3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dsl:grp2-icon4|i=fas:square-check" descr="tmp02ars8z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9100" y="5295900"/>
            <a:ext cx="190500" cy="19050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" name="dsl:grp2-item4|s=$body"/>
              <p:cNvSpPr txBox="1"/>
              <p:nvPr/>
            </p:nvSpPr>
            <p:spPr>
              <a:xfrm>
                <a:off x="4533900" y="5238750"/>
                <a:ext cx="7048500" cy="3048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Recall and use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26" name="dsl:grp2-item4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5238750"/>
                <a:ext cx="7048500" cy="304800"/>
              </a:xfrm>
              <a:prstGeom prst="rect">
                <a:avLst/>
              </a:prstGeom>
              <a:blipFill rotWithShape="1">
                <a:blip r:embed="rId4"/>
                <a:stretch>
                  <a:fillRect t="-35833" b="-36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9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02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Radian Measure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弧度制 — 用弧长与半径之比来度量角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4097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4097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1181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One radian (rad)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is the angle subtended at the centre of a circle by an arc equal in length to the radius of the circle.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一弧度：弧长等于半径时所对的圆心角。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390900"/>
            <a:ext cx="5334000" cy="6096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390900"/>
                <a:ext cx="2857500" cy="6096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90900"/>
                <a:ext cx="2857500" cy="6096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810000" y="3390900"/>
            <a:ext cx="1981200" cy="609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s = arc length 弧长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 = radius 半径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points|s=$body"/>
              <p:cNvSpPr txBox="1"/>
              <p:nvPr/>
            </p:nvSpPr>
            <p:spPr>
              <a:xfrm>
                <a:off x="609600" y="4210050"/>
                <a:ext cx="5334000" cy="19812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A complete circle: </a:t>
                </a:r>
                <a14:m>
                  <m:oMath xmlns:m="http://schemas.openxmlformats.org/officeDocument/2006/math"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360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一个完整圆对应 2π 弧度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Conversion 换算: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, so </a:t>
                </a:r>
                <a14:m>
                  <m:oMath xmlns:m="http://schemas.openxmlformats.org/officeDocument/2006/math"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Degrees → radians: multiply by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角度乘以 π/180 化为弧度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Example 例: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05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𝑟𝑎𝑑</m:t>
                    </m:r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2" name="dsl:points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210050"/>
                <a:ext cx="5334000" cy="19812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ircle"/>
          <p:cNvSpPr/>
          <p:nvPr/>
        </p:nvSpPr>
        <p:spPr>
          <a:xfrm>
            <a:off x="7429500" y="2381250"/>
            <a:ext cx="2476500" cy="24765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radius-h"/>
          <p:cNvCxnSpPr/>
          <p:nvPr/>
        </p:nvCxnSpPr>
        <p:spPr>
          <a:xfrm>
            <a:off x="8667750" y="3619500"/>
            <a:ext cx="123825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dsl:radius-d"/>
          <p:cNvCxnSpPr/>
          <p:nvPr/>
        </p:nvCxnSpPr>
        <p:spPr>
          <a:xfrm flipH="1">
            <a:off x="8667750" y="2543175"/>
            <a:ext cx="619125" cy="107632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wedge"/>
          <p:cNvSpPr/>
          <p:nvPr/>
        </p:nvSpPr>
        <p:spPr>
          <a:xfrm>
            <a:off x="8239125" y="3190875"/>
            <a:ext cx="857250" cy="857250"/>
          </a:xfrm>
          <a:prstGeom prst="pie">
            <a:avLst>
              <a:gd name="adj1" fmla="val 30000000"/>
              <a:gd name="adj2" fmla="val 36000000"/>
            </a:avLst>
          </a:prstGeom>
          <a:solidFill>
            <a:srgbClr val="D97D29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lbl-theta"/>
          <p:cNvSpPr txBox="1"/>
          <p:nvPr/>
        </p:nvSpPr>
        <p:spPr>
          <a:xfrm>
            <a:off x="9144000" y="3733800"/>
            <a:ext cx="7429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b="1" noProof="1">
                <a:solidFill>
                  <a:srgbClr val="D97D29"/>
                </a:solidFill>
                <a:latin typeface="MiSans"/>
                <a:ea typeface="MiSans"/>
              </a:rPr>
              <a:t>θ = 1 rad</a:t>
            </a:r>
            <a:endParaRPr sz="1125" b="1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sp>
        <p:nvSpPr>
          <p:cNvPr id="19" name="dsl:lbl-r1"/>
          <p:cNvSpPr txBox="1"/>
          <p:nvPr/>
        </p:nvSpPr>
        <p:spPr>
          <a:xfrm>
            <a:off x="9334500" y="33528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0E4D64"/>
                </a:solidFill>
                <a:latin typeface="MiSans"/>
                <a:ea typeface="MiSans"/>
              </a:rPr>
              <a:t>r</a:t>
            </a:r>
            <a:endParaRPr sz="1200" i="1" noProof="1">
              <a:solidFill>
                <a:srgbClr val="0E4D64"/>
              </a:solidFill>
              <a:latin typeface="MiSans"/>
              <a:ea typeface="MiSans"/>
            </a:endParaRPr>
          </a:p>
        </p:txBody>
      </p:sp>
      <p:sp>
        <p:nvSpPr>
          <p:cNvPr id="20" name="dsl:lbl-r2"/>
          <p:cNvSpPr txBox="1"/>
          <p:nvPr/>
        </p:nvSpPr>
        <p:spPr>
          <a:xfrm>
            <a:off x="8743950" y="28194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0E4D64"/>
                </a:solidFill>
                <a:latin typeface="MiSans"/>
                <a:ea typeface="MiSans"/>
              </a:rPr>
              <a:t>r</a:t>
            </a:r>
            <a:endParaRPr sz="1200" i="1" noProof="1">
              <a:solidFill>
                <a:srgbClr val="0E4D64"/>
              </a:solidFill>
              <a:latin typeface="MiSans"/>
              <a:ea typeface="MiSans"/>
            </a:endParaRPr>
          </a:p>
        </p:txBody>
      </p:sp>
      <p:sp>
        <p:nvSpPr>
          <p:cNvPr id="21" name="dsl:lbl-arc"/>
          <p:cNvSpPr txBox="1"/>
          <p:nvPr/>
        </p:nvSpPr>
        <p:spPr>
          <a:xfrm>
            <a:off x="9963150" y="2857500"/>
            <a:ext cx="1333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1C2B33"/>
                </a:solidFill>
                <a:latin typeface="MiSans"/>
                <a:ea typeface="MiSans"/>
              </a:rPr>
              <a:t>arc s = r 弧长</a:t>
            </a:r>
            <a:endParaRPr sz="1125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sp>
        <p:nvSpPr>
          <p:cNvPr id="22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Angle in radians 弧度数 = arc length ÷ radius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3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5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03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Angular Speed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角速度 — 单位时间内半径扫过的角度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2192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219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990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Angular speed ω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is the angle swept out by the radius per unit time. Unit: rad s</a:t>
            </a:r>
            <a:r>
              <a:rPr sz="1350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角速度：单位时间内半径扫过的角度，单位 rad s⁻¹。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200400"/>
            <a:ext cx="5334000" cy="8763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200400"/>
                <a:ext cx="2667000" cy="876300"/>
              </a:xfrm>
              <a:prstGeom prst="rect">
                <a:avLst/>
              </a:prstGeom>
              <a:noFill/>
            </p:spPr>
            <p:txBody>
              <a:bodyPr wrap="squar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00400"/>
                <a:ext cx="2667000" cy="876300"/>
              </a:xfrm>
              <a:prstGeom prst="rect">
                <a:avLst/>
              </a:prstGeom>
              <a:blipFill rotWithShape="1">
                <a:blip r:embed="rId1"/>
                <a:stretch>
                  <a:fillRect t="-3406" b="-34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formula-note|s=$small"/>
          <p:cNvSpPr txBox="1"/>
          <p:nvPr/>
        </p:nvSpPr>
        <p:spPr>
          <a:xfrm>
            <a:off x="3619500" y="3200400"/>
            <a:ext cx="2171700" cy="8763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 = period 周期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
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 = frequency 频率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derive-text|s=$body"/>
              <p:cNvSpPr txBox="1"/>
              <p:nvPr/>
            </p:nvSpPr>
            <p:spPr>
              <a:xfrm>
                <a:off x="609600" y="4267200"/>
                <a:ext cx="5334000" cy="19050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Deriving v = rω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推导：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Arc length 弧长: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Divide by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</a:p>
              <a:p>
                <a:pPr marL="257175" lvl="0" indent="-205740" algn="l">
                  <a:lnSpc>
                    <a:spcPct val="150000"/>
                  </a:lnSpc>
                  <a:buChar char="•"/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Linear speed 线速度: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2" name="dsl:derive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267200"/>
                <a:ext cx="5334000" cy="1905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orbit"/>
          <p:cNvSpPr/>
          <p:nvPr/>
        </p:nvSpPr>
        <p:spPr>
          <a:xfrm>
            <a:off x="7239000" y="2286000"/>
            <a:ext cx="2476500" cy="247650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entre-dot"/>
          <p:cNvSpPr/>
          <p:nvPr/>
        </p:nvSpPr>
        <p:spPr>
          <a:xfrm>
            <a:off x="8420100" y="3467100"/>
            <a:ext cx="114300" cy="1143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dsl:radius-line"/>
          <p:cNvCxnSpPr>
            <a:stCxn id="14" idx="7"/>
            <a:endCxn id="15" idx="3"/>
          </p:cNvCxnSpPr>
          <p:nvPr/>
        </p:nvCxnSpPr>
        <p:spPr>
          <a:xfrm flipH="1">
            <a:off x="8436610" y="2648585"/>
            <a:ext cx="916305" cy="916305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lbl-r"/>
          <p:cNvSpPr txBox="1"/>
          <p:nvPr/>
        </p:nvSpPr>
        <p:spPr>
          <a:xfrm>
            <a:off x="8751570" y="2819400"/>
            <a:ext cx="28575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0E4D64"/>
                </a:solidFill>
                <a:latin typeface="MiSans"/>
                <a:ea typeface="MiSans"/>
              </a:rPr>
              <a:t>r</a:t>
            </a:r>
            <a:endParaRPr sz="1200" i="1" noProof="1">
              <a:solidFill>
                <a:srgbClr val="0E4D64"/>
              </a:solidFill>
              <a:latin typeface="MiSans"/>
              <a:ea typeface="MiSans"/>
            </a:endParaRPr>
          </a:p>
        </p:txBody>
      </p:sp>
      <p:sp>
        <p:nvSpPr>
          <p:cNvPr id="18" name="dsl:obj-dot"/>
          <p:cNvSpPr/>
          <p:nvPr/>
        </p:nvSpPr>
        <p:spPr>
          <a:xfrm>
            <a:off x="9251950" y="2571750"/>
            <a:ext cx="190500" cy="1905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sl:v-arrow"/>
          <p:cNvCxnSpPr>
            <a:stCxn id="18" idx="7"/>
          </p:cNvCxnSpPr>
          <p:nvPr/>
        </p:nvCxnSpPr>
        <p:spPr>
          <a:xfrm>
            <a:off x="9414510" y="2599690"/>
            <a:ext cx="548640" cy="60071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lbl-v"/>
          <p:cNvSpPr txBox="1"/>
          <p:nvPr/>
        </p:nvSpPr>
        <p:spPr>
          <a:xfrm>
            <a:off x="10020300" y="3009900"/>
            <a:ext cx="12382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D97D29"/>
                </a:solidFill>
                <a:latin typeface="MiSans"/>
                <a:ea typeface="MiSans"/>
              </a:rPr>
              <a:t>v</a:t>
            </a:r>
            <a:r>
              <a:rPr sz="1200" noProof="1">
                <a:solidFill>
                  <a:srgbClr val="D97D29"/>
                </a:solidFill>
                <a:latin typeface="MiSans"/>
                <a:ea typeface="MiSans"/>
              </a:rPr>
              <a:t> (tangent 切向)</a:t>
            </a:r>
            <a:endParaRPr sz="1200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sp>
        <p:nvSpPr>
          <p:cNvPr id="21" name="dsl:lbl-omega"/>
          <p:cNvSpPr txBox="1"/>
          <p:nvPr/>
        </p:nvSpPr>
        <p:spPr>
          <a:xfrm>
            <a:off x="9037320" y="3564890"/>
            <a:ext cx="876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noProof="1">
                <a:solidFill>
                  <a:srgbClr val="0E4D64"/>
                </a:solidFill>
                <a:latin typeface="MiSans"/>
                <a:ea typeface="MiSans"/>
              </a:rPr>
              <a:t>ω, Δθ</a:t>
            </a:r>
            <a:endParaRPr sz="1200" noProof="1">
              <a:solidFill>
                <a:srgbClr val="0E4D64"/>
              </a:solidFill>
              <a:latin typeface="MiSans"/>
              <a:ea typeface="MiSans"/>
            </a:endParaRPr>
          </a:p>
        </p:txBody>
      </p:sp>
      <p:sp>
        <p:nvSpPr>
          <p:cNvPr id="22" name="dsl:sweep-arc"/>
          <p:cNvSpPr/>
          <p:nvPr/>
        </p:nvSpPr>
        <p:spPr>
          <a:xfrm>
            <a:off x="8128000" y="3086100"/>
            <a:ext cx="952500" cy="952500"/>
          </a:xfrm>
          <a:prstGeom prst="arc">
            <a:avLst>
              <a:gd name="adj1" fmla="val 18000000"/>
              <a:gd name="adj2" fmla="val 31500000"/>
            </a:avLst>
          </a:prstGeom>
          <a:noFill/>
          <a:ln w="25400">
            <a:solidFill>
              <a:srgbClr val="5C7A8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Object on a circular orbit: v tangent 沿切线, ω = v/r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4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6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04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Centripetal Acceleration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向心加速度 — 方向始终指向圆心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6002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60020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def-text|s=$body"/>
          <p:cNvSpPr txBox="1"/>
          <p:nvPr/>
        </p:nvSpPr>
        <p:spPr>
          <a:xfrm>
            <a:off x="838200" y="1924050"/>
            <a:ext cx="48768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Velocity is a vector — its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direction changes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even at constant speed, so the object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accelerates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 This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centripetal acceleration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is towards the centre of the circle.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速度是矢量：方向变化即有加速度；向心加速度指向圆心。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formula-strip"/>
          <p:cNvSpPr/>
          <p:nvPr/>
        </p:nvSpPr>
        <p:spPr>
          <a:xfrm>
            <a:off x="609600" y="3581400"/>
            <a:ext cx="5334000" cy="6858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581400"/>
                <a:ext cx="4876800" cy="6858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581400"/>
                <a:ext cx="4876800" cy="6858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points|s=$body"/>
          <p:cNvSpPr txBox="1"/>
          <p:nvPr/>
        </p:nvSpPr>
        <p:spPr>
          <a:xfrm>
            <a:off x="609600" y="4476750"/>
            <a:ext cx="5334000" cy="1771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force of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constant magnitude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, always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perpendicular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to the motion, causes centripetal acceleration 恒大力、始终垂直于运动方向的力产生向心加速度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Proof idea 证明思路: Δv/v = Δs/r, then divide by Δt → a = v²/r（相似三角形）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Direction 方向: always towards the centre 始终指向圆心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2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orbit"/>
          <p:cNvSpPr/>
          <p:nvPr/>
        </p:nvSpPr>
        <p:spPr>
          <a:xfrm>
            <a:off x="7429500" y="2095500"/>
            <a:ext cx="2667000" cy="266700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entre-dot"/>
          <p:cNvSpPr/>
          <p:nvPr/>
        </p:nvSpPr>
        <p:spPr>
          <a:xfrm>
            <a:off x="8705850" y="3371850"/>
            <a:ext cx="114300" cy="1143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objA"/>
          <p:cNvSpPr/>
          <p:nvPr/>
        </p:nvSpPr>
        <p:spPr>
          <a:xfrm>
            <a:off x="8667750" y="2000250"/>
            <a:ext cx="190500" cy="1905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dsl:vA-arrow"/>
          <p:cNvCxnSpPr/>
          <p:nvPr/>
        </p:nvCxnSpPr>
        <p:spPr>
          <a:xfrm>
            <a:off x="8896350" y="2095500"/>
            <a:ext cx="685800" cy="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lbl-vA"/>
          <p:cNvSpPr txBox="1"/>
          <p:nvPr/>
        </p:nvSpPr>
        <p:spPr>
          <a:xfrm>
            <a:off x="9639300" y="1828800"/>
            <a:ext cx="381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1C2B33"/>
                </a:solidFill>
                <a:latin typeface="MiSans"/>
                <a:ea typeface="MiSans"/>
              </a:rPr>
              <a:t>v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A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sp>
        <p:nvSpPr>
          <p:cNvPr id="18" name="dsl:objB"/>
          <p:cNvSpPr/>
          <p:nvPr/>
        </p:nvSpPr>
        <p:spPr>
          <a:xfrm>
            <a:off x="10001250" y="3333750"/>
            <a:ext cx="190500" cy="1905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sl:vB-arrow"/>
          <p:cNvCxnSpPr/>
          <p:nvPr/>
        </p:nvCxnSpPr>
        <p:spPr>
          <a:xfrm>
            <a:off x="10096500" y="3562350"/>
            <a:ext cx="0" cy="6858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lbl-vB"/>
          <p:cNvSpPr txBox="1"/>
          <p:nvPr/>
        </p:nvSpPr>
        <p:spPr>
          <a:xfrm>
            <a:off x="10229850" y="3848100"/>
            <a:ext cx="381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1C2B33"/>
                </a:solidFill>
                <a:latin typeface="MiSans"/>
                <a:ea typeface="MiSans"/>
              </a:rPr>
              <a:t>v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B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cxnSp>
        <p:nvCxnSpPr>
          <p:cNvPr id="21" name="dsl:a-arrow"/>
          <p:cNvCxnSpPr/>
          <p:nvPr/>
        </p:nvCxnSpPr>
        <p:spPr>
          <a:xfrm>
            <a:off x="8896350" y="3429000"/>
            <a:ext cx="102870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sl:lbl-a"/>
          <p:cNvSpPr txBox="1"/>
          <p:nvPr/>
        </p:nvSpPr>
        <p:spPr>
          <a:xfrm>
            <a:off x="8991600" y="3143250"/>
            <a:ext cx="8572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D97D29"/>
                </a:solidFill>
                <a:latin typeface="MiSans"/>
                <a:ea typeface="MiSans"/>
              </a:rPr>
              <a:t>a</a:t>
            </a:r>
            <a:r>
              <a:rPr sz="1200" noProof="1">
                <a:solidFill>
                  <a:srgbClr val="D97D29"/>
                </a:solidFill>
                <a:latin typeface="MiSans"/>
                <a:ea typeface="MiSans"/>
              </a:rPr>
              <a:t> 指向圆心</a:t>
            </a:r>
            <a:endParaRPr sz="1200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sp>
        <p:nvSpPr>
          <p:cNvPr id="23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v changes direction ⇒ Δv ≠ 0 ⇒ acceleration towards centre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4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6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05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Centripetal Force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向心力 — 维持圆周运动的合外力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def-card"/>
          <p:cNvSpPr/>
          <p:nvPr/>
        </p:nvSpPr>
        <p:spPr>
          <a:xfrm>
            <a:off x="609600" y="1809750"/>
            <a:ext cx="5334000" cy="14287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f-bar"/>
          <p:cNvSpPr/>
          <p:nvPr/>
        </p:nvSpPr>
        <p:spPr>
          <a:xfrm>
            <a:off x="609600" y="1809750"/>
            <a:ext cx="38100" cy="1428750"/>
          </a:xfrm>
          <a:prstGeom prst="rect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dsl:def-text|s=$body"/>
              <p:cNvSpPr txBox="1"/>
              <p:nvPr/>
            </p:nvSpPr>
            <p:spPr>
              <a:xfrm>
                <a:off x="838200" y="1924050"/>
                <a:ext cx="4876800" cy="12001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From Newton's second law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, a resultant force acting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towards the centre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is required. This resultant force is the </a:t>
                </a: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centripetal force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.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600"/>
                  </a:spcBef>
                </a:pPr>
                <a:r>
                  <a:rPr sz="1125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由 F = ma，必须存在指向圆心的合外力 —— 即向心力。</a:t>
                </a:r>
                <a:endParaRPr sz="1125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8" name="dsl:def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24050"/>
                <a:ext cx="4876800" cy="1200150"/>
              </a:xfrm>
              <a:prstGeom prst="rect">
                <a:avLst/>
              </a:prstGeom>
              <a:blipFill rotWithShape="1">
                <a:blip r:embed="rId1"/>
                <a:stretch>
                  <a:fillRect b="-8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sl:formula-strip"/>
          <p:cNvSpPr/>
          <p:nvPr/>
        </p:nvSpPr>
        <p:spPr>
          <a:xfrm>
            <a:off x="609600" y="3409950"/>
            <a:ext cx="5334000" cy="68580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dsl:formula-main|s=$formula"/>
              <p:cNvSpPr txBox="1"/>
              <p:nvPr/>
            </p:nvSpPr>
            <p:spPr>
              <a:xfrm>
                <a:off x="838200" y="3409950"/>
                <a:ext cx="4876800" cy="6858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0" name="dsl:formula-main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09950"/>
                <a:ext cx="4876800" cy="6858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dsl:points|s=$body"/>
          <p:cNvSpPr txBox="1"/>
          <p:nvPr/>
        </p:nvSpPr>
        <p:spPr>
          <a:xfrm>
            <a:off x="609600" y="4305300"/>
            <a:ext cx="5334000" cy="1943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It is NOT a new kind of force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— it is the resultant of real forces. Sources 来源: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Tension in a string 绳中张力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Gravity on a satellite 卫星所受引力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Friction on cornering tyres 轮胎与路面摩擦力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Normal contact force on a banked track 倾斜路面支持力分量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sp>
        <p:nvSpPr>
          <p:cNvPr id="12" name="dsl:diagram-canvas"/>
          <p:cNvSpPr/>
          <p:nvPr/>
        </p:nvSpPr>
        <p:spPr>
          <a:xfrm>
            <a:off x="6286500" y="1809750"/>
            <a:ext cx="5295900" cy="4095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orbit"/>
          <p:cNvSpPr/>
          <p:nvPr/>
        </p:nvSpPr>
        <p:spPr>
          <a:xfrm>
            <a:off x="7620000" y="2286000"/>
            <a:ext cx="2286000" cy="2286000"/>
          </a:xfrm>
          <a:prstGeom prst="ellipse">
            <a:avLst/>
          </a:prstGeom>
          <a:noFill/>
          <a:ln w="254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centre-dot"/>
          <p:cNvSpPr/>
          <p:nvPr/>
        </p:nvSpPr>
        <p:spPr>
          <a:xfrm>
            <a:off x="8705850" y="3371850"/>
            <a:ext cx="114300" cy="1143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dsl:string"/>
          <p:cNvCxnSpPr/>
          <p:nvPr/>
        </p:nvCxnSpPr>
        <p:spPr>
          <a:xfrm>
            <a:off x="8763000" y="3429000"/>
            <a:ext cx="1143000" cy="0"/>
          </a:xfrm>
          <a:prstGeom prst="straightConnector1">
            <a:avLst/>
          </a:prstGeom>
          <a:ln w="25400">
            <a:solidFill>
              <a:srgbClr val="0E4D64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ball"/>
          <p:cNvSpPr/>
          <p:nvPr/>
        </p:nvSpPr>
        <p:spPr>
          <a:xfrm>
            <a:off x="9848850" y="3333750"/>
            <a:ext cx="190500" cy="19050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dsl:f-arrow"/>
          <p:cNvCxnSpPr/>
          <p:nvPr/>
        </p:nvCxnSpPr>
        <p:spPr>
          <a:xfrm>
            <a:off x="8991600" y="3429000"/>
            <a:ext cx="819150" cy="0"/>
          </a:xfrm>
          <a:prstGeom prst="straightConnector1">
            <a:avLst/>
          </a:prstGeom>
          <a:ln w="381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lbl-f"/>
          <p:cNvSpPr txBox="1"/>
          <p:nvPr/>
        </p:nvSpPr>
        <p:spPr>
          <a:xfrm>
            <a:off x="8858250" y="2819400"/>
            <a:ext cx="10096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D97D29"/>
                </a:solidFill>
                <a:latin typeface="MiSans"/>
                <a:ea typeface="MiSans"/>
              </a:rPr>
              <a:t>F</a:t>
            </a:r>
            <a:r>
              <a:rPr sz="1200" noProof="1">
                <a:solidFill>
                  <a:srgbClr val="D97D29"/>
                </a:solidFill>
                <a:latin typeface="MiSans"/>
                <a:ea typeface="MiSans"/>
              </a:rPr>
              <a:t> tension 张力</a:t>
            </a:r>
            <a:endParaRPr sz="1200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cxnSp>
        <p:nvCxnSpPr>
          <p:cNvPr id="19" name="dsl:v-arrow"/>
          <p:cNvCxnSpPr/>
          <p:nvPr/>
        </p:nvCxnSpPr>
        <p:spPr>
          <a:xfrm>
            <a:off x="9944100" y="3581400"/>
            <a:ext cx="0" cy="609600"/>
          </a:xfrm>
          <a:prstGeom prst="straightConnector1">
            <a:avLst/>
          </a:prstGeom>
          <a:ln w="25400">
            <a:solidFill>
              <a:srgbClr val="1C2B33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lbl-v"/>
          <p:cNvSpPr txBox="1"/>
          <p:nvPr/>
        </p:nvSpPr>
        <p:spPr>
          <a:xfrm>
            <a:off x="10077450" y="3810000"/>
            <a:ext cx="9525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200" i="1" noProof="1">
                <a:solidFill>
                  <a:srgbClr val="1C2B33"/>
                </a:solidFill>
                <a:latin typeface="MiSans"/>
                <a:ea typeface="MiSans"/>
              </a:rPr>
              <a:t>v</a:t>
            </a:r>
            <a:r>
              <a:rPr sz="1200" noProof="1">
                <a:solidFill>
                  <a:srgbClr val="1C2B33"/>
                </a:solidFill>
                <a:latin typeface="MiSans"/>
                <a:ea typeface="MiSans"/>
              </a:rPr>
              <a:t> tangent 切向</a:t>
            </a:r>
            <a:endParaRPr sz="1200" noProof="1">
              <a:solidFill>
                <a:srgbClr val="1C2B33"/>
              </a:solidFill>
              <a:latin typeface="MiSans"/>
              <a:ea typeface="MiSans"/>
            </a:endParaRPr>
          </a:p>
        </p:txBody>
      </p:sp>
      <p:sp>
        <p:nvSpPr>
          <p:cNvPr id="21" name="dsl:break-note|s=$small"/>
          <p:cNvSpPr txBox="1"/>
          <p:nvPr/>
        </p:nvSpPr>
        <p:spPr>
          <a:xfrm>
            <a:off x="6572250" y="4857750"/>
            <a:ext cx="47625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If the string breaks, the ball flies off along the </a:t>
            </a:r>
            <a:r>
              <a:rPr sz="1050" b="1" noProof="1">
                <a:solidFill>
                  <a:srgbClr val="5C7A84"/>
                </a:solidFill>
                <a:latin typeface="QuattrocentoSans"/>
                <a:ea typeface="MiSans"/>
              </a:rPr>
              <a:t>tangent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 — no centripetal force, no circle.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绳断后球沿切线方向飞出：没有向心力就没有圆周运动。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2" name="dsl:diagram-caption|s=$small"/>
          <p:cNvSpPr txBox="1"/>
          <p:nvPr/>
        </p:nvSpPr>
        <p:spPr>
          <a:xfrm>
            <a:off x="6286500" y="5524500"/>
            <a:ext cx="5295900" cy="2667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Ball on a string: tension provides the centripetal force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23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5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06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Real-World Circular Motion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应用实例 — 谁提供了向心力？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card1"/>
          <p:cNvSpPr/>
          <p:nvPr/>
        </p:nvSpPr>
        <p:spPr>
          <a:xfrm>
            <a:off x="609600" y="1809750"/>
            <a:ext cx="3505200" cy="44386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card1-label|s=$badge"/>
          <p:cNvSpPr txBox="1"/>
          <p:nvPr/>
        </p:nvSpPr>
        <p:spPr>
          <a:xfrm>
            <a:off x="838200" y="2000250"/>
            <a:ext cx="3048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SATELLITE IN ORBIT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card1-diagram"/>
          <p:cNvSpPr/>
          <p:nvPr/>
        </p:nvSpPr>
        <p:spPr>
          <a:xfrm>
            <a:off x="838200" y="2362200"/>
            <a:ext cx="3048000" cy="1809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earth"/>
          <p:cNvSpPr/>
          <p:nvPr/>
        </p:nvSpPr>
        <p:spPr>
          <a:xfrm>
            <a:off x="1981200" y="2933700"/>
            <a:ext cx="762000" cy="76200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sat-orbit"/>
          <p:cNvSpPr/>
          <p:nvPr/>
        </p:nvSpPr>
        <p:spPr>
          <a:xfrm>
            <a:off x="1485900" y="2438400"/>
            <a:ext cx="1752600" cy="1752600"/>
          </a:xfrm>
          <a:prstGeom prst="ellipse">
            <a:avLst/>
          </a:prstGeom>
          <a:noFill/>
          <a:ln w="12700">
            <a:solidFill>
              <a:srgbClr val="5C7A8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at-dot"/>
          <p:cNvSpPr/>
          <p:nvPr/>
        </p:nvSpPr>
        <p:spPr>
          <a:xfrm>
            <a:off x="3181350" y="3219450"/>
            <a:ext cx="133350" cy="1333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dsl:sat-f"/>
          <p:cNvCxnSpPr/>
          <p:nvPr/>
        </p:nvCxnSpPr>
        <p:spPr>
          <a:xfrm>
            <a:off x="2838450" y="3286125"/>
            <a:ext cx="304800" cy="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sl:card1-text|s=$body"/>
          <p:cNvSpPr txBox="1"/>
          <p:nvPr/>
        </p:nvSpPr>
        <p:spPr>
          <a:xfrm>
            <a:off x="838200" y="4305300"/>
            <a:ext cx="3048000" cy="180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Gravity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provides the centripetal force, accelerating the satellite towards the centre of the Earth.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地球引力提供向心力（详见 Topic 13）。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4" name="dsl:card2"/>
          <p:cNvSpPr/>
          <p:nvPr/>
        </p:nvSpPr>
        <p:spPr>
          <a:xfrm>
            <a:off x="4343400" y="1809750"/>
            <a:ext cx="3505200" cy="44386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card2-label|s=$badge"/>
          <p:cNvSpPr txBox="1"/>
          <p:nvPr/>
        </p:nvSpPr>
        <p:spPr>
          <a:xfrm>
            <a:off x="4572000" y="2000250"/>
            <a:ext cx="3048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CAR CORNERING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6" name="dsl:card2-diagram"/>
          <p:cNvSpPr/>
          <p:nvPr/>
        </p:nvSpPr>
        <p:spPr>
          <a:xfrm>
            <a:off x="4572000" y="2362200"/>
            <a:ext cx="3048000" cy="1809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road-arc"/>
          <p:cNvSpPr/>
          <p:nvPr/>
        </p:nvSpPr>
        <p:spPr>
          <a:xfrm>
            <a:off x="4838700" y="2590800"/>
            <a:ext cx="2514600" cy="1371600"/>
          </a:xfrm>
          <a:prstGeom prst="blockArc">
            <a:avLst>
              <a:gd name="adj1" fmla="val 18000000"/>
              <a:gd name="adj2" fmla="val 27000000"/>
              <a:gd name="adj3" fmla="val 1500000"/>
            </a:avLst>
          </a:prstGeom>
          <a:solidFill>
            <a:srgbClr val="5C7A8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car"/>
          <p:cNvSpPr/>
          <p:nvPr/>
        </p:nvSpPr>
        <p:spPr>
          <a:xfrm>
            <a:off x="5219700" y="2743200"/>
            <a:ext cx="609600" cy="266700"/>
          </a:xfrm>
          <a:prstGeom prst="roundRect">
            <a:avLst>
              <a:gd name="adj" fmla="val 8000"/>
            </a:avLst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dsl:car-f"/>
          <p:cNvCxnSpPr/>
          <p:nvPr/>
        </p:nvCxnSpPr>
        <p:spPr>
          <a:xfrm>
            <a:off x="5524500" y="3067050"/>
            <a:ext cx="0" cy="4572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car-f-lbl"/>
          <p:cNvSpPr txBox="1"/>
          <p:nvPr/>
        </p:nvSpPr>
        <p:spPr>
          <a:xfrm>
            <a:off x="5638800" y="3238500"/>
            <a:ext cx="142875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noProof="1">
                <a:solidFill>
                  <a:srgbClr val="D97D29"/>
                </a:solidFill>
                <a:latin typeface="MiSans"/>
                <a:ea typeface="MiSans"/>
              </a:rPr>
              <a:t>friction → centre</a:t>
            </a:r>
            <a:endParaRPr sz="1125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sp>
        <p:nvSpPr>
          <p:cNvPr id="21" name="dsl:card2-text|s=$body"/>
          <p:cNvSpPr txBox="1"/>
          <p:nvPr/>
        </p:nvSpPr>
        <p:spPr>
          <a:xfrm>
            <a:off x="4572000" y="4305300"/>
            <a:ext cx="3048000" cy="1809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Friction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between tyres and road provides the centripetal force. On a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banked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road, the horizontal component of the normal force helps.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摩擦力提供向心力；路面倾斜时支持力水平分量辅助。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2" name="dsl:card3"/>
          <p:cNvSpPr/>
          <p:nvPr/>
        </p:nvSpPr>
        <p:spPr>
          <a:xfrm>
            <a:off x="8077200" y="1809750"/>
            <a:ext cx="3505200" cy="44386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card3-label|s=$badge"/>
          <p:cNvSpPr txBox="1"/>
          <p:nvPr/>
        </p:nvSpPr>
        <p:spPr>
          <a:xfrm>
            <a:off x="8305800" y="2000250"/>
            <a:ext cx="3048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VERTICAL CIRCLE RIDE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4" name="dsl:card3-diagram"/>
          <p:cNvSpPr/>
          <p:nvPr/>
        </p:nvSpPr>
        <p:spPr>
          <a:xfrm>
            <a:off x="8305800" y="2362200"/>
            <a:ext cx="3048000" cy="1809750"/>
          </a:xfrm>
          <a:prstGeom prst="rect">
            <a:avLst/>
          </a:prstGeom>
          <a:solidFill>
            <a:srgbClr val="E2EB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v-circle"/>
          <p:cNvSpPr/>
          <p:nvPr/>
        </p:nvSpPr>
        <p:spPr>
          <a:xfrm>
            <a:off x="9067800" y="2495550"/>
            <a:ext cx="1524000" cy="152400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top-dot"/>
          <p:cNvSpPr/>
          <p:nvPr/>
        </p:nvSpPr>
        <p:spPr>
          <a:xfrm>
            <a:off x="9763125" y="2428875"/>
            <a:ext cx="133350" cy="1333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bot-dot"/>
          <p:cNvSpPr/>
          <p:nvPr/>
        </p:nvSpPr>
        <p:spPr>
          <a:xfrm>
            <a:off x="9763125" y="3952875"/>
            <a:ext cx="133350" cy="133350"/>
          </a:xfrm>
          <a:prstGeom prst="ellipse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dsl:top-f"/>
          <p:cNvCxnSpPr/>
          <p:nvPr/>
        </p:nvCxnSpPr>
        <p:spPr>
          <a:xfrm>
            <a:off x="9829800" y="2590800"/>
            <a:ext cx="0" cy="3048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dsl:bot-f"/>
          <p:cNvCxnSpPr/>
          <p:nvPr/>
        </p:nvCxnSpPr>
        <p:spPr>
          <a:xfrm>
            <a:off x="9829800" y="3619500"/>
            <a:ext cx="0" cy="3048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head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dsl:card3-text|s=$body"/>
              <p:cNvSpPr txBox="1"/>
              <p:nvPr/>
            </p:nvSpPr>
            <p:spPr>
              <a:xfrm>
                <a:off x="8305800" y="4305300"/>
                <a:ext cx="3048000" cy="1809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Bottom 底部: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</a:p>
              <a:p>
                <a:pPr algn="l">
                  <a:lnSpc>
                    <a:spcPct val="150000"/>
                  </a:lnSpc>
                </a:pP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Top 顶部: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</a:p>
              <a:p>
                <a:pPr algn="l">
                  <a:lnSpc>
                    <a:spcPct val="150000"/>
                  </a:lnSpc>
                  <a:spcBef>
                    <a:spcPts val="450"/>
                  </a:spcBef>
                </a:pPr>
                <a:r>
                  <a:rPr sz="1125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座椅支持力底部大、顶部小；速度太小则顶部脱离座椅。</a:t>
                </a:r>
                <a:endParaRPr sz="1125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30" name="dsl:card3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4305300"/>
                <a:ext cx="3048000" cy="18097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33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07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 12A — Angular Speed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 12A — 由线速度求角速度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-card"/>
          <p:cNvSpPr/>
          <p:nvPr/>
        </p:nvSpPr>
        <p:spPr>
          <a:xfrm>
            <a:off x="609600" y="1809750"/>
            <a:ext cx="4381500" cy="44386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q-label|s=$badge"/>
          <p:cNvSpPr txBox="1"/>
          <p:nvPr/>
        </p:nvSpPr>
        <p:spPr>
          <a:xfrm>
            <a:off x="838200" y="2019300"/>
            <a:ext cx="3924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12A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q-text|s=$body"/>
          <p:cNvSpPr txBox="1"/>
          <p:nvPr/>
        </p:nvSpPr>
        <p:spPr>
          <a:xfrm>
            <a:off x="838200" y="2400300"/>
            <a:ext cx="39243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rocket makes a turn in a horizontal circle of radius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150 m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 It is travelling at a speed of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240 m s</a:t>
            </a:r>
            <a:r>
              <a:rPr sz="1350" b="1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Calculate the angular speed of the aircraft.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火箭在半径 150 m 的水平圆上转弯，速率 240 m s⁻¹，求角速度。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q-given|s=$small"/>
          <p:cNvSpPr txBox="1"/>
          <p:nvPr/>
        </p:nvSpPr>
        <p:spPr>
          <a:xfrm>
            <a:off x="838200" y="4686300"/>
            <a:ext cx="3924300" cy="1333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1" noProof="1">
                <a:solidFill>
                  <a:srgbClr val="5C7A84"/>
                </a:solidFill>
                <a:latin typeface="QuattrocentoSans"/>
                <a:ea typeface="MiSans"/>
              </a:rPr>
              <a:t>Given 已知:</a:t>
            </a:r>
            <a:endParaRPr sz="1050" b="1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radius r = 150 m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linear speed v = 240 m s⁻¹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find 求: angular speed ω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0" name="dsl:ans-label|s=$badge"/>
          <p:cNvSpPr txBox="1"/>
          <p:nvPr/>
        </p:nvSpPr>
        <p:spPr>
          <a:xfrm>
            <a:off x="5372100" y="180975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1" name="dsl:step1-num"/>
          <p:cNvSpPr/>
          <p:nvPr/>
        </p:nvSpPr>
        <p:spPr>
          <a:xfrm>
            <a:off x="5372100" y="2209800"/>
            <a:ext cx="323850" cy="32385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tep1-no"/>
          <p:cNvSpPr txBox="1"/>
          <p:nvPr/>
        </p:nvSpPr>
        <p:spPr>
          <a:xfrm>
            <a:off x="5372100" y="2209800"/>
            <a:ext cx="32385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75" b="1" noProof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sz="1275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step1-text|s=$body"/>
              <p:cNvSpPr txBox="1"/>
              <p:nvPr/>
            </p:nvSpPr>
            <p:spPr>
              <a:xfrm>
                <a:off x="5848350" y="2152650"/>
                <a:ext cx="5734050" cy="8572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Choose the relation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linking v and ω: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　选取线速度与角速度的关系式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3" name="dsl:step1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50" y="2152650"/>
                <a:ext cx="5734050" cy="8572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step2-num"/>
          <p:cNvSpPr/>
          <p:nvPr/>
        </p:nvSpPr>
        <p:spPr>
          <a:xfrm>
            <a:off x="5372100" y="3200400"/>
            <a:ext cx="323850" cy="323850"/>
          </a:xfrm>
          <a:prstGeom prst="ellipse">
            <a:avLst/>
          </a:prstGeom>
          <a:solidFill>
            <a:srgbClr val="0E4D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tep2-no"/>
          <p:cNvSpPr txBox="1"/>
          <p:nvPr/>
        </p:nvSpPr>
        <p:spPr>
          <a:xfrm>
            <a:off x="5372100" y="3200400"/>
            <a:ext cx="323850" cy="3238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275" b="1" noProof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sz="1275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step2-text|s=$body"/>
              <p:cNvSpPr txBox="1"/>
              <p:nvPr/>
            </p:nvSpPr>
            <p:spPr>
              <a:xfrm>
                <a:off x="5848350" y="3143250"/>
                <a:ext cx="5734050" cy="8572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Rearrange and substitute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代入数据: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num>
                        <m:den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240</m:t>
                          </m:r>
                        </m:num>
                        <m:den>
                          <m:r>
                            <a:rPr lang="en-US" sz="1350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150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6" name="dsl:step2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350" y="3143250"/>
                <a:ext cx="5734050" cy="857250"/>
              </a:xfrm>
              <a:prstGeom prst="rect">
                <a:avLst/>
              </a:prstGeom>
              <a:blipFill rotWithShape="1">
                <a:blip r:embed="rId2"/>
                <a:stretch>
                  <a:fillRect b="-8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sl:ans-box"/>
          <p:cNvSpPr/>
          <p:nvPr/>
        </p:nvSpPr>
        <p:spPr>
          <a:xfrm>
            <a:off x="5372100" y="4248150"/>
            <a:ext cx="6210300" cy="762000"/>
          </a:xfrm>
          <a:prstGeom prst="rect">
            <a:avLst/>
          </a:prstGeom>
          <a:solidFill>
            <a:srgbClr val="FBEFE1"/>
          </a:solidFill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ans-text|s=$formula"/>
          <p:cNvSpPr txBox="1"/>
          <p:nvPr/>
        </p:nvSpPr>
        <p:spPr>
          <a:xfrm>
            <a:off x="5600700" y="4248150"/>
            <a:ext cx="57531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b="1" noProof="1">
                <a:solidFill>
                  <a:srgbClr val="D97D29"/>
                </a:solidFill>
                <a:latin typeface="QuattrocentoSans"/>
                <a:ea typeface="MiSans"/>
              </a:rPr>
              <a:t>ω = 1.6 rad s</a:t>
            </a:r>
            <a:r>
              <a:rPr sz="1650" b="1" baseline="30000" noProof="1">
                <a:solidFill>
                  <a:srgbClr val="D97D29"/>
                </a:solidFill>
                <a:latin typeface="QuattrocentoSans"/>
                <a:ea typeface="MiSans"/>
              </a:rPr>
              <a:t>-1</a:t>
            </a:r>
            <a:endParaRPr sz="1650" b="1" baseline="3000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dsl:ans-note|s=$small"/>
              <p:cNvSpPr txBox="1"/>
              <p:nvPr/>
            </p:nvSpPr>
            <p:spPr>
              <a:xfrm>
                <a:off x="5372100" y="5219700"/>
                <a:ext cx="6210300" cy="9525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40000"/>
                  </a:lnSpc>
                </a:pPr>
                <a:r>
                  <a:rPr sz="1050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Check 检查: a full revolution takes </a:t>
                </a:r>
                <a14:m>
                  <m:oMath xmlns:m="http://schemas.openxmlformats.org/officeDocument/2006/math">
                    <m:r>
                      <a:rPr lang="en-US" sz="1050" i="1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050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050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050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050" i="1">
                            <a:solidFill>
                              <a:srgbClr val="5C7A84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den>
                    </m:f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1050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, distance </a:t>
                </a:r>
                <a14:m>
                  <m:oMath xmlns:m="http://schemas.openxmlformats.org/officeDocument/2006/math"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050" i="1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050" i="1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942</m:t>
                    </m:r>
                    <m:r>
                      <a:rPr lang="en-US" sz="1050">
                        <a:solidFill>
                          <a:srgbClr val="5C7A84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1050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 — consistent with 240 m s⁻¹.</a:t>
                </a:r>
                <a:endParaRPr sz="1050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40000"/>
                  </a:lnSpc>
                </a:pPr>
                <a:r>
                  <a:rPr sz="1050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单位换算无误：rad 是无量纲单位，角速度单位为 rad s⁻¹。</a:t>
                </a:r>
                <a:endParaRPr sz="1050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9" name="dsl:ans-note|s=$small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5219700"/>
                <a:ext cx="6210300" cy="9525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2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08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 12B — Spin Dryer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 12B — 转速换算、线速度与向心加速度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-card"/>
          <p:cNvSpPr/>
          <p:nvPr/>
        </p:nvSpPr>
        <p:spPr>
          <a:xfrm>
            <a:off x="609600" y="1809750"/>
            <a:ext cx="4381500" cy="44386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q-label|s=$badge"/>
          <p:cNvSpPr txBox="1"/>
          <p:nvPr/>
        </p:nvSpPr>
        <p:spPr>
          <a:xfrm>
            <a:off x="838200" y="2019300"/>
            <a:ext cx="3924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12B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q-text|s=$body"/>
          <p:cNvSpPr txBox="1"/>
          <p:nvPr/>
        </p:nvSpPr>
        <p:spPr>
          <a:xfrm>
            <a:off x="838200" y="2400300"/>
            <a:ext cx="39243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The drum of a spin dryer has a radius of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50 cm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and rotates at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720 revolutions per minute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 Show that the angular speed of the drum is about 75 rad s</a:t>
            </a:r>
            <a:r>
              <a:rPr sz="1350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b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 Calculate, for a point on the edge of the drum: (i) its linear speed; (ii) its acceleration towards the centre.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甩干机滚筒半径 50 cm，转速 720 转/分。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q-given|s=$small"/>
          <p:cNvSpPr txBox="1"/>
          <p:nvPr/>
        </p:nvSpPr>
        <p:spPr>
          <a:xfrm>
            <a:off x="838200" y="5105400"/>
            <a:ext cx="39243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b="1" noProof="1">
                <a:solidFill>
                  <a:srgbClr val="5C7A84"/>
                </a:solidFill>
                <a:latin typeface="QuattrocentoSans"/>
                <a:ea typeface="MiSans"/>
              </a:rPr>
              <a:t>Given 已知:</a:t>
            </a: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 r = 0.50 m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720 rev min⁻¹ = 12 rev s⁻¹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each revolution = 2π rad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0" name="dsl:ans-label|s=$badge"/>
          <p:cNvSpPr txBox="1"/>
          <p:nvPr/>
        </p:nvSpPr>
        <p:spPr>
          <a:xfrm>
            <a:off x="5372100" y="180975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stepa-text|s=$body"/>
              <p:cNvSpPr txBox="1"/>
              <p:nvPr/>
            </p:nvSpPr>
            <p:spPr>
              <a:xfrm>
                <a:off x="5372100" y="2152650"/>
                <a:ext cx="62103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a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 720 revolutions per minute is 12 revolutions per second. Each revolution is 2π rad: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350" b="1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75 rad s</a:t>
                </a:r>
                <a:r>
                  <a:rPr sz="1350" b="1" baseline="30000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-1</a:t>
                </a:r>
                <a:endParaRPr sz="1350" b="1" baseline="30000" noProof="1">
                  <a:solidFill>
                    <a:srgbClr val="D97D29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1" name="dsl:stepa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2152650"/>
                <a:ext cx="6210300" cy="104775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dsl:stepb1-text|s=$body"/>
              <p:cNvSpPr txBox="1"/>
              <p:nvPr/>
            </p:nvSpPr>
            <p:spPr>
              <a:xfrm>
                <a:off x="5372100" y="3295650"/>
                <a:ext cx="62103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b(i)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 Using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350" b="1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38 m s</a:t>
                </a:r>
                <a:r>
                  <a:rPr sz="1350" b="1" baseline="30000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-1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　(37.7 m s</a:t>
                </a:r>
                <a:r>
                  <a:rPr sz="1350" baseline="3000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-1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)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2" name="dsl:stepb1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3295650"/>
                <a:ext cx="6210300" cy="10477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stepb2-text|s=$body"/>
              <p:cNvSpPr txBox="1"/>
              <p:nvPr/>
            </p:nvSpPr>
            <p:spPr>
              <a:xfrm>
                <a:off x="5372100" y="4438650"/>
                <a:ext cx="62103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b(ii)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 Using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: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1350" b="1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2800 m s</a:t>
                </a:r>
                <a:r>
                  <a:rPr sz="1350" b="1" baseline="30000" noProof="1">
                    <a:solidFill>
                      <a:srgbClr val="D97D29"/>
                    </a:solidFill>
                    <a:latin typeface="QuattrocentoSans"/>
                    <a:ea typeface="MiSans"/>
                  </a:rPr>
                  <a:t>-2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　(2840 m s</a:t>
                </a:r>
                <a:r>
                  <a:rPr sz="1350" baseline="3000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-2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)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3" name="dsl:stepb2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438650"/>
                <a:ext cx="6210300" cy="1047750"/>
              </a:xfrm>
              <a:prstGeom prst="rect">
                <a:avLst/>
              </a:prstGeom>
              <a:blipFill rotWithShape="1">
                <a:blip r:embed="rId3"/>
                <a:stretch>
                  <a:fillRect b="-8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ans-note|s=$small"/>
          <p:cNvSpPr txBox="1"/>
          <p:nvPr/>
        </p:nvSpPr>
        <p:spPr>
          <a:xfrm>
            <a:off x="5372100" y="5619750"/>
            <a:ext cx="6210300" cy="571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Note 注意: convert radius to metres (cm → m) before substituting; keep unrounded values until the final step 中间结果保留更多有效数字。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5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7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09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Worked Example 12C — Vertical Circle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例题 12C — 竖直圆周最高点临界速度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-card"/>
          <p:cNvSpPr/>
          <p:nvPr/>
        </p:nvSpPr>
        <p:spPr>
          <a:xfrm>
            <a:off x="609600" y="1809750"/>
            <a:ext cx="4381500" cy="44386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q-label|s=$badge"/>
          <p:cNvSpPr txBox="1"/>
          <p:nvPr/>
        </p:nvSpPr>
        <p:spPr>
          <a:xfrm>
            <a:off x="838200" y="2019300"/>
            <a:ext cx="3924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WORKED EXAMPLE 12C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q-text|s=$body"/>
          <p:cNvSpPr txBox="1"/>
          <p:nvPr/>
        </p:nvSpPr>
        <p:spPr>
          <a:xfrm>
            <a:off x="838200" y="2400300"/>
            <a:ext cx="39243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rope is tied to a bucket filled with water, and the bucket is swung in a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vertical circle of radius 1.2 m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What must be the minimum speed of the bucket at the highest point if the water is to stay in the bucket throughout the motion?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75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水桶在半径 1.2 m 的竖直圆上旋转，求最高点水不洒出的最小速度。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q-circle"/>
          <p:cNvSpPr/>
          <p:nvPr/>
        </p:nvSpPr>
        <p:spPr>
          <a:xfrm>
            <a:off x="1885950" y="4629150"/>
            <a:ext cx="1428750" cy="1428750"/>
          </a:xfrm>
          <a:prstGeom prst="ellipse">
            <a:avLst/>
          </a:prstGeom>
          <a:noFill/>
          <a:ln w="25400">
            <a:solidFill>
              <a:srgbClr val="0E4D64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-bucket"/>
          <p:cNvSpPr/>
          <p:nvPr/>
        </p:nvSpPr>
        <p:spPr>
          <a:xfrm>
            <a:off x="2505075" y="4552950"/>
            <a:ext cx="190500" cy="1524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dsl:q-weight"/>
          <p:cNvCxnSpPr/>
          <p:nvPr/>
        </p:nvCxnSpPr>
        <p:spPr>
          <a:xfrm>
            <a:off x="2600325" y="4762500"/>
            <a:ext cx="0" cy="381000"/>
          </a:xfrm>
          <a:prstGeom prst="straightConnector1">
            <a:avLst/>
          </a:prstGeom>
          <a:ln w="25400">
            <a:solidFill>
              <a:srgbClr val="D97D29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q-wlbl"/>
          <p:cNvSpPr txBox="1"/>
          <p:nvPr/>
        </p:nvSpPr>
        <p:spPr>
          <a:xfrm>
            <a:off x="2686050" y="4838700"/>
            <a:ext cx="571500" cy="20955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1125" i="1" noProof="1">
                <a:solidFill>
                  <a:srgbClr val="D97D29"/>
                </a:solidFill>
                <a:latin typeface="MiSans"/>
                <a:ea typeface="MiSans"/>
              </a:rPr>
              <a:t>mg</a:t>
            </a:r>
            <a:endParaRPr sz="1125" i="1" noProof="1">
              <a:solidFill>
                <a:srgbClr val="D97D29"/>
              </a:solidFill>
              <a:latin typeface="MiSans"/>
              <a:ea typeface="MiSans"/>
            </a:endParaRPr>
          </a:p>
        </p:txBody>
      </p:sp>
      <p:sp>
        <p:nvSpPr>
          <p:cNvPr id="13" name="dsl:ans-label|s=$badge"/>
          <p:cNvSpPr txBox="1"/>
          <p:nvPr/>
        </p:nvSpPr>
        <p:spPr>
          <a:xfrm>
            <a:off x="5372100" y="1809750"/>
            <a:ext cx="62103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SOLUTION 解答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4" name="dsl:step1-text|s=$body"/>
          <p:cNvSpPr txBox="1"/>
          <p:nvPr/>
        </p:nvSpPr>
        <p:spPr>
          <a:xfrm>
            <a:off x="5372100" y="2152650"/>
            <a:ext cx="621030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Key idea 关键: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water falls out if its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weight exceeds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the required centripetal force. At the critical (minimum) speed, gravity alone provides the centripetal force.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临界条件：重力恰好提供全部向心力。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dsl:step2-text|s=$body"/>
              <p:cNvSpPr txBox="1"/>
              <p:nvPr/>
            </p:nvSpPr>
            <p:spPr>
              <a:xfrm>
                <a:off x="5372100" y="3390900"/>
                <a:ext cx="6210300" cy="9525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Set up the equation 列式:</a:t>
                </a:r>
                <a:endParaRPr sz="1350" b="1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  <a:spcBef>
                    <a:spcPts val="3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350" i="1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350">
                                  <a:solidFill>
                                    <a:srgbClr val="1C2B3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 </m:t>
                      </m:r>
                      <m:sSup>
                        <m:sSupPr>
                          <m:ctrlP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50" i="1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1350">
                              <a:solidFill>
                                <a:srgbClr val="1C2B33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350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1350" i="1">
                          <a:solidFill>
                            <a:srgbClr val="1C2B33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dsl:step2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3390900"/>
                <a:ext cx="6210300" cy="952500"/>
              </a:xfrm>
              <a:prstGeom prst="rect">
                <a:avLst/>
              </a:prstGeom>
              <a:blipFill rotWithShape="1">
                <a:blip r:embed="rId1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dsl:step3-text|s=$body"/>
              <p:cNvSpPr txBox="1"/>
              <p:nvPr/>
            </p:nvSpPr>
            <p:spPr>
              <a:xfrm>
                <a:off x="5372100" y="4343400"/>
                <a:ext cx="6210300" cy="76200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Substitute 代入: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　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rad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6" name="dsl:step3-text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100" y="4343400"/>
                <a:ext cx="6210300" cy="7620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sl:ans-box"/>
          <p:cNvSpPr/>
          <p:nvPr/>
        </p:nvSpPr>
        <p:spPr>
          <a:xfrm>
            <a:off x="5372100" y="5200650"/>
            <a:ext cx="6210300" cy="762000"/>
          </a:xfrm>
          <a:prstGeom prst="rect">
            <a:avLst/>
          </a:prstGeom>
          <a:solidFill>
            <a:srgbClr val="FBEFE1"/>
          </a:solidFill>
          <a:ln w="25400">
            <a:solidFill>
              <a:srgbClr val="D97D29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sl:ans-text|s=$formula"/>
          <p:cNvSpPr txBox="1"/>
          <p:nvPr/>
        </p:nvSpPr>
        <p:spPr>
          <a:xfrm>
            <a:off x="5600700" y="5200650"/>
            <a:ext cx="5753100" cy="762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650" b="1" noProof="1">
                <a:solidFill>
                  <a:srgbClr val="D97D29"/>
                </a:solidFill>
                <a:latin typeface="QuattrocentoSans"/>
                <a:ea typeface="MiSans"/>
              </a:rPr>
              <a:t>v = 3.4 m s</a:t>
            </a:r>
            <a:r>
              <a:rPr sz="1650" b="1" baseline="30000" noProof="1">
                <a:solidFill>
                  <a:srgbClr val="D97D29"/>
                </a:solidFill>
                <a:latin typeface="QuattrocentoSans"/>
                <a:ea typeface="MiSans"/>
              </a:rPr>
              <a:t>-1</a:t>
            </a:r>
            <a:endParaRPr sz="1650" b="1" baseline="3000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cxnSp>
        <p:nvCxnSpPr>
          <p:cNvPr id="19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1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10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Class Practice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随堂练习 — 独立完成，答案见页底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q1-card"/>
          <p:cNvSpPr/>
          <p:nvPr/>
        </p:nvSpPr>
        <p:spPr>
          <a:xfrm>
            <a:off x="609600" y="1809750"/>
            <a:ext cx="10972800" cy="11239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q1-label|s=$badge"/>
          <p:cNvSpPr txBox="1"/>
          <p:nvPr/>
        </p:nvSpPr>
        <p:spPr>
          <a:xfrm>
            <a:off x="838200" y="1943100"/>
            <a:ext cx="1905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QUESTION 1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8" name="dsl:q1-text|s=$body"/>
          <p:cNvSpPr txBox="1"/>
          <p:nvPr/>
        </p:nvSpPr>
        <p:spPr>
          <a:xfrm>
            <a:off x="838200" y="2209800"/>
            <a:ext cx="105156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car is travelling along a circular path with linear speed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24 m s</a:t>
            </a:r>
            <a:r>
              <a:rPr sz="1350" b="1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and angular speed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0.40 rad s</a:t>
            </a:r>
            <a:r>
              <a:rPr sz="1350" b="1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 What is the radius of curvature of the track?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汽车沿线速度 24 m s⁻¹、角速度 0.40 rad s⁻¹ 的圆形路径行驶，求轨道曲率半径。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9" name="dsl:q2-card"/>
          <p:cNvSpPr/>
          <p:nvPr/>
        </p:nvSpPr>
        <p:spPr>
          <a:xfrm>
            <a:off x="609600" y="3105150"/>
            <a:ext cx="10972800" cy="129540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q2-label|s=$badge"/>
          <p:cNvSpPr txBox="1"/>
          <p:nvPr/>
        </p:nvSpPr>
        <p:spPr>
          <a:xfrm>
            <a:off x="838200" y="3238500"/>
            <a:ext cx="1905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QUESTION 2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1" name="dsl:q2-text|s=$body"/>
          <p:cNvSpPr txBox="1"/>
          <p:nvPr/>
        </p:nvSpPr>
        <p:spPr>
          <a:xfrm>
            <a:off x="838200" y="3505200"/>
            <a:ext cx="10515600" cy="8191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toy train moves round a circular track of diameter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0.60 m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, completing one revolution in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10 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. Calculate: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the linear speed;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b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the angular speed;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c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the centripetal acceleration.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玩具火车在直径 0.60 m 的圆形轨道上每 10 s 转一圈，求线速度、角速度和向心加速度。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2" name="dsl:q3-card"/>
          <p:cNvSpPr/>
          <p:nvPr/>
        </p:nvSpPr>
        <p:spPr>
          <a:xfrm>
            <a:off x="609600" y="4572000"/>
            <a:ext cx="10972800" cy="1123950"/>
          </a:xfrm>
          <a:prstGeom prst="rect">
            <a:avLst/>
          </a:prstGeom>
          <a:solidFill>
            <a:srgbClr val="EE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q3-label|s=$badge"/>
          <p:cNvSpPr txBox="1"/>
          <p:nvPr/>
        </p:nvSpPr>
        <p:spPr>
          <a:xfrm>
            <a:off x="838200" y="4705350"/>
            <a:ext cx="1905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QUESTION 3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4" name="dsl:q3-text|s=$body"/>
          <p:cNvSpPr txBox="1"/>
          <p:nvPr/>
        </p:nvSpPr>
        <p:spPr>
          <a:xfrm>
            <a:off x="838200" y="4972050"/>
            <a:ext cx="10515600" cy="6286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State how the centripetal force is provided for: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a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 planet orbiting the Sun;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b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 train on a curved track;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c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 passenger in a car going round a corner.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指出下列情形中向心力的来源：绕日行星、转弯的火车、转弯汽车中的乘客。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5" name="dsl:ans-text|s=$small"/>
          <p:cNvSpPr txBox="1"/>
          <p:nvPr/>
        </p:nvSpPr>
        <p:spPr>
          <a:xfrm>
            <a:off x="609600" y="5810250"/>
            <a:ext cx="10972800" cy="476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975" b="1" noProof="1">
                <a:solidFill>
                  <a:srgbClr val="5C7A84"/>
                </a:solidFill>
                <a:latin typeface="QuattrocentoSans"/>
                <a:ea typeface="MiSans"/>
              </a:rPr>
              <a:t>Answers:</a:t>
            </a:r>
            <a:r>
              <a:rPr sz="975" noProof="1">
                <a:solidFill>
                  <a:srgbClr val="5C7A84"/>
                </a:solidFill>
                <a:latin typeface="QuattrocentoSans"/>
                <a:ea typeface="MiSans"/>
              </a:rPr>
              <a:t> 1) r = v/ω = 24/0.40 = 60 m　2) a v = π×0.60/10 = 0.19 m s⁻¹; b ω = 2π/10 = 0.63 rad s⁻¹; c a = v²/r = 0.12 m s⁻²　3) a gravitational attraction of the Sun; b horizontal component of the normal reaction from the rails; c contact force (friction/normal) from the seat.</a:t>
            </a:r>
            <a:endParaRPr sz="97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6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8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11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Summary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小结 — 核心公式与关键概念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formulas-label|s=$badge"/>
          <p:cNvSpPr txBox="1"/>
          <p:nvPr/>
        </p:nvSpPr>
        <p:spPr>
          <a:xfrm>
            <a:off x="609600" y="17335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KEY FORMULAS 核心公式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7" name="dsl:f1-card"/>
          <p:cNvSpPr/>
          <p:nvPr/>
        </p:nvSpPr>
        <p:spPr>
          <a:xfrm>
            <a:off x="609600" y="207645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dsl:f1-formula|s=$formula"/>
              <p:cNvSpPr txBox="1"/>
              <p:nvPr/>
            </p:nvSpPr>
            <p:spPr>
              <a:xfrm>
                <a:off x="800100" y="219075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8" name="dsl:f1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2190750"/>
                <a:ext cx="3124200" cy="419100"/>
              </a:xfrm>
              <a:prstGeom prst="rect">
                <a:avLst/>
              </a:prstGeom>
              <a:blipFill rotWithShape="1">
                <a:blip r:embed="rId1"/>
                <a:stretch>
                  <a:fillRect t="-606" b="-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sl:f1-note|s=$small"/>
          <p:cNvSpPr txBox="1"/>
          <p:nvPr/>
        </p:nvSpPr>
        <p:spPr>
          <a:xfrm>
            <a:off x="800100" y="266700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angle in rad 弧度数 = arc ÷ radius 弧长/半径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0" name="dsl:f2-card"/>
          <p:cNvSpPr/>
          <p:nvPr/>
        </p:nvSpPr>
        <p:spPr>
          <a:xfrm>
            <a:off x="4343400" y="207645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f2-formula|s=$formula"/>
              <p:cNvSpPr txBox="1"/>
              <p:nvPr/>
            </p:nvSpPr>
            <p:spPr>
              <a:xfrm>
                <a:off x="4533900" y="219075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dsl:f2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2190750"/>
                <a:ext cx="3124200" cy="419100"/>
              </a:xfrm>
              <a:prstGeom prst="rect">
                <a:avLst/>
              </a:prstGeom>
              <a:blipFill rotWithShape="1">
                <a:blip r:embed="rId2"/>
                <a:stretch>
                  <a:fillRect t="-5606" b="-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dsl:f2-note|s=$small"/>
          <p:cNvSpPr txBox="1"/>
          <p:nvPr/>
        </p:nvSpPr>
        <p:spPr>
          <a:xfrm>
            <a:off x="4533900" y="266700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angular speed 角速度；T 周期，f 频率，单位 rad s⁻¹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3" name="dsl:f3-card"/>
          <p:cNvSpPr/>
          <p:nvPr/>
        </p:nvSpPr>
        <p:spPr>
          <a:xfrm>
            <a:off x="8077200" y="207645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dsl:f3-formula|s=$formula"/>
              <p:cNvSpPr txBox="1"/>
              <p:nvPr/>
            </p:nvSpPr>
            <p:spPr>
              <a:xfrm>
                <a:off x="8267700" y="219075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4" name="dsl:f3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700" y="2190750"/>
                <a:ext cx="3124200" cy="4191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dsl:f3-note|s=$small"/>
          <p:cNvSpPr txBox="1"/>
          <p:nvPr/>
        </p:nvSpPr>
        <p:spPr>
          <a:xfrm>
            <a:off x="8267700" y="266700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linear speed 线速度 = radius × angular speed 半径×角速度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6" name="dsl:f4-card"/>
          <p:cNvSpPr/>
          <p:nvPr/>
        </p:nvSpPr>
        <p:spPr>
          <a:xfrm>
            <a:off x="609600" y="335280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dsl:f4-formula|s=$formula"/>
              <p:cNvSpPr txBox="1"/>
              <p:nvPr/>
            </p:nvSpPr>
            <p:spPr>
              <a:xfrm>
                <a:off x="800100" y="346710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7" name="dsl:f4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00" y="3467100"/>
                <a:ext cx="3124200" cy="419100"/>
              </a:xfrm>
              <a:prstGeom prst="rect">
                <a:avLst/>
              </a:prstGeom>
              <a:blipFill rotWithShape="1">
                <a:blip r:embed="rId4"/>
                <a:stretch>
                  <a:fillRect t="-9242" b="-9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sl:f4-note|s=$small"/>
          <p:cNvSpPr txBox="1"/>
          <p:nvPr/>
        </p:nvSpPr>
        <p:spPr>
          <a:xfrm>
            <a:off x="800100" y="394335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centripetal acceleration 向心加速度，指向圆心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19" name="dsl:f5-card"/>
          <p:cNvSpPr/>
          <p:nvPr/>
        </p:nvSpPr>
        <p:spPr>
          <a:xfrm>
            <a:off x="4343400" y="335280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dsl:f5-formula|s=$formula"/>
              <p:cNvSpPr txBox="1"/>
              <p:nvPr/>
            </p:nvSpPr>
            <p:spPr>
              <a:xfrm>
                <a:off x="4533900" y="346710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1650" i="1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20" name="dsl:f5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3900" y="3467100"/>
                <a:ext cx="3124200" cy="419100"/>
              </a:xfrm>
              <a:prstGeom prst="rect">
                <a:avLst/>
              </a:prstGeom>
              <a:blipFill rotWithShape="1">
                <a:blip r:embed="rId5"/>
                <a:stretch>
                  <a:fillRect t="-9242" b="-93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dsl:f5-note|s=$small"/>
          <p:cNvSpPr txBox="1"/>
          <p:nvPr/>
        </p:nvSpPr>
        <p:spPr>
          <a:xfrm>
            <a:off x="4533900" y="394335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centripetal force 向心力 = m × a，为合外力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2" name="dsl:f6-card"/>
          <p:cNvSpPr/>
          <p:nvPr/>
        </p:nvSpPr>
        <p:spPr>
          <a:xfrm>
            <a:off x="8077200" y="3352800"/>
            <a:ext cx="3505200" cy="11239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dsl:f6-formula|s=$formula"/>
              <p:cNvSpPr txBox="1"/>
              <p:nvPr/>
            </p:nvSpPr>
            <p:spPr>
              <a:xfrm>
                <a:off x="8267700" y="3467100"/>
                <a:ext cx="3124200" cy="4191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rad>
                    </m:oMath>
                  </m:oMathPara>
                </a14:m>
              </a:p>
            </p:txBody>
          </p:sp>
        </mc:Choice>
        <mc:Fallback>
          <p:sp>
            <p:nvSpPr>
              <p:cNvPr id="23" name="dsl:f6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700" y="3467100"/>
                <a:ext cx="3124200" cy="4191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sl:f6-note|s=$small"/>
          <p:cNvSpPr txBox="1"/>
          <p:nvPr/>
        </p:nvSpPr>
        <p:spPr>
          <a:xfrm>
            <a:off x="8267700" y="3943350"/>
            <a:ext cx="3124200" cy="4191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竖直圆最高点临界速度（重力恰供向心力）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5" name="dsl:ideas-label|s=$badge"/>
          <p:cNvSpPr txBox="1"/>
          <p:nvPr/>
        </p:nvSpPr>
        <p:spPr>
          <a:xfrm>
            <a:off x="609600" y="4705350"/>
            <a:ext cx="38100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KEY IDEAS 关键概念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26" name="dsl:ideas-text|s=$body"/>
          <p:cNvSpPr txBox="1"/>
          <p:nvPr/>
        </p:nvSpPr>
        <p:spPr>
          <a:xfrm>
            <a:off x="609600" y="5029200"/>
            <a:ext cx="10972800" cy="1219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Constant speed ≠ constant velocity: the direction changes, so the object accelerates towards the centre 速率不变≠速度不变，方向变化产生向心加速度。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The centripetal force is the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resultant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of real forces (tension, gravity, friction, normal force) — never an extra force 向心力是真实力的合力，不是额外的新力。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marL="257175" lvl="0" indent="-205740" algn="l">
              <a:lnSpc>
                <a:spcPct val="150000"/>
              </a:lnSpc>
              <a:buChar char="•"/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A force of constant magnitude, always perpendicular to motion, gives circular motion at constant angular speed 恒大力且始终垂直运动方向 ⇒ 匀角速圆周运动。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</p:txBody>
      </p:sp>
      <p:cxnSp>
        <p:nvCxnSpPr>
          <p:cNvPr id="27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9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12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badge|s=$badge"/>
          <p:cNvSpPr txBox="1"/>
          <p:nvPr/>
        </p:nvSpPr>
        <p:spPr>
          <a:xfrm>
            <a:off x="609600" y="381000"/>
            <a:ext cx="4572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TOPIC 12 · CIE 9702 A2 PHYSICS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3" name="dsl:page-title|s=$title"/>
          <p:cNvSpPr txBox="1"/>
          <p:nvPr/>
        </p:nvSpPr>
        <p:spPr>
          <a:xfrm>
            <a:off x="609600" y="685800"/>
            <a:ext cx="9525000" cy="4000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75" b="1" noProof="1">
                <a:solidFill>
                  <a:srgbClr val="0E4D64"/>
                </a:solidFill>
                <a:latin typeface="QuattrocentoSans"/>
                <a:ea typeface="MiSans"/>
              </a:rPr>
              <a:t>Exam Tips — Paper 4</a:t>
            </a:r>
            <a:endParaRPr sz="2175" b="1" noProof="1">
              <a:solidFill>
                <a:srgbClr val="0E4D64"/>
              </a:solidFill>
              <a:latin typeface="QuattrocentoSans"/>
              <a:ea typeface="MiSans"/>
            </a:endParaRPr>
          </a:p>
        </p:txBody>
      </p:sp>
      <p:sp>
        <p:nvSpPr>
          <p:cNvPr id="4" name="dsl:page-subtitle|s=$subtitle"/>
          <p:cNvSpPr txBox="1"/>
          <p:nvPr/>
        </p:nvSpPr>
        <p:spPr>
          <a:xfrm>
            <a:off x="609600" y="1123950"/>
            <a:ext cx="9525000" cy="2286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5C7A84"/>
                </a:solidFill>
                <a:latin typeface="QuattrocentoSans"/>
                <a:ea typeface="MiSans"/>
              </a:rPr>
              <a:t>备考提示 — 常见考法与易错点</a:t>
            </a:r>
            <a:endParaRPr sz="120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5" name="dsl:title-rule"/>
          <p:cNvSpPr/>
          <p:nvPr/>
        </p:nvSpPr>
        <p:spPr>
          <a:xfrm>
            <a:off x="609600" y="1466850"/>
            <a:ext cx="685800" cy="38100"/>
          </a:xfrm>
          <a:prstGeom prst="rect">
            <a:avLst/>
          </a:prstGeom>
          <a:solidFill>
            <a:srgbClr val="D97D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tip1-icon|i=fas:graduation-cap" descr="tmp0_2kw01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86690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tip1|s=$body"/>
          <p:cNvSpPr txBox="1"/>
          <p:nvPr/>
        </p:nvSpPr>
        <p:spPr>
          <a:xfrm>
            <a:off x="952500" y="1809750"/>
            <a:ext cx="49911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Force diagrams: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always draw the resultant force pointing towards the centre — never add "centripetal force" as an extra force on top of tension/gravity.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受力图：合外力指向圆心；向心力不是额外多画的力。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pic>
        <p:nvPicPr>
          <p:cNvPr id="8" name="dsl:tip2-icon|i=fas:circle-exclamation" descr="tmp0_2kw01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914650"/>
            <a:ext cx="209550" cy="209550"/>
          </a:xfrm>
          <a:prstGeom prst="rect">
            <a:avLst/>
          </a:prstGeom>
          <a:ln>
            <a:noFill/>
          </a:ln>
          <a:effectLst/>
        </p:spPr>
      </p:pic>
      <p:sp>
        <p:nvSpPr>
          <p:cNvPr id="9" name="dsl:tip2|s=$body"/>
          <p:cNvSpPr txBox="1"/>
          <p:nvPr/>
        </p:nvSpPr>
        <p:spPr>
          <a:xfrm>
            <a:off x="952500" y="2857500"/>
            <a:ext cx="4991100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Units: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angular speed in rad s</a:t>
            </a:r>
            <a:r>
              <a:rPr sz="1350" baseline="30000" noProof="1">
                <a:solidFill>
                  <a:srgbClr val="1C2B33"/>
                </a:solidFill>
                <a:latin typeface="QuattrocentoSans"/>
                <a:ea typeface="MiSans"/>
              </a:rPr>
              <a:t>-1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; convert rev/min → rad/s and cm → m before substituting. Angles must be in radians, not degrees.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单位：ω 用 rad s⁻¹；先换算 rev/min、cm；角度必须用弧度。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pic>
        <p:nvPicPr>
          <p:cNvPr id="10" name="dsl:tip3-icon|i=fas:circle-exclamation" descr="tmp0_2kw01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3962400"/>
            <a:ext cx="209550" cy="2095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dsl:tip3|s=$body"/>
              <p:cNvSpPr txBox="1"/>
              <p:nvPr/>
            </p:nvSpPr>
            <p:spPr>
              <a:xfrm>
                <a:off x="952500" y="3905250"/>
                <a:ext cx="49911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Vertical circles: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at the top, weight and contact force both act towards the centre: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; at the bottom: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sSup>
                          <m:sSupPr>
                            <m:ctrlP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350" i="1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sz="1350">
                                <a:solidFill>
                                  <a:srgbClr val="1C2B33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.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125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竖直圆：顶部 R+mg 指向圆心，底部 R−mg 指向圆心。</a:t>
                </a:r>
                <a:endParaRPr sz="1125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1" name="dsl:tip3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3905250"/>
                <a:ext cx="4991100" cy="1047750"/>
              </a:xfrm>
              <a:prstGeom prst="rect">
                <a:avLst/>
              </a:prstGeom>
              <a:blipFill rotWithShape="1">
                <a:blip r:embed="rId2"/>
                <a:stretch>
                  <a:fillRect b="-58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dsl:tip4-icon|i=fas:graduation-cap" descr="tmp0_2kw01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5105400"/>
            <a:ext cx="209550" cy="209550"/>
          </a:xfrm>
          <a:prstGeom prst="rect">
            <a:avLst/>
          </a:prstGeom>
          <a:ln>
            <a:noFill/>
          </a:ln>
          <a:effectLst/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dsl:tip4|s=$body"/>
              <p:cNvSpPr txBox="1"/>
              <p:nvPr/>
            </p:nvSpPr>
            <p:spPr>
              <a:xfrm>
                <a:off x="952500" y="5048250"/>
                <a:ext cx="4991100" cy="1047750"/>
              </a:xfrm>
              <a:prstGeom prst="rect">
                <a:avLst/>
              </a:prstGeom>
              <a:noFill/>
            </p:spPr>
            <p:txBody>
              <a:bodyPr wrap="square" anchor="t">
                <a:no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sz="1350" b="1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Method marks:</a:t>
                </a:r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 quote the formula first (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350" i="1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350">
                            <a:solidFill>
                              <a:srgbClr val="1C2B33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350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350" i="1">
                        <a:solidFill>
                          <a:srgbClr val="1C2B33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1350" noProof="1">
                    <a:solidFill>
                      <a:srgbClr val="1C2B33"/>
                    </a:solidFill>
                    <a:latin typeface="QuattrocentoSans"/>
                    <a:ea typeface="MiSans"/>
                  </a:rPr>
                  <a:t>), then substitute with units, and round to 2–3 s.f. only at the end.</a:t>
                </a:r>
                <a:endParaRPr sz="1350" noProof="1">
                  <a:solidFill>
                    <a:srgbClr val="1C2B33"/>
                  </a:solidFill>
                  <a:latin typeface="QuattrocentoSans"/>
                  <a:ea typeface="MiSans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sz="1125" noProof="1">
                    <a:solidFill>
                      <a:srgbClr val="5C7A84"/>
                    </a:solidFill>
                    <a:latin typeface="QuattrocentoSans"/>
                    <a:ea typeface="MiSans"/>
                  </a:rPr>
                  <a:t>步骤分：先写公式，再代入带单位数据，最后取 2–3 位有效数字。</a:t>
                </a:r>
                <a:endParaRPr sz="1125" noProof="1">
                  <a:solidFill>
                    <a:srgbClr val="5C7A84"/>
                  </a:solidFill>
                  <a:latin typeface="QuattrocentoSans"/>
                  <a:ea typeface="MiSans"/>
                </a:endParaRPr>
              </a:p>
            </p:txBody>
          </p:sp>
        </mc:Choice>
        <mc:Fallback>
          <p:sp>
            <p:nvSpPr>
              <p:cNvPr id="13" name="dsl:tip4|s=$body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0" y="5048250"/>
                <a:ext cx="4991100" cy="1047750"/>
              </a:xfrm>
              <a:prstGeom prst="rect">
                <a:avLst/>
              </a:prstGeom>
              <a:blipFill rotWithShape="1">
                <a:blip r:embed="rId3"/>
                <a:stretch>
                  <a:fillRect b="-17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dsl:trap-card"/>
          <p:cNvSpPr/>
          <p:nvPr/>
        </p:nvSpPr>
        <p:spPr>
          <a:xfrm>
            <a:off x="6286500" y="1809750"/>
            <a:ext cx="5295900" cy="4438650"/>
          </a:xfrm>
          <a:prstGeom prst="rect">
            <a:avLst/>
          </a:prstGeom>
          <a:solidFill>
            <a:srgbClr val="FBE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trap-label|s=$badge"/>
          <p:cNvSpPr txBox="1"/>
          <p:nvPr/>
        </p:nvSpPr>
        <p:spPr>
          <a:xfrm>
            <a:off x="6515100" y="2000250"/>
            <a:ext cx="4838700" cy="2286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/>
            <a:r>
              <a:rPr sz="975" spc="150" noProof="1">
                <a:solidFill>
                  <a:srgbClr val="D97D29"/>
                </a:solidFill>
                <a:latin typeface="QuattrocentoSans"/>
                <a:ea typeface="MiSans"/>
              </a:rPr>
              <a:t>COMMON TRAP 易错辨析</a:t>
            </a:r>
            <a:endParaRPr sz="975" spc="150" noProof="1">
              <a:solidFill>
                <a:srgbClr val="D97D29"/>
              </a:solidFill>
              <a:latin typeface="QuattrocentoSans"/>
              <a:ea typeface="MiSans"/>
            </a:endParaRPr>
          </a:p>
        </p:txBody>
      </p:sp>
      <p:sp>
        <p:nvSpPr>
          <p:cNvPr id="16" name="dsl:trap-q|s=$body"/>
          <p:cNvSpPr txBox="1"/>
          <p:nvPr/>
        </p:nvSpPr>
        <p:spPr>
          <a:xfrm>
            <a:off x="6515100" y="2343150"/>
            <a:ext cx="4838700" cy="1047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"A satellite orbits the Earth. The forces on it are gravity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plus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a centripetal force pointing to the Earth's centre."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"卫星受引力和向心力两个力" — 这句话对吗？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cxnSp>
        <p:nvCxnSpPr>
          <p:cNvPr id="17" name="dsl:trap-rule"/>
          <p:cNvCxnSpPr/>
          <p:nvPr/>
        </p:nvCxnSpPr>
        <p:spPr>
          <a:xfrm>
            <a:off x="6515100" y="3543300"/>
            <a:ext cx="4838700" cy="0"/>
          </a:xfrm>
          <a:prstGeom prst="straightConnector1">
            <a:avLst/>
          </a:prstGeom>
          <a:ln w="12700">
            <a:solidFill>
              <a:srgbClr val="D97D29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sl:trap-a|s=$body"/>
          <p:cNvSpPr txBox="1"/>
          <p:nvPr/>
        </p:nvSpPr>
        <p:spPr>
          <a:xfrm>
            <a:off x="6515100" y="3733800"/>
            <a:ext cx="4838700" cy="1714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350" b="1" noProof="1">
                <a:solidFill>
                  <a:srgbClr val="D97D29"/>
                </a:solidFill>
                <a:latin typeface="QuattrocentoSans"/>
                <a:ea typeface="MiSans"/>
              </a:rPr>
              <a:t>Wrong.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Gravity is the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only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force acting; it </a:t>
            </a:r>
            <a:r>
              <a:rPr sz="1350" b="1" noProof="1">
                <a:solidFill>
                  <a:srgbClr val="1C2B33"/>
                </a:solidFill>
                <a:latin typeface="QuattrocentoSans"/>
                <a:ea typeface="MiSans"/>
              </a:rPr>
              <a:t>is</a:t>
            </a:r>
            <a:r>
              <a:rPr sz="1350" noProof="1">
                <a:solidFill>
                  <a:srgbClr val="1C2B33"/>
                </a:solidFill>
                <a:latin typeface="QuattrocentoSans"/>
                <a:ea typeface="MiSans"/>
              </a:rPr>
              <a:t> the centripetal force (the resultant force towards the centre).</a:t>
            </a:r>
            <a:endParaRPr sz="1350" noProof="1">
              <a:solidFill>
                <a:srgbClr val="1C2B33"/>
              </a:solidFill>
              <a:latin typeface="QuattrocentoSans"/>
              <a:ea typeface="MiSans"/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sz="1125" noProof="1">
                <a:solidFill>
                  <a:srgbClr val="5C7A84"/>
                </a:solidFill>
                <a:latin typeface="QuattrocentoSans"/>
                <a:ea typeface="MiSans"/>
              </a:rPr>
              <a:t>错误。引力是唯一存在的力，它本身就是向心力（指向圆心的合外力）。列出真实力 → 求合力 → 令其等于 mv²/r，切勿另加"向心力"。</a:t>
            </a:r>
            <a:endParaRPr sz="1125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dsl:trap-formula|s=$formula"/>
              <p:cNvSpPr txBox="1"/>
              <p:nvPr/>
            </p:nvSpPr>
            <p:spPr>
              <a:xfrm>
                <a:off x="6515100" y="5562600"/>
                <a:ext cx="4838700" cy="533400"/>
              </a:xfrm>
              <a:prstGeom prst="rect">
                <a:avLst/>
              </a:prstGeom>
              <a:noFill/>
            </p:spPr>
            <p:txBody>
              <a:bodyPr wrap="none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650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𝑔𝑟𝑎𝑣𝑖𝑡𝑦</m:t>
                          </m:r>
                        </m:sub>
                      </m:sSub>
                      <m:r>
                        <a:rPr lang="en-US" sz="1650">
                          <a:solidFill>
                            <a:srgbClr val="0E4D6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50" i="1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sz="1650">
                                  <a:solidFill>
                                    <a:srgbClr val="0E4D64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1650" i="1">
                              <a:solidFill>
                                <a:srgbClr val="0E4D64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9" name="dsl:trap-formula|s=$formula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100" y="5562600"/>
                <a:ext cx="4838700" cy="53340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dsl:footer-line"/>
          <p:cNvCxnSpPr/>
          <p:nvPr/>
        </p:nvCxnSpPr>
        <p:spPr>
          <a:xfrm>
            <a:off x="609600" y="6438900"/>
            <a:ext cx="10972800" cy="0"/>
          </a:xfrm>
          <a:prstGeom prst="straightConnector1">
            <a:avLst/>
          </a:prstGeom>
          <a:ln w="12700">
            <a:solidFill>
              <a:srgbClr val="D5DFE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dsl:footer-left|s=$small"/>
          <p:cNvSpPr txBox="1"/>
          <p:nvPr/>
        </p:nvSpPr>
        <p:spPr>
          <a:xfrm>
            <a:off x="609600" y="6515100"/>
            <a:ext cx="5715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Topic 12 Motion in a Circle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  <p:sp>
        <p:nvSpPr>
          <p:cNvPr id="22" name="dsl:footer-right|s=$small"/>
          <p:cNvSpPr txBox="1"/>
          <p:nvPr/>
        </p:nvSpPr>
        <p:spPr>
          <a:xfrm>
            <a:off x="10058400" y="6515100"/>
            <a:ext cx="1524000" cy="190500"/>
          </a:xfrm>
          <a:prstGeom prst="rect">
            <a:avLst/>
          </a:prstGeom>
          <a:noFill/>
        </p:spPr>
        <p:txBody>
          <a:bodyPr wrap="none" anchor="t">
            <a:noAutofit/>
          </a:bodyPr>
          <a:lstStyle/>
          <a:p>
            <a:pPr algn="r">
              <a:lnSpc>
                <a:spcPct val="140000"/>
              </a:lnSpc>
            </a:pPr>
            <a:r>
              <a:rPr sz="1050" noProof="1">
                <a:solidFill>
                  <a:srgbClr val="5C7A84"/>
                </a:solidFill>
                <a:latin typeface="QuattrocentoSans"/>
                <a:ea typeface="MiSans"/>
              </a:rPr>
              <a:t>13 / 13</a:t>
            </a:r>
            <a:endParaRPr sz="1050" noProof="1">
              <a:solidFill>
                <a:srgbClr val="5C7A84"/>
              </a:solidFill>
              <a:latin typeface="QuattrocentoSans"/>
              <a:ea typeface="Mi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0E4D64"/>
    <Color name="primaryDark" value="#093748"/>
    <Color name="secondary" value="#5C7A84"/>
    <Color name="accent" value="#D97D29"/>
    <Color name="accentSoft" value="#FBEFE1"/>
    <Color name="background" value="#FBFAF7"/>
    <Color name="card" value="#EEF3F3"/>
    <Color name="cardDeep" value="#E2EBEC"/>
    <Color name="line" value="#D5DFE0"/>
    <Color name="text" value="#1C2B33"/>
    <Color name="white" value="#FFFFFF"/>
  </Colors>
  <TextStyles>
    <TextStyle name="badge" font_size="13.0" color="$accent" font_family="QuattrocentoSans, MiSans" letter_spacing="2.0"/>
    <TextStyle name="title" font_size="29.0" color="$primary" font_family="QuattrocentoSans, MiSans"/>
    <TextStyle name="subtitle" font_size="16.0" color="$secondary" font_family="QuattrocentoSans, MiSans"/>
    <TextStyle name="body" font_size="18.0" color="$text" font_family="QuattrocentoSans, MiSans" line_height="1.5"/>
    <TextStyle name="small" font_size="14.0" color="$secondary" font_family="QuattrocentoSans, MiSans" line_height="1.4"/>
    <TextStyle name="formula" font_size="22.0" color="$primary" font_family="QuattrocentoSans, MiSans"/>
  </TextStyles>
  <TableStyles>
    <TableStyle name="default" fontSize="16.0" fontFamily="QuattrocentoSans, MiSans" headerFill="$primary" headerColor="#FFFFFF" headerBold="true" bodyFill="#FFFFFF,#F2F6F6" bodyColor="$text" firstColumnBold="false">
      <Border style="solid" width="1.0" color="$line"/>
    </TableStyle>
  </TableStyles>
</DslMetadata>
</file>

<file path=customXml/itemProps1.xml><?xml version="1.0" encoding="utf-8"?>
<ds:datastoreItem xmlns:ds="http://schemas.openxmlformats.org/officeDocument/2006/customXml" ds:itemID="{4A7E8AC7-9030-4795-B7A7-AE02FC931C1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9066</Words>
  <Application>WPS 演示</Application>
  <PresentationFormat>On-screen Show (4:3)</PresentationFormat>
  <Paragraphs>406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宋体</vt:lpstr>
      <vt:lpstr>Wingdings</vt:lpstr>
      <vt:lpstr>Arial</vt:lpstr>
      <vt:lpstr>Unna</vt:lpstr>
      <vt:lpstr>Segoe Print</vt:lpstr>
      <vt:lpstr>siyuanSongti</vt:lpstr>
      <vt:lpstr>QuattrocentoSans</vt:lpstr>
      <vt:lpstr>MiSans</vt:lpstr>
      <vt:lpstr>Cambria Math</vt:lpstr>
      <vt:lpstr>Calibri</vt:lpstr>
      <vt:lpstr>MiSans Normal</vt:lpstr>
      <vt:lpstr>微软雅黑</vt:lpstr>
      <vt:lpstr>Arial Unicode MS</vt:lpstr>
      <vt:lpstr>MiSans</vt:lpstr>
      <vt:lpstr>QuattrocentoSans</vt:lpstr>
      <vt:lpstr>Unna</vt:lpstr>
      <vt:lpstr>siyuanSongti</vt:lpstr>
      <vt:lpstr>MiSans Semibold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WPS_BingqingWang</cp:lastModifiedBy>
  <cp:revision>2</cp:revision>
  <dcterms:created xsi:type="dcterms:W3CDTF">2013-01-27T09:14:00Z</dcterms:created>
  <dcterms:modified xsi:type="dcterms:W3CDTF">2026-08-01T07:50:02Z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059D02C2E7A94CDABB1954591DBFE45E_12</vt:lpwstr>
  </property>
</Properties>
</file>