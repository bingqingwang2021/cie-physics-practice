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4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力、密度与压强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Forces, Density and Pressure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W = mg  ·  Moment = F × d⊥  ·  p = F/A  ·  Δp = ρgΔh  ·  F = ρgV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五个核心公式 —— 从重量、力矩到液体压强与浮力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4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weight to upthrust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重量与重心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W = mg 与 centre of gravity——质量与重量的区别，重量画在哪一点。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Weight in a uniform gravitational field · centre of gravity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力矩与平衡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moment、力偶 couple、力矩原理——平衡的两大条件与三力闭合三角形。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Moments, couples, the principle of moments and equilibrium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密度与压强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ρ = m/V、p = F/A，并亲手推导 Δp = ρgΔh，分清"液体压强"与"总压强"。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Density, pressure and deriving Δp = ρgΔh · total vs liquid pressure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浮力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用上下压力差解释浮力的成因，掌握阿基米德原理 F = ρgV 与浮沉判断。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Upthrust from pressure difference · Archimedes' principle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能用力矩原理求未知力；能完整推导 Δp = ρgΔh；算总压强不忘加大气压；能用 F = ρgV 做浮沉与弹簧秤读数题。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4.1 · TYPES OF FORCE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重量是力，重心是它作用的那一点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Weight in a uniform gravitational field · centre of gravity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均匀引力场 Uniform field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均匀引力场对场内任何位置的同一质量施加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相同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的引力，即重量：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W = mg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，其中 g 是引力场强度，地球表面 g ≈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9.81 N/kg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2004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重心 Centre of gravity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556000"/>
            <a:ext cx="5969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重心是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重量所作用的点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。分析力矩时，把整个物体的重量画在重心上。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均匀（uniform）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物体的重心恰在几何中心。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4546600"/>
            <a:ext cx="5969000" cy="1270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4673600"/>
            <a:ext cx="55626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易错辨析：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质量 m（kg）是固有属性，到哪里都不变；重量 W（N）是力，随 g 变化——月球上重量只有地球的约 1/6。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CIE 考试中 g 一律取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9.81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，不要取 10（除非题目说明）。</a:t>
            </a:r>
            <a:endParaRPr lang="en-US" sz="1250" noProof="1"/>
          </a:p>
        </p:txBody>
      </p:sp>
      <p:sp>
        <p:nvSpPr>
          <p:cNvPr id="12" name="block"/>
          <p:cNvSpPr/>
          <p:nvPr/>
        </p:nvSpPr>
        <p:spPr>
          <a:xfrm>
            <a:off x="7874000" y="2159000"/>
            <a:ext cx="2540000" cy="1778000"/>
          </a:xfrm>
          <a:prstGeom prst="rect">
            <a:avLst/>
          </a:prstGeom>
          <a:solidFill>
            <a:srgbClr val="EFE9DF"/>
          </a:solidFill>
          <a:ln w="25400">
            <a:solidFill>
              <a:srgbClr val="0E5A55"/>
            </a:solidFill>
          </a:ln>
        </p:spPr>
      </p:sp>
      <p:sp>
        <p:nvSpPr>
          <p:cNvPr id="13" name="cog-dot"/>
          <p:cNvSpPr/>
          <p:nvPr/>
        </p:nvSpPr>
        <p:spPr>
          <a:xfrm>
            <a:off x="9055100" y="2959100"/>
            <a:ext cx="177800" cy="1778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4" name="cog-ring"/>
          <p:cNvSpPr/>
          <p:nvPr/>
        </p:nvSpPr>
        <p:spPr>
          <a:xfrm>
            <a:off x="8978900" y="2882900"/>
            <a:ext cx="330200" cy="330200"/>
          </a:xfrm>
          <a:prstGeom prst="ellipse">
            <a:avLst/>
          </a:prstGeom>
          <a:noFill/>
          <a:ln w="19050">
            <a:solidFill>
              <a:srgbClr val="C96F16"/>
            </a:solidFill>
          </a:ln>
        </p:spPr>
      </p:sp>
      <p:sp>
        <p:nvSpPr>
          <p:cNvPr id="15" name="w-arrow"/>
          <p:cNvSpPr/>
          <p:nvPr>
            <p:extLst>
              <p:ext uri="{F5677B7D-0D2A-4D9B-9A5C-6D8D7D0E5A5D}">
                <pptd:line encoding="base64url">eyJ2aWV3Qm94IjpbNCwxMTBdLCJwb2ludHMiOiIyLDAgMiwxMTAiLCJjdXJ2ZSI6InNoYXJwIn0</pptd:line>
              </p:ext>
            </p:extLst>
          </p:nvPr>
        </p:nvSpPr>
        <p:spPr>
          <a:xfrm>
            <a:off x="9118600" y="3302000"/>
            <a:ext cx="50800" cy="1397000"/>
          </a:xfrm>
          <a:custGeom>
            <a:avLst/>
            <a:gdLst/>
            <a:ahLst/>
            <a:cxnLst/>
            <a:rect l="l" t="t" r="r" b="b"/>
            <a:pathLst>
              <a:path w="4" h="110">
                <a:moveTo>
                  <a:pt x="2" y="0"/>
                </a:moveTo>
                <a:lnTo>
                  <a:pt x="2" y="110"/>
                </a:lnTo>
              </a:path>
            </a:pathLst>
          </a:custGeom>
          <a:noFill/>
          <a:ln w="38100">
            <a:solidFill>
              <a:srgbClr val="22303A"/>
            </a:solidFill>
            <a:tailEnd type="arrow"/>
          </a:ln>
        </p:spPr>
      </p:sp>
      <p:sp>
        <p:nvSpPr>
          <p:cNvPr id="16" name="w-label"/>
          <p:cNvSpPr txBox="1"/>
          <p:nvPr/>
        </p:nvSpPr>
        <p:spPr>
          <a:xfrm>
            <a:off x="9347200" y="38100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W = mg</a:t>
            </a:r>
            <a:endParaRPr lang="en-US" sz="1400" noProof="1"/>
          </a:p>
        </p:txBody>
      </p:sp>
      <p:sp>
        <p:nvSpPr>
          <p:cNvPr id="17" name="cog-label"/>
          <p:cNvSpPr txBox="1"/>
          <p:nvPr/>
        </p:nvSpPr>
        <p:spPr>
          <a:xfrm>
            <a:off x="9423400" y="29464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重心 CoG</a:t>
            </a:r>
            <a:endParaRPr lang="en-US" sz="1200" noProof="1"/>
          </a:p>
        </p:txBody>
      </p:sp>
      <p:sp>
        <p:nvSpPr>
          <p:cNvPr id="18" name="dia-caption"/>
          <p:cNvSpPr txBox="1"/>
          <p:nvPr/>
        </p:nvSpPr>
        <p:spPr>
          <a:xfrm>
            <a:off x="7366000" y="50800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均匀物体：重心在几何中心，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重量箭头一律从重心竖直向下画。</a:t>
            </a:r>
            <a:endParaRPr lang="en-US" sz="1100" noProof="1"/>
          </a:p>
        </p:txBody>
      </p:sp>
      <p:sp>
        <p:nvSpPr>
          <p:cNvPr id="19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4.2 · MOMENT OF A FORCE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力矩：力 × 垂直距离，缺一不可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Moment = force × perpendicular distance to the line of action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x"/>
          <p:cNvSpPr/>
          <p:nvPr/>
        </p:nvSpPr>
        <p:spPr>
          <a:xfrm>
            <a:off x="762000" y="1676400"/>
            <a:ext cx="5969000" cy="939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778000"/>
            <a:ext cx="5562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Moment 力矩 = F × d⊥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d⊥ 是支点到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力的作用线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的垂直距离。单位 N·m，描述力的转动效果（turning effect）。</a:t>
            </a:r>
            <a:endParaRPr lang="en-US" sz="1350" noProof="1"/>
          </a:p>
        </p:txBody>
      </p:sp>
      <p:sp>
        <p:nvSpPr>
          <p:cNvPr id="8" name="b1"/>
          <p:cNvSpPr txBox="1"/>
          <p:nvPr/>
        </p:nvSpPr>
        <p:spPr>
          <a:xfrm>
            <a:off x="762000" y="28448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为什么强调"垂直"？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只有垂直于杠杆方向的力分量才产生转动。沿杠杆方向的力（穿过支点方向）对转动毫无贡献——就像沿着门轴推门，门不会转。</a:t>
            </a:r>
            <a:endParaRPr lang="en-US" sz="1350" noProof="1"/>
          </a:p>
        </p:txBody>
      </p:sp>
      <p:sp>
        <p:nvSpPr>
          <p:cNvPr id="9" name="warn-body"/>
          <p:cNvSpPr txBox="1"/>
          <p:nvPr/>
        </p:nvSpPr>
        <p:spPr>
          <a:xfrm>
            <a:off x="762000" y="40640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最高频扣分点：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力与杠杆成 θ 角时，直接拿"到作用点的斜线距离"去乘是错的。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两种等价做法，任选其一：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取力的垂直分量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F sin θ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× 斜线距离 d；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延长力的作用线，找支点到作用线的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垂直距离 d⊥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× F。</a:t>
            </a:r>
            <a:endParaRPr lang="en-US" sz="1250" noProof="1"/>
          </a:p>
        </p:txBody>
      </p:sp>
      <p:sp>
        <p:nvSpPr>
          <p:cNvPr id="10" name="lever"/>
          <p:cNvSpPr/>
          <p:nvPr>
            <p:extLst>
              <p:ext uri="{F5677B7D-0D2A-4D9B-9A5C-6D8D7D0E5A5D}">
                <pptd:line encoding="base64url">eyJ2aWV3Qm94IjpbMzAwLDRdLCJwb2ludHMiOiIwLDIgMzAwLDIiLCJjdXJ2ZSI6InNoYXJwIn0</pptd:line>
              </p:ext>
            </p:extLst>
          </p:nvPr>
        </p:nvSpPr>
        <p:spPr>
          <a:xfrm>
            <a:off x="7493000" y="3048000"/>
            <a:ext cx="3810000" cy="50800"/>
          </a:xfrm>
          <a:custGeom>
            <a:avLst/>
            <a:gdLst/>
            <a:ahLst/>
            <a:cxnLst/>
            <a:rect l="l" t="t" r="r" b="b"/>
            <a:pathLst>
              <a:path w="300" h="4">
                <a:moveTo>
                  <a:pt x="0" y="2"/>
                </a:moveTo>
                <a:lnTo>
                  <a:pt x="300" y="2"/>
                </a:lnTo>
              </a:path>
            </a:pathLst>
          </a:custGeom>
          <a:noFill/>
          <a:ln w="50800">
            <a:solidFill>
              <a:srgbClr val="22303A"/>
            </a:solidFill>
          </a:ln>
        </p:spPr>
      </p:sp>
      <p:sp>
        <p:nvSpPr>
          <p:cNvPr id="11" name="pivot"/>
          <p:cNvSpPr/>
          <p:nvPr/>
        </p:nvSpPr>
        <p:spPr>
          <a:xfrm>
            <a:off x="8382000" y="3124200"/>
            <a:ext cx="508000" cy="381000"/>
          </a:xfrm>
          <a:custGeom>
            <a:avLst/>
            <a:gdLst/>
            <a:ahLst/>
            <a:cxnLst/>
            <a:rect l="l" t="t" r="r" b="b"/>
            <a:pathLst>
              <a:path w="40" h="30">
                <a:moveTo>
                  <a:pt x="0" y="30"/>
                </a:moveTo>
                <a:lnTo>
                  <a:pt x="20" y="0"/>
                </a:lnTo>
                <a:lnTo>
                  <a:pt x="40" y="30"/>
                </a:lnTo>
                <a:close/>
              </a:path>
            </a:pathLst>
          </a:custGeom>
          <a:solidFill>
            <a:srgbClr val="0E5A55"/>
          </a:solidFill>
          <a:ln>
            <a:noFill/>
          </a:ln>
        </p:spPr>
      </p:sp>
      <p:sp>
        <p:nvSpPr>
          <p:cNvPr id="12" name="f-arrow"/>
          <p:cNvSpPr/>
          <p:nvPr>
            <p:extLst>
              <p:ext uri="{F5677B7D-0D2A-4D9B-9A5C-6D8D7D0E5A5D}">
                <pptd:line encoding="base64url">eyJ2aWV3Qm94IjpbNCw5OF0sInBvaW50cyI6IjIsMCAyLDk4IiwiY3VydmUiOiJzaGFycCJ9</pptd:line>
              </p:ext>
            </p:extLst>
          </p:nvPr>
        </p:nvSpPr>
        <p:spPr>
          <a:xfrm>
            <a:off x="11252200" y="1778000"/>
            <a:ext cx="50800" cy="1244600"/>
          </a:xfrm>
          <a:custGeom>
            <a:avLst/>
            <a:gdLst/>
            <a:ahLst/>
            <a:cxnLst/>
            <a:rect l="l" t="t" r="r" b="b"/>
            <a:pathLst>
              <a:path w="4" h="98">
                <a:moveTo>
                  <a:pt x="2" y="0"/>
                </a:moveTo>
                <a:lnTo>
                  <a:pt x="2" y="98"/>
                </a:lnTo>
              </a:path>
            </a:pathLst>
          </a:custGeom>
          <a:noFill/>
          <a:ln w="38100">
            <a:solidFill>
              <a:srgbClr val="C96F16"/>
            </a:solidFill>
            <a:tailEnd type="arrow"/>
          </a:ln>
        </p:spPr>
      </p:sp>
      <p:sp>
        <p:nvSpPr>
          <p:cNvPr id="13" name="f-label"/>
          <p:cNvSpPr txBox="1"/>
          <p:nvPr/>
        </p:nvSpPr>
        <p:spPr>
          <a:xfrm>
            <a:off x="10820400" y="1473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96F16"/>
                </a:solidFill>
                <a:latin typeface="MiSans"/>
                <a:ea typeface="MiSans"/>
              </a:rPr>
              <a:t>F</a:t>
            </a:r>
            <a:endParaRPr lang="en-US" sz="1400" noProof="1"/>
          </a:p>
        </p:txBody>
      </p:sp>
      <p:sp>
        <p:nvSpPr>
          <p:cNvPr id="14" name="d-line"/>
          <p:cNvSpPr/>
          <p:nvPr>
            <p:extLst>
              <p:ext uri="{F5677B7D-0D2A-4D9B-9A5C-6D8D7D0E5A5D}">
                <pptd:line encoding="base64url">eyJ2aWV3Qm94IjpbMjA0LDRdLCJwb2ludHMiOiIwLDIgMjA0LDIiLCJjdXJ2ZSI6InNoYXJwIn0</pptd:line>
              </p:ext>
            </p:extLst>
          </p:nvPr>
        </p:nvSpPr>
        <p:spPr>
          <a:xfrm>
            <a:off x="8636000" y="2743200"/>
            <a:ext cx="2590800" cy="50800"/>
          </a:xfrm>
          <a:custGeom>
            <a:avLst/>
            <a:gdLst/>
            <a:ahLst/>
            <a:cxnLst/>
            <a:rect l="l" t="t" r="r" b="b"/>
            <a:pathLst>
              <a:path w="204" h="4">
                <a:moveTo>
                  <a:pt x="0" y="2"/>
                </a:moveTo>
                <a:lnTo>
                  <a:pt x="204" y="2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5" name="d-label"/>
          <p:cNvSpPr txBox="1"/>
          <p:nvPr/>
        </p:nvSpPr>
        <p:spPr>
          <a:xfrm>
            <a:off x="8890000" y="2438400"/>
            <a:ext cx="2286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d⊥ 垂直距离</a:t>
            </a:r>
            <a:endParaRPr lang="en-US" sz="1250" noProof="1"/>
          </a:p>
        </p:txBody>
      </p:sp>
      <p:sp>
        <p:nvSpPr>
          <p:cNvPr id="16" name="pivot-label"/>
          <p:cNvSpPr txBox="1"/>
          <p:nvPr/>
        </p:nvSpPr>
        <p:spPr>
          <a:xfrm>
            <a:off x="8280400" y="35814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支点 pivot</a:t>
            </a:r>
            <a:endParaRPr lang="en-US" sz="1200" noProof="1"/>
          </a:p>
        </p:txBody>
      </p:sp>
      <p:sp>
        <p:nvSpPr>
          <p:cNvPr id="17" name="moment-label"/>
          <p:cNvSpPr txBox="1"/>
          <p:nvPr/>
        </p:nvSpPr>
        <p:spPr>
          <a:xfrm>
            <a:off x="7874000" y="41910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Moment = F × d⊥</a:t>
            </a:r>
            <a:endParaRPr lang="en-US" sz="1400" noProof="1"/>
          </a:p>
        </p:txBody>
      </p:sp>
      <p:sp>
        <p:nvSpPr>
          <p:cNvPr id="18" name="dia-caption"/>
          <p:cNvSpPr txBox="1"/>
          <p:nvPr/>
        </p:nvSpPr>
        <p:spPr>
          <a:xfrm>
            <a:off x="7366000" y="48260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图中 F 竖直向下、杠杆水平，恰好垂直；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若 F 倾斜，必须先取垂直分量或垂直距离。</a:t>
            </a:r>
            <a:endParaRPr lang="en-US" sz="1100" noProof="1"/>
          </a:p>
        </p:txBody>
      </p:sp>
      <p:sp>
        <p:nvSpPr>
          <p:cNvPr id="19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4.2 · COUPLES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力偶：只产生转动的一对力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 pair of equal, opposite, coplanar forces producing rotation only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定义 Definition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力偶 couple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：一对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共面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的力，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大小相等、方向相反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，作用线不重合。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合力为零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不产生平动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；但合力矩不为零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只产生转动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典型例子：双手拧方向盘、拧瓶盖、螺丝刀拧螺丝。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429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力偶矩 Torque of a couple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7846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Moment of a couple = F × d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F 是其中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一个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力的大小，d 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两力作用线之间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的垂直距离。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4724400"/>
            <a:ext cx="5969000" cy="1117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4851400"/>
            <a:ext cx="5562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乘的是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一个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力，不是 2F——另一个力的效果已包含在"乘两力间距"里；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d 是两力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之间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的垂直距离，不是到某支点的距离（力偶与参考点无关）。</a:t>
            </a:r>
            <a:endParaRPr lang="en-US" sz="1250" noProof="1"/>
          </a:p>
        </p:txBody>
      </p:sp>
      <p:sp>
        <p:nvSpPr>
          <p:cNvPr id="12" name="rod"/>
          <p:cNvSpPr/>
          <p:nvPr/>
        </p:nvSpPr>
        <p:spPr>
          <a:xfrm>
            <a:off x="8128000" y="2540000"/>
            <a:ext cx="2540000" cy="431800"/>
          </a:xfrm>
          <a:prstGeom prst="rect">
            <a:avLst/>
          </a:prstGeom>
          <a:solidFill>
            <a:srgbClr val="EFE9DF"/>
          </a:solidFill>
          <a:ln w="25400">
            <a:solidFill>
              <a:srgbClr val="0E5A55"/>
            </a:solidFill>
          </a:ln>
        </p:spPr>
      </p:sp>
      <p:sp>
        <p:nvSpPr>
          <p:cNvPr id="13" name="f1-arrow"/>
          <p:cNvSpPr/>
          <p:nvPr>
            <p:extLst>
              <p:ext uri="{F5677B7D-0D2A-4D9B-9A5C-6D8D7D0E5A5D}">
                <pptd:line encoding="base64url">eyJ2aWV3Qm94IjpbNCw3Nl0sInBvaW50cyI6IjIsNzYgMiwwIiwiY3VydmUiOiJzaGFycCJ9</pptd:line>
              </p:ext>
            </p:extLst>
          </p:nvPr>
        </p:nvSpPr>
        <p:spPr>
          <a:xfrm>
            <a:off x="8229600" y="15240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4" h="76">
                <a:moveTo>
                  <a:pt x="2" y="76"/>
                </a:moveTo>
                <a:lnTo>
                  <a:pt x="2" y="0"/>
                </a:lnTo>
              </a:path>
            </a:pathLst>
          </a:custGeom>
          <a:noFill/>
          <a:ln w="38100">
            <a:solidFill>
              <a:srgbClr val="C96F16"/>
            </a:solidFill>
            <a:tailEnd type="arrow"/>
          </a:ln>
        </p:spPr>
      </p:sp>
      <p:sp>
        <p:nvSpPr>
          <p:cNvPr id="14" name="f2-arrow"/>
          <p:cNvSpPr/>
          <p:nvPr>
            <p:extLst>
              <p:ext uri="{F5677B7D-0D2A-4D9B-9A5C-6D8D7D0E5A5D}">
                <pptd:line encoding="base64url">eyJ2aWV3Qm94IjpbNCw3Nl0sInBvaW50cyI6IjIsMCAyLDc2IiwiY3VydmUiOiJzaGFycCJ9</pptd:line>
              </p:ext>
            </p:extLst>
          </p:nvPr>
        </p:nvSpPr>
        <p:spPr>
          <a:xfrm>
            <a:off x="10515600" y="30226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4" h="76">
                <a:moveTo>
                  <a:pt x="2" y="0"/>
                </a:moveTo>
                <a:lnTo>
                  <a:pt x="2" y="76"/>
                </a:lnTo>
              </a:path>
            </a:pathLst>
          </a:custGeom>
          <a:noFill/>
          <a:ln w="38100">
            <a:solidFill>
              <a:srgbClr val="C96F16"/>
            </a:solidFill>
            <a:tailEnd type="arrow"/>
          </a:ln>
        </p:spPr>
      </p:sp>
      <p:sp>
        <p:nvSpPr>
          <p:cNvPr id="15" name="f1-label"/>
          <p:cNvSpPr txBox="1"/>
          <p:nvPr/>
        </p:nvSpPr>
        <p:spPr>
          <a:xfrm>
            <a:off x="7899400" y="15748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96F16"/>
                </a:solidFill>
                <a:latin typeface="MiSans"/>
                <a:ea typeface="MiSans"/>
              </a:rPr>
              <a:t>F</a:t>
            </a:r>
            <a:endParaRPr lang="en-US" sz="1400" noProof="1"/>
          </a:p>
        </p:txBody>
      </p:sp>
      <p:sp>
        <p:nvSpPr>
          <p:cNvPr id="16" name="f2-label"/>
          <p:cNvSpPr txBox="1"/>
          <p:nvPr/>
        </p:nvSpPr>
        <p:spPr>
          <a:xfrm>
            <a:off x="10668000" y="4013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C96F16"/>
                </a:solidFill>
                <a:latin typeface="MiSans"/>
                <a:ea typeface="MiSans"/>
              </a:rPr>
              <a:t>F</a:t>
            </a:r>
            <a:endParaRPr lang="en-US" sz="1400" noProof="1"/>
          </a:p>
        </p:txBody>
      </p:sp>
      <p:sp>
        <p:nvSpPr>
          <p:cNvPr id="17" name="d-line1"/>
          <p:cNvSpPr/>
          <p:nvPr>
            <p:extLst>
              <p:ext uri="{F5677B7D-0D2A-4D9B-9A5C-6D8D7D0E5A5D}">
                <pptd:line encoding="base64url">eyJ2aWV3Qm94IjpbNCw0NF0sInBvaW50cyI6IjIsMCAyLDQ0IiwiY3VydmUiOiJzaGFycCJ9</pptd:line>
              </p:ext>
            </p:extLst>
          </p:nvPr>
        </p:nvSpPr>
        <p:spPr>
          <a:xfrm>
            <a:off x="8255000" y="24892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4" h="44">
                <a:moveTo>
                  <a:pt x="2" y="0"/>
                </a:moveTo>
                <a:lnTo>
                  <a:pt x="2" y="44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8" name="d-line2"/>
          <p:cNvSpPr/>
          <p:nvPr>
            <p:extLst>
              <p:ext uri="{F5677B7D-0D2A-4D9B-9A5C-6D8D7D0E5A5D}">
                <pptd:line encoding="base64url">eyJ2aWV3Qm94IjpbNCw0NF0sInBvaW50cyI6IjIsMCAyLDQ0IiwiY3VydmUiOiJzaGFycCJ9</pptd:line>
              </p:ext>
            </p:extLst>
          </p:nvPr>
        </p:nvSpPr>
        <p:spPr>
          <a:xfrm>
            <a:off x="10541000" y="2489200"/>
            <a:ext cx="50800" cy="558800"/>
          </a:xfrm>
          <a:custGeom>
            <a:avLst/>
            <a:gdLst/>
            <a:ahLst/>
            <a:cxnLst/>
            <a:rect l="l" t="t" r="r" b="b"/>
            <a:pathLst>
              <a:path w="4" h="44">
                <a:moveTo>
                  <a:pt x="2" y="0"/>
                </a:moveTo>
                <a:lnTo>
                  <a:pt x="2" y="44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9" name="d-brace"/>
          <p:cNvSpPr/>
          <p:nvPr>
            <p:extLst>
              <p:ext uri="{F5677B7D-0D2A-4D9B-9A5C-6D8D7D0E5A5D}">
                <pptd:line encoding="base64url">eyJ2aWV3Qm94IjpbMTcyLDRdLCJwb2ludHMiOiIwLDIgMTcyLDIiLCJjdXJ2ZSI6InNoYXJwIn0</pptd:line>
              </p:ext>
            </p:extLst>
          </p:nvPr>
        </p:nvSpPr>
        <p:spPr>
          <a:xfrm>
            <a:off x="8305800" y="3657600"/>
            <a:ext cx="2184400" cy="50800"/>
          </a:xfrm>
          <a:custGeom>
            <a:avLst/>
            <a:gdLst/>
            <a:ahLst/>
            <a:cxnLst/>
            <a:rect l="l" t="t" r="r" b="b"/>
            <a:pathLst>
              <a:path w="172" h="4">
                <a:moveTo>
                  <a:pt x="0" y="2"/>
                </a:moveTo>
                <a:lnTo>
                  <a:pt x="172" y="2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20" name="d-label"/>
          <p:cNvSpPr txBox="1"/>
          <p:nvPr/>
        </p:nvSpPr>
        <p:spPr>
          <a:xfrm>
            <a:off x="8686800" y="3759200"/>
            <a:ext cx="1524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d 两力间距</a:t>
            </a:r>
            <a:endParaRPr lang="en-US" sz="1250" noProof="1"/>
          </a:p>
        </p:txBody>
      </p:sp>
      <p:sp>
        <p:nvSpPr>
          <p:cNvPr id="21" name="rotation"/>
          <p:cNvSpPr txBox="1"/>
          <p:nvPr/>
        </p:nvSpPr>
        <p:spPr>
          <a:xfrm>
            <a:off x="7620000" y="4572000"/>
            <a:ext cx="406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Torque = F × d（只转动，不平动）</a:t>
            </a:r>
            <a:endParaRPr lang="en-US" sz="1400" noProof="1"/>
          </a:p>
        </p:txBody>
      </p:sp>
      <p:sp>
        <p:nvSpPr>
          <p:cNvPr id="22" name="dia-caption"/>
          <p:cNvSpPr txBox="1"/>
          <p:nvPr/>
        </p:nvSpPr>
        <p:spPr>
          <a:xfrm>
            <a:off x="7366000" y="50800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等大、反向、不共线的两个力：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合力为零，但绕中心的力矩相加。</a:t>
            </a:r>
            <a:endParaRPr lang="en-US" sz="110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4.2 · PRINCIPLE OF MOMENTS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力矩原理：平衡时，逆时针 = 顺时针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Σ anticlockwise moments = Σ clockwise moments for equilibrium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x"/>
          <p:cNvSpPr/>
          <p:nvPr/>
        </p:nvSpPr>
        <p:spPr>
          <a:xfrm>
            <a:off x="762000" y="1676400"/>
            <a:ext cx="10668000" cy="685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text"/>
          <p:cNvSpPr txBox="1"/>
          <p:nvPr/>
        </p:nvSpPr>
        <p:spPr>
          <a:xfrm>
            <a:off x="965200" y="1778000"/>
            <a:ext cx="10261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力矩原理：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物体平衡时，绕任意支点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∑逆时针力矩 = ∑顺时针力矩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。技巧：把支点取在未知力处，该力力臂为 0，直接从方程中消去。</a:t>
            </a:r>
            <a:endParaRPr lang="en-US" sz="1350" noProof="1"/>
          </a:p>
        </p:txBody>
      </p:sp>
      <p:sp>
        <p:nvSpPr>
          <p:cNvPr id="8" name="lever"/>
          <p:cNvSpPr/>
          <p:nvPr>
            <p:extLst>
              <p:ext uri="{F5677B7D-0D2A-4D9B-9A5C-6D8D7D0E5A5D}">
                <pptd:line encoding="base64url">eyJ2aWV3Qm94IjpbNzAwLDRdLCJwb2ludHMiOiIwLDIgNzAwLDIiLCJjdXJ2ZSI6InNoYXJwIn0</pptd:line>
              </p:ext>
            </p:extLst>
          </p:nvPr>
        </p:nvSpPr>
        <p:spPr>
          <a:xfrm>
            <a:off x="1397000" y="3403600"/>
            <a:ext cx="8890000" cy="50800"/>
          </a:xfrm>
          <a:custGeom>
            <a:avLst/>
            <a:gdLst/>
            <a:ahLst/>
            <a:cxnLst/>
            <a:rect l="l" t="t" r="r" b="b"/>
            <a:pathLst>
              <a:path w="700" h="4">
                <a:moveTo>
                  <a:pt x="0" y="2"/>
                </a:moveTo>
                <a:lnTo>
                  <a:pt x="700" y="2"/>
                </a:lnTo>
              </a:path>
            </a:pathLst>
          </a:custGeom>
          <a:noFill/>
          <a:ln w="50800">
            <a:solidFill>
              <a:srgbClr val="22303A"/>
            </a:solidFill>
          </a:ln>
        </p:spPr>
      </p:sp>
      <p:sp>
        <p:nvSpPr>
          <p:cNvPr id="9" name="pivot"/>
          <p:cNvSpPr/>
          <p:nvPr/>
        </p:nvSpPr>
        <p:spPr>
          <a:xfrm>
            <a:off x="5588000" y="3479800"/>
            <a:ext cx="508000" cy="381000"/>
          </a:xfrm>
          <a:custGeom>
            <a:avLst/>
            <a:gdLst/>
            <a:ahLst/>
            <a:cxnLst/>
            <a:rect l="l" t="t" r="r" b="b"/>
            <a:pathLst>
              <a:path w="40" h="30">
                <a:moveTo>
                  <a:pt x="0" y="30"/>
                </a:moveTo>
                <a:lnTo>
                  <a:pt x="20" y="0"/>
                </a:lnTo>
                <a:lnTo>
                  <a:pt x="40" y="30"/>
                </a:lnTo>
                <a:close/>
              </a:path>
            </a:pathLst>
          </a:custGeom>
          <a:solidFill>
            <a:srgbClr val="0E5A55"/>
          </a:solidFill>
          <a:ln>
            <a:noFill/>
          </a:ln>
        </p:spPr>
      </p:sp>
      <p:sp>
        <p:nvSpPr>
          <p:cNvPr id="10" name="pivot-label"/>
          <p:cNvSpPr txBox="1"/>
          <p:nvPr/>
        </p:nvSpPr>
        <p:spPr>
          <a:xfrm>
            <a:off x="5588000" y="3911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A</a:t>
            </a:r>
            <a:endParaRPr lang="en-US" sz="1200" noProof="1"/>
          </a:p>
        </p:txBody>
      </p:sp>
      <p:sp>
        <p:nvSpPr>
          <p:cNvPr id="11" name="w1-arrow"/>
          <p:cNvSpPr/>
          <p:nvPr>
            <p:extLst>
              <p:ext uri="{F5677B7D-0D2A-4D9B-9A5C-6D8D7D0E5A5D}">
                <pptd:line encoding="base64url">eyJ2aWV3Qm94IjpbNCw5MF0sInBvaW50cyI6IjIsMCAyLDkwIiwiY3VydmUiOiJzaGFycCJ9</pptd:line>
              </p:ext>
            </p:extLst>
          </p:nvPr>
        </p:nvSpPr>
        <p:spPr>
          <a:xfrm>
            <a:off x="1625600" y="2235200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4" h="90">
                <a:moveTo>
                  <a:pt x="2" y="0"/>
                </a:moveTo>
                <a:lnTo>
                  <a:pt x="2" y="90"/>
                </a:lnTo>
              </a:path>
            </a:pathLst>
          </a:custGeom>
          <a:noFill/>
          <a:ln w="38100">
            <a:solidFill>
              <a:srgbClr val="C96F16"/>
            </a:solidFill>
            <a:tailEnd type="arrow"/>
          </a:ln>
        </p:spPr>
      </p:sp>
      <p:sp>
        <p:nvSpPr>
          <p:cNvPr id="12" name="w1-label"/>
          <p:cNvSpPr txBox="1"/>
          <p:nvPr/>
        </p:nvSpPr>
        <p:spPr>
          <a:xfrm>
            <a:off x="1803400" y="28194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6F16"/>
                </a:solidFill>
                <a:latin typeface="MiSans"/>
                <a:ea typeface="MiSans"/>
              </a:rPr>
              <a:t>50 N</a:t>
            </a:r>
            <a:endParaRPr lang="en-US" sz="1300" noProof="1"/>
          </a:p>
        </p:txBody>
      </p:sp>
      <p:sp>
        <p:nvSpPr>
          <p:cNvPr id="13" name="w2-arrow"/>
          <p:cNvSpPr/>
          <p:nvPr>
            <p:extLst>
              <p:ext uri="{F5677B7D-0D2A-4D9B-9A5C-6D8D7D0E5A5D}">
                <pptd:line encoding="base64url">eyJ2aWV3Qm94IjpbNCw2MF0sInBvaW50cyI6IjIsMCAyLDYwIiwiY3VydmUiOiJzaGFycCJ9</pptd:line>
              </p:ext>
            </p:extLst>
          </p:nvPr>
        </p:nvSpPr>
        <p:spPr>
          <a:xfrm>
            <a:off x="4546600" y="26162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4" h="60">
                <a:moveTo>
                  <a:pt x="2" y="0"/>
                </a:moveTo>
                <a:lnTo>
                  <a:pt x="2" y="60"/>
                </a:lnTo>
              </a:path>
            </a:pathLst>
          </a:custGeom>
          <a:noFill/>
          <a:ln w="38100">
            <a:solidFill>
              <a:srgbClr val="C96F16"/>
            </a:solidFill>
            <a:tailEnd type="arrow"/>
          </a:ln>
        </p:spPr>
      </p:sp>
      <p:sp>
        <p:nvSpPr>
          <p:cNvPr id="14" name="w2-label"/>
          <p:cNvSpPr txBox="1"/>
          <p:nvPr/>
        </p:nvSpPr>
        <p:spPr>
          <a:xfrm>
            <a:off x="4191000" y="2311400"/>
            <a:ext cx="1016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6F16"/>
                </a:solidFill>
                <a:latin typeface="MiSans"/>
                <a:ea typeface="MiSans"/>
              </a:rPr>
              <a:t>30 N</a:t>
            </a:r>
            <a:endParaRPr lang="en-US" sz="1300" noProof="1"/>
          </a:p>
        </p:txBody>
      </p:sp>
      <p:sp>
        <p:nvSpPr>
          <p:cNvPr id="15" name="f-arrow"/>
          <p:cNvSpPr/>
          <p:nvPr>
            <p:extLst>
              <p:ext uri="{F5677B7D-0D2A-4D9B-9A5C-6D8D7D0E5A5D}">
                <pptd:line encoding="base64url">eyJ2aWV3Qm94IjpbNCw5MF0sInBvaW50cyI6IjIsMCAyLDkwIiwiY3VydmUiOiJzaGFycCJ9</pptd:line>
              </p:ext>
            </p:extLst>
          </p:nvPr>
        </p:nvSpPr>
        <p:spPr>
          <a:xfrm>
            <a:off x="10007600" y="2235200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4" h="90">
                <a:moveTo>
                  <a:pt x="2" y="0"/>
                </a:moveTo>
                <a:lnTo>
                  <a:pt x="2" y="90"/>
                </a:lnTo>
              </a:path>
            </a:pathLst>
          </a:custGeom>
          <a:noFill/>
          <a:ln w="38100">
            <a:solidFill>
              <a:srgbClr val="0E5A55"/>
            </a:solidFill>
            <a:tailEnd type="arrow"/>
          </a:ln>
        </p:spPr>
      </p:sp>
      <p:sp>
        <p:nvSpPr>
          <p:cNvPr id="16" name="f-label"/>
          <p:cNvSpPr txBox="1"/>
          <p:nvPr/>
        </p:nvSpPr>
        <p:spPr>
          <a:xfrm>
            <a:off x="9042400" y="28194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F = ?</a:t>
            </a:r>
            <a:endParaRPr lang="en-US" sz="1300" noProof="1"/>
          </a:p>
        </p:txBody>
      </p:sp>
      <p:sp>
        <p:nvSpPr>
          <p:cNvPr id="17" name="sup-arrow"/>
          <p:cNvSpPr/>
          <p:nvPr>
            <p:extLst>
              <p:ext uri="{F5677B7D-0D2A-4D9B-9A5C-6D8D7D0E5A5D}">
                <pptd:line encoding="base64url">eyJ2aWV3Qm94IjpbNCw1Ml0sInBvaW50cyI6IjIsNTIgMiwwIiwiY3VydmUiOiJzaGFycCJ9</pptd:line>
              </p:ext>
            </p:extLst>
          </p:nvPr>
        </p:nvSpPr>
        <p:spPr>
          <a:xfrm>
            <a:off x="5816600" y="27178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4" h="52">
                <a:moveTo>
                  <a:pt x="2" y="52"/>
                </a:moveTo>
                <a:lnTo>
                  <a:pt x="2" y="0"/>
                </a:lnTo>
              </a:path>
            </a:pathLst>
          </a:custGeom>
          <a:noFill/>
          <a:ln w="31750">
            <a:solidFill>
              <a:srgbClr val="6E6A62"/>
            </a:solidFill>
            <a:tailEnd type="arrow"/>
          </a:ln>
        </p:spPr>
      </p:sp>
      <p:sp>
        <p:nvSpPr>
          <p:cNvPr id="18" name="sup-label"/>
          <p:cNvSpPr txBox="1"/>
          <p:nvPr/>
        </p:nvSpPr>
        <p:spPr>
          <a:xfrm>
            <a:off x="5994400" y="2794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12 N（力臂=0）</a:t>
            </a:r>
            <a:endParaRPr lang="en-US" sz="1150" noProof="1"/>
          </a:p>
        </p:txBody>
      </p:sp>
      <p:sp>
        <p:nvSpPr>
          <p:cNvPr id="19" name="d1-label"/>
          <p:cNvSpPr txBox="1"/>
          <p:nvPr/>
        </p:nvSpPr>
        <p:spPr>
          <a:xfrm>
            <a:off x="2540000" y="3657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3.5 m</a:t>
            </a:r>
            <a:endParaRPr lang="en-US" sz="1150" noProof="1"/>
          </a:p>
        </p:txBody>
      </p:sp>
      <p:sp>
        <p:nvSpPr>
          <p:cNvPr id="20" name="d2-label"/>
          <p:cNvSpPr txBox="1"/>
          <p:nvPr/>
        </p:nvSpPr>
        <p:spPr>
          <a:xfrm>
            <a:off x="4902200" y="3657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1.0 m</a:t>
            </a:r>
            <a:endParaRPr lang="en-US" sz="1150" noProof="1"/>
          </a:p>
        </p:txBody>
      </p:sp>
      <p:sp>
        <p:nvSpPr>
          <p:cNvPr id="21" name="d3-label"/>
          <p:cNvSpPr txBox="1"/>
          <p:nvPr/>
        </p:nvSpPr>
        <p:spPr>
          <a:xfrm>
            <a:off x="7620000" y="3657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3.5 m</a:t>
            </a:r>
            <a:endParaRPr lang="en-US" sz="1150" noProof="1"/>
          </a:p>
        </p:txBody>
      </p:sp>
      <p:sp>
        <p:nvSpPr>
          <p:cNvPr id="22" name="solve-head"/>
          <p:cNvSpPr txBox="1"/>
          <p:nvPr/>
        </p:nvSpPr>
        <p:spPr>
          <a:xfrm>
            <a:off x="1397000" y="42672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对 A 点取力矩（12 N 的力臂为 0，自动消去）</a:t>
            </a:r>
            <a:endParaRPr lang="en-US" sz="1500" noProof="1"/>
          </a:p>
        </p:txBody>
      </p:sp>
      <p:sp>
        <p:nvSpPr>
          <p:cNvPr id="23" name="solve-body"/>
          <p:cNvSpPr txBox="1"/>
          <p:nvPr/>
        </p:nvSpPr>
        <p:spPr>
          <a:xfrm>
            <a:off x="1397000" y="4622800"/>
            <a:ext cx="939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顺时针力矩：3.5 × F　　逆时针力矩：(3.5 × 50) + (1.0 × 30) = 205 N·m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3.5F = 205　→　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 = 58.6 N</a:t>
            </a:r>
            <a:endParaRPr lang="en-US" sz="135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规范步骤：① 标出所有力与力臂 → ② 选支点（优先未知力处）→ ③ 分列顺/逆时针力矩 → ④ 令两边相等求解</a:t>
            </a:r>
            <a:endParaRPr lang="en-US" sz="1350" noProof="1"/>
          </a:p>
        </p:txBody>
      </p:sp>
      <p:sp>
        <p:nvSpPr>
          <p:cNvPr id="2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4.2 · EQUILIBRIUM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平衡的两个条件，缺一不可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No resultant force AND no resultant torque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ond1-box"/>
          <p:cNvSpPr/>
          <p:nvPr/>
        </p:nvSpPr>
        <p:spPr>
          <a:xfrm>
            <a:off x="762000" y="1676400"/>
            <a:ext cx="51435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cond1-text"/>
          <p:cNvSpPr txBox="1"/>
          <p:nvPr/>
        </p:nvSpPr>
        <p:spPr>
          <a:xfrm>
            <a:off x="965200" y="1803400"/>
            <a:ext cx="47371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条件 ①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No resultant force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合力为零（∑F = 0）→ 物体不加速平动。</a:t>
            </a:r>
            <a:endParaRPr lang="en-US" sz="1300" noProof="1"/>
          </a:p>
        </p:txBody>
      </p:sp>
      <p:sp>
        <p:nvSpPr>
          <p:cNvPr id="8" name="cond2-box"/>
          <p:cNvSpPr/>
          <p:nvPr/>
        </p:nvSpPr>
        <p:spPr>
          <a:xfrm>
            <a:off x="6286500" y="1676400"/>
            <a:ext cx="51435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cond2-text"/>
          <p:cNvSpPr txBox="1"/>
          <p:nvPr/>
        </p:nvSpPr>
        <p:spPr>
          <a:xfrm>
            <a:off x="6489700" y="1803400"/>
            <a:ext cx="47371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条件 ②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No resultant torque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合力矩为零（∑M = 0）→ 物体不转动。</a:t>
            </a:r>
            <a:endParaRPr lang="en-US" sz="1300" noProof="1"/>
          </a:p>
        </p:txBody>
      </p:sp>
      <p:sp>
        <p:nvSpPr>
          <p:cNvPr id="10" name="warn-body"/>
          <p:cNvSpPr txBox="1"/>
          <p:nvPr/>
        </p:nvSpPr>
        <p:spPr>
          <a:xfrm>
            <a:off x="762000" y="304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简答题 "state the conditions for equilibrium" 只答 "forces are balanced" 只得一半分——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两条都必须写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。反例：力偶合力为零，但物体照样转。</a:t>
            </a:r>
            <a:endParaRPr lang="en-US" sz="1250" noProof="1"/>
          </a:p>
        </p:txBody>
      </p:sp>
      <p:sp>
        <p:nvSpPr>
          <p:cNvPr id="11" name="h2"/>
          <p:cNvSpPr txBox="1"/>
          <p:nvPr/>
        </p:nvSpPr>
        <p:spPr>
          <a:xfrm>
            <a:off x="762000" y="3810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如何证明物体平衡？</a:t>
            </a:r>
            <a:endParaRPr lang="en-US" sz="1500" noProof="1"/>
          </a:p>
        </p:txBody>
      </p:sp>
      <p:sp>
        <p:nvSpPr>
          <p:cNvPr id="12" name="b2"/>
          <p:cNvSpPr txBox="1"/>
          <p:nvPr/>
        </p:nvSpPr>
        <p:spPr>
          <a:xfrm>
            <a:off x="762000" y="41656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分量法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：把所有力分解到水平、竖直方向，证明两个方向分量之和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均为零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力三角形法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：若只受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 个共面力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，首尾相接画比例图，构成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闭合三角形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则合力为零。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推论：三力平衡时作用线必共点（concurrent）。</a:t>
            </a:r>
            <a:endParaRPr lang="en-US" sz="1350" noProof="1"/>
          </a:p>
        </p:txBody>
      </p:sp>
      <p:sp>
        <p:nvSpPr>
          <p:cNvPr id="13" name="tri-l1"/>
          <p:cNvSpPr/>
          <p:nvPr>
            <p:extLst>
              <p:ext uri="{F5677B7D-0D2A-4D9B-9A5C-6D8D7D0E5A5D}">
                <pptd:line encoding="base64url">eyJ2aWV3Qm94IjpbMTIwLDRdLCJwb2ludHMiOiIwLDIgMTIwLDIiLCJjdXJ2ZSI6InNoYXJwIn0</pptd:line>
              </p:ext>
            </p:extLst>
          </p:nvPr>
        </p:nvSpPr>
        <p:spPr>
          <a:xfrm>
            <a:off x="7874000" y="3810000"/>
            <a:ext cx="1524000" cy="50800"/>
          </a:xfrm>
          <a:custGeom>
            <a:avLst/>
            <a:gdLst/>
            <a:ahLst/>
            <a:cxnLst/>
            <a:rect l="l" t="t" r="r" b="b"/>
            <a:pathLst>
              <a:path w="120" h="4">
                <a:moveTo>
                  <a:pt x="0" y="2"/>
                </a:moveTo>
                <a:lnTo>
                  <a:pt x="120" y="2"/>
                </a:lnTo>
              </a:path>
            </a:pathLst>
          </a:custGeom>
          <a:noFill/>
          <a:ln w="31750">
            <a:solidFill>
              <a:srgbClr val="0E5A55"/>
            </a:solidFill>
            <a:tailEnd type="arrow"/>
          </a:ln>
        </p:spPr>
      </p:sp>
      <p:sp>
        <p:nvSpPr>
          <p:cNvPr id="14" name="tri-l2"/>
          <p:cNvSpPr/>
          <p:nvPr>
            <p:extLst>
              <p:ext uri="{F5677B7D-0D2A-4D9B-9A5C-6D8D7D0E5A5D}">
                <pptd:line encoding="base64url">eyJ2aWV3Qm94IjpbNCw5MF0sInBvaW50cyI6IjIsMCAyLDkwIiwiY3VydmUiOiJzaGFycCJ9</pptd:line>
              </p:ext>
            </p:extLst>
          </p:nvPr>
        </p:nvSpPr>
        <p:spPr>
          <a:xfrm>
            <a:off x="9372600" y="3835400"/>
            <a:ext cx="50800" cy="1143000"/>
          </a:xfrm>
          <a:custGeom>
            <a:avLst/>
            <a:gdLst/>
            <a:ahLst/>
            <a:cxnLst/>
            <a:rect l="l" t="t" r="r" b="b"/>
            <a:pathLst>
              <a:path w="4" h="90">
                <a:moveTo>
                  <a:pt x="2" y="0"/>
                </a:moveTo>
                <a:lnTo>
                  <a:pt x="2" y="90"/>
                </a:lnTo>
              </a:path>
            </a:pathLst>
          </a:custGeom>
          <a:noFill/>
          <a:ln w="31750">
            <a:solidFill>
              <a:srgbClr val="C96F16"/>
            </a:solidFill>
            <a:tailEnd type="arrow"/>
          </a:ln>
        </p:spPr>
      </p:sp>
      <p:sp>
        <p:nvSpPr>
          <p:cNvPr id="15" name="tri-l3"/>
          <p:cNvSpPr/>
          <p:nvPr>
            <p:extLst>
              <p:ext uri="{F5677B7D-0D2A-4D9B-9A5C-6D8D7D0E5A5D}">
                <pptd:line encoding="base64url">eyJ2aWV3Qm94IjpbMTMwLDEwMl0sInBvaW50cyI6IjEyNiw5OCA0LDQiLCJjdXJ2ZSI6InNoYXJwIn0</pptd:line>
              </p:ext>
            </p:extLst>
          </p:nvPr>
        </p:nvSpPr>
        <p:spPr>
          <a:xfrm>
            <a:off x="7823200" y="3759200"/>
            <a:ext cx="1651000" cy="1295400"/>
          </a:xfrm>
          <a:custGeom>
            <a:avLst/>
            <a:gdLst/>
            <a:ahLst/>
            <a:cxnLst/>
            <a:rect l="l" t="t" r="r" b="b"/>
            <a:pathLst>
              <a:path w="130" h="102">
                <a:moveTo>
                  <a:pt x="126" y="98"/>
                </a:moveTo>
                <a:lnTo>
                  <a:pt x="4" y="4"/>
                </a:lnTo>
              </a:path>
            </a:pathLst>
          </a:custGeom>
          <a:noFill/>
          <a:ln w="31750">
            <a:solidFill>
              <a:srgbClr val="22303A"/>
            </a:solidFill>
            <a:tailEnd type="arrow"/>
          </a:ln>
        </p:spPr>
      </p:sp>
      <p:sp>
        <p:nvSpPr>
          <p:cNvPr id="16" name="tri-lb1"/>
          <p:cNvSpPr txBox="1"/>
          <p:nvPr/>
        </p:nvSpPr>
        <p:spPr>
          <a:xfrm>
            <a:off x="8255000" y="3530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F₁</a:t>
            </a:r>
            <a:endParaRPr lang="en-US" sz="1200" noProof="1"/>
          </a:p>
        </p:txBody>
      </p:sp>
      <p:sp>
        <p:nvSpPr>
          <p:cNvPr id="17" name="tri-lb2"/>
          <p:cNvSpPr txBox="1"/>
          <p:nvPr/>
        </p:nvSpPr>
        <p:spPr>
          <a:xfrm>
            <a:off x="9525000" y="4292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F₂</a:t>
            </a:r>
            <a:endParaRPr lang="en-US" sz="1200" noProof="1"/>
          </a:p>
        </p:txBody>
      </p:sp>
      <p:sp>
        <p:nvSpPr>
          <p:cNvPr id="18" name="tri-lb3"/>
          <p:cNvSpPr txBox="1"/>
          <p:nvPr/>
        </p:nvSpPr>
        <p:spPr>
          <a:xfrm>
            <a:off x="8077200" y="4445000"/>
            <a:ext cx="1016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F₃</a:t>
            </a:r>
            <a:endParaRPr lang="en-US" sz="1200" noProof="1"/>
          </a:p>
        </p:txBody>
      </p:sp>
      <p:sp>
        <p:nvSpPr>
          <p:cNvPr id="19" name="tri-caption"/>
          <p:cNvSpPr txBox="1"/>
          <p:nvPr/>
        </p:nvSpPr>
        <p:spPr>
          <a:xfrm>
            <a:off x="7366000" y="52832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三个共面力首尾相接构成闭合三角形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→ 合力为零，物体处于平衡。</a:t>
            </a:r>
            <a:endParaRPr lang="en-US" sz="110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4.3 · DENSITY AND PRESSURE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密度与压强：两个定义式，注意单位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ρ = m/V and p = F/A — definitions you must state precisely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-box"/>
          <p:cNvSpPr/>
          <p:nvPr/>
        </p:nvSpPr>
        <p:spPr>
          <a:xfrm>
            <a:off x="762000" y="1676400"/>
            <a:ext cx="5143500" cy="1905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-head"/>
          <p:cNvSpPr txBox="1"/>
          <p:nvPr/>
        </p:nvSpPr>
        <p:spPr>
          <a:xfrm>
            <a:off x="9652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密度 Density</a:t>
            </a:r>
            <a:endParaRPr lang="en-US" sz="1500" noProof="1"/>
          </a:p>
        </p:txBody>
      </p:sp>
      <p:sp>
        <p:nvSpPr>
          <p:cNvPr id="8" name="d-body"/>
          <p:cNvSpPr txBox="1"/>
          <p:nvPr/>
        </p:nvSpPr>
        <p:spPr>
          <a:xfrm>
            <a:off x="965200" y="2184400"/>
            <a:ext cx="47371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ρ = m/V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单位体积的质量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单位：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kg/m³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（不是 g/cm³！）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参考值：水 1000 kg/m³ · 空气约 1.2 kg/m³</a:t>
            </a:r>
            <a:endParaRPr lang="en-US" sz="1300" noProof="1"/>
          </a:p>
        </p:txBody>
      </p:sp>
      <p:sp>
        <p:nvSpPr>
          <p:cNvPr id="9" name="p-box"/>
          <p:cNvSpPr/>
          <p:nvPr/>
        </p:nvSpPr>
        <p:spPr>
          <a:xfrm>
            <a:off x="6286500" y="1676400"/>
            <a:ext cx="5143500" cy="1905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p-head"/>
          <p:cNvSpPr txBox="1"/>
          <p:nvPr/>
        </p:nvSpPr>
        <p:spPr>
          <a:xfrm>
            <a:off x="6489700" y="1803400"/>
            <a:ext cx="47371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压强 Pressure</a:t>
            </a:r>
            <a:endParaRPr lang="en-US" sz="1500" noProof="1"/>
          </a:p>
        </p:txBody>
      </p:sp>
      <p:sp>
        <p:nvSpPr>
          <p:cNvPr id="11" name="p-body"/>
          <p:cNvSpPr txBox="1"/>
          <p:nvPr/>
        </p:nvSpPr>
        <p:spPr>
          <a:xfrm>
            <a:off x="6489700" y="2184400"/>
            <a:ext cx="47371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p = F/A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垂直力 ÷ 受力面积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单位：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Pa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（帕斯卡），1 Pa = 1 N/m²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F 必须取垂直于表面的分量</a:t>
            </a:r>
            <a:endParaRPr lang="en-US" sz="1300" noProof="1"/>
          </a:p>
        </p:txBody>
      </p:sp>
      <p:sp>
        <p:nvSpPr>
          <p:cNvPr id="12" name="h2"/>
          <p:cNvSpPr txBox="1"/>
          <p:nvPr/>
        </p:nvSpPr>
        <p:spPr>
          <a:xfrm>
            <a:off x="762000" y="3886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考场上的三个提醒</a:t>
            </a:r>
            <a:endParaRPr lang="en-US" sz="1500" noProof="1"/>
          </a:p>
        </p:txBody>
      </p:sp>
      <p:sp>
        <p:nvSpPr>
          <p:cNvPr id="13" name="tip1"/>
          <p:cNvSpPr txBox="1"/>
          <p:nvPr/>
        </p:nvSpPr>
        <p:spPr>
          <a:xfrm>
            <a:off x="762000" y="4292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斜面上的压力不是 mg：垂直斜面的分力是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mg cos θ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，先分解再代入 p = F/A。</a:t>
            </a:r>
            <a:endParaRPr lang="en-US" sz="1350" noProof="1"/>
          </a:p>
        </p:txBody>
      </p:sp>
      <p:sp>
        <p:nvSpPr>
          <p:cNvPr id="14" name="tip2"/>
          <p:cNvSpPr txBox="1"/>
          <p:nvPr/>
        </p:nvSpPr>
        <p:spPr>
          <a:xfrm>
            <a:off x="762000" y="4851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面积换算是隐形坑：cm² → m² 要 ×10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−4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，cm³ → m³ 要 ×10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−6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，漏换算答案直接错 10000 倍。</a:t>
            </a:r>
            <a:endParaRPr lang="en-US" sz="1350" noProof="1"/>
          </a:p>
        </p:txBody>
      </p:sp>
      <p:sp>
        <p:nvSpPr>
          <p:cNvPr id="15" name="tip3"/>
          <p:cNvSpPr txBox="1"/>
          <p:nvPr/>
        </p:nvSpPr>
        <p:spPr>
          <a:xfrm>
            <a:off x="762000" y="5410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密度是物质属性，与物体大小无关——同一材料切一半，密度不变。</a:t>
            </a:r>
            <a:endParaRPr lang="en-US" sz="13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4.3 · DERIVATION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亲手推导 Δp = ρgΔh：四步逻辑链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Volume → mass → weight → pressure — a favourite "show that" question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1-badge"/>
          <p:cNvSpPr/>
          <p:nvPr/>
        </p:nvSpPr>
        <p:spPr>
          <a:xfrm>
            <a:off x="762000" y="17018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s1-num"/>
          <p:cNvSpPr txBox="1"/>
          <p:nvPr/>
        </p:nvSpPr>
        <p:spPr>
          <a:xfrm>
            <a:off x="762000" y="17018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500" noProof="1"/>
          </a:p>
        </p:txBody>
      </p:sp>
      <p:sp>
        <p:nvSpPr>
          <p:cNvPr id="8" name="s1-body"/>
          <p:cNvSpPr txBox="1"/>
          <p:nvPr/>
        </p:nvSpPr>
        <p:spPr>
          <a:xfrm>
            <a:off x="1397000" y="17018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液柱体积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取底面积 A、高 h 的液柱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 = A × h</a:t>
            </a:r>
            <a:endParaRPr lang="en-US" sz="1300" noProof="1"/>
          </a:p>
        </p:txBody>
      </p:sp>
      <p:sp>
        <p:nvSpPr>
          <p:cNvPr id="9" name="s2-badge"/>
          <p:cNvSpPr/>
          <p:nvPr/>
        </p:nvSpPr>
        <p:spPr>
          <a:xfrm>
            <a:off x="762000" y="25908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s2-num"/>
          <p:cNvSpPr txBox="1"/>
          <p:nvPr/>
        </p:nvSpPr>
        <p:spPr>
          <a:xfrm>
            <a:off x="762000" y="25908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500" noProof="1"/>
          </a:p>
        </p:txBody>
      </p:sp>
      <p:sp>
        <p:nvSpPr>
          <p:cNvPr id="11" name="s2-body"/>
          <p:cNvSpPr txBox="1"/>
          <p:nvPr/>
        </p:nvSpPr>
        <p:spPr>
          <a:xfrm>
            <a:off x="1397000" y="25908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液柱质量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代入 m = ρV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m = ρ × A × h</a:t>
            </a:r>
            <a:endParaRPr lang="en-US" sz="1300" noProof="1"/>
          </a:p>
        </p:txBody>
      </p:sp>
      <p:sp>
        <p:nvSpPr>
          <p:cNvPr id="12" name="s3-badge"/>
          <p:cNvSpPr/>
          <p:nvPr/>
        </p:nvSpPr>
        <p:spPr>
          <a:xfrm>
            <a:off x="762000" y="34798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s3-num"/>
          <p:cNvSpPr txBox="1"/>
          <p:nvPr/>
        </p:nvSpPr>
        <p:spPr>
          <a:xfrm>
            <a:off x="762000" y="34798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500" noProof="1"/>
          </a:p>
        </p:txBody>
      </p:sp>
      <p:sp>
        <p:nvSpPr>
          <p:cNvPr id="14" name="s3-body"/>
          <p:cNvSpPr txBox="1"/>
          <p:nvPr/>
        </p:nvSpPr>
        <p:spPr>
          <a:xfrm>
            <a:off x="1397000" y="34798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液柱重量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代入 W = mg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W = ρ × A × h × g</a:t>
            </a:r>
            <a:endParaRPr lang="en-US" sz="1300" noProof="1"/>
          </a:p>
        </p:txBody>
      </p:sp>
      <p:sp>
        <p:nvSpPr>
          <p:cNvPr id="15" name="s4-badge"/>
          <p:cNvSpPr/>
          <p:nvPr/>
        </p:nvSpPr>
        <p:spPr>
          <a:xfrm>
            <a:off x="762000" y="43688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6" name="s4-num"/>
          <p:cNvSpPr txBox="1"/>
          <p:nvPr/>
        </p:nvSpPr>
        <p:spPr>
          <a:xfrm>
            <a:off x="762000" y="43688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4</a:t>
            </a:r>
            <a:endParaRPr lang="en-US" sz="1500" noProof="1"/>
          </a:p>
        </p:txBody>
      </p:sp>
      <p:sp>
        <p:nvSpPr>
          <p:cNvPr id="17" name="s4-body"/>
          <p:cNvSpPr txBox="1"/>
          <p:nvPr/>
        </p:nvSpPr>
        <p:spPr>
          <a:xfrm>
            <a:off x="1397000" y="4368800"/>
            <a:ext cx="5461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底面压强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代入 p = F/A，A 恰好约掉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p = W/A = ρAhg/A = ρgh</a:t>
            </a:r>
            <a:endParaRPr lang="en-US" sz="1300" noProof="1"/>
          </a:p>
        </p:txBody>
      </p:sp>
      <p:sp>
        <p:nvSpPr>
          <p:cNvPr id="18" name="result-box"/>
          <p:cNvSpPr/>
          <p:nvPr/>
        </p:nvSpPr>
        <p:spPr>
          <a:xfrm>
            <a:off x="762000" y="5410200"/>
            <a:ext cx="6096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result-text"/>
          <p:cNvSpPr txBox="1"/>
          <p:nvPr/>
        </p:nvSpPr>
        <p:spPr>
          <a:xfrm>
            <a:off x="965200" y="5511800"/>
            <a:ext cx="568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结论：</a:t>
            </a: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Δp = ρgΔh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压强只随深度与密度增大</a:t>
            </a:r>
            <a:endParaRPr lang="en-US" sz="1400" noProof="1"/>
          </a:p>
        </p:txBody>
      </p:sp>
      <p:sp>
        <p:nvSpPr>
          <p:cNvPr id="20" name="beaker"/>
          <p:cNvSpPr/>
          <p:nvPr/>
        </p:nvSpPr>
        <p:spPr>
          <a:xfrm>
            <a:off x="8128000" y="1905000"/>
            <a:ext cx="2794000" cy="3556000"/>
          </a:xfrm>
          <a:custGeom>
            <a:avLst/>
            <a:gdLst/>
            <a:ahLst/>
            <a:cxnLst/>
            <a:rect l="l" t="t" r="r" b="b"/>
            <a:pathLst>
              <a:path w="220" h="280">
                <a:moveTo>
                  <a:pt x="0" y="0"/>
                </a:moveTo>
                <a:lnTo>
                  <a:pt x="0" y="280"/>
                </a:lnTo>
                <a:lnTo>
                  <a:pt x="220" y="280"/>
                </a:lnTo>
                <a:lnTo>
                  <a:pt x="220" y="0"/>
                </a:lnTo>
              </a:path>
            </a:pathLst>
          </a:custGeom>
          <a:noFill/>
          <a:ln w="31750">
            <a:solidFill>
              <a:srgbClr val="22303A"/>
            </a:solidFill>
          </a:ln>
        </p:spPr>
      </p:sp>
      <p:sp>
        <p:nvSpPr>
          <p:cNvPr id="21" name="fluid"/>
          <p:cNvSpPr/>
          <p:nvPr/>
        </p:nvSpPr>
        <p:spPr>
          <a:xfrm>
            <a:off x="8166100" y="2667000"/>
            <a:ext cx="2717800" cy="2755900"/>
          </a:xfrm>
          <a:prstGeom prst="rect">
            <a:avLst/>
          </a:prstGeom>
          <a:solidFill>
            <a:srgbClr val="0E5A55">
              <a:alpha val="10196"/>
            </a:srgbClr>
          </a:solidFill>
          <a:ln>
            <a:noFill/>
          </a:ln>
        </p:spPr>
      </p:sp>
      <p:sp>
        <p:nvSpPr>
          <p:cNvPr id="22" name="column"/>
          <p:cNvSpPr/>
          <p:nvPr/>
        </p:nvSpPr>
        <p:spPr>
          <a:xfrm>
            <a:off x="8890000" y="3048000"/>
            <a:ext cx="1270000" cy="1905000"/>
          </a:xfrm>
          <a:prstGeom prst="rect">
            <a:avLst/>
          </a:prstGeom>
          <a:solidFill>
            <a:srgbClr val="0E5A55">
              <a:alpha val="20000"/>
            </a:srgbClr>
          </a:solidFill>
          <a:ln w="19050">
            <a:solidFill>
              <a:srgbClr val="0E5A55"/>
            </a:solidFill>
            <a:prstDash val="dash"/>
          </a:ln>
        </p:spPr>
      </p:sp>
      <p:sp>
        <p:nvSpPr>
          <p:cNvPr id="23" name="col-base"/>
          <p:cNvSpPr/>
          <p:nvPr>
            <p:extLst>
              <p:ext uri="{F5677B7D-0D2A-4D9B-9A5C-6D8D7D0E5A5D}">
                <pptd:line encoding="base64url">eyJ2aWV3Qm94IjpbMTAwLDRdLCJwb2ludHMiOiIwLDIgMTAwLDIiLCJjdXJ2ZSI6InNoYXJwIn0</pptd:line>
              </p:ext>
            </p:extLst>
          </p:nvPr>
        </p:nvSpPr>
        <p:spPr>
          <a:xfrm>
            <a:off x="8890000" y="4927600"/>
            <a:ext cx="1270000" cy="50800"/>
          </a:xfrm>
          <a:custGeom>
            <a:avLst/>
            <a:gdLst/>
            <a:ahLst/>
            <a:cxnLst/>
            <a:rect l="l" t="t" r="r" b="b"/>
            <a:pathLst>
              <a:path w="100" h="4">
                <a:moveTo>
                  <a:pt x="0" y="2"/>
                </a:moveTo>
                <a:lnTo>
                  <a:pt x="100" y="2"/>
                </a:lnTo>
              </a:path>
            </a:pathLst>
          </a:custGeom>
          <a:noFill/>
          <a:ln w="31750">
            <a:solidFill>
              <a:srgbClr val="C96F16"/>
            </a:solidFill>
          </a:ln>
        </p:spPr>
      </p:sp>
      <p:sp>
        <p:nvSpPr>
          <p:cNvPr id="24" name="lb-rho"/>
          <p:cNvSpPr txBox="1"/>
          <p:nvPr/>
        </p:nvSpPr>
        <p:spPr>
          <a:xfrm>
            <a:off x="8483600" y="2819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ρ</a:t>
            </a:r>
            <a:endParaRPr lang="en-US" sz="1250" noProof="1"/>
          </a:p>
        </p:txBody>
      </p:sp>
      <p:sp>
        <p:nvSpPr>
          <p:cNvPr id="25" name="lb-h"/>
          <p:cNvSpPr txBox="1"/>
          <p:nvPr/>
        </p:nvSpPr>
        <p:spPr>
          <a:xfrm>
            <a:off x="10312400" y="3810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h</a:t>
            </a:r>
            <a:endParaRPr lang="en-US" sz="1250" noProof="1"/>
          </a:p>
        </p:txBody>
      </p:sp>
      <p:sp>
        <p:nvSpPr>
          <p:cNvPr id="26" name="h-line"/>
          <p:cNvSpPr/>
          <p:nvPr>
            <p:extLst>
              <p:ext uri="{F5677B7D-0D2A-4D9B-9A5C-6D8D7D0E5A5D}">
                <pptd:line encoding="base64url">eyJ2aWV3Qm94IjpbNCwxNDZdLCJwb2ludHMiOiIyLDAgMiwxNDYiLCJjdXJ2ZSI6InNoYXJwIn0</pptd:line>
              </p:ext>
            </p:extLst>
          </p:nvPr>
        </p:nvSpPr>
        <p:spPr>
          <a:xfrm>
            <a:off x="10261600" y="3073400"/>
            <a:ext cx="50800" cy="1854200"/>
          </a:xfrm>
          <a:custGeom>
            <a:avLst/>
            <a:gdLst/>
            <a:ahLst/>
            <a:cxnLst/>
            <a:rect l="l" t="t" r="r" b="b"/>
            <a:pathLst>
              <a:path w="4" h="146">
                <a:moveTo>
                  <a:pt x="2" y="0"/>
                </a:moveTo>
                <a:lnTo>
                  <a:pt x="2" y="146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27" name="lb-A"/>
          <p:cNvSpPr txBox="1"/>
          <p:nvPr/>
        </p:nvSpPr>
        <p:spPr>
          <a:xfrm>
            <a:off x="9271000" y="5003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底面 A</a:t>
            </a:r>
            <a:endParaRPr lang="en-US" sz="1250" noProof="1"/>
          </a:p>
        </p:txBody>
      </p:sp>
      <p:sp>
        <p:nvSpPr>
          <p:cNvPr id="28" name="dia-caption"/>
          <p:cNvSpPr txBox="1"/>
          <p:nvPr/>
        </p:nvSpPr>
        <p:spPr>
          <a:xfrm>
            <a:off x="7620000" y="5664200"/>
            <a:ext cx="393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底面受到的压强来自上方液柱的重量，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面积 A 在 p = W/A 中约去，只剩 ρgh。</a:t>
            </a:r>
            <a:endParaRPr lang="en-US" sz="1100" noProof="1"/>
          </a:p>
        </p:txBody>
      </p:sp>
      <p:sp>
        <p:nvSpPr>
          <p:cNvPr id="29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30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31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4.3 · TOTAL PRESSURE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总压强 = 液体压强 + 大气压强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Δp = ρgΔh gives the pressure due to the liquid only — never forget the atmosphere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676400"/>
            <a:ext cx="6604000" cy="990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text"/>
          <p:cNvSpPr txBox="1"/>
          <p:nvPr/>
        </p:nvSpPr>
        <p:spPr>
          <a:xfrm>
            <a:off x="965200" y="1778000"/>
            <a:ext cx="619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例题：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石块沉入湖面下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15.0 m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深处，湖水密度 997 kg/m³，大气压 1.01 × 10</a:t>
            </a:r>
            <a:r>
              <a:rPr lang="en-US" sz="130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Pa。求石块受到的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总压强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 stone sinks 15.0 m below the surface of a lake. Find the total pressure on it.</a:t>
            </a:r>
            <a:endParaRPr lang="en-US" sz="1300" noProof="1"/>
          </a:p>
        </p:txBody>
      </p:sp>
      <p:sp>
        <p:nvSpPr>
          <p:cNvPr id="8" name="step1"/>
          <p:cNvSpPr txBox="1"/>
          <p:nvPr/>
        </p:nvSpPr>
        <p:spPr>
          <a:xfrm>
            <a:off x="762000" y="2895600"/>
            <a:ext cx="660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第一步：水的压强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Δp = ρgΔh = 997 × 9.81 × 15.0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1.47 × 10</a:t>
            </a:r>
            <a:r>
              <a:rPr lang="en-US" sz="1350" noProof="1" b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 Pa</a:t>
            </a:r>
            <a:endParaRPr lang="en-US" sz="1350" noProof="1"/>
          </a:p>
        </p:txBody>
      </p:sp>
      <p:sp>
        <p:nvSpPr>
          <p:cNvPr id="9" name="step2"/>
          <p:cNvSpPr txBox="1"/>
          <p:nvPr/>
        </p:nvSpPr>
        <p:spPr>
          <a:xfrm>
            <a:off x="762000" y="3835400"/>
            <a:ext cx="660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第二步：加上大气压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p_total = 1.47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+ 1.01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2.48 × 10</a:t>
            </a:r>
            <a:r>
              <a:rPr lang="en-US" sz="1350" noProof="1" b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 Pa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4902200"/>
            <a:ext cx="6604000" cy="1092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003800"/>
            <a:ext cx="6197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高频易错：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题目给了大气压数据，就是暗示要加！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读题看清问的是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total pressure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（要加）还是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pressure due to the water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（不加）——漏加大气压是本章扣分率最高的错误之一。</a:t>
            </a:r>
            <a:endParaRPr lang="en-US" sz="1250" noProof="1"/>
          </a:p>
        </p:txBody>
      </p:sp>
      <p:sp>
        <p:nvSpPr>
          <p:cNvPr id="12" name="surface"/>
          <p:cNvSpPr/>
          <p:nvPr>
            <p:extLst>
              <p:ext uri="{F5677B7D-0D2A-4D9B-9A5C-6D8D7D0E5A5D}">
                <pptd:line encoding="base64url">eyJ2aWV3Qm94IjpbMjYwLDRdLCJwb2ludHMiOiIwLDIgMjYwLDIiLCJjdXJ2ZSI6InNoYXJwIn0</pptd:line>
              </p:ext>
            </p:extLst>
          </p:nvPr>
        </p:nvSpPr>
        <p:spPr>
          <a:xfrm>
            <a:off x="8128000" y="2413000"/>
            <a:ext cx="3302000" cy="50800"/>
          </a:xfrm>
          <a:custGeom>
            <a:avLst/>
            <a:gdLst/>
            <a:ahLst/>
            <a:cxnLst/>
            <a:rect l="l" t="t" r="r" b="b"/>
            <a:pathLst>
              <a:path w="260" h="4">
                <a:moveTo>
                  <a:pt x="0" y="2"/>
                </a:moveTo>
                <a:lnTo>
                  <a:pt x="260" y="2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3" name="water"/>
          <p:cNvSpPr/>
          <p:nvPr/>
        </p:nvSpPr>
        <p:spPr>
          <a:xfrm>
            <a:off x="8128000" y="2463800"/>
            <a:ext cx="3302000" cy="2921000"/>
          </a:xfrm>
          <a:prstGeom prst="rect">
            <a:avLst/>
          </a:prstGeom>
          <a:solidFill>
            <a:srgbClr val="0E5A55">
              <a:alpha val="10196"/>
            </a:srgbClr>
          </a:solidFill>
          <a:ln>
            <a:noFill/>
          </a:ln>
        </p:spPr>
      </p:sp>
      <p:sp>
        <p:nvSpPr>
          <p:cNvPr id="14" name="atm-label"/>
          <p:cNvSpPr txBox="1"/>
          <p:nvPr/>
        </p:nvSpPr>
        <p:spPr>
          <a:xfrm>
            <a:off x="8128000" y="20574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6E6A62"/>
                </a:solidFill>
                <a:latin typeface="MiSans"/>
                <a:ea typeface="MiSans"/>
              </a:rPr>
              <a:t>大气压 1.01 × 10⁵ Pa</a:t>
            </a:r>
            <a:endParaRPr lang="en-US" sz="1200" noProof="1"/>
          </a:p>
        </p:txBody>
      </p:sp>
      <p:sp>
        <p:nvSpPr>
          <p:cNvPr id="15" name="depth-line"/>
          <p:cNvSpPr/>
          <p:nvPr>
            <p:extLst>
              <p:ext uri="{F5677B7D-0D2A-4D9B-9A5C-6D8D7D0E5A5D}">
                <pptd:line encoding="base64url">eyJ2aWV3Qm94IjpbNCwyMDRdLCJwb2ludHMiOiIyLDAgMiwyMDQiLCJjdXJ2ZSI6InNoYXJwIn0</pptd:line>
              </p:ext>
            </p:extLst>
          </p:nvPr>
        </p:nvSpPr>
        <p:spPr>
          <a:xfrm>
            <a:off x="8483600" y="2489200"/>
            <a:ext cx="50800" cy="2590800"/>
          </a:xfrm>
          <a:custGeom>
            <a:avLst/>
            <a:gdLst/>
            <a:ahLst/>
            <a:cxnLst/>
            <a:rect l="l" t="t" r="r" b="b"/>
            <a:pathLst>
              <a:path w="4" h="204">
                <a:moveTo>
                  <a:pt x="2" y="0"/>
                </a:moveTo>
                <a:lnTo>
                  <a:pt x="2" y="204"/>
                </a:lnTo>
              </a:path>
            </a:pathLst>
          </a:custGeom>
          <a:noFill/>
          <a:ln w="19050">
            <a:solidFill>
              <a:srgbClr val="0E5A55"/>
            </a:solidFill>
            <a:prstDash val="dash"/>
          </a:ln>
        </p:spPr>
      </p:sp>
      <p:sp>
        <p:nvSpPr>
          <p:cNvPr id="16" name="depth-label"/>
          <p:cNvSpPr txBox="1"/>
          <p:nvPr/>
        </p:nvSpPr>
        <p:spPr>
          <a:xfrm>
            <a:off x="8636000" y="3556000"/>
            <a:ext cx="1143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E5A55"/>
                </a:solidFill>
                <a:latin typeface="MiSans"/>
                <a:ea typeface="MiSans"/>
              </a:rPr>
              <a:t>15.0 m</a:t>
            </a:r>
            <a:endParaRPr lang="en-US" sz="1250" noProof="1"/>
          </a:p>
        </p:txBody>
      </p:sp>
      <p:sp>
        <p:nvSpPr>
          <p:cNvPr id="17" name="stone"/>
          <p:cNvSpPr/>
          <p:nvPr/>
        </p:nvSpPr>
        <p:spPr>
          <a:xfrm>
            <a:off x="9398000" y="4902200"/>
            <a:ext cx="508000" cy="3556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8" name="stone-label"/>
          <p:cNvSpPr txBox="1"/>
          <p:nvPr/>
        </p:nvSpPr>
        <p:spPr>
          <a:xfrm>
            <a:off x="10007600" y="49530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石块 stone</a:t>
            </a:r>
            <a:endParaRPr lang="en-US" sz="1200" noProof="1"/>
          </a:p>
        </p:txBody>
      </p:sp>
      <p:sp>
        <p:nvSpPr>
          <p:cNvPr id="19" name="dia-caption"/>
          <p:cNvSpPr txBox="1"/>
          <p:nvPr/>
        </p:nvSpPr>
        <p:spPr>
          <a:xfrm>
            <a:off x="7874000" y="5588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石块头顶既有 15 m 水柱，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水面上还压着整个大气层。</a:t>
            </a:r>
            <a:endParaRPr lang="en-US" sz="110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4.3 · UPTHRUST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浮力的本质：上下表面的压力差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Archimedes' principle — upthrust equals the weight of fluid displaced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浮力从哪里来？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浸没的圆柱体，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底部更深 → 底部压强更大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（Δp = ρgΔh）。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上下两面面积相等，由 F = pA，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底面向上的力 &gt; 顶面向下的力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，合力向上——这就是浮力（upthrust）。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浮力不是"额外的神秘力"，本质是压强随深度增加造成的压力差。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632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阿基米德原理 Archimedes' Principle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3987800"/>
            <a:ext cx="5969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排开液体的重量 = 物体受到的浮力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 = ρgV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ρ 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液体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密度，V 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排开液体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的体积。</a:t>
            </a:r>
            <a:endParaRPr lang="en-US" sz="1350" noProof="1"/>
          </a:p>
        </p:txBody>
      </p:sp>
      <p:sp>
        <p:nvSpPr>
          <p:cNvPr id="10" name="warn-box"/>
          <p:cNvSpPr/>
          <p:nvPr/>
        </p:nvSpPr>
        <p:spPr>
          <a:xfrm>
            <a:off x="762000" y="5080000"/>
            <a:ext cx="5969000" cy="990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body"/>
          <p:cNvSpPr txBox="1"/>
          <p:nvPr/>
        </p:nvSpPr>
        <p:spPr>
          <a:xfrm>
            <a:off x="965200" y="5181600"/>
            <a:ext cx="5562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ρ 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液体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密度，不是物体密度；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部分浸没时 V 小于物体体积；③ 浮沉判断：比较 ρ_物 与 ρ_液。</a:t>
            </a:r>
            <a:endParaRPr lang="en-US" sz="1250" noProof="1"/>
          </a:p>
        </p:txBody>
      </p:sp>
      <p:sp>
        <p:nvSpPr>
          <p:cNvPr id="12" name="water"/>
          <p:cNvSpPr/>
          <p:nvPr/>
        </p:nvSpPr>
        <p:spPr>
          <a:xfrm>
            <a:off x="8001000" y="2159000"/>
            <a:ext cx="3556000" cy="3175000"/>
          </a:xfrm>
          <a:prstGeom prst="rect">
            <a:avLst/>
          </a:prstGeom>
          <a:solidFill>
            <a:srgbClr val="0E5A55">
              <a:alpha val="10196"/>
            </a:srgbClr>
          </a:solidFill>
          <a:ln>
            <a:noFill/>
          </a:ln>
        </p:spPr>
      </p:sp>
      <p:sp>
        <p:nvSpPr>
          <p:cNvPr id="13" name="surface"/>
          <p:cNvSpPr/>
          <p:nvPr>
            <p:extLst>
              <p:ext uri="{F5677B7D-0D2A-4D9B-9A5C-6D8D7D0E5A5D}">
                <pptd:line encoding="base64url">eyJ2aWV3Qm94IjpbMjgwLDRdLCJwb2ludHMiOiIwLDIgMjgwLDIiLCJjdXJ2ZSI6InNoYXJwIn0</pptd:line>
              </p:ext>
            </p:extLst>
          </p:nvPr>
        </p:nvSpPr>
        <p:spPr>
          <a:xfrm>
            <a:off x="8001000" y="2159000"/>
            <a:ext cx="3556000" cy="50800"/>
          </a:xfrm>
          <a:custGeom>
            <a:avLst/>
            <a:gdLst/>
            <a:ahLst/>
            <a:cxnLst/>
            <a:rect l="l" t="t" r="r" b="b"/>
            <a:pathLst>
              <a:path w="280" h="4">
                <a:moveTo>
                  <a:pt x="0" y="2"/>
                </a:moveTo>
                <a:lnTo>
                  <a:pt x="280" y="2"/>
                </a:lnTo>
              </a:path>
            </a:pathLst>
          </a:custGeom>
          <a:noFill/>
          <a:ln w="25400">
            <a:solidFill>
              <a:srgbClr val="0E5A55"/>
            </a:solidFill>
          </a:ln>
        </p:spPr>
      </p:sp>
      <p:sp>
        <p:nvSpPr>
          <p:cNvPr id="14" name="cyl"/>
          <p:cNvSpPr/>
          <p:nvPr/>
        </p:nvSpPr>
        <p:spPr>
          <a:xfrm>
            <a:off x="9017000" y="2921000"/>
            <a:ext cx="1524000" cy="1651000"/>
          </a:xfrm>
          <a:prstGeom prst="rect">
            <a:avLst/>
          </a:prstGeom>
          <a:solidFill>
            <a:srgbClr val="EFE9DF"/>
          </a:solidFill>
          <a:ln w="25400">
            <a:solidFill>
              <a:srgbClr val="0E5A55"/>
            </a:solidFill>
          </a:ln>
        </p:spPr>
      </p:sp>
      <p:sp>
        <p:nvSpPr>
          <p:cNvPr id="15" name="up-arrow"/>
          <p:cNvSpPr/>
          <p:nvPr>
            <p:extLst>
              <p:ext uri="{F5677B7D-0D2A-4D9B-9A5C-6D8D7D0E5A5D}">
                <pptd:line encoding="base64url">eyJ2aWV3Qm94IjpbNCw5Nl0sInBvaW50cyI6IjIsOTYgMiwwIiwiY3VydmUiOiJzaGFycCJ9</pptd:line>
              </p:ext>
            </p:extLst>
          </p:nvPr>
        </p:nvSpPr>
        <p:spPr>
          <a:xfrm>
            <a:off x="9728200" y="4597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4" h="96">
                <a:moveTo>
                  <a:pt x="2" y="96"/>
                </a:moveTo>
                <a:lnTo>
                  <a:pt x="2" y="0"/>
                </a:lnTo>
              </a:path>
            </a:pathLst>
          </a:custGeom>
          <a:noFill/>
          <a:ln w="44450">
            <a:solidFill>
              <a:srgbClr val="C96F16"/>
            </a:solidFill>
            <a:tailEnd type="arrow"/>
          </a:ln>
        </p:spPr>
      </p:sp>
      <p:sp>
        <p:nvSpPr>
          <p:cNvPr id="16" name="down-arrow"/>
          <p:cNvSpPr/>
          <p:nvPr>
            <p:extLst>
              <p:ext uri="{F5677B7D-0D2A-4D9B-9A5C-6D8D7D0E5A5D}">
                <pptd:line encoding="base64url">eyJ2aWV3Qm94IjpbNCw1MF0sInBvaW50cyI6IjIsMCAyLDUwIiwiY3VydmUiOiJzaGFycCJ9</pptd:line>
              </p:ext>
            </p:extLst>
          </p:nvPr>
        </p:nvSpPr>
        <p:spPr>
          <a:xfrm>
            <a:off x="9728200" y="2260600"/>
            <a:ext cx="50800" cy="635000"/>
          </a:xfrm>
          <a:custGeom>
            <a:avLst/>
            <a:gdLst/>
            <a:ahLst/>
            <a:cxnLst/>
            <a:rect l="l" t="t" r="r" b="b"/>
            <a:pathLst>
              <a:path w="4" h="50">
                <a:moveTo>
                  <a:pt x="2" y="0"/>
                </a:moveTo>
                <a:lnTo>
                  <a:pt x="2" y="50"/>
                </a:lnTo>
              </a:path>
            </a:pathLst>
          </a:custGeom>
          <a:noFill/>
          <a:ln w="44450">
            <a:solidFill>
              <a:srgbClr val="6E6A62"/>
            </a:solidFill>
            <a:tailEnd type="arrow"/>
          </a:ln>
        </p:spPr>
      </p:sp>
      <p:sp>
        <p:nvSpPr>
          <p:cNvPr id="17" name="up-label"/>
          <p:cNvSpPr txBox="1"/>
          <p:nvPr/>
        </p:nvSpPr>
        <p:spPr>
          <a:xfrm>
            <a:off x="9906000" y="5029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F_底 大（深，p 大）</a:t>
            </a:r>
            <a:endParaRPr lang="en-US" sz="1250" noProof="1"/>
          </a:p>
        </p:txBody>
      </p:sp>
      <p:sp>
        <p:nvSpPr>
          <p:cNvPr id="18" name="down-label"/>
          <p:cNvSpPr txBox="1"/>
          <p:nvPr/>
        </p:nvSpPr>
        <p:spPr>
          <a:xfrm>
            <a:off x="9906000" y="2489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6E6A62"/>
                </a:solidFill>
                <a:latin typeface="MiSans"/>
                <a:ea typeface="MiSans"/>
              </a:rPr>
              <a:t>F_顶 小（浅，p 小）</a:t>
            </a:r>
            <a:endParaRPr lang="en-US" sz="1250" noProof="1"/>
          </a:p>
        </p:txBody>
      </p:sp>
      <p:sp>
        <p:nvSpPr>
          <p:cNvPr id="19" name="result-label"/>
          <p:cNvSpPr txBox="1"/>
          <p:nvPr/>
        </p:nvSpPr>
        <p:spPr>
          <a:xfrm>
            <a:off x="8128000" y="5588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合力向上 → upthrust = ρgV</a:t>
            </a:r>
            <a:endParaRPr lang="en-US" sz="13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Moments, total pressure, and Archimedes' principle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【力矩】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一根均匀米尺，重心在 50 cm 刻度处。把支点放在 30 cm 刻度处，在 100 cm 端挂 2.0 N 重物时尺恰好水平平衡。求米尺的重量 W。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Take moments about the pivot — where is the weight of the rule acting?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【总压强】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潜水员在密度 1025 kg/m³ 的海水中下潜到 12 m 深处，大气压为 1.01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Pa。分别求：(a) 海水产生的压强；(b) 潜水员受到的总压强。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Distinguish "pressure due to the sea water" from "total pressure".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【浮力】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体积 2.0 ×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−4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m³ 的石块用弹簧秤悬挂，完全浸没在水（ρ = 1000 kg/m³）中。(a) 求浮力；(b) 若石块在空气中重 5.0 N，浸没时弹簧秤读数是多少？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Upthrust first, then apply equilibrium to find the balance reading.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Q1 写清"对支点取力矩"及两侧力臂；② Q2 两问的答案必须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不同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，(b) 要加上大气压；③ Q3 (b) 用平衡条件：读数 = 重量 − 浮力。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W = 7.0 N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米尺重量 W 作用在重心（50 cm 处），对支点（30 cm 处）力臂 0.20 m，逆时针；2.0 N 力臂 0.70 m，顺时针。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W × 0.20 = 2.0 × 0.70 → W = 1.40 / 0.20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7.0 N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错因排查：忘记均匀尺的重量要画在重心；力臂用了到端点的距离而不是到支点的距离。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9210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3073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(a) 1.21 × 10⁵ Pa　(b) 2.22 × 10⁵ Pa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378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Δp = ρgΔh = 1025 × 9.81 × 12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1.21 × 10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 Pa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（只算海水）。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(b) p_total = 1.21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+ 1.01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2.22 × 10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 Pa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错因排查：(a)(b) 写成同一个数——总压强必须加大气压；或 g 取 10 造成偏差。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368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(a) 1.96 N　(b) 3.0 N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826000"/>
            <a:ext cx="10668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完全浸没 → V_排 = 2.0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−4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m³。F = ρgV = 1000 × 9.81 × 2.0 × 10</a:t>
            </a:r>
            <a:r>
              <a:rPr lang="en-US" sz="1250" noProof="1" baseline="30000">
                <a:solidFill>
                  <a:srgbClr val="22303A"/>
                </a:solidFill>
                <a:latin typeface="MiSans"/>
                <a:ea typeface="MiSans"/>
              </a:rPr>
              <a:t>−4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1.96 N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(b) 平衡：读数 T + 浮力 F = 重量 W → T = 5.0 − 1.96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3.0 N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错因排查：ρ 代成石块密度；或把读数算成 5.0 + 1.96（浮力方向画反）。</a:t>
            </a:r>
            <a:endParaRPr lang="en-US" sz="12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离开本章前，请带走这五件事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4 checklist — moments, pressure and upthrust you will meet again in Paper 1 and 2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76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W = mg（g = 9.81 N/kg）；重量画在重心上，均匀物体的重心在几何中心。</a:t>
            </a:r>
            <a:endParaRPr lang="en-US" sz="140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Moment = F × d⊥，d⊥ 是到作用线的</a:t>
            </a: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垂直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距离；力偶矩 = 一个力 × 两力间距。</a:t>
            </a:r>
            <a:endParaRPr lang="en-US" sz="14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90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平衡 = 合力为零 </a:t>
            </a: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且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 合力矩为零；力矩题把支点取在未知力处；三力平衡画闭合三角形。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ρ = m/V、p = F/A；会四步推导 Δp = ρgΔh；总压强 = ρgΔh + 大气压，看清 total 还是 due to liquid。</a:t>
            </a:r>
            <a:endParaRPr lang="en-US" sz="14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浮力 = 上下压力差；阿基米德原理 F = ρgV，ρ 是液体密度、V 是排开体积；弹簧秤读数 = 重量 − 浮力。</a:t>
            </a:r>
            <a:endParaRPr lang="en-US" sz="1400" noProof="1"/>
          </a:p>
        </p:txBody>
      </p:sp>
      <p:sp>
        <p:nvSpPr>
          <p:cNvPr id="11" name="res-rule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res-head"/>
          <p:cNvSpPr txBox="1"/>
          <p:nvPr/>
        </p:nvSpPr>
        <p:spPr>
          <a:xfrm>
            <a:off x="762000" y="4343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3" name="res-body"/>
          <p:cNvSpPr txBox="1"/>
          <p:nvPr/>
        </p:nvSpPr>
        <p:spPr>
          <a:xfrm>
            <a:off x="762000" y="4724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《中英对照笔记》：本课件全部内容的双语详版，含 Δp = ρgΔh 完整推导与例题详解，适合课后精读与考前背诵（中英结合笔记 文件夹）。</a:t>
            </a:r>
            <a:endParaRPr lang="en-US" sz="1300" noProof="1"/>
          </a:p>
        </p:txBody>
      </p:sp>
      <p:sp>
        <p:nvSpPr>
          <p:cNvPr id="14" name="next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next-text"/>
          <p:cNvSpPr txBox="1"/>
          <p:nvPr/>
        </p:nvSpPr>
        <p:spPr>
          <a:xfrm>
            <a:off x="965200" y="58166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下一章预告 Next：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Topic 5 Work, Energy and Power 功、能量与功率 —— 力与能量两条主线在此汇合。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4 力、密度与压强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Topic4_Forces_Density_Pressure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