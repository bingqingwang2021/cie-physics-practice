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 per nucleon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Sheet1!$A$2:$A$61</c:f>
              <c:strCache>
                <c:ptCount val="60"/>
                <c:pt idx="0">
                  <c:v>2</c:v>
                </c:pt>
                <c:pt idx="1">
                  <c:v>6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46</c:v>
                </c:pt>
                <c:pt idx="12">
                  <c:v>50</c:v>
                </c:pt>
                <c:pt idx="13">
                  <c:v>54</c:v>
                </c:pt>
                <c:pt idx="14">
                  <c:v>58</c:v>
                </c:pt>
                <c:pt idx="15">
                  <c:v>62</c:v>
                </c:pt>
                <c:pt idx="16">
                  <c:v>66</c:v>
                </c:pt>
                <c:pt idx="17">
                  <c:v>70</c:v>
                </c:pt>
                <c:pt idx="18">
                  <c:v>74</c:v>
                </c:pt>
                <c:pt idx="19">
                  <c:v>78</c:v>
                </c:pt>
                <c:pt idx="20">
                  <c:v>82</c:v>
                </c:pt>
                <c:pt idx="21">
                  <c:v>86</c:v>
                </c:pt>
                <c:pt idx="22">
                  <c:v>90</c:v>
                </c:pt>
                <c:pt idx="23">
                  <c:v>94</c:v>
                </c:pt>
                <c:pt idx="24">
                  <c:v>98</c:v>
                </c:pt>
                <c:pt idx="25">
                  <c:v>102</c:v>
                </c:pt>
                <c:pt idx="26">
                  <c:v>106</c:v>
                </c:pt>
                <c:pt idx="27">
                  <c:v>110</c:v>
                </c:pt>
                <c:pt idx="28">
                  <c:v>114</c:v>
                </c:pt>
                <c:pt idx="29">
                  <c:v>118</c:v>
                </c:pt>
                <c:pt idx="30">
                  <c:v>122</c:v>
                </c:pt>
                <c:pt idx="31">
                  <c:v>126</c:v>
                </c:pt>
                <c:pt idx="32">
                  <c:v>130</c:v>
                </c:pt>
                <c:pt idx="33">
                  <c:v>134</c:v>
                </c:pt>
                <c:pt idx="34">
                  <c:v>138</c:v>
                </c:pt>
                <c:pt idx="35">
                  <c:v>142</c:v>
                </c:pt>
                <c:pt idx="36">
                  <c:v>146</c:v>
                </c:pt>
                <c:pt idx="37">
                  <c:v>150</c:v>
                </c:pt>
                <c:pt idx="38">
                  <c:v>154</c:v>
                </c:pt>
                <c:pt idx="39">
                  <c:v>158</c:v>
                </c:pt>
                <c:pt idx="40">
                  <c:v>162</c:v>
                </c:pt>
                <c:pt idx="41">
                  <c:v>166</c:v>
                </c:pt>
                <c:pt idx="42">
                  <c:v>170</c:v>
                </c:pt>
                <c:pt idx="43">
                  <c:v>174</c:v>
                </c:pt>
                <c:pt idx="44">
                  <c:v>178</c:v>
                </c:pt>
                <c:pt idx="45">
                  <c:v>182</c:v>
                </c:pt>
                <c:pt idx="46">
                  <c:v>186</c:v>
                </c:pt>
                <c:pt idx="47">
                  <c:v>190</c:v>
                </c:pt>
                <c:pt idx="48">
                  <c:v>194</c:v>
                </c:pt>
                <c:pt idx="49">
                  <c:v>198</c:v>
                </c:pt>
                <c:pt idx="50">
                  <c:v>202</c:v>
                </c:pt>
                <c:pt idx="51">
                  <c:v>206</c:v>
                </c:pt>
                <c:pt idx="52">
                  <c:v>210</c:v>
                </c:pt>
                <c:pt idx="53">
                  <c:v>214</c:v>
                </c:pt>
                <c:pt idx="54">
                  <c:v>218</c:v>
                </c:pt>
                <c:pt idx="55">
                  <c:v>222</c:v>
                </c:pt>
                <c:pt idx="56">
                  <c:v>226</c:v>
                </c:pt>
                <c:pt idx="57">
                  <c:v>230</c:v>
                </c:pt>
                <c:pt idx="58">
                  <c:v>234</c:v>
                </c:pt>
                <c:pt idx="59">
                  <c:v>238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0.92</c:v>
                </c:pt>
                <c:pt idx="1">
                  <c:v>2.48</c:v>
                </c:pt>
                <c:pt idx="2">
                  <c:v>3.73</c:v>
                </c:pt>
                <c:pt idx="3">
                  <c:v>4.73</c:v>
                </c:pt>
                <c:pt idx="4">
                  <c:v>5.53</c:v>
                </c:pt>
                <c:pt idx="5">
                  <c:v>6.17</c:v>
                </c:pt>
                <c:pt idx="6">
                  <c:v>6.68</c:v>
                </c:pt>
                <c:pt idx="7">
                  <c:v>7.09</c:v>
                </c:pt>
                <c:pt idx="8">
                  <c:v>7.41</c:v>
                </c:pt>
                <c:pt idx="9">
                  <c:v>7.67</c:v>
                </c:pt>
                <c:pt idx="10">
                  <c:v>7.88</c:v>
                </c:pt>
                <c:pt idx="11">
                  <c:v>8.04</c:v>
                </c:pt>
                <c:pt idx="12">
                  <c:v>8.17</c:v>
                </c:pt>
                <c:pt idx="13">
                  <c:v>8.28</c:v>
                </c:pt>
                <c:pt idx="14">
                  <c:v>8.36</c:v>
                </c:pt>
                <c:pt idx="15">
                  <c:v>8.42</c:v>
                </c:pt>
                <c:pt idx="16">
                  <c:v>8.47</c:v>
                </c:pt>
                <c:pt idx="17">
                  <c:v>8.51</c:v>
                </c:pt>
                <c:pt idx="18">
                  <c:v>8.54</c:v>
                </c:pt>
                <c:pt idx="19">
                  <c:v>8.56</c:v>
                </c:pt>
                <c:pt idx="20">
                  <c:v>8.58</c:v>
                </c:pt>
                <c:pt idx="21">
                  <c:v>8.59</c:v>
                </c:pt>
                <c:pt idx="22">
                  <c:v>8.6</c:v>
                </c:pt>
                <c:pt idx="23">
                  <c:v>8.6</c:v>
                </c:pt>
                <c:pt idx="24">
                  <c:v>8.61</c:v>
                </c:pt>
                <c:pt idx="25">
                  <c:v>8.61</c:v>
                </c:pt>
                <c:pt idx="26">
                  <c:v>8.61</c:v>
                </c:pt>
                <c:pt idx="27">
                  <c:v>8.6</c:v>
                </c:pt>
                <c:pt idx="28">
                  <c:v>8.6</c:v>
                </c:pt>
                <c:pt idx="29">
                  <c:v>8.6</c:v>
                </c:pt>
                <c:pt idx="30">
                  <c:v>8.59</c:v>
                </c:pt>
                <c:pt idx="31">
                  <c:v>8.59</c:v>
                </c:pt>
                <c:pt idx="32">
                  <c:v>8.59</c:v>
                </c:pt>
                <c:pt idx="33">
                  <c:v>8.58</c:v>
                </c:pt>
                <c:pt idx="34">
                  <c:v>8.58</c:v>
                </c:pt>
                <c:pt idx="35">
                  <c:v>8.57</c:v>
                </c:pt>
                <c:pt idx="36">
                  <c:v>8.56</c:v>
                </c:pt>
                <c:pt idx="37">
                  <c:v>8.56</c:v>
                </c:pt>
                <c:pt idx="38">
                  <c:v>8.55</c:v>
                </c:pt>
                <c:pt idx="39">
                  <c:v>8.55</c:v>
                </c:pt>
                <c:pt idx="40">
                  <c:v>8.54</c:v>
                </c:pt>
                <c:pt idx="41">
                  <c:v>8.53</c:v>
                </c:pt>
                <c:pt idx="42">
                  <c:v>8.53</c:v>
                </c:pt>
                <c:pt idx="43">
                  <c:v>8.52</c:v>
                </c:pt>
                <c:pt idx="44">
                  <c:v>8.51</c:v>
                </c:pt>
                <c:pt idx="45">
                  <c:v>8.51</c:v>
                </c:pt>
                <c:pt idx="46">
                  <c:v>8.5</c:v>
                </c:pt>
                <c:pt idx="47">
                  <c:v>8.5</c:v>
                </c:pt>
                <c:pt idx="48">
                  <c:v>8.49</c:v>
                </c:pt>
                <c:pt idx="49">
                  <c:v>8.48</c:v>
                </c:pt>
                <c:pt idx="50">
                  <c:v>8.48</c:v>
                </c:pt>
                <c:pt idx="51">
                  <c:v>8.47</c:v>
                </c:pt>
                <c:pt idx="52">
                  <c:v>8.46</c:v>
                </c:pt>
                <c:pt idx="53">
                  <c:v>8.46</c:v>
                </c:pt>
                <c:pt idx="54">
                  <c:v>8.45</c:v>
                </c:pt>
                <c:pt idx="55">
                  <c:v>8.44</c:v>
                </c:pt>
                <c:pt idx="56">
                  <c:v>8.44</c:v>
                </c:pt>
                <c:pt idx="57">
                  <c:v>8.43</c:v>
                </c:pt>
                <c:pt idx="58">
                  <c:v>8.43</c:v>
                </c:pt>
                <c:pt idx="59">
                  <c:v>8.42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nucleon number A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BE/A / MeV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/ N₀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Sheet1!$A$2:$A$42</c:f>
              <c:strCache>
                <c:ptCount val="4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2.0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3.0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1.0</c:v>
                </c:pt>
                <c:pt idx="1">
                  <c:v>0.933</c:v>
                </c:pt>
                <c:pt idx="2">
                  <c:v>0.871</c:v>
                </c:pt>
                <c:pt idx="3">
                  <c:v>0.812</c:v>
                </c:pt>
                <c:pt idx="4">
                  <c:v>0.758</c:v>
                </c:pt>
                <c:pt idx="5">
                  <c:v>0.707</c:v>
                </c:pt>
                <c:pt idx="6">
                  <c:v>0.66</c:v>
                </c:pt>
                <c:pt idx="7">
                  <c:v>0.616</c:v>
                </c:pt>
                <c:pt idx="8">
                  <c:v>0.574</c:v>
                </c:pt>
                <c:pt idx="9">
                  <c:v>0.536</c:v>
                </c:pt>
                <c:pt idx="10">
                  <c:v>0.5</c:v>
                </c:pt>
                <c:pt idx="11">
                  <c:v>0.467</c:v>
                </c:pt>
                <c:pt idx="12">
                  <c:v>0.435</c:v>
                </c:pt>
                <c:pt idx="13">
                  <c:v>0.406</c:v>
                </c:pt>
                <c:pt idx="14">
                  <c:v>0.379</c:v>
                </c:pt>
                <c:pt idx="15">
                  <c:v>0.354</c:v>
                </c:pt>
                <c:pt idx="16">
                  <c:v>0.33</c:v>
                </c:pt>
                <c:pt idx="17">
                  <c:v>0.308</c:v>
                </c:pt>
                <c:pt idx="18">
                  <c:v>0.287</c:v>
                </c:pt>
                <c:pt idx="19">
                  <c:v>0.268</c:v>
                </c:pt>
                <c:pt idx="20">
                  <c:v>0.25</c:v>
                </c:pt>
                <c:pt idx="21">
                  <c:v>0.233</c:v>
                </c:pt>
                <c:pt idx="22">
                  <c:v>0.218</c:v>
                </c:pt>
                <c:pt idx="23">
                  <c:v>0.203</c:v>
                </c:pt>
                <c:pt idx="24">
                  <c:v>0.19</c:v>
                </c:pt>
                <c:pt idx="25">
                  <c:v>0.177</c:v>
                </c:pt>
                <c:pt idx="26">
                  <c:v>0.165</c:v>
                </c:pt>
                <c:pt idx="27">
                  <c:v>0.154</c:v>
                </c:pt>
                <c:pt idx="28">
                  <c:v>0.144</c:v>
                </c:pt>
                <c:pt idx="29">
                  <c:v>0.134</c:v>
                </c:pt>
                <c:pt idx="30">
                  <c:v>0.125</c:v>
                </c:pt>
                <c:pt idx="31">
                  <c:v>0.117</c:v>
                </c:pt>
                <c:pt idx="32">
                  <c:v>0.109</c:v>
                </c:pt>
                <c:pt idx="33">
                  <c:v>0.102</c:v>
                </c:pt>
                <c:pt idx="34">
                  <c:v>0.095</c:v>
                </c:pt>
                <c:pt idx="35">
                  <c:v>0.088</c:v>
                </c:pt>
                <c:pt idx="36">
                  <c:v>0.083</c:v>
                </c:pt>
                <c:pt idx="37">
                  <c:v>0.077</c:v>
                </c:pt>
                <c:pt idx="38">
                  <c:v>0.072</c:v>
                </c:pt>
                <c:pt idx="39">
                  <c:v>0.067</c:v>
                </c:pt>
                <c:pt idx="40">
                  <c:v>0.063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t / t½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fraction remaining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m"/>
          <p:cNvSpPr/>
          <p:nvPr/>
        </p:nvSpPr>
        <p:spPr>
          <a:xfrm>
            <a:off x="9258300" y="3067050"/>
            <a:ext cx="342900" cy="3429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dsl:dc-f0"/>
          <p:cNvCxnSpPr/>
          <p:nvPr/>
        </p:nvCxnSpPr>
        <p:spPr>
          <a:xfrm>
            <a:off x="969645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dsl:dc-f1"/>
          <p:cNvCxnSpPr/>
          <p:nvPr/>
        </p:nvCxnSpPr>
        <p:spPr>
          <a:xfrm>
            <a:off x="9660718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dsl:dc-f2"/>
          <p:cNvCxnSpPr/>
          <p:nvPr/>
        </p:nvCxnSpPr>
        <p:spPr>
          <a:xfrm>
            <a:off x="9563100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dsl:dc-f3"/>
          <p:cNvCxnSpPr/>
          <p:nvPr/>
        </p:nvCxnSpPr>
        <p:spPr>
          <a:xfrm>
            <a:off x="9429750" y="350520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sl:dc-f4"/>
          <p:cNvCxnSpPr/>
          <p:nvPr/>
        </p:nvCxnSpPr>
        <p:spPr>
          <a:xfrm flipH="1">
            <a:off x="8715375" y="3469468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sl:dc-f5"/>
          <p:cNvCxnSpPr/>
          <p:nvPr/>
        </p:nvCxnSpPr>
        <p:spPr>
          <a:xfrm flipH="1">
            <a:off x="8192416" y="3371850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sl:dc-f6"/>
          <p:cNvCxnSpPr/>
          <p:nvPr/>
        </p:nvCxnSpPr>
        <p:spPr>
          <a:xfrm>
            <a:off x="8001000" y="3238500"/>
            <a:ext cx="1162050" cy="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sl:dc-f7"/>
          <p:cNvCxnSpPr/>
          <p:nvPr/>
        </p:nvCxnSpPr>
        <p:spPr>
          <a:xfrm>
            <a:off x="8192416" y="2524125"/>
            <a:ext cx="1006365" cy="58102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sl:dc-f8"/>
          <p:cNvCxnSpPr/>
          <p:nvPr/>
        </p:nvCxnSpPr>
        <p:spPr>
          <a:xfrm>
            <a:off x="8715374" y="2001166"/>
            <a:ext cx="581026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sl:dc-f9"/>
          <p:cNvCxnSpPr/>
          <p:nvPr/>
        </p:nvCxnSpPr>
        <p:spPr>
          <a:xfrm>
            <a:off x="9429750" y="1809750"/>
            <a:ext cx="0" cy="1162050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sl:dc-f10"/>
          <p:cNvCxnSpPr/>
          <p:nvPr/>
        </p:nvCxnSpPr>
        <p:spPr>
          <a:xfrm flipH="1">
            <a:off x="9563100" y="2001166"/>
            <a:ext cx="581025" cy="1006365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sl:dc-f11"/>
          <p:cNvCxnSpPr/>
          <p:nvPr/>
        </p:nvCxnSpPr>
        <p:spPr>
          <a:xfrm flipH="1">
            <a:off x="9660718" y="2524124"/>
            <a:ext cx="1006365" cy="581026"/>
          </a:xfrm>
          <a:prstGeom prst="straightConnector1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23</a:t>
            </a:r>
          </a:p>
        </p:txBody>
      </p:sp>
      <p:sp>
        <p:nvSpPr>
          <p:cNvPr id="16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Nuclear Physics</a:t>
            </a:r>
          </a:p>
        </p:txBody>
      </p:sp>
      <p:sp>
        <p:nvSpPr>
          <p:cNvPr id="17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核物理</a:t>
            </a:r>
          </a:p>
        </p:txBody>
      </p:sp>
      <p:cxnSp>
        <p:nvCxnSpPr>
          <p:cNvPr id="18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20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17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23.1 Mass defect and nuclear binding energy 质量亏损与结合能</a:t>
            </a:r>
          </a:p>
        </p:txBody>
      </p:sp>
      <p:pic>
        <p:nvPicPr>
          <p:cNvPr id="14" name="dsl:oc0_0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Represent simple nuclear reactions with nuclide notation 核反应方程</a:t>
            </a:r>
          </a:p>
        </p:txBody>
      </p:sp>
      <p:pic>
        <p:nvPicPr>
          <p:cNvPr id="16" name="dsl:oc0_1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Mass–energy equivalence E = mc² 质能方程</a:t>
            </a:r>
          </a:p>
        </p:txBody>
      </p:sp>
      <p:pic>
        <p:nvPicPr>
          <p:cNvPr id="18" name="dsl:oc0_2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7146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ot0_2"/>
          <p:cNvSpPr txBox="1"/>
          <p:nvPr/>
        </p:nvSpPr>
        <p:spPr>
          <a:xfrm>
            <a:off x="3752850" y="26860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Mass defect, binding energy and binding energy per nucleon 质量亏损与结合能</a:t>
            </a:r>
          </a:p>
        </p:txBody>
      </p:sp>
      <p:pic>
        <p:nvPicPr>
          <p:cNvPr id="20" name="dsl:oc0_3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0194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dsl:ot0_3"/>
          <p:cNvSpPr txBox="1"/>
          <p:nvPr/>
        </p:nvSpPr>
        <p:spPr>
          <a:xfrm>
            <a:off x="3752850" y="29908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Sketch and interpret the BE-per-nucleon curve; fission and fusion 曲线解释</a:t>
            </a:r>
          </a:p>
        </p:txBody>
      </p:sp>
      <p:sp>
        <p:nvSpPr>
          <p:cNvPr id="22" name="dsl:og1"/>
          <p:cNvSpPr txBox="1"/>
          <p:nvPr/>
        </p:nvSpPr>
        <p:spPr>
          <a:xfrm>
            <a:off x="3467100" y="34099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23.2 Radioactive decay 放射性衰变</a:t>
            </a:r>
          </a:p>
        </p:txBody>
      </p:sp>
      <p:pic>
        <p:nvPicPr>
          <p:cNvPr id="23" name="dsl:oc1_0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0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Spontaneous and random nature of decay 自发与随机</a:t>
            </a:r>
          </a:p>
        </p:txBody>
      </p:sp>
      <p:pic>
        <p:nvPicPr>
          <p:cNvPr id="25" name="dsl:oc1_1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0671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ot1_1"/>
          <p:cNvSpPr txBox="1"/>
          <p:nvPr/>
        </p:nvSpPr>
        <p:spPr>
          <a:xfrm>
            <a:off x="3752850" y="40386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Activity A = λN and the decay constant λ 活度与衰变常数</a:t>
            </a:r>
          </a:p>
        </p:txBody>
      </p:sp>
      <p:pic>
        <p:nvPicPr>
          <p:cNvPr id="27" name="dsl:oc1_2|i=fas:square-check" descr="tmp4erp8ol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3719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8" name="dsl:ot1_2"/>
          <p:cNvSpPr txBox="1"/>
          <p:nvPr/>
        </p:nvSpPr>
        <p:spPr>
          <a:xfrm>
            <a:off x="3752850" y="43434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Half-life t½, λ = 0.693/t½, x = x₀e^(−λt) 半衰期与指数衰变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Mass–Energy Equivalence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质能等价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Einstein showed that mass and energy are equivalent: any change in energy is accompanied by a change in mass. In nuclear processes the mass changes are large enough to measure.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质量与能量等价：能量变化伴随质量变化。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 kg ↔ 9.0 × 10¹⁶ J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Atomic mass unit: </a:t>
            </a:r>
            <a14:m>
              <m:oMath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1.66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27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kg；能量等价 **1 u ↔ 934 MeV**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1 MeV = 1.60 × 10⁻¹³ J — the practical unit for nuclear energies 核物理常用单位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Nuclear equations: conserve nucleon number (A) and proton number (Z) 配平 A 与 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Mass Defect &amp; Binding Energy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质量亏损与结合能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mass defect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nucleus is the difference between the total mass of the separate nucleons and the mass of the nucleus.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质量亏损=独立核子总质量−原子核实际质量。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bar"/>
          <p:cNvSpPr/>
          <p:nvPr/>
        </p:nvSpPr>
        <p:spPr>
          <a:xfrm>
            <a:off x="609600" y="3057525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1-tx"/>
          <p:cNvSpPr txBox="1"/>
          <p:nvPr/>
        </p:nvSpPr>
        <p:spPr>
          <a:xfrm>
            <a:off x="838200" y="3171825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binding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nucleus is the energy equivalent of its mass defect — the energy needed to separate all its nucleons to infinity.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结合能=质量亏损的能量等价，即把核子全部分开所需能量。</a:t>
            </a:r>
          </a:p>
        </p:txBody>
      </p:sp>
      <p:sp>
        <p:nvSpPr>
          <p:cNvPr id="15" name="dsl:b2-bg"/>
          <p:cNvSpPr/>
          <p:nvPr/>
        </p:nvSpPr>
        <p:spPr>
          <a:xfrm>
            <a:off x="609600" y="43053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2-fx"/>
          <p:cNvSpPr txBox="1"/>
          <p:nvPr/>
        </p:nvSpPr>
        <p:spPr>
          <a:xfrm>
            <a:off x="838200" y="430530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m:t> 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17" name="dsl:b2-nt|s=$small"/>
          <p:cNvSpPr txBox="1"/>
          <p:nvPr/>
        </p:nvSpPr>
        <p:spPr>
          <a:xfrm>
            <a:off x="6638925" y="430530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稳定核结合能大</a:t>
            </a:r>
          </a:p>
        </p:txBody>
      </p:sp>
      <p:sp>
        <p:nvSpPr>
          <p:cNvPr id="18" name="dsl:b3"/>
          <p:cNvSpPr txBox="1"/>
          <p:nvPr/>
        </p:nvSpPr>
        <p:spPr>
          <a:xfrm>
            <a:off x="609600" y="5086350"/>
            <a:ext cx="109728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Binding energy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released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when nucleons combine 核子聚合时释放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Example: ⁴He mass defect 0.0304 u ⇒ BE ≈ 28.4 MeV 教材示例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Binding Energy per Nucleon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比结合能曲线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17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543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BE per nucleon = BE ÷ A — a measure of stability 比结合能越大越稳定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Curve peaks near iron (A ≈ 56) at ≈ 8.8 MeV 铁附近最大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Light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nuclei: fusion raises BE/A ⇒ energy released 轻核聚变放能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Heavy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nuclei: fission raises BE/A ⇒ energy released 重核裂变放能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Both processes move products "up the curve" 产物都向峰移动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be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Variation of BE per nucleon with A 比结合能随质量数变化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Fission &amp; Fusion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裂变与聚变对比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17</a:t>
            </a:r>
          </a:p>
        </p:txBody>
      </p:sp>
      <p:graphicFrame>
        <p:nvGraphicFramePr>
          <p:cNvPr id="9" name="dsl:tbl"/>
          <p:cNvGraphicFramePr>
            <a:graphicFrameLocks noGrp="1"/>
          </p:cNvGraphicFramePr>
          <p:nvPr/>
        </p:nvGraphicFramePr>
        <p:xfrm>
          <a:off x="609600" y="1847850"/>
          <a:ext cx="10972800" cy="3733797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14016"/>
                <a:gridCol w="4279392"/>
                <a:gridCol w="4279392"/>
              </a:tblGrid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aspect 方面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nuclear fission 核裂变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nuclear fusion 核聚变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0E4D64"/>
                    </a:solidFill>
                  </a:tcPr>
                </a:tc>
              </a:tr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definition 定义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heavy nucleus splits into two lighter nuclei 重核分裂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two light nuclei join into a heavier nucleus 轻核聚合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typical reaction 典型反应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²³⁵U + n → ¹⁴¹Ba + ⁹²Kr + 3n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²H + ³H → ⁴He + n (in stars: H → He)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condition 条件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triggered by neutron capture 中子轰击引发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very high T and pressure (thermonuclear) 高温高压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energy source 能量来源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nuclear power stations 核电站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the Sun and stars 太阳与恒星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33933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by-products 产物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radioactive waste 放射性废料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far less radioactive waste 废料少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19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control 可控性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controlled chain reaction possible 可控链式反应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125" noProof="1">
                          <a:solidFill>
                            <a:srgbClr val="1C2B33"/>
                          </a:solidFill>
                          <a:latin typeface="QuattrocentoSans"/>
                          <a:ea typeface="MiSans"/>
                        </a:rPr>
                        <a:t>not yet sustained on Earth (JET / ITER) 尚未可控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FE0"/>
                      </a:solidFill>
                      <a:prstDash val="solid"/>
                    </a:lnL>
                    <a:lnR w="12700" cap="flat" cmpd="sng" algn="ctr">
                      <a:solidFill>
                        <a:srgbClr val="D5DFE0"/>
                      </a:solidFill>
                      <a:prstDash val="solid"/>
                    </a:lnR>
                    <a:lnT w="12700" cap="flat" cmpd="sng" algn="ctr">
                      <a:solidFill>
                        <a:srgbClr val="D5DFE0"/>
                      </a:solidFill>
                      <a:prstDash val="solid"/>
                    </a:lnT>
                    <a:lnB w="12700" cap="flat" cmpd="sng" algn="ctr">
                      <a:solidFill>
                        <a:srgbClr val="D5DFE0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10" name="dsl:tbl-notes"/>
          <p:cNvSpPr txBox="1"/>
          <p:nvPr/>
        </p:nvSpPr>
        <p:spPr>
          <a:xfrm>
            <a:off x="609600" y="5772150"/>
            <a:ext cx="10972800" cy="504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Chain reaction: each fission releases 2–3 neutrons which may trigger further fissions 链式反应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Both raise the binding energy per nucleon of the products, releasing energy 都使产物比结合能增大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Random &amp; Spontaneous Decay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衰变的随机性与自发性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Radioactive decay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spontaneous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it is unaffected by external conditions such as temperature or pressure. It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random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it is impossible to predict which nucleus will decay next, or when.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自发：不受外界条件影响；随机：无法预言哪个核、何时衰变。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Evidence for randomness: count rate fluctuates about a mean value 计数率涨落是证据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Each nucleus has a constant probability of decay per unit time 单位时间衰变概率恒定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 a large number of nuclei, the decay follows a precise statistical (exponential) law 大量核服从统计规律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randomness of individual decays does not prevent accurate half-life measurements 个体随机，整体确定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Activity &amp; Decay Constant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活度与衰变常数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activity A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source is the number of nuclear decays per unit time.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decay constant λ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probability per unit time that a given nucleus will decay.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活度=单位时间衰变次数；衰变常数=单个核单位时间的衰变概率。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−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单位：贝克勒 Bq = s⁻¹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∝ N: activity falls as the number of undecayed nuclei falls 活度随核数同步下降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λ is constant for a given nuclide — large λ means rapid decay λ 大则衰变快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Corrected count rate ≈ activity (background subtracted) 计数率需减本底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Half-Life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半衰期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17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half-life t½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radioactive nuclide is the time taken for half of the nuclei in a sample to decay.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半衰期：样品中一半原子核发生衰变所需的时间。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0.693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sup>
                </m:s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x 可以是 N、A 或质量 m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647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After n half-lives the fraction remaining is (½)ⁿ n 个半衰期后剩 (1/2)ⁿ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Half-life is constant — independent of how many nuclei remain 与剩余核数无关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Read t½ from a decay curve at N = N₀/2, N₀/4 … 从衰变曲线读取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dsl:dec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Exponential decay curve 指数衰变曲线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Decay Calculations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三类典型计算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17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λ from t½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λ = 0.693/t½ — keep time units consistent (convert years to s) 单位统一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 or N from A = λN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e.g. mass of sample → number of atoms N = m/M × Nₐ 先求核数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Fraction remaining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x/x₀ = e^(−λt) = (½)^(t/t½) 指数或用半衰期个数</a:t>
            </a:r>
          </a:p>
        </p:txBody>
      </p:sp>
      <p:sp>
        <p:nvSpPr>
          <p:cNvPr id="10" name="dsl:b1"/>
          <p:cNvSpPr txBox="1"/>
          <p:nvPr/>
        </p:nvSpPr>
        <p:spPr>
          <a:xfrm>
            <a:off x="609600" y="2886075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Carbon-14 dating: living matter keeps ¹⁴C activity constant; after death it decays with t½ = 5730 yr 碳-14 定年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Compare measured activity with the "living" value to find the age 对比活度求年代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Check: does your final answer have sensible units and magnitude? 量纲与数量级自检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23A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17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23A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5240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257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mass defect for a carbon-14 nucleus. The measured mass is 14.003240 u.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(proton mass 1.007276 u; neutron mass 1.008665 u)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质量亏损=核子总质量−原子核质量，勿减反。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¹⁴C has 6 protons and 8 neutrons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Total mass of nucleons = 6 × 1.007276 + 8 × 1.008665 = 14.112976 u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Mass defect = 14.112976 − 14.003240 = 0.109736 u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Δm = 0.1097 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23B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17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23B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2192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Calculate the binding energy, in MeV, of a carbon-14 nucleus with a mass defect of 0.109736 u.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两种方法都要会：直接用 934 MeV/u 换算最快。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Method 1: use 1 u ↔ 934 MeV: BE = 0.109736 × 934 ≈ 102 MeV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Method 2: E = Δmc² = 0.109736 × 1.66×10⁻²⁷ × (3.00×10⁸)² = 1.64×10⁻¹¹ J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Convert: 1.64×10⁻¹¹ / 1.60×10⁻¹³ ≈ 102 MeV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BE ≈ 102 MeV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23C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17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23C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4287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162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nucleus of uranium-234 decays by α-emission to thorium. The total energy released is 4.77 MeV. Calculate the total change in mass during the decay.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质量减少，转化为 α 粒子与子核的动能。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 energy: 4.77 MeV = 4.77 × 1.60×10⁻¹³ = 7.63×10⁻¹³ J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Δm = E/c² = 7.63×10⁻¹³ / (3.00×10⁸)² = 8.5×10⁻³⁰ kg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In u: 8.5×10⁻³⁰ / 1.66×10⁻²⁷ = 5.1×10⁻³ u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Δm = 8.5 × 10⁻³⁰ kg ≈ 5.1 × 10⁻³ 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23D &amp; 23E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17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23D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10763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1) The binding energy of a helium-4 nucleus is 28.4 MeV. Find BE per nucleon.</a:t>
            </a:r>
          </a:p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2) Masses: ²³⁸U nucleus 237.9997 u, proton 1.00728 u, neutron 1.00867 u. Find BE per nucleon of ²³⁸U.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32480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1) BE/A = 28.4/4 = 7.1 MeV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2) Δm = (92×1.00728 + 146×1.00867) − 237.9997 = 1.93588 u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BE/A = 1.93588 × 934 / 238 ≈ 7.60 MeV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40957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40957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40957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7.1 MeV; 7.60 MeV per nucleon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23E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For the fission ²³⁵U + n → ¹⁴¹Ba + ⁹²Kr + 3n, masses/u: n 1.009, ²³⁵U 235.123, ¹⁴¹Ba 140.912, ⁹²Kr 91.913. Find a) the change in mass; b) the energy released per fission.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923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Reactants: 235.123 + 1.009 = 236.132 u; products: 140.912 + 91.913 + 3×1.009 = 235.852 u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Δm = 236.132 − 235.852 = 0.280 u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E = 0.280 × 934 ≈ 261 MeV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40195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40195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40195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Δm = 0.280 u; E ≈ 2.6 × 10² MeV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17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binding energy of a nitrogen-14 nucleus is 101 MeV. Calculate its binding energy per nucleon.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Cobalt-60 has a half-life of 5.3 years. Calculate the decay constant in s⁻¹, and the activity of a sample containing 2.0 × 10¹⁹ atoms.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activity of a radioactive source falls from 8.0 × 10⁴ Bq to 5.0 × 10³ Bq in 24 hours. Determine its half-life.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Q1: 101/14 = 7.2 MeV　Q2: λ = 4.1×10⁻⁹ s⁻¹, A = 8.3×10¹⁰ Bq　Q3: 比值16=2⁴，4个半衰期，t½ = 6.0 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17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质能方程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m:t>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u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↔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934</m:t>
                </m:r>
                <m:r>
                  <m:t> 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质量-能量换算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结合能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活度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λ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0.693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衰变常数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sup>
                </m:sSup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指数衰变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10572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Mass defect ⇒ binding energy; larger BE/A ⇒ more stable 质量亏损⇒结合能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Fusion of light and fission of heavy nuclei both release energy 聚变裂变皆放能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Individual decays are random; large samples decay exponentially 个体随机，整体指数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Keep u, kg, J, MeV conversions clear 单位换算链清晰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23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23 Nuclear Physics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17 / 17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riangle-exclamation" descr="tmp64qi8d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Conversion chain: u → kg (×1.66×10⁻²⁷) → J (×c²) → MeV (÷1.60×10⁻¹³). Or use 1 u ↔ 934 MeV directly. 换算链别错。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lock" descr="tmp64qi8d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λ has unit s⁻¹: convert half-lives in years/days to seconds before using A = λN. 时间单位统一到秒。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calculator" descr="tmp64qi8d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For e^(−λt), compute the exponent first and check it is negative and dimensionless. 指数先算、必为负。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pen" descr="tmp64qi8d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Say "energy is released" for fission/fusion because products have higher BE/A — the direction of the statement earns marks. 表述方向：产物比结合能更大。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DB500A9C-BAA3-4149-89A0-26494F824FDE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