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 / I₀ (muscle)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2.0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3.0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4.0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5.0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6.0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7.0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1.0</c:v>
                </c:pt>
                <c:pt idx="1">
                  <c:v>0.955</c:v>
                </c:pt>
                <c:pt idx="2">
                  <c:v>0.912</c:v>
                </c:pt>
                <c:pt idx="3">
                  <c:v>0.871</c:v>
                </c:pt>
                <c:pt idx="4">
                  <c:v>0.832</c:v>
                </c:pt>
                <c:pt idx="5">
                  <c:v>0.795</c:v>
                </c:pt>
                <c:pt idx="6">
                  <c:v>0.759</c:v>
                </c:pt>
                <c:pt idx="7">
                  <c:v>0.725</c:v>
                </c:pt>
                <c:pt idx="8">
                  <c:v>0.692</c:v>
                </c:pt>
                <c:pt idx="9">
                  <c:v>0.661</c:v>
                </c:pt>
                <c:pt idx="10">
                  <c:v>0.631</c:v>
                </c:pt>
                <c:pt idx="11">
                  <c:v>0.603</c:v>
                </c:pt>
                <c:pt idx="12">
                  <c:v>0.576</c:v>
                </c:pt>
                <c:pt idx="13">
                  <c:v>0.55</c:v>
                </c:pt>
                <c:pt idx="14">
                  <c:v>0.525</c:v>
                </c:pt>
                <c:pt idx="15">
                  <c:v>0.502</c:v>
                </c:pt>
                <c:pt idx="16">
                  <c:v>0.479</c:v>
                </c:pt>
                <c:pt idx="17">
                  <c:v>0.457</c:v>
                </c:pt>
                <c:pt idx="18">
                  <c:v>0.437</c:v>
                </c:pt>
                <c:pt idx="19">
                  <c:v>0.417</c:v>
                </c:pt>
                <c:pt idx="20">
                  <c:v>0.399</c:v>
                </c:pt>
                <c:pt idx="21">
                  <c:v>0.381</c:v>
                </c:pt>
                <c:pt idx="22">
                  <c:v>0.363</c:v>
                </c:pt>
                <c:pt idx="23">
                  <c:v>0.347</c:v>
                </c:pt>
                <c:pt idx="24">
                  <c:v>0.332</c:v>
                </c:pt>
                <c:pt idx="25">
                  <c:v>0.317</c:v>
                </c:pt>
                <c:pt idx="26">
                  <c:v>0.302</c:v>
                </c:pt>
                <c:pt idx="27">
                  <c:v>0.289</c:v>
                </c:pt>
                <c:pt idx="28">
                  <c:v>0.276</c:v>
                </c:pt>
                <c:pt idx="29">
                  <c:v>0.263</c:v>
                </c:pt>
                <c:pt idx="30">
                  <c:v>0.252</c:v>
                </c:pt>
                <c:pt idx="31">
                  <c:v>0.24</c:v>
                </c:pt>
                <c:pt idx="32">
                  <c:v>0.229</c:v>
                </c:pt>
                <c:pt idx="33">
                  <c:v>0.219</c:v>
                </c:pt>
                <c:pt idx="34">
                  <c:v>0.209</c:v>
                </c:pt>
                <c:pt idx="35">
                  <c:v>0.2</c:v>
                </c:pt>
                <c:pt idx="36">
                  <c:v>0.191</c:v>
                </c:pt>
                <c:pt idx="37">
                  <c:v>0.182</c:v>
                </c:pt>
                <c:pt idx="38">
                  <c:v>0.174</c:v>
                </c:pt>
                <c:pt idx="39">
                  <c:v>0.166</c:v>
                </c:pt>
                <c:pt idx="40">
                  <c:v>0.159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x / cm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I / I₀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Sheet1!$A$2:$A$82</c:f>
              <c:strCache>
                <c:ptCount val="81"/>
                <c:pt idx="0">
                  <c:v>0.2</c:v>
                </c:pt>
                <c:pt idx="1">
                  <c:v>0.22</c:v>
                </c:pt>
                <c:pt idx="2">
                  <c:v>0.24</c:v>
                </c:pt>
                <c:pt idx="3">
                  <c:v>0.26</c:v>
                </c:pt>
                <c:pt idx="4">
                  <c:v>0.28</c:v>
                </c:pt>
                <c:pt idx="5">
                  <c:v>0.3</c:v>
                </c:pt>
                <c:pt idx="6">
                  <c:v>0.32</c:v>
                </c:pt>
                <c:pt idx="7">
                  <c:v>0.34</c:v>
                </c:pt>
                <c:pt idx="8">
                  <c:v>0.36</c:v>
                </c:pt>
                <c:pt idx="9">
                  <c:v>0.38</c:v>
                </c:pt>
                <c:pt idx="10">
                  <c:v>0.4</c:v>
                </c:pt>
                <c:pt idx="11">
                  <c:v>0.42</c:v>
                </c:pt>
                <c:pt idx="12">
                  <c:v>0.44</c:v>
                </c:pt>
                <c:pt idx="13">
                  <c:v>0.46</c:v>
                </c:pt>
                <c:pt idx="14">
                  <c:v>0.48</c:v>
                </c:pt>
                <c:pt idx="15">
                  <c:v>0.5</c:v>
                </c:pt>
                <c:pt idx="16">
                  <c:v>0.52</c:v>
                </c:pt>
                <c:pt idx="17">
                  <c:v>0.54</c:v>
                </c:pt>
                <c:pt idx="18">
                  <c:v>0.56</c:v>
                </c:pt>
                <c:pt idx="19">
                  <c:v>0.58</c:v>
                </c:pt>
                <c:pt idx="20">
                  <c:v>0.6</c:v>
                </c:pt>
                <c:pt idx="21">
                  <c:v>0.62</c:v>
                </c:pt>
                <c:pt idx="22">
                  <c:v>0.64</c:v>
                </c:pt>
                <c:pt idx="23">
                  <c:v>0.66</c:v>
                </c:pt>
                <c:pt idx="24">
                  <c:v>0.68</c:v>
                </c:pt>
                <c:pt idx="25">
                  <c:v>0.7</c:v>
                </c:pt>
                <c:pt idx="26">
                  <c:v>0.72</c:v>
                </c:pt>
                <c:pt idx="27">
                  <c:v>0.74</c:v>
                </c:pt>
                <c:pt idx="28">
                  <c:v>0.76</c:v>
                </c:pt>
                <c:pt idx="29">
                  <c:v>0.78</c:v>
                </c:pt>
                <c:pt idx="30">
                  <c:v>0.8</c:v>
                </c:pt>
                <c:pt idx="31">
                  <c:v>0.82</c:v>
                </c:pt>
                <c:pt idx="32">
                  <c:v>0.84</c:v>
                </c:pt>
                <c:pt idx="33">
                  <c:v>0.86</c:v>
                </c:pt>
                <c:pt idx="34">
                  <c:v>0.88</c:v>
                </c:pt>
                <c:pt idx="35">
                  <c:v>0.9</c:v>
                </c:pt>
                <c:pt idx="36">
                  <c:v>0.92</c:v>
                </c:pt>
                <c:pt idx="37">
                  <c:v>0.94</c:v>
                </c:pt>
                <c:pt idx="38">
                  <c:v>0.96</c:v>
                </c:pt>
                <c:pt idx="39">
                  <c:v>0.98</c:v>
                </c:pt>
                <c:pt idx="40">
                  <c:v>1.0</c:v>
                </c:pt>
                <c:pt idx="41">
                  <c:v>1.02</c:v>
                </c:pt>
                <c:pt idx="42">
                  <c:v>1.04</c:v>
                </c:pt>
                <c:pt idx="43">
                  <c:v>1.06</c:v>
                </c:pt>
                <c:pt idx="44">
                  <c:v>1.08</c:v>
                </c:pt>
                <c:pt idx="45">
                  <c:v>1.1</c:v>
                </c:pt>
                <c:pt idx="46">
                  <c:v>1.12</c:v>
                </c:pt>
                <c:pt idx="47">
                  <c:v>1.14</c:v>
                </c:pt>
                <c:pt idx="48">
                  <c:v>1.16</c:v>
                </c:pt>
                <c:pt idx="49">
                  <c:v>1.18</c:v>
                </c:pt>
                <c:pt idx="50">
                  <c:v>1.2</c:v>
                </c:pt>
                <c:pt idx="51">
                  <c:v>1.22</c:v>
                </c:pt>
                <c:pt idx="52">
                  <c:v>1.24</c:v>
                </c:pt>
                <c:pt idx="53">
                  <c:v>1.26</c:v>
                </c:pt>
                <c:pt idx="54">
                  <c:v>1.28</c:v>
                </c:pt>
                <c:pt idx="55">
                  <c:v>1.3</c:v>
                </c:pt>
                <c:pt idx="56">
                  <c:v>1.32</c:v>
                </c:pt>
                <c:pt idx="57">
                  <c:v>1.34</c:v>
                </c:pt>
                <c:pt idx="58">
                  <c:v>1.36</c:v>
                </c:pt>
                <c:pt idx="59">
                  <c:v>1.38</c:v>
                </c:pt>
                <c:pt idx="60">
                  <c:v>1.4</c:v>
                </c:pt>
                <c:pt idx="61">
                  <c:v>1.42</c:v>
                </c:pt>
                <c:pt idx="62">
                  <c:v>1.44</c:v>
                </c:pt>
                <c:pt idx="63">
                  <c:v>1.46</c:v>
                </c:pt>
                <c:pt idx="64">
                  <c:v>1.48</c:v>
                </c:pt>
                <c:pt idx="65">
                  <c:v>1.5</c:v>
                </c:pt>
                <c:pt idx="66">
                  <c:v>1.52</c:v>
                </c:pt>
                <c:pt idx="67">
                  <c:v>1.54</c:v>
                </c:pt>
                <c:pt idx="68">
                  <c:v>1.56</c:v>
                </c:pt>
                <c:pt idx="69">
                  <c:v>1.58</c:v>
                </c:pt>
                <c:pt idx="70">
                  <c:v>1.6</c:v>
                </c:pt>
                <c:pt idx="71">
                  <c:v>1.62</c:v>
                </c:pt>
                <c:pt idx="72">
                  <c:v>1.64</c:v>
                </c:pt>
                <c:pt idx="73">
                  <c:v>1.66</c:v>
                </c:pt>
                <c:pt idx="74">
                  <c:v>1.68</c:v>
                </c:pt>
                <c:pt idx="75">
                  <c:v>1.7</c:v>
                </c:pt>
                <c:pt idx="76">
                  <c:v>1.72</c:v>
                </c:pt>
                <c:pt idx="77">
                  <c:v>1.74</c:v>
                </c:pt>
                <c:pt idx="78">
                  <c:v>1.76</c:v>
                </c:pt>
                <c:pt idx="79">
                  <c:v>1.78</c:v>
                </c:pt>
                <c:pt idx="80">
                  <c:v>1.8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0.522</c:v>
                </c:pt>
                <c:pt idx="1">
                  <c:v>0.557</c:v>
                </c:pt>
                <c:pt idx="2">
                  <c:v>0.593</c:v>
                </c:pt>
                <c:pt idx="3">
                  <c:v>0.629</c:v>
                </c:pt>
                <c:pt idx="4">
                  <c:v>0.667</c:v>
                </c:pt>
                <c:pt idx="5">
                  <c:v>0.704</c:v>
                </c:pt>
                <c:pt idx="6">
                  <c:v>0.742</c:v>
                </c:pt>
                <c:pt idx="7">
                  <c:v>0.779</c:v>
                </c:pt>
                <c:pt idx="8">
                  <c:v>0.816</c:v>
                </c:pt>
                <c:pt idx="9">
                  <c:v>0.853</c:v>
                </c:pt>
                <c:pt idx="10">
                  <c:v>0.889</c:v>
                </c:pt>
                <c:pt idx="11">
                  <c:v>0.924</c:v>
                </c:pt>
                <c:pt idx="12">
                  <c:v>0.958</c:v>
                </c:pt>
                <c:pt idx="13">
                  <c:v>0.99</c:v>
                </c:pt>
                <c:pt idx="14">
                  <c:v>1.021</c:v>
                </c:pt>
                <c:pt idx="15">
                  <c:v>1.05</c:v>
                </c:pt>
                <c:pt idx="16">
                  <c:v>1.077</c:v>
                </c:pt>
                <c:pt idx="17">
                  <c:v>1.102</c:v>
                </c:pt>
                <c:pt idx="18">
                  <c:v>1.124</c:v>
                </c:pt>
                <c:pt idx="19">
                  <c:v>1.144</c:v>
                </c:pt>
                <c:pt idx="20">
                  <c:v>1.161</c:v>
                </c:pt>
                <c:pt idx="21">
                  <c:v>1.175</c:v>
                </c:pt>
                <c:pt idx="22">
                  <c:v>1.186</c:v>
                </c:pt>
                <c:pt idx="23">
                  <c:v>1.194</c:v>
                </c:pt>
                <c:pt idx="24">
                  <c:v>1.198</c:v>
                </c:pt>
                <c:pt idx="25">
                  <c:v>1.2</c:v>
                </c:pt>
                <c:pt idx="26">
                  <c:v>1.198</c:v>
                </c:pt>
                <c:pt idx="27">
                  <c:v>1.194</c:v>
                </c:pt>
                <c:pt idx="28">
                  <c:v>1.186</c:v>
                </c:pt>
                <c:pt idx="29">
                  <c:v>1.175</c:v>
                </c:pt>
                <c:pt idx="30">
                  <c:v>1.161</c:v>
                </c:pt>
                <c:pt idx="31">
                  <c:v>1.144</c:v>
                </c:pt>
                <c:pt idx="32">
                  <c:v>1.124</c:v>
                </c:pt>
                <c:pt idx="33">
                  <c:v>1.102</c:v>
                </c:pt>
                <c:pt idx="34">
                  <c:v>1.077</c:v>
                </c:pt>
                <c:pt idx="35">
                  <c:v>1.05</c:v>
                </c:pt>
                <c:pt idx="36">
                  <c:v>1.021</c:v>
                </c:pt>
                <c:pt idx="37">
                  <c:v>2.59</c:v>
                </c:pt>
                <c:pt idx="38">
                  <c:v>2.558</c:v>
                </c:pt>
                <c:pt idx="39">
                  <c:v>0.924</c:v>
                </c:pt>
                <c:pt idx="40">
                  <c:v>0.889</c:v>
                </c:pt>
                <c:pt idx="41">
                  <c:v>0.853</c:v>
                </c:pt>
                <c:pt idx="42">
                  <c:v>0.816</c:v>
                </c:pt>
                <c:pt idx="43">
                  <c:v>0.779</c:v>
                </c:pt>
                <c:pt idx="44">
                  <c:v>2.042</c:v>
                </c:pt>
                <c:pt idx="45">
                  <c:v>2.004</c:v>
                </c:pt>
                <c:pt idx="46">
                  <c:v>1.967</c:v>
                </c:pt>
                <c:pt idx="47">
                  <c:v>0.629</c:v>
                </c:pt>
                <c:pt idx="48">
                  <c:v>0.593</c:v>
                </c:pt>
                <c:pt idx="49">
                  <c:v>0.557</c:v>
                </c:pt>
                <c:pt idx="50">
                  <c:v>0.522</c:v>
                </c:pt>
                <c:pt idx="51">
                  <c:v>0.487</c:v>
                </c:pt>
                <c:pt idx="52">
                  <c:v>0.454</c:v>
                </c:pt>
                <c:pt idx="53">
                  <c:v>0.422</c:v>
                </c:pt>
                <c:pt idx="54">
                  <c:v>0.391</c:v>
                </c:pt>
                <c:pt idx="55">
                  <c:v>0.361</c:v>
                </c:pt>
                <c:pt idx="56">
                  <c:v>0.333</c:v>
                </c:pt>
                <c:pt idx="57">
                  <c:v>0.306</c:v>
                </c:pt>
                <c:pt idx="58">
                  <c:v>0.281</c:v>
                </c:pt>
                <c:pt idx="59">
                  <c:v>0.257</c:v>
                </c:pt>
                <c:pt idx="60">
                  <c:v>0.234</c:v>
                </c:pt>
                <c:pt idx="61">
                  <c:v>0.213</c:v>
                </c:pt>
                <c:pt idx="62">
                  <c:v>0.193</c:v>
                </c:pt>
                <c:pt idx="63">
                  <c:v>0.175</c:v>
                </c:pt>
                <c:pt idx="64">
                  <c:v>0.158</c:v>
                </c:pt>
                <c:pt idx="65">
                  <c:v>0.142</c:v>
                </c:pt>
                <c:pt idx="66">
                  <c:v>0.128</c:v>
                </c:pt>
                <c:pt idx="67">
                  <c:v>0.114</c:v>
                </c:pt>
                <c:pt idx="68">
                  <c:v>0.102</c:v>
                </c:pt>
                <c:pt idx="69">
                  <c:v>0.091</c:v>
                </c:pt>
                <c:pt idx="70">
                  <c:v>0.081</c:v>
                </c:pt>
                <c:pt idx="71">
                  <c:v>0.071</c:v>
                </c:pt>
                <c:pt idx="72">
                  <c:v>0.063</c:v>
                </c:pt>
                <c:pt idx="73">
                  <c:v>0.056</c:v>
                </c:pt>
                <c:pt idx="74">
                  <c:v>0.049</c:v>
                </c:pt>
                <c:pt idx="75">
                  <c:v>0.043</c:v>
                </c:pt>
                <c:pt idx="76">
                  <c:v>0.037</c:v>
                </c:pt>
                <c:pt idx="77">
                  <c:v>0.033</c:v>
                </c:pt>
                <c:pt idx="78">
                  <c:v>0.028</c:v>
                </c:pt>
                <c:pt idx="79">
                  <c:v>0.025</c:v>
                </c:pt>
                <c:pt idx="80">
                  <c:v>0.021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λ / 10⁻¹⁰ m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relative intensity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sl:dc-w0"/>
          <p:cNvCxnSpPr/>
          <p:nvPr/>
        </p:nvCxnSpPr>
        <p:spPr>
          <a:xfrm>
            <a:off x="7239000" y="2857500"/>
            <a:ext cx="76200" cy="14139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sl:dc-w1"/>
          <p:cNvCxnSpPr/>
          <p:nvPr/>
        </p:nvCxnSpPr>
        <p:spPr>
          <a:xfrm>
            <a:off x="7315200" y="2998891"/>
            <a:ext cx="76200" cy="13260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w2"/>
          <p:cNvCxnSpPr/>
          <p:nvPr/>
        </p:nvCxnSpPr>
        <p:spPr>
          <a:xfrm>
            <a:off x="7391400" y="3131491"/>
            <a:ext cx="76200" cy="1155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w3"/>
          <p:cNvCxnSpPr/>
          <p:nvPr/>
        </p:nvCxnSpPr>
        <p:spPr>
          <a:xfrm>
            <a:off x="7467600" y="3247056"/>
            <a:ext cx="76200" cy="913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w4"/>
          <p:cNvCxnSpPr/>
          <p:nvPr/>
        </p:nvCxnSpPr>
        <p:spPr>
          <a:xfrm>
            <a:off x="7543800" y="3338400"/>
            <a:ext cx="76200" cy="614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w5"/>
          <p:cNvCxnSpPr/>
          <p:nvPr/>
        </p:nvCxnSpPr>
        <p:spPr>
          <a:xfrm>
            <a:off x="7620000" y="3399844"/>
            <a:ext cx="76200" cy="27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w6"/>
          <p:cNvCxnSpPr/>
          <p:nvPr/>
        </p:nvCxnSpPr>
        <p:spPr>
          <a:xfrm flipH="1">
            <a:off x="7696200" y="3419847"/>
            <a:ext cx="76200" cy="772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w7"/>
          <p:cNvCxnSpPr/>
          <p:nvPr/>
        </p:nvCxnSpPr>
        <p:spPr>
          <a:xfrm flipH="1">
            <a:off x="7772400" y="3377163"/>
            <a:ext cx="76200" cy="426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w8"/>
          <p:cNvCxnSpPr/>
          <p:nvPr/>
        </p:nvCxnSpPr>
        <p:spPr>
          <a:xfrm flipH="1">
            <a:off x="7848600" y="3302168"/>
            <a:ext cx="76200" cy="74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w9"/>
          <p:cNvCxnSpPr/>
          <p:nvPr/>
        </p:nvCxnSpPr>
        <p:spPr>
          <a:xfrm flipH="1">
            <a:off x="7924800" y="3199526"/>
            <a:ext cx="76200" cy="10264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w10"/>
          <p:cNvCxnSpPr/>
          <p:nvPr/>
        </p:nvCxnSpPr>
        <p:spPr>
          <a:xfrm flipH="1">
            <a:off x="8001000" y="3075619"/>
            <a:ext cx="76200" cy="1239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w11"/>
          <p:cNvCxnSpPr/>
          <p:nvPr/>
        </p:nvCxnSpPr>
        <p:spPr>
          <a:xfrm flipH="1">
            <a:off x="8077200" y="2938150"/>
            <a:ext cx="76200" cy="13746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w12"/>
          <p:cNvCxnSpPr/>
          <p:nvPr/>
        </p:nvCxnSpPr>
        <p:spPr>
          <a:xfrm flipH="1">
            <a:off x="8153400" y="2795666"/>
            <a:ext cx="76200" cy="1424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dc-w13"/>
          <p:cNvCxnSpPr/>
          <p:nvPr/>
        </p:nvCxnSpPr>
        <p:spPr>
          <a:xfrm flipH="1">
            <a:off x="8229600" y="2657027"/>
            <a:ext cx="76200" cy="13863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dc-w14"/>
          <p:cNvCxnSpPr/>
          <p:nvPr/>
        </p:nvCxnSpPr>
        <p:spPr>
          <a:xfrm flipH="1">
            <a:off x="8305800" y="2530852"/>
            <a:ext cx="76200" cy="12617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dc-w15"/>
          <p:cNvCxnSpPr/>
          <p:nvPr/>
        </p:nvCxnSpPr>
        <p:spPr>
          <a:xfrm flipH="1">
            <a:off x="8382000" y="2424987"/>
            <a:ext cx="76200" cy="1058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dc-w16"/>
          <p:cNvCxnSpPr/>
          <p:nvPr/>
        </p:nvCxnSpPr>
        <p:spPr>
          <a:xfrm flipH="1">
            <a:off x="8458200" y="2346013"/>
            <a:ext cx="76200" cy="7897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dc-w17"/>
          <p:cNvCxnSpPr/>
          <p:nvPr/>
        </p:nvCxnSpPr>
        <p:spPr>
          <a:xfrm flipH="1">
            <a:off x="8534400" y="2298841"/>
            <a:ext cx="76200" cy="471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c-w18"/>
          <p:cNvCxnSpPr/>
          <p:nvPr/>
        </p:nvCxnSpPr>
        <p:spPr>
          <a:xfrm flipH="1">
            <a:off x="8610600" y="2286404"/>
            <a:ext cx="76200" cy="1243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c-w19"/>
          <p:cNvCxnSpPr/>
          <p:nvPr/>
        </p:nvCxnSpPr>
        <p:spPr>
          <a:xfrm>
            <a:off x="8686800" y="2286404"/>
            <a:ext cx="76200" cy="230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c-w20"/>
          <p:cNvCxnSpPr/>
          <p:nvPr/>
        </p:nvCxnSpPr>
        <p:spPr>
          <a:xfrm>
            <a:off x="8763000" y="2309474"/>
            <a:ext cx="76200" cy="571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c-w21"/>
          <p:cNvCxnSpPr/>
          <p:nvPr/>
        </p:nvCxnSpPr>
        <p:spPr>
          <a:xfrm>
            <a:off x="8839200" y="2366618"/>
            <a:ext cx="76200" cy="876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dc-w22"/>
          <p:cNvCxnSpPr/>
          <p:nvPr/>
        </p:nvCxnSpPr>
        <p:spPr>
          <a:xfrm>
            <a:off x="8915400" y="2454283"/>
            <a:ext cx="76200" cy="11273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dc-w23"/>
          <p:cNvCxnSpPr/>
          <p:nvPr/>
        </p:nvCxnSpPr>
        <p:spPr>
          <a:xfrm>
            <a:off x="8991600" y="2567018"/>
            <a:ext cx="76200" cy="13079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c-w24"/>
          <p:cNvCxnSpPr/>
          <p:nvPr/>
        </p:nvCxnSpPr>
        <p:spPr>
          <a:xfrm>
            <a:off x="9067800" y="2697814"/>
            <a:ext cx="76200" cy="140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dc-w25"/>
          <p:cNvCxnSpPr/>
          <p:nvPr/>
        </p:nvCxnSpPr>
        <p:spPr>
          <a:xfrm>
            <a:off x="9144000" y="2838538"/>
            <a:ext cx="76200" cy="1419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sl:dc-w26"/>
          <p:cNvCxnSpPr/>
          <p:nvPr/>
        </p:nvCxnSpPr>
        <p:spPr>
          <a:xfrm>
            <a:off x="9220200" y="2980441"/>
            <a:ext cx="76200" cy="13425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dc-w27"/>
          <p:cNvCxnSpPr/>
          <p:nvPr/>
        </p:nvCxnSpPr>
        <p:spPr>
          <a:xfrm>
            <a:off x="9296400" y="3114700"/>
            <a:ext cx="76200" cy="11826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sl:dc-w28"/>
          <p:cNvCxnSpPr/>
          <p:nvPr/>
        </p:nvCxnSpPr>
        <p:spPr>
          <a:xfrm>
            <a:off x="9372600" y="3232967"/>
            <a:ext cx="76200" cy="9492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sl:dc-w29"/>
          <p:cNvCxnSpPr/>
          <p:nvPr/>
        </p:nvCxnSpPr>
        <p:spPr>
          <a:xfrm>
            <a:off x="9448800" y="3327890"/>
            <a:ext cx="76200" cy="6567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dsl:dc-w30"/>
          <p:cNvCxnSpPr/>
          <p:nvPr/>
        </p:nvCxnSpPr>
        <p:spPr>
          <a:xfrm>
            <a:off x="9525000" y="3393566"/>
            <a:ext cx="76200" cy="323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sl:dc-w31"/>
          <p:cNvCxnSpPr/>
          <p:nvPr/>
        </p:nvCxnSpPr>
        <p:spPr>
          <a:xfrm flipH="1">
            <a:off x="9601200" y="3422918"/>
            <a:ext cx="76200" cy="2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sl:dc-w32"/>
          <p:cNvCxnSpPr/>
          <p:nvPr/>
        </p:nvCxnSpPr>
        <p:spPr>
          <a:xfrm flipH="1">
            <a:off x="9677400" y="3384768"/>
            <a:ext cx="76200" cy="3815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sl:dc-w33"/>
          <p:cNvCxnSpPr/>
          <p:nvPr/>
        </p:nvCxnSpPr>
        <p:spPr>
          <a:xfrm flipH="1">
            <a:off x="9753600" y="3313835"/>
            <a:ext cx="76200" cy="7093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sl:dc-w34"/>
          <p:cNvCxnSpPr/>
          <p:nvPr/>
        </p:nvCxnSpPr>
        <p:spPr>
          <a:xfrm flipH="1">
            <a:off x="9829800" y="3214529"/>
            <a:ext cx="76200" cy="9930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dsl:dc-w35"/>
          <p:cNvCxnSpPr/>
          <p:nvPr/>
        </p:nvCxnSpPr>
        <p:spPr>
          <a:xfrm flipH="1">
            <a:off x="9906000" y="3093025"/>
            <a:ext cx="76200" cy="12150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sl:dc-w36"/>
          <p:cNvCxnSpPr/>
          <p:nvPr/>
        </p:nvCxnSpPr>
        <p:spPr>
          <a:xfrm flipH="1">
            <a:off x="9982200" y="2956877"/>
            <a:ext cx="76200" cy="13614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sl:dc-w37"/>
          <p:cNvCxnSpPr/>
          <p:nvPr/>
        </p:nvCxnSpPr>
        <p:spPr>
          <a:xfrm flipH="1">
            <a:off x="10058400" y="2814551"/>
            <a:ext cx="76200" cy="14232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sl:dc-w38"/>
          <p:cNvCxnSpPr/>
          <p:nvPr/>
        </p:nvCxnSpPr>
        <p:spPr>
          <a:xfrm flipH="1">
            <a:off x="10134600" y="2674894"/>
            <a:ext cx="76200" cy="13965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sl:dc-w39"/>
          <p:cNvCxnSpPr/>
          <p:nvPr/>
        </p:nvCxnSpPr>
        <p:spPr>
          <a:xfrm flipH="1">
            <a:off x="10210800" y="2546591"/>
            <a:ext cx="76200" cy="1283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sl:dc-w40"/>
          <p:cNvCxnSpPr/>
          <p:nvPr/>
        </p:nvCxnSpPr>
        <p:spPr>
          <a:xfrm flipH="1">
            <a:off x="10287000" y="2437619"/>
            <a:ext cx="76200" cy="1089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dsl:dc-w41"/>
          <p:cNvCxnSpPr/>
          <p:nvPr/>
        </p:nvCxnSpPr>
        <p:spPr>
          <a:xfrm flipH="1">
            <a:off x="10363200" y="2354753"/>
            <a:ext cx="76200" cy="8286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sl:dc-w42"/>
          <p:cNvCxnSpPr/>
          <p:nvPr/>
        </p:nvCxnSpPr>
        <p:spPr>
          <a:xfrm flipH="1">
            <a:off x="10439400" y="2303146"/>
            <a:ext cx="76200" cy="516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dsl:dc-w43"/>
          <p:cNvCxnSpPr/>
          <p:nvPr/>
        </p:nvCxnSpPr>
        <p:spPr>
          <a:xfrm flipH="1">
            <a:off x="10515600" y="2286005"/>
            <a:ext cx="76200" cy="1714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sl:dc-w44"/>
          <p:cNvCxnSpPr/>
          <p:nvPr/>
        </p:nvCxnSpPr>
        <p:spPr>
          <a:xfrm>
            <a:off x="10591800" y="2286005"/>
            <a:ext cx="76200" cy="1839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sl:dc-w45"/>
          <p:cNvCxnSpPr/>
          <p:nvPr/>
        </p:nvCxnSpPr>
        <p:spPr>
          <a:xfrm>
            <a:off x="10668000" y="2304397"/>
            <a:ext cx="76200" cy="5278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sl:dc-w46"/>
          <p:cNvCxnSpPr/>
          <p:nvPr/>
        </p:nvCxnSpPr>
        <p:spPr>
          <a:xfrm>
            <a:off x="10744200" y="2357179"/>
            <a:ext cx="76200" cy="8388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dsl:dc-w47"/>
          <p:cNvCxnSpPr/>
          <p:nvPr/>
        </p:nvCxnSpPr>
        <p:spPr>
          <a:xfrm>
            <a:off x="10820400" y="2441067"/>
            <a:ext cx="76200" cy="10978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sl:dc-w48"/>
          <p:cNvCxnSpPr/>
          <p:nvPr/>
        </p:nvCxnSpPr>
        <p:spPr>
          <a:xfrm>
            <a:off x="10896600" y="2550848"/>
            <a:ext cx="76200" cy="1288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dsl:dc-w49"/>
          <p:cNvCxnSpPr/>
          <p:nvPr/>
        </p:nvCxnSpPr>
        <p:spPr>
          <a:xfrm>
            <a:off x="10972800" y="2679695"/>
            <a:ext cx="76200" cy="13990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dsl:dc-w50"/>
          <p:cNvCxnSpPr/>
          <p:nvPr/>
        </p:nvCxnSpPr>
        <p:spPr>
          <a:xfrm>
            <a:off x="11049000" y="2819597"/>
            <a:ext cx="76200" cy="14225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sl:dc-w51"/>
          <p:cNvCxnSpPr/>
          <p:nvPr/>
        </p:nvCxnSpPr>
        <p:spPr>
          <a:xfrm>
            <a:off x="11125200" y="2961855"/>
            <a:ext cx="76200" cy="1357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dsl:dc-w52"/>
          <p:cNvCxnSpPr/>
          <p:nvPr/>
        </p:nvCxnSpPr>
        <p:spPr>
          <a:xfrm>
            <a:off x="11201400" y="3097625"/>
            <a:ext cx="76200" cy="12084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dsl:dc-w53"/>
          <p:cNvCxnSpPr/>
          <p:nvPr/>
        </p:nvCxnSpPr>
        <p:spPr>
          <a:xfrm>
            <a:off x="11277600" y="3218465"/>
            <a:ext cx="76200" cy="9839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sl:dc-w54"/>
          <p:cNvCxnSpPr/>
          <p:nvPr/>
        </p:nvCxnSpPr>
        <p:spPr>
          <a:xfrm>
            <a:off x="11353800" y="3316862"/>
            <a:ext cx="76200" cy="6983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sl:dc-dot"/>
          <p:cNvSpPr/>
          <p:nvPr/>
        </p:nvSpPr>
        <p:spPr>
          <a:xfrm>
            <a:off x="9620250" y="4476750"/>
            <a:ext cx="133350" cy="13335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24</a:t>
            </a:r>
          </a:p>
        </p:txBody>
      </p:sp>
      <p:sp>
        <p:nvSpPr>
          <p:cNvPr id="59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Medical Physics</a:t>
            </a:r>
          </a:p>
        </p:txBody>
      </p:sp>
      <p:sp>
        <p:nvSpPr>
          <p:cNvPr id="60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医学物理</a:t>
            </a:r>
          </a:p>
        </p:txBody>
      </p:sp>
      <p:cxnSp>
        <p:nvCxnSpPr>
          <p:cNvPr id="61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63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18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24.1 Ultrasound in medicine 医学超声</a:t>
            </a:r>
          </a:p>
        </p:txBody>
      </p:sp>
      <p:pic>
        <p:nvPicPr>
          <p:cNvPr id="14" name="dsl:oc0_0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Piezo-electric effect: generating and detecting ultrasound 压电效应</a:t>
            </a:r>
          </a:p>
        </p:txBody>
      </p:sp>
      <p:pic>
        <p:nvPicPr>
          <p:cNvPr id="16" name="dsl:oc0_1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Specific acoustic impedance Z = ρc and intensity reflection coefficient 声阻抗与反射系数</a:t>
            </a:r>
          </a:p>
        </p:txBody>
      </p:sp>
      <p:pic>
        <p:nvPicPr>
          <p:cNvPr id="18" name="dsl:oc0_2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7146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6860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Attenuation I = I₀e^(−μx); A-scan and B-scan 衰减与成像方式</a:t>
            </a:r>
          </a:p>
        </p:txBody>
      </p:sp>
      <p:sp>
        <p:nvSpPr>
          <p:cNvPr id="20" name="dsl:og1"/>
          <p:cNvSpPr txBox="1"/>
          <p:nvPr/>
        </p:nvSpPr>
        <p:spPr>
          <a:xfrm>
            <a:off x="3467100" y="31051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24.2 X-rays in medicine 医学 X 射线</a:t>
            </a:r>
          </a:p>
        </p:txBody>
      </p:sp>
      <p:pic>
        <p:nvPicPr>
          <p:cNvPr id="21" name="dsl:oc1_0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0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Production of X-rays; minimum wavelength λmin = hc/eV X 射线产生</a:t>
            </a:r>
          </a:p>
        </p:txBody>
      </p:sp>
      <p:pic>
        <p:nvPicPr>
          <p:cNvPr id="23" name="dsl:oc1_1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7623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1"/>
          <p:cNvSpPr txBox="1"/>
          <p:nvPr/>
        </p:nvSpPr>
        <p:spPr>
          <a:xfrm>
            <a:off x="3752850" y="37338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Attenuation mechanisms; improving image contrast 衰减与影像对比</a:t>
            </a:r>
          </a:p>
        </p:txBody>
      </p:sp>
      <p:pic>
        <p:nvPicPr>
          <p:cNvPr id="25" name="dsl:oc1_2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0671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ot1_2"/>
          <p:cNvSpPr txBox="1"/>
          <p:nvPr/>
        </p:nvSpPr>
        <p:spPr>
          <a:xfrm>
            <a:off x="3752850" y="40386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CT scanning: image reconstruction CT 扫描</a:t>
            </a:r>
          </a:p>
        </p:txBody>
      </p:sp>
      <p:sp>
        <p:nvSpPr>
          <p:cNvPr id="27" name="dsl:og2"/>
          <p:cNvSpPr txBox="1"/>
          <p:nvPr/>
        </p:nvSpPr>
        <p:spPr>
          <a:xfrm>
            <a:off x="3467100" y="44577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24.3 PET scanning PET 扫描</a:t>
            </a:r>
          </a:p>
        </p:txBody>
      </p:sp>
      <p:pic>
        <p:nvPicPr>
          <p:cNvPr id="28" name="dsl:oc2_0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8101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ot2_0"/>
          <p:cNvSpPr txBox="1"/>
          <p:nvPr/>
        </p:nvSpPr>
        <p:spPr>
          <a:xfrm>
            <a:off x="3752850" y="47815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Radioactive tracers; positron emission and annihilation 示踪剂与湮灭</a:t>
            </a:r>
          </a:p>
        </p:txBody>
      </p:sp>
      <p:pic>
        <p:nvPicPr>
          <p:cNvPr id="30" name="dsl:oc2_1|i=fas:square-check" descr="tmp5cswg7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1149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1" name="dsl:ot2_1"/>
          <p:cNvSpPr txBox="1"/>
          <p:nvPr/>
        </p:nvSpPr>
        <p:spPr>
          <a:xfrm>
            <a:off x="3752850" y="50863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Detection of the two 511 keV γ-ray photons 符合探测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Piezo-electric Effect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压电效应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59067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59067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3620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piezo-electric crystal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(e.g. quartz, PZT) changes shape when a p.d. is applied across it, and produces an e.m.f. across its faces when it is compressed or stretched.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压电晶体：加电压⇒形变；受形变⇒产生电动势，效应可逆。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571875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effect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reversible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the same crystal generates and detects ultrasound 收发两用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Applying an alternating p.d. makes the crystal vibrate 交变电压使晶体振动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Vibration amplitude is greatest at the crystal's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resonant frequency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共振时振幅最大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z-cr"/>
          <p:cNvSpPr/>
          <p:nvPr/>
        </p:nvSpPr>
        <p:spPr>
          <a:xfrm>
            <a:off x="8001000" y="2667000"/>
            <a:ext cx="1905000" cy="1143000"/>
          </a:xfrm>
          <a:prstGeom prst="rect">
            <a:avLst/>
          </a:prstGeom>
          <a:solidFill>
            <a:srgbClr val="E2EBEC"/>
          </a:solidFill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z-crt"/>
          <p:cNvSpPr txBox="1"/>
          <p:nvPr/>
        </p:nvSpPr>
        <p:spPr>
          <a:xfrm>
            <a:off x="8001000" y="2857500"/>
            <a:ext cx="190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E4D64"/>
                </a:solidFill>
                <a:latin typeface="MiSans"/>
                <a:ea typeface="MiSans"/>
              </a:rPr>
              <a:t>piezo-electric crystal</a:t>
            </a:r>
          </a:p>
        </p:txBody>
      </p:sp>
      <p:sp>
        <p:nvSpPr>
          <p:cNvPr id="16" name="dsl:pz-crc|s=$small"/>
          <p:cNvSpPr txBox="1"/>
          <p:nvPr/>
        </p:nvSpPr>
        <p:spPr>
          <a:xfrm>
            <a:off x="8001000" y="3143250"/>
            <a:ext cx="1905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压电晶体</a:t>
            </a:r>
          </a:p>
        </p:txBody>
      </p:sp>
      <p:cxnSp>
        <p:nvCxnSpPr>
          <p:cNvPr id="17" name="dsl:pz-t1"/>
          <p:cNvCxnSpPr/>
          <p:nvPr/>
        </p:nvCxnSpPr>
        <p:spPr>
          <a:xfrm>
            <a:off x="8763000" y="2286000"/>
            <a:ext cx="0" cy="3810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pz-t1t"/>
          <p:cNvSpPr txBox="1"/>
          <p:nvPr/>
        </p:nvSpPr>
        <p:spPr>
          <a:xfrm>
            <a:off x="8915400" y="2114550"/>
            <a:ext cx="18097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applied p.d. 加电压</a:t>
            </a:r>
          </a:p>
        </p:txBody>
      </p:sp>
      <p:cxnSp>
        <p:nvCxnSpPr>
          <p:cNvPr id="19" name="dsl:pz-t2"/>
          <p:cNvCxnSpPr/>
          <p:nvPr/>
        </p:nvCxnSpPr>
        <p:spPr>
          <a:xfrm>
            <a:off x="9906000" y="3238500"/>
            <a:ext cx="53340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pz-t2t"/>
          <p:cNvSpPr txBox="1"/>
          <p:nvPr/>
        </p:nvSpPr>
        <p:spPr>
          <a:xfrm>
            <a:off x="10001250" y="3429000"/>
            <a:ext cx="15811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deforms 形变</a:t>
            </a:r>
          </a:p>
        </p:txBody>
      </p:sp>
      <p:cxnSp>
        <p:nvCxnSpPr>
          <p:cNvPr id="21" name="dsl:pz-t3"/>
          <p:cNvCxnSpPr/>
          <p:nvPr/>
        </p:nvCxnSpPr>
        <p:spPr>
          <a:xfrm>
            <a:off x="8763000" y="3810000"/>
            <a:ext cx="0" cy="4191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pz-t3t"/>
          <p:cNvSpPr txBox="1"/>
          <p:nvPr/>
        </p:nvSpPr>
        <p:spPr>
          <a:xfrm>
            <a:off x="8915400" y="4248150"/>
            <a:ext cx="21907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strain ⇒ e.m.f. 形变⇒电压</a:t>
            </a:r>
          </a:p>
        </p:txBody>
      </p:sp>
      <p:sp>
        <p:nvSpPr>
          <p:cNvPr id="23" name="dsl:pz-cap|s=$small"/>
          <p:cNvSpPr txBox="1"/>
          <p:nvPr/>
        </p:nvSpPr>
        <p:spPr>
          <a:xfrm>
            <a:off x="6286500" y="53340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Reversible piezo-electric effect 可逆压电效应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Generating &amp; Detecting Ultrasound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超声的产生与接收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An ultrasound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transducer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uses a piezo-electric crystal. An alternating p.d. at the crystal's resonant frequency produces an ultrasound pulse; a returning echo makes the crystal vibrate and generates an electrical signal.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换能器：交变电压⇒超声脉冲；回波⇒电信号，同一晶体收发分时工作。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314700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Ultrasound = sound waves with frequency above 20 kHz; medical imaging uses 1–15 MHz 医学超声频率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crystal is damped to produce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short pulses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transmission and reception share the same crystal 短脉冲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Echo delay time ⇒ distance to the reflecting boundary: depth = ½ct 回波延时⇒深度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Pulse repetition frequency limited by echo return time 脉冲重复频率受限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Ultrasound Imaging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超声成像原理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18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790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Pulses reflect at boundaries between different tissues 组织界面反射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Echo delay ⇒ depth; echo amplitude ⇒ boundary type 延时定深度、幅度辨界面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A-scan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1-D graph of echo amplitude vs time 一维幅度显示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B-scan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2-D image built from many A-scans as the probe moves 二维图像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Advantages: no ionising radiation, real-time, relatively cheap 无电离辐射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us-prb"/>
          <p:cNvSpPr/>
          <p:nvPr/>
        </p:nvSpPr>
        <p:spPr>
          <a:xfrm>
            <a:off x="6667500" y="2286000"/>
            <a:ext cx="571500" cy="2476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us-prbt"/>
          <p:cNvSpPr txBox="1"/>
          <p:nvPr/>
        </p:nvSpPr>
        <p:spPr>
          <a:xfrm>
            <a:off x="6667500" y="2286000"/>
            <a:ext cx="571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probe</a:t>
            </a:r>
          </a:p>
        </p:txBody>
      </p:sp>
      <p:sp>
        <p:nvSpPr>
          <p:cNvPr id="13" name="dsl:us-skin"/>
          <p:cNvSpPr/>
          <p:nvPr/>
        </p:nvSpPr>
        <p:spPr>
          <a:xfrm>
            <a:off x="6477000" y="2533650"/>
            <a:ext cx="4000500" cy="2476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us-skint|s=$small"/>
          <p:cNvSpPr txBox="1"/>
          <p:nvPr/>
        </p:nvSpPr>
        <p:spPr>
          <a:xfrm>
            <a:off x="6477000" y="2533650"/>
            <a:ext cx="4000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skin 皮肤</a:t>
            </a:r>
          </a:p>
        </p:txBody>
      </p:sp>
      <p:sp>
        <p:nvSpPr>
          <p:cNvPr id="15" name="dsl:us-tis"/>
          <p:cNvSpPr/>
          <p:nvPr/>
        </p:nvSpPr>
        <p:spPr>
          <a:xfrm>
            <a:off x="6477000" y="2781300"/>
            <a:ext cx="4000500" cy="14287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us-tist|s=$small"/>
          <p:cNvSpPr txBox="1"/>
          <p:nvPr/>
        </p:nvSpPr>
        <p:spPr>
          <a:xfrm>
            <a:off x="7239000" y="2819400"/>
            <a:ext cx="1143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soft tissue 软组织</a:t>
            </a:r>
          </a:p>
        </p:txBody>
      </p:sp>
      <p:sp>
        <p:nvSpPr>
          <p:cNvPr id="17" name="dsl:us-bone"/>
          <p:cNvSpPr/>
          <p:nvPr/>
        </p:nvSpPr>
        <p:spPr>
          <a:xfrm>
            <a:off x="6477000" y="4210050"/>
            <a:ext cx="4000500" cy="323850"/>
          </a:xfrm>
          <a:prstGeom prst="rect">
            <a:avLst/>
          </a:prstGeom>
          <a:solidFill>
            <a:srgbClr val="5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us-bonet"/>
          <p:cNvSpPr txBox="1"/>
          <p:nvPr/>
        </p:nvSpPr>
        <p:spPr>
          <a:xfrm>
            <a:off x="6477000" y="4210050"/>
            <a:ext cx="400050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bone 骨骼</a:t>
            </a:r>
          </a:p>
        </p:txBody>
      </p:sp>
      <p:cxnSp>
        <p:nvCxnSpPr>
          <p:cNvPr id="19" name="dsl:us-dn"/>
          <p:cNvCxnSpPr/>
          <p:nvPr/>
        </p:nvCxnSpPr>
        <p:spPr>
          <a:xfrm>
            <a:off x="6953250" y="2819400"/>
            <a:ext cx="0" cy="139065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us-up"/>
          <p:cNvCxnSpPr/>
          <p:nvPr/>
        </p:nvCxnSpPr>
        <p:spPr>
          <a:xfrm>
            <a:off x="7124700" y="2819400"/>
            <a:ext cx="0" cy="1390650"/>
          </a:xfrm>
          <a:prstGeom prst="straightConnector1">
            <a:avLst/>
          </a:prstGeom>
          <a:ln w="25400">
            <a:solidFill>
              <a:srgbClr val="D97D29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us-ech"/>
          <p:cNvSpPr txBox="1"/>
          <p:nvPr/>
        </p:nvSpPr>
        <p:spPr>
          <a:xfrm>
            <a:off x="7258050" y="314325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pulse ↓ echo ↑</a:t>
            </a:r>
          </a:p>
        </p:txBody>
      </p:sp>
      <p:sp>
        <p:nvSpPr>
          <p:cNvPr id="22" name="dsl:us-cap|s=$small"/>
          <p:cNvSpPr txBox="1"/>
          <p:nvPr/>
        </p:nvSpPr>
        <p:spPr>
          <a:xfrm>
            <a:off x="6286500" y="51435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Pulse–echo principle 脉冲回波原理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Specific Acoustic Impedance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声阻抗与反射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Specific acoustic impedance Z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 medium is the product of its density ρ and the speed of sound c in it (unit kg m⁻² s⁻¹).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声阻抗 Z = ρc，单位 kg m⁻² s⁻¹。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垂直入射时的强度反射系数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Large mismatch (air↔tissue) ⇒ almost total reflection 空气界面几乎全反射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Coupling gel excludes air so ultrasound can enter the body 耦合剂排除空气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Bone–muscle boundary: α ≈ 0.34 — enough reflection for imaging 骨界面反射适中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Typical Z / 10⁶ kg m⁻² s⁻¹: air ≈ 0.0004, fat 1.4, muscle 1.7, bone ≈ 6.5 典型数值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Attenuation of Ultrasound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超声的衰减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59067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59067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3620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As a parallel beam passes through tissue, absorption reduces its intensity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exponentially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μ is the linear absorption (attenuation) coefficient of the medium.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平行束强度随深度指数衰减。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5718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5718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p>
                </m:sSup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5718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μ 取决于介质与频率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352925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Higher frequency ⇒ better resolution but larger μ (less penetration) 频率：分辨率↔穿透深度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Typical μ (muscle) ≈ 0.23 cm⁻¹ at 1 MHz 典型数值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Formula applies to a parallel beam; divergent beams also lose intensity by spreading 平行束条件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dsl:att-chart"/>
          <p:cNvGraphicFramePr>
            <a:graphicFrameLocks noGrp="1"/>
          </p:cNvGraphicFramePr>
          <p:nvPr/>
        </p:nvGraphicFramePr>
        <p:xfrm>
          <a:off x="6667500" y="2000250"/>
          <a:ext cx="466725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Exponential attenuation in tissue 组织中的指数衰减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Production of X-rays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X 射线的产生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X-rays are produced when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high-speed electrons are suddenly decelerated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by hitting a metal target (anode) in an evacuated X-ray tube.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高速电子轰击金属靶、急剧减速时产生 X 射线。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314700"/>
            <a:ext cx="5334000" cy="1971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Hot cathode emits electrons (thermionic emission) 热阴极发射电子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High p.d. (30–150 kV) accelerates electrons to the anode 高压加速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Only ≈ 1% of electron energy becomes X-rays — the anode needs cooling 效率低需冷却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Rotating anode spreads the heat 旋转阳极散热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xr-tube"/>
          <p:cNvSpPr/>
          <p:nvPr/>
        </p:nvSpPr>
        <p:spPr>
          <a:xfrm>
            <a:off x="6667500" y="2476500"/>
            <a:ext cx="4572000" cy="152400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xr-cat"/>
          <p:cNvSpPr/>
          <p:nvPr/>
        </p:nvSpPr>
        <p:spPr>
          <a:xfrm>
            <a:off x="6858000" y="2952750"/>
            <a:ext cx="476250" cy="571500"/>
          </a:xfrm>
          <a:prstGeom prst="rect">
            <a:avLst/>
          </a:prstGeom>
          <a:solidFill>
            <a:srgbClr val="5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xr-catt|s=$small"/>
          <p:cNvSpPr txBox="1"/>
          <p:nvPr/>
        </p:nvSpPr>
        <p:spPr>
          <a:xfrm>
            <a:off x="6667500" y="36195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cathode 阴极</a:t>
            </a:r>
          </a:p>
        </p:txBody>
      </p:sp>
      <p:sp>
        <p:nvSpPr>
          <p:cNvPr id="17" name="dsl:xr-ano"/>
          <p:cNvSpPr/>
          <p:nvPr/>
        </p:nvSpPr>
        <p:spPr>
          <a:xfrm>
            <a:off x="10287000" y="2857500"/>
            <a:ext cx="381000" cy="7620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xr-anot|s=$small"/>
          <p:cNvSpPr txBox="1"/>
          <p:nvPr/>
        </p:nvSpPr>
        <p:spPr>
          <a:xfrm>
            <a:off x="9810750" y="37147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anode target 阳极靶</a:t>
            </a:r>
          </a:p>
        </p:txBody>
      </p:sp>
      <p:cxnSp>
        <p:nvCxnSpPr>
          <p:cNvPr id="19" name="dsl:xr-e1"/>
          <p:cNvCxnSpPr/>
          <p:nvPr/>
        </p:nvCxnSpPr>
        <p:spPr>
          <a:xfrm>
            <a:off x="7429500" y="3143250"/>
            <a:ext cx="2667000" cy="0"/>
          </a:xfrm>
          <a:prstGeom prst="straightConnector1">
            <a:avLst/>
          </a:prstGeom>
          <a:ln w="25400">
            <a:solidFill>
              <a:srgbClr val="1C2B33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xr-e2"/>
          <p:cNvCxnSpPr/>
          <p:nvPr/>
        </p:nvCxnSpPr>
        <p:spPr>
          <a:xfrm>
            <a:off x="7429500" y="3333750"/>
            <a:ext cx="2667000" cy="0"/>
          </a:xfrm>
          <a:prstGeom prst="straightConnector1">
            <a:avLst/>
          </a:prstGeom>
          <a:ln w="25400">
            <a:solidFill>
              <a:srgbClr val="1C2B33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xr-et"/>
          <p:cNvSpPr txBox="1"/>
          <p:nvPr/>
        </p:nvSpPr>
        <p:spPr>
          <a:xfrm>
            <a:off x="8382000" y="2819400"/>
            <a:ext cx="1714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electron beam 电子束</a:t>
            </a:r>
          </a:p>
        </p:txBody>
      </p:sp>
      <p:cxnSp>
        <p:nvCxnSpPr>
          <p:cNvPr id="22" name="dsl:xr-x1"/>
          <p:cNvCxnSpPr/>
          <p:nvPr/>
        </p:nvCxnSpPr>
        <p:spPr>
          <a:xfrm flipH="1">
            <a:off x="10477500" y="2247900"/>
            <a:ext cx="571500" cy="6096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xr-x2"/>
          <p:cNvCxnSpPr/>
          <p:nvPr/>
        </p:nvCxnSpPr>
        <p:spPr>
          <a:xfrm flipH="1">
            <a:off x="10572750" y="2667000"/>
            <a:ext cx="666750" cy="3810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xr-xt"/>
          <p:cNvSpPr txBox="1"/>
          <p:nvPr/>
        </p:nvSpPr>
        <p:spPr>
          <a:xfrm>
            <a:off x="10744200" y="2019300"/>
            <a:ext cx="762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X-rays</a:t>
            </a:r>
          </a:p>
        </p:txBody>
      </p:sp>
      <p:sp>
        <p:nvSpPr>
          <p:cNvPr id="25" name="dsl:xr-cap|s=$small"/>
          <p:cNvSpPr txBox="1"/>
          <p:nvPr/>
        </p:nvSpPr>
        <p:spPr>
          <a:xfrm>
            <a:off x="6286500" y="47625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X-ray tube X 射线管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X-ray Spectrum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X 射线谱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18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971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Continuous spectrum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bremsstrahlung — electrons decelerated in the target 连续谱（轫致辐射）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Characteristic lines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target atoms' inner-shell transitions 特征谱线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Sharp cut-off at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shortest wavelength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存在最短波长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↑ tube voltage ⇒ shorter λmin (harder X-rays); ↑ current ⇒ higher intensity 管压定硬度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39528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39528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39528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全部电子动能转为一个光子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dsl:spec-chart"/>
          <p:cNvGraphicFramePr>
            <a:graphicFrameLocks noGrp="1"/>
          </p:cNvGraphicFramePr>
          <p:nvPr/>
        </p:nvGraphicFramePr>
        <p:xfrm>
          <a:off x="6667500" y="2000250"/>
          <a:ext cx="466725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Continuous spectrum + characteristic peaks 连续谱+特征峰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Attenuation of X-rays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X 射线的衰减与成像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p>
                </m:sSup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6638925" y="180975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与超声衰减同形式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10972800" cy="15525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μ depends on the medium and on photon energy μ 与介质及光子能量有关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Bone attenuates much more than soft tissue ⇒ shadow on film 骨吸收强⇒影像对比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X-ray image = 2-D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shadow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not a lens image 影像是"影子"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Aluminium filter removes long-wavelength photons that only add dose 铝滤片去软射线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Contrast improved by contrast media (e.g. barium meal) 造影剂增强对比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Computed Tomography (CT)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CT 扫描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18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In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CT scanning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X-ray images of a thin slice of the body are taken from many different angles, and a computer reconstructs a detailed cross-sectional image.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多角度投影+计算机重建断层图像。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057525"/>
            <a:ext cx="10972800" cy="15525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slice is divided into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voxels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; each voxel's attenuation is computed 体素重建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Millions of calculations ⇒ powerful computer required 计算量大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Advantage over plain X-ray: distinguishes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soft tissues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similar density 软组织分辨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3-D image can be viewed from any angle; brightness/contrast adjustable 三维任意视角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Disadvantage: larger radiation dose than a single X-ray 剂量较大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PET Scanning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PET 扫描原理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18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4669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Tracer with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β⁺ emitter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(e.g. ¹⁸F-FDG) is injected and collects at active tissue 正电子示踪剂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Emitted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positron annihilates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with an electron 正电子与电子湮灭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Annihilation produces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two 511 keV γ-photons travelling in opposite directions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两个反向 511 keV 光子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4.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Ring detectors register photons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in coincidence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; the source lies on the line joining the detectors 符合探测定位</a:t>
            </a:r>
          </a:p>
        </p:txBody>
      </p:sp>
      <p:sp>
        <p:nvSpPr>
          <p:cNvPr id="10" name="dsl:b1"/>
          <p:cNvSpPr txBox="1"/>
          <p:nvPr/>
        </p:nvSpPr>
        <p:spPr>
          <a:xfrm>
            <a:off x="609600" y="4448175"/>
            <a:ext cx="5334000" cy="257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PET maps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metabolic activity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not anatomy 代谢功能成像</a:t>
            </a:r>
          </a:p>
        </p:txBody>
      </p:sp>
      <p:sp>
        <p:nvSpPr>
          <p:cNvPr id="11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pt-ring"/>
          <p:cNvSpPr/>
          <p:nvPr/>
        </p:nvSpPr>
        <p:spPr>
          <a:xfrm>
            <a:off x="7524750" y="2190750"/>
            <a:ext cx="2857500" cy="2857500"/>
          </a:xfrm>
          <a:prstGeom prst="donut">
            <a:avLst>
              <a:gd name="adj" fmla="val 8000"/>
            </a:avLst>
          </a:prstGeom>
          <a:solidFill>
            <a:srgbClr val="E2EBEC"/>
          </a:solidFill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pt-src"/>
          <p:cNvSpPr/>
          <p:nvPr/>
        </p:nvSpPr>
        <p:spPr>
          <a:xfrm>
            <a:off x="8886825" y="3552825"/>
            <a:ext cx="133350" cy="1333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pt-g1"/>
          <p:cNvCxnSpPr/>
          <p:nvPr/>
        </p:nvCxnSpPr>
        <p:spPr>
          <a:xfrm>
            <a:off x="7810500" y="2476500"/>
            <a:ext cx="1143000" cy="11430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pt-g2"/>
          <p:cNvCxnSpPr/>
          <p:nvPr/>
        </p:nvCxnSpPr>
        <p:spPr>
          <a:xfrm>
            <a:off x="8953500" y="3619500"/>
            <a:ext cx="1143000" cy="11430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pt-gt"/>
          <p:cNvSpPr txBox="1"/>
          <p:nvPr/>
        </p:nvSpPr>
        <p:spPr>
          <a:xfrm>
            <a:off x="7905750" y="1981200"/>
            <a:ext cx="285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D97D29"/>
                </a:solidFill>
                <a:latin typeface="MiSans"/>
                <a:ea typeface="MiSans"/>
              </a:rPr>
              <a:t>two 511 keV γ in opposite directions</a:t>
            </a:r>
          </a:p>
        </p:txBody>
      </p:sp>
      <p:sp>
        <p:nvSpPr>
          <p:cNvPr id="17" name="dsl:pt-cap|s=$small"/>
          <p:cNvSpPr txBox="1"/>
          <p:nvPr/>
        </p:nvSpPr>
        <p:spPr>
          <a:xfrm>
            <a:off x="6286500" y="53340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Annihilation and coincidence detection 湮灭与符合探测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24A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18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24A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8573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590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Using Z (air) = 430 kg m⁻² s⁻¹, Z (soft tissue) = 1.6 × 10⁶ kg m⁻² s⁻¹, calculate the intensity reflection coefficient for a parallel beam incident normally on: a) the air–soft tissue boundary; b) a muscle–bone boundary (Z muscle = 1.7 × 10⁶, Z bone = 6.5 × 10⁶ kg m⁻² s⁻¹).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这就是检查时必须涂耦合剂排除空气的原因。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α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a) α = (1.6×10⁶ − 430)² / (1.6×10⁶ + 430)² ≈ 0.999 ≈ 1.0 — almost total reflection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b) α = (6.5 − 1.7)²/(6.5 + 1.7)² = (4.8/8.2)² = 0.34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a) ≈ 1.0;  b) 0.34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24B &amp; 24C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18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24B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1000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771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Ultrasound passes through 3.5 cm of muscle, reflects at a bone surface (α = 0.34) and returns through the muscle. For muscle μ = 0.23 cm⁻¹, find the fraction of the incident intensity that arrives back.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31718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Total path = 7.0 cm: I/I₀ = e^(−0.23×7.0) = 0.20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Reflected fraction at bone = 0.34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Returning fraction = 0.20 × 0.34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4019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4019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4019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I/I₀ = 0.068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24C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The accelerating p.d. of an X-ray tube is 30 kV. Calculate the minimum wavelength of photons in the beam. (h = 6.63×10⁻³⁴ J s, e = 1.60×10⁻¹⁹ C, c = 3.00×10⁸ m s⁻¹)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Maximum photon energy = electron kinetic energy: eV = hc/λmin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λmin = (6.63×10⁻³⁴ × 3.00×10⁸)/(1.60×10⁻¹⁹ × 30×10³)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λmin = 4.1 × 10⁻¹¹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24D &amp; 24E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18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24D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The linear absorption coefficient of copper is 0.693 mm⁻¹. Calculate: a) the thickness that reduces intensity by 50%; b) the fraction transmitted through 1.2 cm of copper.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a) 0.50 = e^(−0.693x) ⇒ x = ln2/0.693 = 1.0 mm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b) I/I₀ = e^(−0.693×12) = e^(−8.3)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a) 1.0 mm;  b) 2.4 × 10⁻⁴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24E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619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390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Compare the image produced during an X-ray investigation with that produced in CT scanning.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790825"/>
            <a:ext cx="53340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X-ray: 2-D projection (shadow) of a 3-D object onto a flat detector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CT: computer-reconstructed 3-D image; sections can be viewed from many angles, with adjustable contrast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37528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7528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7528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2-D shadow vs 3-D reconstruction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16 / 18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Calculate the intensity reflection coefficient for ultrasound incident normally on a fat–muscle boundary (Z fat = 1.4 × 10⁶, Z muscle = 1.7 × 10⁶ kg m⁻² s⁻¹).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Water has μ = 0.29 cm⁻¹ for certain X-ray photons. Calculate the depth of water that reduces the intensity of a parallel beam to 3.0 × 10⁻³ of its incident value.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Put the stages of PET imaging in order and explain the role of coincidence detection: positron emission / two 511 keV photons / injection of tracer / line of response located / annihilation.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Q1: (0.3/3.1)² = 9.4×10⁻³　Q2: x = ln(333)/0.29 = 20 cm　Q3: 注射→正电子→湮灭→双光子→符合探测定响应线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17 / 18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Z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ρ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声阻抗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den>
                </m:f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强度反射系数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p>
                </m:sSup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指数衰减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X 射线最短波长</a:t>
            </a:r>
          </a:p>
        </p:txBody>
      </p:sp>
      <p:sp>
        <p:nvSpPr>
          <p:cNvPr id="22" name="dsl:smf4-bg"/>
          <p:cNvSpPr/>
          <p:nvPr/>
        </p:nvSpPr>
        <p:spPr>
          <a:xfrm>
            <a:off x="6096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7620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511</m:t>
                </m:r>
                <m:r>
                  <m:t>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7620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湮灭光子能量</a:t>
            </a:r>
          </a:p>
        </p:txBody>
      </p:sp>
      <p:sp>
        <p:nvSpPr>
          <p:cNvPr id="25" name="dsl:smf5-bg"/>
          <p:cNvSpPr/>
          <p:nvPr/>
        </p:nvSpPr>
        <p:spPr>
          <a:xfrm>
            <a:off x="61722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63246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63246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回波测深</a:t>
            </a:r>
          </a:p>
        </p:txBody>
      </p:sp>
      <p:sp>
        <p:nvSpPr>
          <p:cNvPr id="28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9" name="dsl:sm-ideas"/>
          <p:cNvSpPr txBox="1"/>
          <p:nvPr/>
        </p:nvSpPr>
        <p:spPr>
          <a:xfrm>
            <a:off x="609600" y="4629150"/>
            <a:ext cx="10972800" cy="10572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Piezo-electric crystal both generates and detects ultrasound 压电晶体收发一体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Coupling gel removes the air gap (α ≈ 1 at air boundary) 耦合剂排除空气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X-ray = 2-D shadow; CT = 3-D reconstruction; PET = metabolic map 三种影像对比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Two opposite 511 keV photons are the key to PET localisation PET 定位关键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24 Medical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18 / 18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riangle-exclamation" descr="tmpjkqogr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Reflection coefficient: square the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difference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first, then divide by the square of the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sum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— order matters. 先差后和的平方。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5146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alculator" descr="tmpjkqogr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479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6098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 I = I₀e^(−μx): check that μ and x have consistent units (cm⁻¹ with cm). μ 与 x 单位匹配。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1623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wave-square" descr="tmpjkqogr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956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2575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Ultrasound uses pulses, not continuous waves, so that echoes can return before the next pulse is sent. 脉冲而非连续波。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8862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circle-radiation" descr="tmpjkqogr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195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9814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PET: the two photons are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simultaneous and opposite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— both facts are needed for locating the source. 同时+反向缺一不可。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1C607D9A-0767-4CFE-8863-33FA4AD4D1BA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