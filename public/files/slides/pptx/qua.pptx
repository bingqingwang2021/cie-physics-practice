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KE_max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Sheet1!$A$2:$A$42</c:f>
              <c:strCache>
                <c:ptCount val="41"/>
                <c:pt idx="0">
                  <c:v>4.0</c:v>
                </c:pt>
                <c:pt idx="1">
                  <c:v>4.15</c:v>
                </c:pt>
                <c:pt idx="2">
                  <c:v>4.3</c:v>
                </c:pt>
                <c:pt idx="3">
                  <c:v>4.45</c:v>
                </c:pt>
                <c:pt idx="4">
                  <c:v>4.6</c:v>
                </c:pt>
                <c:pt idx="5">
                  <c:v>4.75</c:v>
                </c:pt>
                <c:pt idx="6">
                  <c:v>4.9</c:v>
                </c:pt>
                <c:pt idx="7">
                  <c:v>5.05</c:v>
                </c:pt>
                <c:pt idx="8">
                  <c:v>5.2</c:v>
                </c:pt>
                <c:pt idx="9">
                  <c:v>5.35</c:v>
                </c:pt>
                <c:pt idx="10">
                  <c:v>5.5</c:v>
                </c:pt>
                <c:pt idx="11">
                  <c:v>5.65</c:v>
                </c:pt>
                <c:pt idx="12">
                  <c:v>5.8</c:v>
                </c:pt>
                <c:pt idx="13">
                  <c:v>5.95</c:v>
                </c:pt>
                <c:pt idx="14">
                  <c:v>6.1</c:v>
                </c:pt>
                <c:pt idx="15">
                  <c:v>6.25</c:v>
                </c:pt>
                <c:pt idx="16">
                  <c:v>6.4</c:v>
                </c:pt>
                <c:pt idx="17">
                  <c:v>6.55</c:v>
                </c:pt>
                <c:pt idx="18">
                  <c:v>6.7</c:v>
                </c:pt>
                <c:pt idx="19">
                  <c:v>6.85</c:v>
                </c:pt>
                <c:pt idx="20">
                  <c:v>7.0</c:v>
                </c:pt>
                <c:pt idx="21">
                  <c:v>7.15</c:v>
                </c:pt>
                <c:pt idx="22">
                  <c:v>7.3</c:v>
                </c:pt>
                <c:pt idx="23">
                  <c:v>7.45</c:v>
                </c:pt>
                <c:pt idx="24">
                  <c:v>7.6</c:v>
                </c:pt>
                <c:pt idx="25">
                  <c:v>7.75</c:v>
                </c:pt>
                <c:pt idx="26">
                  <c:v>7.9</c:v>
                </c:pt>
                <c:pt idx="27">
                  <c:v>8.05</c:v>
                </c:pt>
                <c:pt idx="28">
                  <c:v>8.2</c:v>
                </c:pt>
                <c:pt idx="29">
                  <c:v>8.35</c:v>
                </c:pt>
                <c:pt idx="30">
                  <c:v>8.5</c:v>
                </c:pt>
                <c:pt idx="31">
                  <c:v>8.65</c:v>
                </c:pt>
                <c:pt idx="32">
                  <c:v>8.8</c:v>
                </c:pt>
                <c:pt idx="33">
                  <c:v>8.95</c:v>
                </c:pt>
                <c:pt idx="34">
                  <c:v>9.1</c:v>
                </c:pt>
                <c:pt idx="35">
                  <c:v>9.25</c:v>
                </c:pt>
                <c:pt idx="36">
                  <c:v>9.4</c:v>
                </c:pt>
                <c:pt idx="37">
                  <c:v>9.55</c:v>
                </c:pt>
                <c:pt idx="38">
                  <c:v>9.7</c:v>
                </c:pt>
                <c:pt idx="39">
                  <c:v>9.85</c:v>
                </c:pt>
                <c:pt idx="40">
                  <c:v>10.0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0.15</c:v>
                </c:pt>
                <c:pt idx="12">
                  <c:v>0.3</c:v>
                </c:pt>
                <c:pt idx="13">
                  <c:v>0.45</c:v>
                </c:pt>
                <c:pt idx="14">
                  <c:v>0.6</c:v>
                </c:pt>
                <c:pt idx="15">
                  <c:v>0.75</c:v>
                </c:pt>
                <c:pt idx="16">
                  <c:v>0.9</c:v>
                </c:pt>
                <c:pt idx="17">
                  <c:v>1.05</c:v>
                </c:pt>
                <c:pt idx="18">
                  <c:v>1.2</c:v>
                </c:pt>
                <c:pt idx="19">
                  <c:v>1.35</c:v>
                </c:pt>
                <c:pt idx="20">
                  <c:v>1.5</c:v>
                </c:pt>
                <c:pt idx="21">
                  <c:v>1.65</c:v>
                </c:pt>
                <c:pt idx="22">
                  <c:v>1.8</c:v>
                </c:pt>
                <c:pt idx="23">
                  <c:v>1.95</c:v>
                </c:pt>
                <c:pt idx="24">
                  <c:v>2.1</c:v>
                </c:pt>
                <c:pt idx="25">
                  <c:v>2.25</c:v>
                </c:pt>
                <c:pt idx="26">
                  <c:v>2.4</c:v>
                </c:pt>
                <c:pt idx="27">
                  <c:v>2.55</c:v>
                </c:pt>
                <c:pt idx="28">
                  <c:v>2.7</c:v>
                </c:pt>
                <c:pt idx="29">
                  <c:v>2.85</c:v>
                </c:pt>
                <c:pt idx="30">
                  <c:v>3.0</c:v>
                </c:pt>
                <c:pt idx="31">
                  <c:v>3.15</c:v>
                </c:pt>
                <c:pt idx="32">
                  <c:v>3.3</c:v>
                </c:pt>
                <c:pt idx="33">
                  <c:v>3.45</c:v>
                </c:pt>
                <c:pt idx="34">
                  <c:v>3.6</c:v>
                </c:pt>
                <c:pt idx="35">
                  <c:v>3.75</c:v>
                </c:pt>
                <c:pt idx="36">
                  <c:v>3.9</c:v>
                </c:pt>
                <c:pt idx="37">
                  <c:v>4.05</c:v>
                </c:pt>
                <c:pt idx="38">
                  <c:v>4.2</c:v>
                </c:pt>
                <c:pt idx="39">
                  <c:v>4.35</c:v>
                </c:pt>
                <c:pt idx="40">
                  <c:v>4.5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f / 10¹⁴ Hz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KE_max / 10⁻¹⁹ J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dc-m"/>
          <p:cNvSpPr/>
          <p:nvPr/>
        </p:nvSpPr>
        <p:spPr>
          <a:xfrm>
            <a:off x="9258300" y="3067050"/>
            <a:ext cx="342900" cy="342900"/>
          </a:xfrm>
          <a:prstGeom prst="ellipse">
            <a:avLst/>
          </a:prstGeom>
          <a:solidFill>
            <a:srgbClr val="D97D2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dsl:dc-f0"/>
          <p:cNvCxnSpPr/>
          <p:nvPr/>
        </p:nvCxnSpPr>
        <p:spPr>
          <a:xfrm>
            <a:off x="9696450" y="3238500"/>
            <a:ext cx="1162050" cy="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sl:dc-f1"/>
          <p:cNvCxnSpPr/>
          <p:nvPr/>
        </p:nvCxnSpPr>
        <p:spPr>
          <a:xfrm>
            <a:off x="9660718" y="3371850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sl:dc-f2"/>
          <p:cNvCxnSpPr/>
          <p:nvPr/>
        </p:nvCxnSpPr>
        <p:spPr>
          <a:xfrm>
            <a:off x="9563100" y="3469468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sl:dc-f3"/>
          <p:cNvCxnSpPr/>
          <p:nvPr/>
        </p:nvCxnSpPr>
        <p:spPr>
          <a:xfrm>
            <a:off x="9429750" y="3505200"/>
            <a:ext cx="0" cy="116205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sl:dc-f4"/>
          <p:cNvCxnSpPr/>
          <p:nvPr/>
        </p:nvCxnSpPr>
        <p:spPr>
          <a:xfrm flipH="1">
            <a:off x="8715375" y="3469468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sl:dc-f5"/>
          <p:cNvCxnSpPr/>
          <p:nvPr/>
        </p:nvCxnSpPr>
        <p:spPr>
          <a:xfrm flipH="1">
            <a:off x="8192416" y="3371850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sl:dc-f6"/>
          <p:cNvCxnSpPr/>
          <p:nvPr/>
        </p:nvCxnSpPr>
        <p:spPr>
          <a:xfrm>
            <a:off x="8001000" y="3238500"/>
            <a:ext cx="1162050" cy="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sl:dc-f7"/>
          <p:cNvCxnSpPr/>
          <p:nvPr/>
        </p:nvCxnSpPr>
        <p:spPr>
          <a:xfrm>
            <a:off x="8192416" y="2524125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sl:dc-f8"/>
          <p:cNvCxnSpPr/>
          <p:nvPr/>
        </p:nvCxnSpPr>
        <p:spPr>
          <a:xfrm>
            <a:off x="8715374" y="2001166"/>
            <a:ext cx="581026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dc-f9"/>
          <p:cNvCxnSpPr/>
          <p:nvPr/>
        </p:nvCxnSpPr>
        <p:spPr>
          <a:xfrm>
            <a:off x="9429750" y="1809750"/>
            <a:ext cx="0" cy="116205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sl:dc-f10"/>
          <p:cNvCxnSpPr/>
          <p:nvPr/>
        </p:nvCxnSpPr>
        <p:spPr>
          <a:xfrm flipH="1">
            <a:off x="9563100" y="2001166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sl:dc-f11"/>
          <p:cNvCxnSpPr/>
          <p:nvPr/>
        </p:nvCxnSpPr>
        <p:spPr>
          <a:xfrm flipH="1">
            <a:off x="9660718" y="2524124"/>
            <a:ext cx="1006365" cy="581026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topic-tag"/>
          <p:cNvSpPr txBox="1"/>
          <p:nvPr/>
        </p:nvSpPr>
        <p:spPr>
          <a:xfrm>
            <a:off x="838200" y="1428750"/>
            <a:ext cx="47625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 spc="300">
                <a:solidFill>
                  <a:srgbClr val="D97D29"/>
                </a:solidFill>
                <a:latin typeface="QuattrocentoSans"/>
                <a:ea typeface="MiSans"/>
              </a:rPr>
              <a:t>TOPIC 22</a:t>
            </a:r>
          </a:p>
        </p:txBody>
      </p:sp>
      <p:sp>
        <p:nvSpPr>
          <p:cNvPr id="16" name="dsl:title-main"/>
          <p:cNvSpPr txBox="1"/>
          <p:nvPr/>
        </p:nvSpPr>
        <p:spPr>
          <a:xfrm>
            <a:off x="838200" y="2000250"/>
            <a:ext cx="6286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300" noProof="1">
                <a:solidFill>
                  <a:srgbClr val="FFFFFF"/>
                </a:solidFill>
                <a:latin typeface="Unna"/>
                <a:ea typeface="siyuanSongti"/>
              </a:rPr>
              <a:t>Quantum Physics</a:t>
            </a:r>
          </a:p>
        </p:txBody>
      </p:sp>
      <p:sp>
        <p:nvSpPr>
          <p:cNvPr id="17" name="dsl:title-cn"/>
          <p:cNvSpPr txBox="1"/>
          <p:nvPr/>
        </p:nvSpPr>
        <p:spPr>
          <a:xfrm>
            <a:off x="838200" y="3352800"/>
            <a:ext cx="6286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siyuanSongti"/>
                <a:ea typeface="siyuanSongti"/>
              </a:rPr>
              <a:t>量子物理</a:t>
            </a:r>
          </a:p>
        </p:txBody>
      </p:sp>
      <p:cxnSp>
        <p:nvCxnSpPr>
          <p:cNvPr id="18" name="dsl:div"/>
          <p:cNvCxnSpPr/>
          <p:nvPr/>
        </p:nvCxnSpPr>
        <p:spPr>
          <a:xfrm>
            <a:off x="838200" y="4000500"/>
            <a:ext cx="201930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exam-info"/>
          <p:cNvSpPr txBox="1"/>
          <p:nvPr/>
        </p:nvSpPr>
        <p:spPr>
          <a:xfrm>
            <a:off x="838200" y="5715000"/>
            <a:ext cx="666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CIE 9702 · A Level Physics A2 · Paper 4</a:t>
            </a:r>
          </a:p>
        </p:txBody>
      </p:sp>
      <p:sp>
        <p:nvSpPr>
          <p:cNvPr id="20" name="dsl:series-info"/>
          <p:cNvSpPr txBox="1"/>
          <p:nvPr/>
        </p:nvSpPr>
        <p:spPr>
          <a:xfrm>
            <a:off x="838200" y="6019800"/>
            <a:ext cx="6667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剑桥国际物理 A2 分章节讲义 · 中英双语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17</a:t>
            </a:r>
          </a:p>
        </p:txBody>
      </p:sp>
      <p:sp>
        <p:nvSpPr>
          <p:cNvPr id="9" name="dsl:ol-panel"/>
          <p:cNvSpPr/>
          <p:nvPr/>
        </p:nvSpPr>
        <p:spPr>
          <a:xfrm>
            <a:off x="609600" y="1695450"/>
            <a:ext cx="2476500" cy="4476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ol-big"/>
          <p:cNvSpPr txBox="1"/>
          <p:nvPr/>
        </p:nvSpPr>
        <p:spPr>
          <a:xfrm>
            <a:off x="838200" y="1981200"/>
            <a:ext cx="201930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LEARNING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OUTCOMES</a:t>
            </a:r>
          </a:p>
        </p:txBody>
      </p:sp>
      <p:sp>
        <p:nvSpPr>
          <p:cNvPr id="11" name="dsl:ol-cn"/>
          <p:cNvSpPr txBox="1"/>
          <p:nvPr/>
        </p:nvSpPr>
        <p:spPr>
          <a:xfrm>
            <a:off x="838200" y="3695700"/>
            <a:ext cx="20193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500" noProof="1">
                <a:solidFill>
                  <a:srgbClr val="FFFFFF"/>
                </a:solidFill>
                <a:latin typeface="siyuanSongti"/>
                <a:ea typeface="siyuanSongti"/>
              </a:rPr>
              <a:t>学习目标</a:t>
            </a:r>
          </a:p>
        </p:txBody>
      </p:sp>
      <p:sp>
        <p:nvSpPr>
          <p:cNvPr id="12" name="dsl:ol-note"/>
          <p:cNvSpPr txBox="1"/>
          <p:nvPr/>
        </p:nvSpPr>
        <p:spPr>
          <a:xfrm>
            <a:off x="838200" y="5505450"/>
            <a:ext cx="20193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75" noProof="1">
                <a:solidFill>
                  <a:srgbClr val="FFFFFF"/>
                </a:solidFill>
                <a:latin typeface="MiSans"/>
                <a:ea typeface="MiSans"/>
              </a:rPr>
              <a:t>By the end of this topic, you will be able to…</a:t>
            </a:r>
          </a:p>
        </p:txBody>
      </p:sp>
      <p:sp>
        <p:nvSpPr>
          <p:cNvPr id="13" name="dsl:og0"/>
          <p:cNvSpPr txBox="1"/>
          <p:nvPr/>
        </p:nvSpPr>
        <p:spPr>
          <a:xfrm>
            <a:off x="3467100" y="1752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22.1 Energy and momentum of a photon 光子的能量与动量</a:t>
            </a:r>
          </a:p>
        </p:txBody>
      </p:sp>
      <p:pic>
        <p:nvPicPr>
          <p:cNvPr id="14" name="dsl:oc0_0|i=fas:square-check" descr="tmpi3t1vf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105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ot0_0"/>
          <p:cNvSpPr txBox="1"/>
          <p:nvPr/>
        </p:nvSpPr>
        <p:spPr>
          <a:xfrm>
            <a:off x="3752850" y="20764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Photon: quantum of electromagnetic energy, E = hf 光子能量</a:t>
            </a:r>
          </a:p>
        </p:txBody>
      </p:sp>
      <p:pic>
        <p:nvPicPr>
          <p:cNvPr id="16" name="dsl:oc0_1|i=fas:square-check" descr="tmpi3t1vf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4098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ot0_1"/>
          <p:cNvSpPr txBox="1"/>
          <p:nvPr/>
        </p:nvSpPr>
        <p:spPr>
          <a:xfrm>
            <a:off x="3752850" y="23812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electronvolt; convert eV ↔ J 电子伏特换算</a:t>
            </a:r>
          </a:p>
        </p:txBody>
      </p:sp>
      <p:pic>
        <p:nvPicPr>
          <p:cNvPr id="18" name="dsl:oc0_2|i=fas:square-check" descr="tmpi3t1vf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7146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ot0_2"/>
          <p:cNvSpPr txBox="1"/>
          <p:nvPr/>
        </p:nvSpPr>
        <p:spPr>
          <a:xfrm>
            <a:off x="3752850" y="26860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Photon momentum p = E/c = h/λ 光子动量</a:t>
            </a:r>
          </a:p>
        </p:txBody>
      </p:sp>
      <p:sp>
        <p:nvSpPr>
          <p:cNvPr id="20" name="dsl:og1"/>
          <p:cNvSpPr txBox="1"/>
          <p:nvPr/>
        </p:nvSpPr>
        <p:spPr>
          <a:xfrm>
            <a:off x="3467100" y="310515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22.2 Photoelectric effect 光电效应</a:t>
            </a:r>
          </a:p>
        </p:txBody>
      </p:sp>
      <p:pic>
        <p:nvPicPr>
          <p:cNvPr id="21" name="dsl:oc1_0|i=fas:square-check" descr="tmpi3t1vf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4575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ot1_0"/>
          <p:cNvSpPr txBox="1"/>
          <p:nvPr/>
        </p:nvSpPr>
        <p:spPr>
          <a:xfrm>
            <a:off x="3752850" y="34290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Threshold frequency and work function 极限频率与逸出功</a:t>
            </a:r>
          </a:p>
        </p:txBody>
      </p:sp>
      <p:pic>
        <p:nvPicPr>
          <p:cNvPr id="23" name="dsl:oc1_1|i=fas:square-check" descr="tmpi3t1vf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7623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ot1_1"/>
          <p:cNvSpPr txBox="1"/>
          <p:nvPr/>
        </p:nvSpPr>
        <p:spPr>
          <a:xfrm>
            <a:off x="3752850" y="37338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Use hf = Φ + ½mv²max 爱因斯坦光电方程</a:t>
            </a:r>
          </a:p>
        </p:txBody>
      </p:sp>
      <p:pic>
        <p:nvPicPr>
          <p:cNvPr id="25" name="dsl:oc1_2|i=fas:square-check" descr="tmpi3t1vf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0671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dsl:ot1_2"/>
          <p:cNvSpPr txBox="1"/>
          <p:nvPr/>
        </p:nvSpPr>
        <p:spPr>
          <a:xfrm>
            <a:off x="3752850" y="40386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Explain why KE_max depends on frequency, not intensity 解释实验规律</a:t>
            </a:r>
          </a:p>
        </p:txBody>
      </p:sp>
      <p:sp>
        <p:nvSpPr>
          <p:cNvPr id="27" name="dsl:og2"/>
          <p:cNvSpPr txBox="1"/>
          <p:nvPr/>
        </p:nvSpPr>
        <p:spPr>
          <a:xfrm>
            <a:off x="3467100" y="44577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22.3–22.4 Wave–particle duality &amp; energy levels 波粒二象性与能级</a:t>
            </a:r>
          </a:p>
        </p:txBody>
      </p:sp>
      <p:pic>
        <p:nvPicPr>
          <p:cNvPr id="28" name="dsl:oc2_0|i=fas:square-check" descr="tmpi3t1vf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8101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9" name="dsl:ot2_0"/>
          <p:cNvSpPr txBox="1"/>
          <p:nvPr/>
        </p:nvSpPr>
        <p:spPr>
          <a:xfrm>
            <a:off x="3752850" y="47815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de Broglie wavelength λ = h/p 德布罗意波长</a:t>
            </a:r>
          </a:p>
        </p:txBody>
      </p:sp>
      <p:pic>
        <p:nvPicPr>
          <p:cNvPr id="30" name="dsl:oc2_1|i=fas:square-check" descr="tmpi3t1vf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51149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1" name="dsl:ot2_1"/>
          <p:cNvSpPr txBox="1"/>
          <p:nvPr/>
        </p:nvSpPr>
        <p:spPr>
          <a:xfrm>
            <a:off x="3752850" y="50863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Discrete energy levels; hf = E₂ − E₁; line spectra 能级跃迁与线光谱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The Photon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光子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17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Electromagnetic radiation is emitted and absorbed in discrete packets called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photons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 Each photon is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quantum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electromagnetic energy.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电磁辐射以不连续的能量包（光子）形式发射和吸收。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05752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λ</m:t>
                    </m:r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,</m:t>
                </m:r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6.63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34</m:t>
                    </m:r>
                  </m:sup>
                </m:sSup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J</m:t>
                </m:r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s</m:t>
                </m:r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305752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普朗克常量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838575"/>
            <a:ext cx="109728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Higher frequency ⇒ more energetic photons 频率越高光子能量越大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Gamma-ray photons ≈ 10⁵ eV; visible light ≈ 2–3 eV; radio ≈ 10⁻⁸ eV 量级对比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Intensity of a beam = rate of arrival of photons × energy of each photon 光强=光子数×单光子能量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The Electronvolt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电子伏特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17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One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electronvolt (eV)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the kinetic energy gained by an electron when it is accelerated through a potential difference of one volt.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电子经 1 V 电势差加速所获得的动能。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05752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1</m:t>
                </m:r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1.60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19</m:t>
                    </m:r>
                  </m:sup>
                </m:sSup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J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;</m:t>
                </m:r>
                <m:r>
                  <m:t> 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1</m:t>
                </m:r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1.60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13</m:t>
                    </m:r>
                  </m:sup>
                </m:sSup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305752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keV = 10³ eV · MeV = 10⁶ eV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838575"/>
            <a:ext cx="109728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Convenient for photon energies and atomic energy levels 光子能量与原子能级的常用单位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Convert before substituting into SI equations: E(J) = E(eV) × 1.60×10⁻¹⁹ 代入公式先换成 J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Nuclear energies are usually quoted in MeV 核能量常用 MeV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Momentum of a Photon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光子的动量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17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Although photons have zero rest mass, they carry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momentum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 This follows from combining E = hf with the wave relation c = fλ and relativistic energy E = pc.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光子虽无静止质量，却具有动量。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05752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f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h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λ</m:t>
                    </m:r>
                  </m:den>
                </m:f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305752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动量与波长成反比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838575"/>
            <a:ext cx="109728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Shorter wavelength ⇒ larger momentum 波长越短动量越大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Photon momentum explains radiation pressure 解释光压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Unit: kg m s⁻¹ or N s 单位换算注意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Photoelectric Effect: Observations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光电效应的实验现象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17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Photoelectric emission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the release of electrons (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photoelectrons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) from the surface of a metal when electromagnetic radiation is incident on it.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电磁辐射照射金属表面使其释放电子的现象。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314700"/>
            <a:ext cx="5334000" cy="2790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UV discharges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negatively charged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zinc plate instantly; visible light never does 紫外光立即使锌板放电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Emission is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instantaneous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— no time delay even at low intensity 发射无延迟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Emission only if f &gt; threshold frequency f₀ (different for each metal) 存在极限频率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Whether emission occurs depends on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frequency, not intensity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取决于频率而非光强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Classical wave theory cannot explain these facts 经典波动理论失效</a:t>
            </a:r>
          </a:p>
        </p:txBody>
      </p:sp>
      <p:sp>
        <p:nvSpPr>
          <p:cNvPr id="13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e-zn"/>
          <p:cNvSpPr/>
          <p:nvPr/>
        </p:nvSpPr>
        <p:spPr>
          <a:xfrm>
            <a:off x="8382000" y="2667000"/>
            <a:ext cx="381000" cy="1714500"/>
          </a:xfrm>
          <a:prstGeom prst="rect">
            <a:avLst/>
          </a:prstGeom>
          <a:solidFill>
            <a:srgbClr val="5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e-znt|s=$small"/>
          <p:cNvSpPr txBox="1"/>
          <p:nvPr/>
        </p:nvSpPr>
        <p:spPr>
          <a:xfrm>
            <a:off x="8058150" y="4438650"/>
            <a:ext cx="104775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zinc plate 锌板</a:t>
            </a:r>
          </a:p>
        </p:txBody>
      </p:sp>
      <p:sp>
        <p:nvSpPr>
          <p:cNvPr id="16" name="dsl:pe-cap"/>
          <p:cNvSpPr/>
          <p:nvPr/>
        </p:nvSpPr>
        <p:spPr>
          <a:xfrm>
            <a:off x="8058150" y="2247900"/>
            <a:ext cx="1028700" cy="190500"/>
          </a:xfrm>
          <a:prstGeom prst="rect">
            <a:avLst/>
          </a:prstGeom>
          <a:solidFill>
            <a:srgbClr val="E2EBEC"/>
          </a:solidFill>
          <a:ln w="12700">
            <a:solidFill>
              <a:srgbClr val="5C7A8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dsl:pe-stem"/>
          <p:cNvCxnSpPr/>
          <p:nvPr/>
        </p:nvCxnSpPr>
        <p:spPr>
          <a:xfrm>
            <a:off x="8572500" y="2438400"/>
            <a:ext cx="0" cy="228600"/>
          </a:xfrm>
          <a:prstGeom prst="straightConnector1">
            <a:avLst/>
          </a:prstGeom>
          <a:ln w="25400">
            <a:solidFill>
              <a:srgbClr val="5C7A8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pe-leaf"/>
          <p:cNvCxnSpPr/>
          <p:nvPr/>
        </p:nvCxnSpPr>
        <p:spPr>
          <a:xfrm>
            <a:off x="8572500" y="2857500"/>
            <a:ext cx="381000" cy="76200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pe-lt|s=$small"/>
          <p:cNvSpPr txBox="1"/>
          <p:nvPr/>
        </p:nvSpPr>
        <p:spPr>
          <a:xfrm>
            <a:off x="9029700" y="3486150"/>
            <a:ext cx="123825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gold leaf 金箔</a:t>
            </a:r>
          </a:p>
        </p:txBody>
      </p:sp>
      <p:cxnSp>
        <p:nvCxnSpPr>
          <p:cNvPr id="20" name="dsl:pe-uv1"/>
          <p:cNvCxnSpPr/>
          <p:nvPr/>
        </p:nvCxnSpPr>
        <p:spPr>
          <a:xfrm>
            <a:off x="6667500" y="2286000"/>
            <a:ext cx="1619250" cy="571500"/>
          </a:xfrm>
          <a:prstGeom prst="straightConnector1">
            <a:avLst/>
          </a:prstGeom>
          <a:ln w="25400">
            <a:solidFill>
              <a:srgbClr val="D97D29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sl:pe-uv2"/>
          <p:cNvCxnSpPr/>
          <p:nvPr/>
        </p:nvCxnSpPr>
        <p:spPr>
          <a:xfrm>
            <a:off x="6667500" y="2857500"/>
            <a:ext cx="1619250" cy="476250"/>
          </a:xfrm>
          <a:prstGeom prst="straightConnector1">
            <a:avLst/>
          </a:prstGeom>
          <a:ln w="25400">
            <a:solidFill>
              <a:srgbClr val="D97D29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pe-uvt"/>
          <p:cNvSpPr txBox="1"/>
          <p:nvPr/>
        </p:nvSpPr>
        <p:spPr>
          <a:xfrm>
            <a:off x="6438900" y="200025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D97D29"/>
                </a:solidFill>
                <a:latin typeface="MiSans"/>
                <a:ea typeface="MiSans"/>
              </a:rPr>
              <a:t>UV radiation 紫外光</a:t>
            </a:r>
          </a:p>
        </p:txBody>
      </p:sp>
      <p:sp>
        <p:nvSpPr>
          <p:cNvPr id="23" name="dsl:pe-cap2|s=$small"/>
          <p:cNvSpPr txBox="1"/>
          <p:nvPr/>
        </p:nvSpPr>
        <p:spPr>
          <a:xfrm>
            <a:off x="6286500" y="51435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Gold-leaf electroscope demonstration 验电器演示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Einstein's Photoelectric Equation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爱因斯坦光电方程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17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work function Φ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the minimum energy needed to remove an electron from the surface of a metal. One photon gives all its energy hf to one electron.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逸出功：使电子脱离金属表面所需的最小能量；一个光子对一个电子。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05752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Φ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+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sSubSup>
                  <m:sSub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sub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305752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能量守恒：光子能量=逸出功+最大动能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838575"/>
            <a:ext cx="109728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Threshold frequency: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h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Φ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, i.e. </a:t>
            </a:r>
            <a14:m>
              <m:oMath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Φ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h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极限频率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Any excess photon energy becomes the electron's kinetic energy 多余能量变为动能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One-to-one photon–electron interaction explains the instant emission 一对一解释瞬时性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Intensity vs Frequency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光强与频率的作用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17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24669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KE_max depends only on frequency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larger f ⇒ more energetic photons 最大动能只随频率变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Intensity ∝ number of photons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larger intensity ⇒ more electrons per second (photoelectric current) 光强决定光电流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Graph of KE_max against f is a straight line: gradient = h, intercept = −Φ 直线斜率=h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At constant intensity, higher f means </a:t>
            </a:r>
            <a:r>
              <a:rPr i="1" sz="1350" noProof="1">
                <a:solidFill>
                  <a:srgbClr val="1C2B33"/>
                </a:solidFill>
                <a:latin typeface="MiSans"/>
                <a:ea typeface="MiSans"/>
              </a:rPr>
              <a:t>fewer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photons arrive per second 高光频少光子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dsl:kef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KE_max–f graph: gradient h, x-intercept f₀ 斜率为 h，横截距 f₀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Wave–Particle Duality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波粒二象性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17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59067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59067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3620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Light shows both wave behaviour (interference, diffraction) and particle behaviour (photoelectric effect). De Broglie proposed that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all moving particles also have wave properties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光具有波粒二象性；德布罗意提出运动粒子也具有波动性。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57187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57187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h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p</m:t>
                    </m:r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h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den>
                </m:f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3543300" y="357187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德布罗意波长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4352925"/>
            <a:ext cx="5334000" cy="1647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Electron diffraction rings through thin metal foil confirm the prediction 电子衍射实验证实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Diffraction occurs when gap size ≈ wavelength 波长与缝隙相当时衍射明显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Everyday objects: λ too small to observe (large m) 宏观物体波长太小</a:t>
            </a:r>
          </a:p>
        </p:txBody>
      </p:sp>
      <p:sp>
        <p:nvSpPr>
          <p:cNvPr id="16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db-c1"/>
          <p:cNvSpPr/>
          <p:nvPr/>
        </p:nvSpPr>
        <p:spPr>
          <a:xfrm>
            <a:off x="7981950" y="2714625"/>
            <a:ext cx="1905000" cy="1905000"/>
          </a:xfrm>
          <a:prstGeom prst="ellipse">
            <a:avLst/>
          </a:prstGeom>
          <a:noFill/>
          <a:ln w="25400">
            <a:solidFill>
              <a:srgbClr val="D97D2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db-c2"/>
          <p:cNvSpPr/>
          <p:nvPr/>
        </p:nvSpPr>
        <p:spPr>
          <a:xfrm>
            <a:off x="8267700" y="3000375"/>
            <a:ext cx="1333500" cy="1333500"/>
          </a:xfrm>
          <a:prstGeom prst="ellipse">
            <a:avLst/>
          </a:prstGeom>
          <a:noFill/>
          <a:ln w="25400">
            <a:solidFill>
              <a:srgbClr val="5C7A8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db-c3"/>
          <p:cNvSpPr/>
          <p:nvPr/>
        </p:nvSpPr>
        <p:spPr>
          <a:xfrm>
            <a:off x="8572500" y="3305175"/>
            <a:ext cx="723900" cy="723900"/>
          </a:xfrm>
          <a:prstGeom prst="ellipse">
            <a:avLst/>
          </a:prstGeom>
          <a:noFill/>
          <a:ln w="25400">
            <a:solidFill>
              <a:srgbClr val="D97D2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db-dot"/>
          <p:cNvSpPr/>
          <p:nvPr/>
        </p:nvSpPr>
        <p:spPr>
          <a:xfrm>
            <a:off x="8867775" y="3600450"/>
            <a:ext cx="133350" cy="13335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dsl:db-beam"/>
          <p:cNvCxnSpPr/>
          <p:nvPr/>
        </p:nvCxnSpPr>
        <p:spPr>
          <a:xfrm>
            <a:off x="6572250" y="3667125"/>
            <a:ext cx="1619250" cy="0"/>
          </a:xfrm>
          <a:prstGeom prst="straightConnector1">
            <a:avLst/>
          </a:prstGeom>
          <a:ln w="25400">
            <a:solidFill>
              <a:srgbClr val="1C2B33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db-bt"/>
          <p:cNvSpPr txBox="1"/>
          <p:nvPr/>
        </p:nvSpPr>
        <p:spPr>
          <a:xfrm>
            <a:off x="6572250" y="3371850"/>
            <a:ext cx="1333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1C2B33"/>
                </a:solidFill>
                <a:latin typeface="MiSans"/>
                <a:ea typeface="MiSans"/>
              </a:rPr>
              <a:t>electron beam 电子束</a:t>
            </a:r>
          </a:p>
        </p:txBody>
      </p:sp>
      <p:sp>
        <p:nvSpPr>
          <p:cNvPr id="23" name="dsl:db-cap2|s=$small"/>
          <p:cNvSpPr txBox="1"/>
          <p:nvPr/>
        </p:nvSpPr>
        <p:spPr>
          <a:xfrm>
            <a:off x="6286500" y="51435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Electron diffraction rings 电子衍射环纹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Energy Levels in Atoms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原子的能级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17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8478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8478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619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The electron in an atom can occupy only certain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discrete energy levels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 It moves between levels by absorbing or emitting a photon of exactly the energy difference.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原子中的电子只能处于一系列分立的能级，跃迁时吸收或发射特定能量的光子。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82905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82905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−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3543300" y="382905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跃迁能量守恒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4610100"/>
            <a:ext cx="5334000" cy="1647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Ground state = lowest level; negative energies mean the electron is bound 基态与束缚态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Absorption: photon energy must match ΔE exactly 吸收需精确匹配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Discrete levels explain discrete line spectra 分立能级⇒分立谱线</a:t>
            </a:r>
          </a:p>
        </p:txBody>
      </p:sp>
      <p:sp>
        <p:nvSpPr>
          <p:cNvPr id="16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dsl:dg-lv0"/>
          <p:cNvCxnSpPr/>
          <p:nvPr/>
        </p:nvCxnSpPr>
        <p:spPr>
          <a:xfrm>
            <a:off x="7143750" y="2438400"/>
            <a:ext cx="3581400" cy="0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dg-lvt0"/>
          <p:cNvSpPr txBox="1"/>
          <p:nvPr/>
        </p:nvSpPr>
        <p:spPr>
          <a:xfrm>
            <a:off x="10801350" y="2343150"/>
            <a:ext cx="47625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125" noProof="1">
                <a:solidFill>
                  <a:srgbClr val="1C2B33"/>
                </a:solidFill>
                <a:latin typeface="MiSans"/>
                <a:ea typeface="MiSans"/>
              </a:rPr>
              <a:t>0 (ionised)</a:t>
            </a:r>
          </a:p>
        </p:txBody>
      </p:sp>
      <p:cxnSp>
        <p:nvCxnSpPr>
          <p:cNvPr id="19" name="dsl:dg-lv1"/>
          <p:cNvCxnSpPr/>
          <p:nvPr/>
        </p:nvCxnSpPr>
        <p:spPr>
          <a:xfrm>
            <a:off x="7143750" y="3095625"/>
            <a:ext cx="3581400" cy="0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dg-lvt1"/>
          <p:cNvSpPr txBox="1"/>
          <p:nvPr/>
        </p:nvSpPr>
        <p:spPr>
          <a:xfrm>
            <a:off x="10801350" y="3000375"/>
            <a:ext cx="47625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125" noProof="1">
                <a:solidFill>
                  <a:srgbClr val="1C2B33"/>
                </a:solidFill>
                <a:latin typeface="MiSans"/>
                <a:ea typeface="MiSans"/>
              </a:rPr>
              <a:t>E₃ −0.85 eV</a:t>
            </a:r>
          </a:p>
        </p:txBody>
      </p:sp>
      <p:cxnSp>
        <p:nvCxnSpPr>
          <p:cNvPr id="21" name="dsl:dg-lv2"/>
          <p:cNvCxnSpPr/>
          <p:nvPr/>
        </p:nvCxnSpPr>
        <p:spPr>
          <a:xfrm>
            <a:off x="7143750" y="3952875"/>
            <a:ext cx="3581400" cy="0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dg-lvt2"/>
          <p:cNvSpPr txBox="1"/>
          <p:nvPr/>
        </p:nvSpPr>
        <p:spPr>
          <a:xfrm>
            <a:off x="10801350" y="3857625"/>
            <a:ext cx="47625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125" noProof="1">
                <a:solidFill>
                  <a:srgbClr val="1C2B33"/>
                </a:solidFill>
                <a:latin typeface="MiSans"/>
                <a:ea typeface="MiSans"/>
              </a:rPr>
              <a:t>E₂ −3.4 eV</a:t>
            </a:r>
          </a:p>
        </p:txBody>
      </p:sp>
      <p:cxnSp>
        <p:nvCxnSpPr>
          <p:cNvPr id="23" name="dsl:dg-lv3"/>
          <p:cNvCxnSpPr/>
          <p:nvPr/>
        </p:nvCxnSpPr>
        <p:spPr>
          <a:xfrm>
            <a:off x="7143750" y="5010150"/>
            <a:ext cx="3581400" cy="0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dg-lvt3"/>
          <p:cNvSpPr txBox="1"/>
          <p:nvPr/>
        </p:nvSpPr>
        <p:spPr>
          <a:xfrm>
            <a:off x="10801350" y="4914900"/>
            <a:ext cx="47625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125" noProof="1">
                <a:solidFill>
                  <a:srgbClr val="1C2B33"/>
                </a:solidFill>
                <a:latin typeface="MiSans"/>
                <a:ea typeface="MiSans"/>
              </a:rPr>
              <a:t>E₁ −13.6 eV</a:t>
            </a:r>
          </a:p>
        </p:txBody>
      </p:sp>
      <p:cxnSp>
        <p:nvCxnSpPr>
          <p:cNvPr id="25" name="dsl:dg-tr0"/>
          <p:cNvCxnSpPr/>
          <p:nvPr/>
        </p:nvCxnSpPr>
        <p:spPr>
          <a:xfrm>
            <a:off x="7715250" y="3952875"/>
            <a:ext cx="0" cy="1057275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sl:dg-tr1"/>
          <p:cNvCxnSpPr/>
          <p:nvPr/>
        </p:nvCxnSpPr>
        <p:spPr>
          <a:xfrm>
            <a:off x="8382000" y="3095625"/>
            <a:ext cx="0" cy="1914525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sl:dg-trl0"/>
          <p:cNvSpPr txBox="1"/>
          <p:nvPr/>
        </p:nvSpPr>
        <p:spPr>
          <a:xfrm>
            <a:off x="7772400" y="4381500"/>
            <a:ext cx="571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D97D29"/>
                </a:solidFill>
                <a:latin typeface="MiSans"/>
                <a:ea typeface="MiSans"/>
              </a:rPr>
              <a:t>absorb 吸收</a:t>
            </a:r>
          </a:p>
        </p:txBody>
      </p:sp>
      <p:sp>
        <p:nvSpPr>
          <p:cNvPr id="28" name="dsl:dg-trl1"/>
          <p:cNvSpPr txBox="1"/>
          <p:nvPr/>
        </p:nvSpPr>
        <p:spPr>
          <a:xfrm>
            <a:off x="8439150" y="3952875"/>
            <a:ext cx="571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D97D29"/>
                </a:solidFill>
                <a:latin typeface="MiSans"/>
                <a:ea typeface="MiSans"/>
              </a:rPr>
              <a:t>emit 发射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Line Spectra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线状光谱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17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10972800" cy="15525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Continuous spectrum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hot solid/filament — all wavelengths 连续谱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Emission line spectrum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hot low-pressure gas — bright lines at characteristic wavelengths 发射谱：亮线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Absorption line spectrum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white light through cool gas — dark lines at the same wavelengths 吸收谱：暗线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Each element has a unique "fingerprint" of lines ⇒ chemical analysis of stars 元素指纹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Line wavelength: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由能级差求波长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22A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17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22A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74307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476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An electromagnetic wave has speed 3.00 × 10⁸ m s⁻¹ and wavelength 550 nm.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For one photon in this wave, calculate: a) the energy in electronvolts; b) the momentum. (h = 6.63 × 10⁻³⁴ J s)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先算焦耳再换算 eV；动量直接用 p = h/λ。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838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Photon energy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6.63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34</m:t>
                    </m:r>
                  </m:sup>
                </m:sSup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3.00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8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550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9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3.62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19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J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Convert: E = 3.62×10⁻¹⁹ / 1.60×10⁻¹⁹ = 2.26 eV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Momentum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6.63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34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550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9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1.21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27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kg m s⁻¹</a:t>
            </a:r>
          </a:p>
        </p:txBody>
      </p:sp>
      <p:sp>
        <p:nvSpPr>
          <p:cNvPr id="14" name="dsl:ex-abg"/>
          <p:cNvSpPr/>
          <p:nvPr/>
        </p:nvSpPr>
        <p:spPr>
          <a:xfrm>
            <a:off x="5372100" y="306705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06705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06705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E = 2.26 eV; p = 1.21 × 10⁻²⁷ kg m s⁻¹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22B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17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22B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6478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381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work function energy of platinum is 9.0 × 10⁻¹⁹ J. Calculate: a) the threshold frequency; b) the maximum kinetic energy of a photoelectron when radiation of frequency 2.0 × 10¹⁵ Hz is incident. (h = 6.63 × 10⁻³⁴ J s)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光电方程各项统一用焦耳。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838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Threshold: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Φ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9.0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19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6.63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34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1.4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15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Hz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Photon energy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6.63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34</m:t>
                    </m:r>
                  </m:sup>
                </m:sSup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2.0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15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1.33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18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J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Φ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1.33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18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9.0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19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4.3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19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J (≈ 2.7 eV)</a:t>
            </a:r>
          </a:p>
        </p:txBody>
      </p:sp>
      <p:sp>
        <p:nvSpPr>
          <p:cNvPr id="14" name="dsl:ex-abg"/>
          <p:cNvSpPr/>
          <p:nvPr/>
        </p:nvSpPr>
        <p:spPr>
          <a:xfrm>
            <a:off x="5372100" y="306705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06705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06705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f₀ = 1.4 × 10¹⁵ Hz; KE_max = 4.3 × 10⁻¹⁹ J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Examples 22C &amp; 22D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14 / 17</a:t>
            </a: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22C</a:t>
            </a: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8858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0-q"/>
          <p:cNvSpPr txBox="1"/>
          <p:nvPr/>
        </p:nvSpPr>
        <p:spPr>
          <a:xfrm>
            <a:off x="762000" y="2152650"/>
            <a:ext cx="5029200" cy="6572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Calculate the de Broglie wavelength of an electron travelling at 2.6 × 10⁷ m s⁻¹.</a:t>
            </a:r>
          </a:p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(h = 6.63 × 10⁻³⁴ J s; m_e = 9.11 × 10⁻³¹ kg)</a:t>
            </a:r>
          </a:p>
        </p:txBody>
      </p:sp>
      <p:sp>
        <p:nvSpPr>
          <p:cNvPr id="12" name="dsl:te0-st"/>
          <p:cNvSpPr txBox="1"/>
          <p:nvPr/>
        </p:nvSpPr>
        <p:spPr>
          <a:xfrm>
            <a:off x="609600" y="30575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9.11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31</m:t>
                    </m:r>
                  </m:sup>
                </m:sSup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2.6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7</m:t>
                    </m:r>
                  </m:sup>
                </m:sSup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2.37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23</m:t>
                    </m:r>
                  </m:sup>
                </m:sSup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kg m s⁻¹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6.63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34</m:t>
                    </m:r>
                  </m:sup>
                </m:sSup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2.37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23</m:t>
                    </m:r>
                  </m:sup>
                </m:sSup>
              </m:oMath>
            </a14:m>
          </a:p>
        </p:txBody>
      </p:sp>
      <p:sp>
        <p:nvSpPr>
          <p:cNvPr id="13" name="dsl:te0-abg"/>
          <p:cNvSpPr/>
          <p:nvPr/>
        </p:nvSpPr>
        <p:spPr>
          <a:xfrm>
            <a:off x="609600" y="36385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36385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0-ans"/>
          <p:cNvSpPr txBox="1"/>
          <p:nvPr/>
        </p:nvSpPr>
        <p:spPr>
          <a:xfrm>
            <a:off x="781050" y="36385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λ = 2.8 × 10⁻¹¹ m</a:t>
            </a:r>
          </a:p>
        </p:txBody>
      </p:sp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22D</a:t>
            </a: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8858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1-q"/>
          <p:cNvSpPr txBox="1"/>
          <p:nvPr/>
        </p:nvSpPr>
        <p:spPr>
          <a:xfrm>
            <a:off x="6400800" y="2152650"/>
            <a:ext cx="5029200" cy="6572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Calculate the wavelength emitted when the electron in a hydrogen atom falls from −0.54 × 10⁻¹⁸ J to −2.18 × 10⁻¹⁸ J.</a:t>
            </a:r>
          </a:p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(h = 6.63 × 10⁻³⁴ J s; c = 3.00 × 10⁸ m s⁻¹)</a:t>
            </a:r>
          </a:p>
        </p:txBody>
      </p:sp>
      <p:sp>
        <p:nvSpPr>
          <p:cNvPr id="19" name="dsl:te1-st"/>
          <p:cNvSpPr txBox="1"/>
          <p:nvPr/>
        </p:nvSpPr>
        <p:spPr>
          <a:xfrm>
            <a:off x="6248400" y="30575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ΔE = 2.18×10⁻¹⁸ − 0.54×10⁻¹⁸ = 1.64×10⁻¹⁸ J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1.99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25</m:t>
                    </m:r>
                  </m:sup>
                </m:sSup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1.64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18</m:t>
                    </m:r>
                  </m:sup>
                </m:sSup>
              </m:oMath>
            </a14:m>
          </a:p>
        </p:txBody>
      </p:sp>
      <p:sp>
        <p:nvSpPr>
          <p:cNvPr id="20" name="dsl:te1-abg"/>
          <p:cNvSpPr/>
          <p:nvPr/>
        </p:nvSpPr>
        <p:spPr>
          <a:xfrm>
            <a:off x="6248400" y="36385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36385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1-ans"/>
          <p:cNvSpPr txBox="1"/>
          <p:nvPr/>
        </p:nvSpPr>
        <p:spPr>
          <a:xfrm>
            <a:off x="6419850" y="36385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λ = 1.21 × 10⁻⁷ m = 121 nm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15 / 17</a:t>
            </a:r>
          </a:p>
        </p:txBody>
      </p:sp>
      <p:sp>
        <p:nvSpPr>
          <p:cNvPr id="9" name="dsl:pq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q0-num"/>
          <p:cNvSpPr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q0-n"/>
          <p:cNvSpPr txBox="1"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Q1</a:t>
            </a:r>
          </a:p>
        </p:txBody>
      </p:sp>
      <p:sp>
        <p:nvSpPr>
          <p:cNvPr id="12" name="dsl:pq0-t"/>
          <p:cNvSpPr txBox="1"/>
          <p:nvPr/>
        </p:nvSpPr>
        <p:spPr>
          <a:xfrm>
            <a:off x="1409700" y="18859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photon has energy 4.3 eV. Calculate its wavelength and its momentum. (h = 6.63 × 10⁻³⁴ J s)</a:t>
            </a:r>
          </a:p>
        </p:txBody>
      </p:sp>
      <p:sp>
        <p:nvSpPr>
          <p:cNvPr id="13" name="dsl:pq1-bg"/>
          <p:cNvSpPr/>
          <p:nvPr/>
        </p:nvSpPr>
        <p:spPr>
          <a:xfrm>
            <a:off x="609600" y="253365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q1-num"/>
          <p:cNvSpPr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q1-n"/>
          <p:cNvSpPr txBox="1"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Q2</a:t>
            </a:r>
          </a:p>
        </p:txBody>
      </p:sp>
      <p:sp>
        <p:nvSpPr>
          <p:cNvPr id="16" name="dsl:pq1-t"/>
          <p:cNvSpPr txBox="1"/>
          <p:nvPr/>
        </p:nvSpPr>
        <p:spPr>
          <a:xfrm>
            <a:off x="1409700" y="262890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work function of zinc is 3.6 eV. Calculate the threshold wavelength for zinc.</a:t>
            </a:r>
          </a:p>
        </p:txBody>
      </p:sp>
      <p:sp>
        <p:nvSpPr>
          <p:cNvPr id="17" name="dsl:pq2-bg"/>
          <p:cNvSpPr/>
          <p:nvPr/>
        </p:nvSpPr>
        <p:spPr>
          <a:xfrm>
            <a:off x="609600" y="32766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q2-num"/>
          <p:cNvSpPr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q2-n"/>
          <p:cNvSpPr txBox="1"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Q3</a:t>
            </a:r>
          </a:p>
        </p:txBody>
      </p:sp>
      <p:sp>
        <p:nvSpPr>
          <p:cNvPr id="20" name="dsl:pq2-t"/>
          <p:cNvSpPr txBox="1"/>
          <p:nvPr/>
        </p:nvSpPr>
        <p:spPr>
          <a:xfrm>
            <a:off x="1409700" y="33718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An electron in a hydrogen atom falls from −0.85 eV to −3.4 eV. Calculate the wavelength of the emitted radiation.</a:t>
            </a:r>
          </a:p>
        </p:txBody>
      </p:sp>
      <p:sp>
        <p:nvSpPr>
          <p:cNvPr id="21" name="dsl:pq-ans"/>
          <p:cNvSpPr txBox="1"/>
          <p:nvPr/>
        </p:nvSpPr>
        <p:spPr>
          <a:xfrm>
            <a:off x="609600" y="6096000"/>
            <a:ext cx="109728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975" noProof="1">
                <a:solidFill>
                  <a:srgbClr val="5C7A84"/>
                </a:solidFill>
                <a:latin typeface="MiSans"/>
                <a:ea typeface="MiSans"/>
              </a:rPr>
              <a:t>Answers</a:t>
            </a:r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Q1: λ = 290 nm, p = 2.3×10⁻²⁷ kg m s⁻¹　Q2: λ₀ = 345 nm　Q3: ΔE = 2.55 eV, λ = 487 nm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本章小结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16 / 17</a:t>
            </a:r>
          </a:p>
        </p:txBody>
      </p:sp>
      <p:sp>
        <p:nvSpPr>
          <p:cNvPr id="9" name="dsl:sm-h1|s=$badge"/>
          <p:cNvSpPr txBox="1"/>
          <p:nvPr/>
        </p:nvSpPr>
        <p:spPr>
          <a:xfrm>
            <a:off x="609600" y="17335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</a:p>
        </p:txBody>
      </p:sp>
      <p:sp>
        <p:nvSpPr>
          <p:cNvPr id="10" name="dsl:smf0-bg"/>
          <p:cNvSpPr/>
          <p:nvPr/>
        </p:nvSpPr>
        <p:spPr>
          <a:xfrm>
            <a:off x="609600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mf0-f"/>
          <p:cNvSpPr txBox="1"/>
          <p:nvPr/>
        </p:nvSpPr>
        <p:spPr>
          <a:xfrm>
            <a:off x="762000" y="20955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λ</m:t>
                </m:r>
              </m:oMath>
            </a14:m>
          </a:p>
        </p:txBody>
      </p:sp>
      <p:sp>
        <p:nvSpPr>
          <p:cNvPr id="12" name="dsl:smf0-n"/>
          <p:cNvSpPr txBox="1"/>
          <p:nvPr/>
        </p:nvSpPr>
        <p:spPr>
          <a:xfrm>
            <a:off x="762000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光子能量</a:t>
            </a:r>
          </a:p>
        </p:txBody>
      </p:sp>
      <p:sp>
        <p:nvSpPr>
          <p:cNvPr id="13" name="dsl:smf1-bg"/>
          <p:cNvSpPr/>
          <p:nvPr/>
        </p:nvSpPr>
        <p:spPr>
          <a:xfrm>
            <a:off x="4314825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mf1-f"/>
          <p:cNvSpPr txBox="1"/>
          <p:nvPr/>
        </p:nvSpPr>
        <p:spPr>
          <a:xfrm>
            <a:off x="4467225" y="20955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1</m:t>
                </m:r>
                <m:r>
                  <m:t> 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1.60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19</m:t>
                    </m:r>
                  </m:sup>
                </m:sSup>
                <m:r>
                  <m:t> 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</a:p>
        </p:txBody>
      </p:sp>
      <p:sp>
        <p:nvSpPr>
          <p:cNvPr id="15" name="dsl:smf1-n"/>
          <p:cNvSpPr txBox="1"/>
          <p:nvPr/>
        </p:nvSpPr>
        <p:spPr>
          <a:xfrm>
            <a:off x="4467225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电子伏特</a:t>
            </a:r>
          </a:p>
        </p:txBody>
      </p:sp>
      <p:sp>
        <p:nvSpPr>
          <p:cNvPr id="16" name="dsl:smf2-bg"/>
          <p:cNvSpPr/>
          <p:nvPr/>
        </p:nvSpPr>
        <p:spPr>
          <a:xfrm>
            <a:off x="8020050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mf2-f"/>
          <p:cNvSpPr txBox="1"/>
          <p:nvPr/>
        </p:nvSpPr>
        <p:spPr>
          <a:xfrm>
            <a:off x="8172450" y="20955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λ</m:t>
                </m:r>
              </m:oMath>
            </a14:m>
          </a:p>
        </p:txBody>
      </p:sp>
      <p:sp>
        <p:nvSpPr>
          <p:cNvPr id="18" name="dsl:smf2-n"/>
          <p:cNvSpPr txBox="1"/>
          <p:nvPr/>
        </p:nvSpPr>
        <p:spPr>
          <a:xfrm>
            <a:off x="8172450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光子动量</a:t>
            </a:r>
          </a:p>
        </p:txBody>
      </p:sp>
      <p:sp>
        <p:nvSpPr>
          <p:cNvPr id="19" name="dsl:smf3-bg"/>
          <p:cNvSpPr/>
          <p:nvPr/>
        </p:nvSpPr>
        <p:spPr>
          <a:xfrm>
            <a:off x="609600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mf3-f"/>
          <p:cNvSpPr txBox="1"/>
          <p:nvPr/>
        </p:nvSpPr>
        <p:spPr>
          <a:xfrm>
            <a:off x="762000" y="28194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Φ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+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sSubSup>
                  <m:sSub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sub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</m:oMath>
            </a14:m>
          </a:p>
        </p:txBody>
      </p:sp>
      <p:sp>
        <p:nvSpPr>
          <p:cNvPr id="21" name="dsl:smf3-n"/>
          <p:cNvSpPr txBox="1"/>
          <p:nvPr/>
        </p:nvSpPr>
        <p:spPr>
          <a:xfrm>
            <a:off x="762000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光电方程</a:t>
            </a:r>
          </a:p>
        </p:txBody>
      </p:sp>
      <p:sp>
        <p:nvSpPr>
          <p:cNvPr id="22" name="dsl:smf4-bg"/>
          <p:cNvSpPr/>
          <p:nvPr/>
        </p:nvSpPr>
        <p:spPr>
          <a:xfrm>
            <a:off x="4314825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smf4-f"/>
          <p:cNvSpPr txBox="1"/>
          <p:nvPr/>
        </p:nvSpPr>
        <p:spPr>
          <a:xfrm>
            <a:off x="4467225" y="28194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Φ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</m:oMath>
            </a14:m>
          </a:p>
        </p:txBody>
      </p:sp>
      <p:sp>
        <p:nvSpPr>
          <p:cNvPr id="24" name="dsl:smf4-n"/>
          <p:cNvSpPr txBox="1"/>
          <p:nvPr/>
        </p:nvSpPr>
        <p:spPr>
          <a:xfrm>
            <a:off x="4467225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极限频率</a:t>
            </a:r>
          </a:p>
        </p:txBody>
      </p:sp>
      <p:sp>
        <p:nvSpPr>
          <p:cNvPr id="25" name="dsl:smf5-bg"/>
          <p:cNvSpPr/>
          <p:nvPr/>
        </p:nvSpPr>
        <p:spPr>
          <a:xfrm>
            <a:off x="8020050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smf5-f"/>
          <p:cNvSpPr txBox="1"/>
          <p:nvPr/>
        </p:nvSpPr>
        <p:spPr>
          <a:xfrm>
            <a:off x="8172450" y="28194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27" name="dsl:smf5-n"/>
          <p:cNvSpPr txBox="1"/>
          <p:nvPr/>
        </p:nvSpPr>
        <p:spPr>
          <a:xfrm>
            <a:off x="8172450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德布罗意波长</a:t>
            </a:r>
          </a:p>
        </p:txBody>
      </p:sp>
      <p:sp>
        <p:nvSpPr>
          <p:cNvPr id="28" name="dsl:smf6-bg"/>
          <p:cNvSpPr/>
          <p:nvPr/>
        </p:nvSpPr>
        <p:spPr>
          <a:xfrm>
            <a:off x="609600" y="35052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smf6-f"/>
          <p:cNvSpPr txBox="1"/>
          <p:nvPr/>
        </p:nvSpPr>
        <p:spPr>
          <a:xfrm>
            <a:off x="762000" y="35433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−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</a:p>
        </p:txBody>
      </p:sp>
      <p:sp>
        <p:nvSpPr>
          <p:cNvPr id="30" name="dsl:smf6-n"/>
          <p:cNvSpPr txBox="1"/>
          <p:nvPr/>
        </p:nvSpPr>
        <p:spPr>
          <a:xfrm>
            <a:off x="762000" y="38290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能级跃迁</a:t>
            </a:r>
          </a:p>
        </p:txBody>
      </p:sp>
      <p:sp>
        <p:nvSpPr>
          <p:cNvPr id="31" name="dsl:smf7-bg"/>
          <p:cNvSpPr/>
          <p:nvPr/>
        </p:nvSpPr>
        <p:spPr>
          <a:xfrm>
            <a:off x="4314825" y="35052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smf7-f"/>
          <p:cNvSpPr txBox="1"/>
          <p:nvPr/>
        </p:nvSpPr>
        <p:spPr>
          <a:xfrm>
            <a:off x="4467225" y="35433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</m:oMath>
            </a14:m>
          </a:p>
        </p:txBody>
      </p:sp>
      <p:sp>
        <p:nvSpPr>
          <p:cNvPr id="33" name="dsl:smf7-n"/>
          <p:cNvSpPr txBox="1"/>
          <p:nvPr/>
        </p:nvSpPr>
        <p:spPr>
          <a:xfrm>
            <a:off x="4467225" y="38290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谱线波长</a:t>
            </a:r>
          </a:p>
        </p:txBody>
      </p:sp>
      <p:sp>
        <p:nvSpPr>
          <p:cNvPr id="34" name="dsl:sm-h2|s=$badge"/>
          <p:cNvSpPr txBox="1"/>
          <p:nvPr/>
        </p:nvSpPr>
        <p:spPr>
          <a:xfrm>
            <a:off x="609600" y="43243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IDEAS 核心思想</a:t>
            </a:r>
          </a:p>
        </p:txBody>
      </p:sp>
      <p:sp>
        <p:nvSpPr>
          <p:cNvPr id="35" name="dsl:sm-ideas"/>
          <p:cNvSpPr txBox="1"/>
          <p:nvPr/>
        </p:nvSpPr>
        <p:spPr>
          <a:xfrm>
            <a:off x="609600" y="4629150"/>
            <a:ext cx="10972800" cy="10572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Photon model: one photon ⇄ one electron 一对一模型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KE_max set by frequency; current set by intensity 频率定动能，光强定电流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Matter waves confirmed by electron diffraction 电子衍射证实物质波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Discrete levels ⇒ discrete spectral lines 能级分立⇒谱线分立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22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Exam Tips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22 Quantum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17 / 17</a:t>
            </a:r>
          </a:p>
        </p:txBody>
      </p:sp>
      <p:sp>
        <p:nvSpPr>
          <p:cNvPr id="9" name="dsl:tp0-bg"/>
          <p:cNvSpPr/>
          <p:nvPr/>
        </p:nvSpPr>
        <p:spPr>
          <a:xfrm>
            <a:off x="609600" y="17907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p0-ic|i=fas:triangle-exclamation" descr="tmpde32em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40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p0-t"/>
          <p:cNvSpPr txBox="1"/>
          <p:nvPr/>
        </p:nvSpPr>
        <p:spPr>
          <a:xfrm>
            <a:off x="1143000" y="18859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Convert eV to joules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before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substituting into E = hf or λ = hc/ΔE. 先换单位再代入。</a:t>
            </a:r>
          </a:p>
        </p:txBody>
      </p:sp>
      <p:sp>
        <p:nvSpPr>
          <p:cNvPr id="12" name="dsl:tp1-bg"/>
          <p:cNvSpPr/>
          <p:nvPr/>
        </p:nvSpPr>
        <p:spPr>
          <a:xfrm>
            <a:off x="609600" y="24384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tp1-ic|i=fas:calculator" descr="tmpde32em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tp1-t"/>
          <p:cNvSpPr txBox="1"/>
          <p:nvPr/>
        </p:nvSpPr>
        <p:spPr>
          <a:xfrm>
            <a:off x="1143000" y="25336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Keep c = fλ and E = hf separate in your working; mixing wavelength and frequency is the most common slip. λ 与 f 换算用 c=fλ。</a:t>
            </a:r>
          </a:p>
        </p:txBody>
      </p:sp>
      <p:sp>
        <p:nvSpPr>
          <p:cNvPr id="15" name="dsl:tp2-bg"/>
          <p:cNvSpPr/>
          <p:nvPr/>
        </p:nvSpPr>
        <p:spPr>
          <a:xfrm>
            <a:off x="609600" y="31623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tp2-ic|i=fas:lightbulb" descr="tmpgxb_qe4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956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tp2-t"/>
          <p:cNvSpPr txBox="1"/>
          <p:nvPr/>
        </p:nvSpPr>
        <p:spPr>
          <a:xfrm>
            <a:off x="1143000" y="32575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Explaining intensity: intensity ∝ photon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rate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frequency sets energy of 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each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photon. 解释题分清光子数与单光子能量。</a:t>
            </a:r>
          </a:p>
        </p:txBody>
      </p:sp>
      <p:sp>
        <p:nvSpPr>
          <p:cNvPr id="18" name="dsl:tp3-bg"/>
          <p:cNvSpPr/>
          <p:nvPr/>
        </p:nvSpPr>
        <p:spPr>
          <a:xfrm>
            <a:off x="609600" y="38100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p3-ic|i=fas:arrow-trend-down" descr="tmpde32em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9433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p3-t"/>
          <p:cNvSpPr txBox="1"/>
          <p:nvPr/>
        </p:nvSpPr>
        <p:spPr>
          <a:xfrm>
            <a:off x="1143000" y="39052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Energy levels are negative; ΔE = E_upper − E_lower gives a positive photon energy. 能级差取正值。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83472F73-5E4B-4460-8671-F5197A6316E4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