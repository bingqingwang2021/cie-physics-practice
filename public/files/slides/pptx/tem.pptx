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 / °C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4</c:v>
                </c:pt>
                <c:pt idx="2">
                  <c:v>9</c:v>
                </c:pt>
                <c:pt idx="3">
                  <c:v>18</c:v>
                </c:pt>
                <c:pt idx="4">
                  <c:v>24</c:v>
                </c:pt>
                <c:pt idx="5">
                  <c:v>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-10</c:v>
                </c:pt>
                <c:pt idx="1">
                  <c:v>0</c:v>
                </c:pt>
                <c:pt idx="2">
                  <c:v>0</c:v>
                </c:pt>
                <c:pt idx="3">
                  <c:v>100</c:v>
                </c:pt>
                <c:pt idx="4">
                  <c:v>100</c:v>
                </c:pt>
                <c:pt idx="5">
                  <c:v>120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time 时间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40.0"/>
          <c:min val="-20.0"/>
        </c:scaling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θ / °C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m"/>
          <p:cNvSpPr/>
          <p:nvPr/>
        </p:nvSpPr>
        <p:spPr>
          <a:xfrm>
            <a:off x="9258300" y="3067050"/>
            <a:ext cx="342900" cy="34290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dsl:dc-f0"/>
          <p:cNvCxnSpPr/>
          <p:nvPr/>
        </p:nvCxnSpPr>
        <p:spPr>
          <a:xfrm>
            <a:off x="969645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f1"/>
          <p:cNvCxnSpPr/>
          <p:nvPr/>
        </p:nvCxnSpPr>
        <p:spPr>
          <a:xfrm>
            <a:off x="9660718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f2"/>
          <p:cNvCxnSpPr/>
          <p:nvPr/>
        </p:nvCxnSpPr>
        <p:spPr>
          <a:xfrm>
            <a:off x="9563100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f3"/>
          <p:cNvCxnSpPr/>
          <p:nvPr/>
        </p:nvCxnSpPr>
        <p:spPr>
          <a:xfrm>
            <a:off x="9429750" y="350520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f4"/>
          <p:cNvCxnSpPr/>
          <p:nvPr/>
        </p:nvCxnSpPr>
        <p:spPr>
          <a:xfrm flipH="1">
            <a:off x="8715375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f5"/>
          <p:cNvCxnSpPr/>
          <p:nvPr/>
        </p:nvCxnSpPr>
        <p:spPr>
          <a:xfrm flipH="1">
            <a:off x="8192416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f6"/>
          <p:cNvCxnSpPr/>
          <p:nvPr/>
        </p:nvCxnSpPr>
        <p:spPr>
          <a:xfrm>
            <a:off x="800100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f7"/>
          <p:cNvCxnSpPr/>
          <p:nvPr/>
        </p:nvCxnSpPr>
        <p:spPr>
          <a:xfrm>
            <a:off x="8192416" y="2524125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f8"/>
          <p:cNvCxnSpPr/>
          <p:nvPr/>
        </p:nvCxnSpPr>
        <p:spPr>
          <a:xfrm>
            <a:off x="8715374" y="2001166"/>
            <a:ext cx="581026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f9"/>
          <p:cNvCxnSpPr/>
          <p:nvPr/>
        </p:nvCxnSpPr>
        <p:spPr>
          <a:xfrm>
            <a:off x="9429750" y="180975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f10"/>
          <p:cNvCxnSpPr/>
          <p:nvPr/>
        </p:nvCxnSpPr>
        <p:spPr>
          <a:xfrm flipH="1">
            <a:off x="9563100" y="2001166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f11"/>
          <p:cNvCxnSpPr/>
          <p:nvPr/>
        </p:nvCxnSpPr>
        <p:spPr>
          <a:xfrm flipH="1">
            <a:off x="9660718" y="2524124"/>
            <a:ext cx="1006365" cy="581026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14</a:t>
            </a:r>
          </a:p>
        </p:txBody>
      </p:sp>
      <p:sp>
        <p:nvSpPr>
          <p:cNvPr id="16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Temperature</a:t>
            </a:r>
          </a:p>
        </p:txBody>
      </p:sp>
      <p:sp>
        <p:nvSpPr>
          <p:cNvPr id="17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温度</a:t>
            </a:r>
          </a:p>
        </p:txBody>
      </p:sp>
      <p:cxnSp>
        <p:nvCxnSpPr>
          <p:cNvPr id="18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20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14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14.1 Thermal equilibrium 热平衡</a:t>
            </a:r>
          </a:p>
        </p:txBody>
      </p:sp>
      <p:pic>
        <p:nvPicPr>
          <p:cNvPr id="14" name="dsl:oc0_0|i=fas:square-check" descr="tmpn9di9r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400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Energy is transferred from a region of higher temperature to one of lower temperature 热量自发从高温传向低温</a:t>
            </a:r>
          </a:p>
        </p:txBody>
      </p:sp>
      <p:pic>
        <p:nvPicPr>
          <p:cNvPr id="16" name="dsl:oc0_1|i=fas:square-check" descr="tmpn9di9r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5812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5527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Regions at equal temperature are in thermal equilibrium 温度相等即热平衡</a:t>
            </a:r>
          </a:p>
        </p:txBody>
      </p:sp>
      <p:sp>
        <p:nvSpPr>
          <p:cNvPr id="18" name="dsl:og1"/>
          <p:cNvSpPr txBox="1"/>
          <p:nvPr/>
        </p:nvSpPr>
        <p:spPr>
          <a:xfrm>
            <a:off x="3467100" y="29718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14.2 Temperature scales 温标</a:t>
            </a:r>
          </a:p>
        </p:txBody>
      </p:sp>
      <p:pic>
        <p:nvPicPr>
          <p:cNvPr id="19" name="dsl:oc1_0|i=fas:square-check" descr="tmpn9di9r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3242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ot1_0"/>
          <p:cNvSpPr txBox="1"/>
          <p:nvPr/>
        </p:nvSpPr>
        <p:spPr>
          <a:xfrm>
            <a:off x="3752850" y="3295650"/>
            <a:ext cx="7829550" cy="400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Physical properties varying with temperature: density of a liquid, volume of a gas at constant pressure, resistance of a metal, e.m.f. of a thermocouple</a:t>
            </a:r>
          </a:p>
        </p:txBody>
      </p:sp>
      <p:pic>
        <p:nvPicPr>
          <p:cNvPr id="21" name="dsl:oc1_1|i=fas:square-check" descr="tmpn9di9r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8004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1"/>
          <p:cNvSpPr txBox="1"/>
          <p:nvPr/>
        </p:nvSpPr>
        <p:spPr>
          <a:xfrm>
            <a:off x="3752850" y="37719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Thermodynamic scale does not depend on any particular substance 热力学温标不依赖特定物质</a:t>
            </a:r>
          </a:p>
        </p:txBody>
      </p:sp>
      <p:pic>
        <p:nvPicPr>
          <p:cNvPr id="23" name="dsl:oc1_2|i=fas:square-check" descr="tmpn9di9r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1052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2"/>
          <p:cNvSpPr txBox="1"/>
          <p:nvPr/>
        </p:nvSpPr>
        <p:spPr>
          <a:xfrm>
            <a:off x="3752850" y="40767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Convert between kelvin and °C: T/K = θ/°C + 273.15; absolute zero is 0 K 绝对零度</a:t>
            </a:r>
          </a:p>
        </p:txBody>
      </p:sp>
      <p:sp>
        <p:nvSpPr>
          <p:cNvPr id="25" name="dsl:og2"/>
          <p:cNvSpPr txBox="1"/>
          <p:nvPr/>
        </p:nvSpPr>
        <p:spPr>
          <a:xfrm>
            <a:off x="3467100" y="44958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14.3 Specific heat capacity &amp; specific latent heat 比热容与比潜热</a:t>
            </a:r>
          </a:p>
        </p:txBody>
      </p:sp>
      <p:pic>
        <p:nvPicPr>
          <p:cNvPr id="26" name="dsl:oc2_0|i=fas:square-check" descr="tmpn9di9r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8482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ot2_0"/>
          <p:cNvSpPr txBox="1"/>
          <p:nvPr/>
        </p:nvSpPr>
        <p:spPr>
          <a:xfrm>
            <a:off x="3752850" y="48196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Define and use specific heat capacity 定义并使用比热容</a:t>
            </a:r>
          </a:p>
        </p:txBody>
      </p:sp>
      <p:pic>
        <p:nvPicPr>
          <p:cNvPr id="28" name="dsl:oc2_1|i=fas:square-check" descr="tmpn9di9r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5153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ot2_1"/>
          <p:cNvSpPr txBox="1"/>
          <p:nvPr/>
        </p:nvSpPr>
        <p:spPr>
          <a:xfrm>
            <a:off x="3752850" y="5124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Define and use specific latent heat; distinguish fusion and vaporisation 区分熔化与汽化潜热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Thermal Equilibrium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热平衡与热传递方向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14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Thermal energy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transferred from a region of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higher temperature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to a region of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lower temperature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热量自发地从高温区域传向低温区域。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bar"/>
          <p:cNvSpPr/>
          <p:nvPr/>
        </p:nvSpPr>
        <p:spPr>
          <a:xfrm>
            <a:off x="609600" y="3057525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b1-tx"/>
          <p:cNvSpPr txBox="1"/>
          <p:nvPr/>
        </p:nvSpPr>
        <p:spPr>
          <a:xfrm>
            <a:off x="838200" y="3171825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Two regions at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equal temperature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are in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thermal equilibrium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no net transfer of energy occurs between them.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温度相等 ⇒ 热平衡，无净热传递。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562475"/>
            <a:ext cx="5334000" cy="1076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Temperature measures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degree of hotness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not the amount of thermal energy stored 温度是冷热程度，不是热量多少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 thermometer reaches thermal equilibrium with the object it measures 温度计与被测物达到热平衡后读数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hb-hot"/>
          <p:cNvSpPr/>
          <p:nvPr/>
        </p:nvSpPr>
        <p:spPr>
          <a:xfrm>
            <a:off x="6667500" y="2571750"/>
            <a:ext cx="1714500" cy="12382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hb-hott"/>
          <p:cNvSpPr txBox="1"/>
          <p:nvPr/>
        </p:nvSpPr>
        <p:spPr>
          <a:xfrm>
            <a:off x="6667500" y="2857500"/>
            <a:ext cx="1714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HOT</a:t>
            </a:r>
          </a:p>
          <a:p>
            <a:pPr algn="ctr"/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80 °C</a:t>
            </a:r>
          </a:p>
        </p:txBody>
      </p:sp>
      <p:sp>
        <p:nvSpPr>
          <p:cNvPr id="19" name="dsl:hb-cold"/>
          <p:cNvSpPr/>
          <p:nvPr/>
        </p:nvSpPr>
        <p:spPr>
          <a:xfrm>
            <a:off x="9810750" y="2571750"/>
            <a:ext cx="1714500" cy="12382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hb-coldt"/>
          <p:cNvSpPr txBox="1"/>
          <p:nvPr/>
        </p:nvSpPr>
        <p:spPr>
          <a:xfrm>
            <a:off x="9810750" y="2857500"/>
            <a:ext cx="1714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COLD</a:t>
            </a:r>
          </a:p>
          <a:p>
            <a:pPr algn="ctr"/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20 °C</a:t>
            </a:r>
          </a:p>
        </p:txBody>
      </p:sp>
      <p:cxnSp>
        <p:nvCxnSpPr>
          <p:cNvPr id="21" name="dsl:hb-arr"/>
          <p:cNvCxnSpPr/>
          <p:nvPr/>
        </p:nvCxnSpPr>
        <p:spPr>
          <a:xfrm>
            <a:off x="8477250" y="3190875"/>
            <a:ext cx="123825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hb-arrl"/>
          <p:cNvSpPr txBox="1"/>
          <p:nvPr/>
        </p:nvSpPr>
        <p:spPr>
          <a:xfrm>
            <a:off x="8477250" y="2857500"/>
            <a:ext cx="123825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energy 能量</a:t>
            </a:r>
          </a:p>
        </p:txBody>
      </p:sp>
      <p:sp>
        <p:nvSpPr>
          <p:cNvPr id="23" name="dsl:hb-eq"/>
          <p:cNvSpPr txBox="1"/>
          <p:nvPr/>
        </p:nvSpPr>
        <p:spPr>
          <a:xfrm>
            <a:off x="6667500" y="4476750"/>
            <a:ext cx="485775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until thermal equilibrium 直至热平衡：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same temperature 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Measuring Temperature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测温性质与温度计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14</a:t>
            </a:r>
          </a:p>
        </p:txBody>
      </p:sp>
      <p:graphicFrame>
        <p:nvGraphicFramePr>
          <p:cNvPr id="9" name="dsl:tbl"/>
          <p:cNvGraphicFramePr>
            <a:graphicFrameLocks noGrp="1"/>
          </p:cNvGraphicFramePr>
          <p:nvPr/>
        </p:nvGraphicFramePr>
        <p:xfrm>
          <a:off x="609600" y="1847850"/>
          <a:ext cx="10972798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950207"/>
                <a:gridCol w="3730752"/>
                <a:gridCol w="3291839"/>
              </a:tblGrid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Physical property 物理性质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How it varies 变化规律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Thermometer 对应温度计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Density / volume of a liquid 液体密度（体积）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Expands on heating 热胀冷缩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Liquid-in-glass thermometer 玻璃液体温度计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Volume of a gas at constant pressure 定压气体体积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V ∝ T (kelvin) 与热力学温度成正比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Constant-volume gas thermometer 气体温度计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Resistance of a metal 金属电阻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Increases with temperature 随温度升高增大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Resistance thermometer 电阻温度计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e.m.f. of a thermocouple 热电偶电动势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Depends on junction temperature difference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Thermocouple 热电偶温度计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  <p:sp>
        <p:nvSpPr>
          <p:cNvPr id="10" name="dsl:tbl-notes"/>
          <p:cNvSpPr txBox="1"/>
          <p:nvPr/>
        </p:nvSpPr>
        <p:spPr>
          <a:xfrm>
            <a:off x="609600" y="4705350"/>
            <a:ext cx="10972800" cy="504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Any property that varies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reproducibly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with temperature can define a scale 任何可重复随温变化的性质都可用作测温性质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Different thermometers may disagree slightly — only the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thermodynamic scale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is substance-independent 只有热力学温标不依赖物质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Temperature Scales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摄氏温标与热力学温标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14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/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273.15</m:t>
                </m:r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3543300" y="180975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kelvin ↔ Celsius 换算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5334000" cy="24669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Absolute zero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绝对零度: 0 K = −273.15 °C — the lowest possible temperature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 temperature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difference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1 K equals 1 °C 温差 1 K = 1 °C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thermodynamic (kelvin) scale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does not depend on the property of any particular substance 热力学温标不依赖任何特定物质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Fixed points 定点: ice point 273.15 K (0 °C), steam point 373.15 K (100 °C)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c-barC"/>
          <p:cNvSpPr/>
          <p:nvPr/>
        </p:nvSpPr>
        <p:spPr>
          <a:xfrm>
            <a:off x="7239000" y="2286000"/>
            <a:ext cx="95250" cy="2857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c-barK"/>
          <p:cNvSpPr/>
          <p:nvPr/>
        </p:nvSpPr>
        <p:spPr>
          <a:xfrm>
            <a:off x="10191750" y="2286000"/>
            <a:ext cx="95250" cy="28575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sc-lc"/>
          <p:cNvSpPr txBox="1"/>
          <p:nvPr/>
        </p:nvSpPr>
        <p:spPr>
          <a:xfrm>
            <a:off x="6667500" y="1905000"/>
            <a:ext cx="1238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θ / °C</a:t>
            </a:r>
          </a:p>
        </p:txBody>
      </p:sp>
      <p:sp>
        <p:nvSpPr>
          <p:cNvPr id="17" name="dsl:sc-lk"/>
          <p:cNvSpPr txBox="1"/>
          <p:nvPr/>
        </p:nvSpPr>
        <p:spPr>
          <a:xfrm>
            <a:off x="9620250" y="1905000"/>
            <a:ext cx="123825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T / K</a:t>
            </a:r>
          </a:p>
        </p:txBody>
      </p:sp>
      <p:cxnSp>
        <p:nvCxnSpPr>
          <p:cNvPr id="18" name="dsl:sc-l1"/>
          <p:cNvCxnSpPr/>
          <p:nvPr/>
        </p:nvCxnSpPr>
        <p:spPr>
          <a:xfrm>
            <a:off x="7334250" y="2286000"/>
            <a:ext cx="2857500" cy="0"/>
          </a:xfrm>
          <a:prstGeom prst="straightConnector1">
            <a:avLst/>
          </a:prstGeom>
          <a:ln w="12700">
            <a:solidFill>
              <a:srgbClr val="D5DFE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sc-l2"/>
          <p:cNvCxnSpPr/>
          <p:nvPr/>
        </p:nvCxnSpPr>
        <p:spPr>
          <a:xfrm>
            <a:off x="7334250" y="5143500"/>
            <a:ext cx="2857500" cy="0"/>
          </a:xfrm>
          <a:prstGeom prst="straightConnector1">
            <a:avLst/>
          </a:prstGeom>
          <a:ln w="12700">
            <a:solidFill>
              <a:srgbClr val="D5DFE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sc-l3"/>
          <p:cNvCxnSpPr/>
          <p:nvPr/>
        </p:nvCxnSpPr>
        <p:spPr>
          <a:xfrm>
            <a:off x="7334250" y="4363402"/>
            <a:ext cx="2857500" cy="0"/>
          </a:xfrm>
          <a:prstGeom prst="straightConnector1">
            <a:avLst/>
          </a:prstGeom>
          <a:ln w="12700">
            <a:solidFill>
              <a:srgbClr val="D5DFE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sc-t1"/>
          <p:cNvSpPr txBox="1"/>
          <p:nvPr/>
        </p:nvSpPr>
        <p:spPr>
          <a:xfrm>
            <a:off x="7524750" y="2324100"/>
            <a:ext cx="1143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100 steam 沸点</a:t>
            </a:r>
          </a:p>
        </p:txBody>
      </p:sp>
      <p:sp>
        <p:nvSpPr>
          <p:cNvPr id="22" name="dsl:sc-t2"/>
          <p:cNvSpPr txBox="1"/>
          <p:nvPr/>
        </p:nvSpPr>
        <p:spPr>
          <a:xfrm>
            <a:off x="7524750" y="4914900"/>
            <a:ext cx="1143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0 ice 冰点</a:t>
            </a:r>
          </a:p>
        </p:txBody>
      </p:sp>
      <p:sp>
        <p:nvSpPr>
          <p:cNvPr id="23" name="dsl:sc-t3"/>
          <p:cNvSpPr txBox="1"/>
          <p:nvPr/>
        </p:nvSpPr>
        <p:spPr>
          <a:xfrm>
            <a:off x="7524750" y="4133850"/>
            <a:ext cx="1333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−273 abs. zero</a:t>
            </a:r>
          </a:p>
        </p:txBody>
      </p:sp>
      <p:sp>
        <p:nvSpPr>
          <p:cNvPr id="24" name="dsl:sc-k1"/>
          <p:cNvSpPr txBox="1"/>
          <p:nvPr/>
        </p:nvSpPr>
        <p:spPr>
          <a:xfrm>
            <a:off x="10382250" y="2324100"/>
            <a:ext cx="1143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373.15</a:t>
            </a:r>
          </a:p>
        </p:txBody>
      </p:sp>
      <p:sp>
        <p:nvSpPr>
          <p:cNvPr id="25" name="dsl:sc-k2"/>
          <p:cNvSpPr txBox="1"/>
          <p:nvPr/>
        </p:nvSpPr>
        <p:spPr>
          <a:xfrm>
            <a:off x="10382250" y="4914900"/>
            <a:ext cx="1143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273.15</a:t>
            </a:r>
          </a:p>
        </p:txBody>
      </p:sp>
      <p:sp>
        <p:nvSpPr>
          <p:cNvPr id="26" name="dsl:sc-k3"/>
          <p:cNvSpPr txBox="1"/>
          <p:nvPr/>
        </p:nvSpPr>
        <p:spPr>
          <a:xfrm>
            <a:off x="10382250" y="4133850"/>
            <a:ext cx="1143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0 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Specific Heat Capacity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比热容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14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Specific heat capacity c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the energy required per unit mass per unit temperature rise.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单位质量的物质升高单位温度所需吸收的能量。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0575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 单位 J kg⁻¹ K⁻¹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5334000" cy="1076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Water has a high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(4200 J kg⁻¹ K⁻¹) — heats and cools slowly 水的比热容大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Measure with an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electrical heater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E = VIt supplied to a known mass 电加热法测比热容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ap-beaker"/>
          <p:cNvSpPr/>
          <p:nvPr/>
        </p:nvSpPr>
        <p:spPr>
          <a:xfrm>
            <a:off x="7429500" y="2857500"/>
            <a:ext cx="2286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ap-water"/>
          <p:cNvSpPr/>
          <p:nvPr/>
        </p:nvSpPr>
        <p:spPr>
          <a:xfrm>
            <a:off x="7467600" y="3619500"/>
            <a:ext cx="2209800" cy="11049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ap-heater"/>
          <p:cNvSpPr/>
          <p:nvPr/>
        </p:nvSpPr>
        <p:spPr>
          <a:xfrm>
            <a:off x="7905750" y="3143250"/>
            <a:ext cx="571500" cy="1428750"/>
          </a:xfrm>
          <a:prstGeom prst="roundRect">
            <a:avLst>
              <a:gd name="adj" fmla="val 30000"/>
            </a:avLst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ap-ht"/>
          <p:cNvSpPr txBox="1"/>
          <p:nvPr/>
        </p:nvSpPr>
        <p:spPr>
          <a:xfrm>
            <a:off x="7810500" y="4800600"/>
            <a:ext cx="85725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1C2B33"/>
                </a:solidFill>
                <a:latin typeface="MiSans"/>
                <a:ea typeface="MiSans"/>
              </a:rPr>
              <a:t>heater 加热器</a:t>
            </a:r>
          </a:p>
        </p:txBody>
      </p:sp>
      <p:cxnSp>
        <p:nvCxnSpPr>
          <p:cNvPr id="21" name="dsl:ap-th"/>
          <p:cNvCxnSpPr/>
          <p:nvPr/>
        </p:nvCxnSpPr>
        <p:spPr>
          <a:xfrm>
            <a:off x="9048750" y="2476500"/>
            <a:ext cx="0" cy="1524000"/>
          </a:xfrm>
          <a:prstGeom prst="straightConnector1">
            <a:avLst/>
          </a:prstGeom>
          <a:ln w="381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ap-thb"/>
          <p:cNvSpPr/>
          <p:nvPr/>
        </p:nvSpPr>
        <p:spPr>
          <a:xfrm>
            <a:off x="8972550" y="3905250"/>
            <a:ext cx="152400" cy="20955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ap-tht"/>
          <p:cNvSpPr txBox="1"/>
          <p:nvPr/>
        </p:nvSpPr>
        <p:spPr>
          <a:xfrm>
            <a:off x="8763000" y="2095500"/>
            <a:ext cx="8572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1C2B33"/>
                </a:solidFill>
                <a:latin typeface="MiSans"/>
                <a:ea typeface="MiSans"/>
              </a:rPr>
              <a:t>thermometer</a:t>
            </a:r>
          </a:p>
        </p:txBody>
      </p:sp>
      <p:cxnSp>
        <p:nvCxnSpPr>
          <p:cNvPr id="24" name="dsl:ap-w1"/>
          <p:cNvCxnSpPr/>
          <p:nvPr/>
        </p:nvCxnSpPr>
        <p:spPr>
          <a:xfrm>
            <a:off x="8191500" y="2381250"/>
            <a:ext cx="0" cy="762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ap-w2"/>
          <p:cNvCxnSpPr/>
          <p:nvPr/>
        </p:nvCxnSpPr>
        <p:spPr>
          <a:xfrm>
            <a:off x="8191500" y="2381250"/>
            <a:ext cx="2095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ap-psu"/>
          <p:cNvSpPr/>
          <p:nvPr/>
        </p:nvSpPr>
        <p:spPr>
          <a:xfrm>
            <a:off x="10287000" y="2190750"/>
            <a:ext cx="762000" cy="419100"/>
          </a:xfrm>
          <a:prstGeom prst="rect">
            <a:avLst/>
          </a:prstGeom>
          <a:solidFill>
            <a:srgbClr val="EEF3F3"/>
          </a:solidFill>
          <a:ln w="1270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ap-psut"/>
          <p:cNvSpPr txBox="1"/>
          <p:nvPr/>
        </p:nvSpPr>
        <p:spPr>
          <a:xfrm>
            <a:off x="10287000" y="2190750"/>
            <a:ext cx="762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V, I</a:t>
            </a:r>
          </a:p>
        </p:txBody>
      </p:sp>
      <p:sp>
        <p:nvSpPr>
          <p:cNvPr id="28" name="dsl:ap-cap|s=$small"/>
          <p:cNvSpPr txBox="1"/>
          <p:nvPr/>
        </p:nvSpPr>
        <p:spPr>
          <a:xfrm>
            <a:off x="6286500" y="53340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Electrical method 电加热法：E = VIt = mcΔθ（保温减少热损失）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Specific Latent Heat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比潜热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14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8191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8191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Specific latent heat L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the energy per unit mass needed to change state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without any change of temperature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单位质量物质在温度不变下完成物态变化所需能量。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280035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2800350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L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2800350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L 单位 J kg⁻¹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581400"/>
            <a:ext cx="10972800" cy="147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Fusion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熔化潜热 L_f: solid ⇌ liquid（ice/water 330 kJ kg⁻¹）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Vaporisation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汽化潜热 L_v: liquid ⇌ gas（water/steam 2260 kJ kg⁻¹）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During a phase change, energy changes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potential energy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molecules, not their kinetic energy — so temperature stays constant 相变时能量改变分子势能而非动能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L_v ≫ L_f: separating molecules completely needs far more energy 汽化要彻底克服分子间引力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Heating Curve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从冰到水蒸气的升温曲线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14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1971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Sloping sections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斜线段: temperature rises,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（ice → water → steam 各有斜率）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Plateaus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平台段: phase change at constant temperature,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（0 °C 熔化、100 °C 汽化）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Plateau length ∝ latent heat needed 平台越长潜热越大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Heating at constant power ⇒ equal time steps = equal energy 恒定功率加热，时间轴即能量轴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hc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Ice heated at constant rate from −10 °C to steam 恒定功率加热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14A &amp; 14B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14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14A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The temperature of a liquid is measured as 35 °C. What is this temperature, to 3 significant figures, on the thermodynamic (kelvin) scale?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273.15</m:t>
                </m:r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35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273.15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308.15</m:t>
                </m:r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</a:p>
        </p:txBody>
      </p:sp>
      <p:sp>
        <p:nvSpPr>
          <p:cNvPr id="13" name="dsl:te0-abg"/>
          <p:cNvSpPr/>
          <p:nvPr/>
        </p:nvSpPr>
        <p:spPr>
          <a:xfrm>
            <a:off x="6096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308</m:t>
                </m:r>
                <m:r>
                  <m:t> 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 (3 s.f.)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14B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Calculate the thermal energy required to raise the temperature of 590 g of copper from 25 °C to 90 °C. (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u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390</m:t>
                </m:r>
                <m:r>
                  <m:t> 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J kg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)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0.590</m:t>
                </m:r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kg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65</m:t>
                </m:r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0.590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390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65</m:t>
                </m:r>
              </m:oMath>
            </a14:m>
          </a:p>
        </p:txBody>
      </p:sp>
      <p:sp>
        <p:nvSpPr>
          <p:cNvPr id="20" name="dsl:te1-abg"/>
          <p:cNvSpPr/>
          <p:nvPr/>
        </p:nvSpPr>
        <p:spPr>
          <a:xfrm>
            <a:off x="62484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1.5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14C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14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14C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7430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47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Use Table 14.2 to determine the thermal energy required to melt 78 g of sulfur at its normal melting point.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(Specific latent heat of fusion of sulfur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38.1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kJ kg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熔点处熔化只需潜热；注意 g → kg 换算。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At the melting point, temperature stays constant — use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not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Convert mass: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78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0.078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kg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0.078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38.1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kJ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3.0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kJ</m:t>
                </m:r>
              </m:oMath>
            </a14:m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14D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14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14D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952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6859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0.30 kg of water at 95 °C is mixed with 0.50 kg of water at 20 °C. Find the final temperature (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4200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J kg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).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15 g of ice at 0 °C is placed in 240 g of drink at 25 °C. Find the final temperature (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334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kJ kg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4.2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kJ kg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).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混合问题先写能量守恒文字方程；冰要先算熔化再算升温。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571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Word equation 列文字方程: heat lost by hot = heat gained by cold 热=冷.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0.30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⇒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28.5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0.30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</m:t>
                </m:r>
              </m:oMath>
            </a14:m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Drink cools; ice melts then warms: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0.240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0.015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334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0.015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4.2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4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Solve: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25.2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1.008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5.01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0.063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⇒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1.071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20.19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800475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800475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800475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1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48.1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t> 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2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19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t> 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14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metal block is heated from 27 °C to 150 °C. Determine, to 3 s.f., on the kelvin scale: (a) the temperature of 150 °C; (b) the temperature rise. 温标换算。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0.25 MJ of energy raises the temperature of 690 g of water by 86 K. Calculate the specific heat capacity of water. 求水的比热容。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Calculate the energy required to (i) melt 76 g of ice at 0 °C; (ii) evaporate 76 g of water at 100 °C. Hence find how many times more energy evaporation needs than melting. (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330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2260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kJ kg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)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 (a) 423 K (b) 123 K　Q2 </a:t>
            </a:r>
            <a14:m>
              <m:oMath>
                <m:r>
                  <a:rPr lang="en-US" i="1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4.2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J kg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Q3 (i) 25.1 kJ (ii) 172 kJ，约 6.8 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14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/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273.15</m:t>
                </m:r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kelvin ↔ Celsius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specific heat 比热容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L</m:t>
                </m:r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latent heat 潜热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</m:sub>
                </m:sSub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energy exchange 热平衡方程</a:t>
            </a:r>
          </a:p>
        </p:txBody>
      </p:sp>
      <p:sp>
        <p:nvSpPr>
          <p:cNvPr id="22" name="dsl:sm-h2|s=$badge"/>
          <p:cNvSpPr txBox="1"/>
          <p:nvPr/>
        </p:nvSpPr>
        <p:spPr>
          <a:xfrm>
            <a:off x="609600" y="36004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3" name="dsl:sm-ideas"/>
          <p:cNvSpPr txBox="1"/>
          <p:nvPr/>
        </p:nvSpPr>
        <p:spPr>
          <a:xfrm>
            <a:off x="609600" y="39052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Heat flows from higher to lower temperature until thermal equilibrium 热量由高温到低温直至热平衡。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The kelvin scale is absolute and substance-independent; 0 K is absolute zero 热力学温标绝对且与物质无关。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During a phase change temperature is constant: energy changes molecular PE, not KE 相变时温度不变。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14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14 Temperature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14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temperature-half" descr="tmptlsmu6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Temperature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differences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are the same in K and °C, but absolute temperatures in gas/thermo laws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must be in kelvin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温差两者相同，绝对温度必须用 K。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5146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list-ol" descr="tmptlsmu6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479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6098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 mixtures, always start with the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word equation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energy lost by hot object = energy gained by cold object. 先写文字守恒方程。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2385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cube" descr="tmptlsmu6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718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3337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With ice in a warm drink, do not forget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two stages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melting (mL) then warming (mcΔθ). 冰的问题别漏熔化段。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8862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calculator" descr="tmptlsmu6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195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9814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Watch unit traps: g → kg, kJ → J, kW → W. 单位换算是高频失分点。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91C0850A-021C-4BF6-8CF3-CC0CEBDD4DE6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