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7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波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Waves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v = fλ  ·  I = P/A  ·  I ∝ A²  ·  f_o = f_s·v/(v±v_s)  ·  I = I₀cos²θ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波速 · 强度 · 多普勒 · 马吕斯 —— 本章的计算核心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7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key terms to polarisation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行波与七个术语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amplitude / wavelength / frequency / period / phase difference——定义一次背全，v = fλ 会推导。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Key terms · deriving the wave equation · intensity I = P/A and I ∝ A²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横波 vs 纵波 + 两种图像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振动方向判类别；位移-距离图读 λ，位移-时间图读 T，先看横轴再答题。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Transverse vs longitudinal · displacement-distance vs displacement-time graphs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多普勒效应 + 电磁波谱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f_o = f_s·v/(v±v_s) 符号怎么选；七个波段的数量级表格必须背。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Doppler sign rule · orders of magnitude across the EM spectrum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偏振与马吕斯定律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为什么只有横波能偏振；I = I₀cos²θ 与两片偏振片的连续计算。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Polarisation as evidence for transverse waves · Malus' law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默写行波定义与七个术语；给图能读 λ 或 T；多普勒题先判升降再选符号；背出 EM 谱数量级；用马吕斯定律算两片偏振片。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7.1 · KEY TERMS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七个术语：先把"波的语言"说对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Displacement, amplitude, wavelength, frequency, period, speed, phase difference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wave-label"/>
          <p:cNvSpPr txBox="1"/>
          <p:nvPr/>
        </p:nvSpPr>
        <p:spPr>
          <a:xfrm>
            <a:off x="889000" y="1752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一条波上的 A 与 λ</a:t>
            </a:r>
            <a:endParaRPr lang="en-US" sz="1500" noProof="1"/>
          </a:p>
        </p:txBody>
      </p:sp>
      <p:sp>
        <p:nvSpPr>
          <p:cNvPr id="7" name="eq-line"/>
          <p:cNvSpPr/>
          <p:nvPr>
            <p:extLst>
              <p:ext uri="{F5677B7D-0D2A-4D9B-9A5C-6D8D7D0E5A5D}">
                <pptd:line encoding="base64url">eyJ2aWV3Qm94IjpbMzQwLDJdLCJwb2ludHMiOiIwLDEgMzQwLDEiLCJjdXJ2ZSI6InNoYXJwIn0</pptd:line>
              </p:ext>
            </p:extLst>
          </p:nvPr>
        </p:nvSpPr>
        <p:spPr>
          <a:xfrm>
            <a:off x="889000" y="3276600"/>
            <a:ext cx="4318000" cy="25400"/>
          </a:xfrm>
          <a:custGeom>
            <a:avLst/>
            <a:gdLst/>
            <a:ahLst/>
            <a:cxnLst/>
            <a:rect l="l" t="t" r="r" b="b"/>
            <a:pathLst>
              <a:path w="340" h="2">
                <a:moveTo>
                  <a:pt x="0" y="1"/>
                </a:moveTo>
                <a:lnTo>
                  <a:pt x="340" y="1"/>
                </a:lnTo>
              </a:path>
            </a:pathLst>
          </a:custGeom>
          <a:noFill/>
          <a:ln w="12700">
            <a:solidFill>
              <a:srgbClr val="6E6A62"/>
            </a:solidFill>
            <a:prstDash val="dash"/>
          </a:ln>
        </p:spPr>
      </p:sp>
      <p:sp>
        <p:nvSpPr>
          <p:cNvPr id="8" name="wave"/>
          <p:cNvSpPr/>
          <p:nvPr>
            <p:extLst>
              <p:ext uri="{F5677B7D-0D2A-4D9B-9A5C-6D8D7D0E5A5D}">
                <pptd:line encoding="base64url">eyJ2aWV3Qm94IjpbMzQwLDEyMF0sInBvaW50cyI6IjAsNTkgMTAsMzMgMjAsMTUgMzAsMTAgNDAsMjEgNTAsNDMgNjAsNzAgNzAsOTQgODAsMTA4IDkwLDEwOCAxMDAsOTMgMTEwLDY4IDEyMCw0MSAxMzAsMjAgMTQwLDEwIDE1MCwxNiAxNjAsMzQgMTcwLDYxIDE4MCw4NyAxOTAsMTA1IDIwMCwxMTAgMjEwLDk5IDIyMCw3NyAyMzAsNTAgMjQwLDI2IDI1MCwxMiAyNjAsMTIgMjcwLDI3IDI4MCw1MiAyOTAsNzkgMzAwLDEwMCAzMTAsMTEwIDMyMCwxMDQgMzMwLDg2IDM0MCw1OSIsImN1cnZlIjoic2hhcnAifQ</pptd:line>
              </p:ext>
            </p:extLst>
          </p:nvPr>
        </p:nvSpPr>
        <p:spPr>
          <a:xfrm>
            <a:off x="889000" y="2540000"/>
            <a:ext cx="4318000" cy="1524000"/>
          </a:xfrm>
          <a:custGeom>
            <a:avLst/>
            <a:gdLst/>
            <a:ahLst/>
            <a:cxnLst/>
            <a:rect l="l" t="t" r="r" b="b"/>
            <a:pathLst>
              <a:path w="340" h="120">
                <a:moveTo>
                  <a:pt x="0" y="59"/>
                </a:moveTo>
                <a:lnTo>
                  <a:pt x="10" y="33"/>
                </a:lnTo>
                <a:lnTo>
                  <a:pt x="20" y="15"/>
                </a:lnTo>
                <a:lnTo>
                  <a:pt x="30" y="10"/>
                </a:lnTo>
                <a:lnTo>
                  <a:pt x="40" y="21"/>
                </a:lnTo>
                <a:lnTo>
                  <a:pt x="50" y="43"/>
                </a:lnTo>
                <a:lnTo>
                  <a:pt x="60" y="70"/>
                </a:lnTo>
                <a:lnTo>
                  <a:pt x="70" y="94"/>
                </a:lnTo>
                <a:lnTo>
                  <a:pt x="80" y="108"/>
                </a:lnTo>
                <a:lnTo>
                  <a:pt x="90" y="108"/>
                </a:lnTo>
                <a:lnTo>
                  <a:pt x="100" y="93"/>
                </a:lnTo>
                <a:lnTo>
                  <a:pt x="110" y="68"/>
                </a:lnTo>
                <a:lnTo>
                  <a:pt x="120" y="41"/>
                </a:lnTo>
                <a:lnTo>
                  <a:pt x="130" y="20"/>
                </a:lnTo>
                <a:lnTo>
                  <a:pt x="140" y="10"/>
                </a:lnTo>
                <a:lnTo>
                  <a:pt x="150" y="16"/>
                </a:lnTo>
                <a:lnTo>
                  <a:pt x="160" y="34"/>
                </a:lnTo>
                <a:lnTo>
                  <a:pt x="170" y="61"/>
                </a:lnTo>
                <a:lnTo>
                  <a:pt x="180" y="87"/>
                </a:lnTo>
                <a:lnTo>
                  <a:pt x="190" y="105"/>
                </a:lnTo>
                <a:lnTo>
                  <a:pt x="200" y="110"/>
                </a:lnTo>
                <a:lnTo>
                  <a:pt x="210" y="99"/>
                </a:lnTo>
                <a:lnTo>
                  <a:pt x="220" y="77"/>
                </a:lnTo>
                <a:lnTo>
                  <a:pt x="230" y="50"/>
                </a:lnTo>
                <a:lnTo>
                  <a:pt x="240" y="26"/>
                </a:lnTo>
                <a:lnTo>
                  <a:pt x="250" y="12"/>
                </a:lnTo>
                <a:lnTo>
                  <a:pt x="260" y="12"/>
                </a:lnTo>
                <a:lnTo>
                  <a:pt x="270" y="27"/>
                </a:lnTo>
                <a:lnTo>
                  <a:pt x="280" y="52"/>
                </a:lnTo>
                <a:lnTo>
                  <a:pt x="290" y="79"/>
                </a:lnTo>
                <a:lnTo>
                  <a:pt x="300" y="100"/>
                </a:lnTo>
                <a:lnTo>
                  <a:pt x="310" y="110"/>
                </a:lnTo>
                <a:lnTo>
                  <a:pt x="320" y="104"/>
                </a:lnTo>
                <a:lnTo>
                  <a:pt x="330" y="86"/>
                </a:lnTo>
                <a:lnTo>
                  <a:pt x="340" y="59"/>
                </a:lnTo>
              </a:path>
            </a:pathLst>
          </a:custGeom>
          <a:noFill/>
          <a:ln w="38100">
            <a:solidFill>
              <a:srgbClr val="0E5A55"/>
            </a:solidFill>
          </a:ln>
        </p:spPr>
      </p:sp>
      <p:sp>
        <p:nvSpPr>
          <p:cNvPr id="9" name="amp-arrow"/>
          <p:cNvSpPr/>
          <p:nvPr>
            <p:extLst>
              <p:ext uri="{F5677B7D-0D2A-4D9B-9A5C-6D8D7D0E5A5D}">
                <pptd:line encoding="base64url">eyJ2aWV3Qm94IjpbNCw1MF0sInBvaW50cyI6IjIsMCAyLDUwIiwiY3VydmUiOiJzaGFycCJ9</pptd:line>
              </p:ext>
            </p:extLst>
          </p:nvPr>
        </p:nvSpPr>
        <p:spPr>
          <a:xfrm>
            <a:off x="1193800" y="2667000"/>
            <a:ext cx="50800" cy="635000"/>
          </a:xfrm>
          <a:custGeom>
            <a:avLst/>
            <a:gdLst/>
            <a:ahLst/>
            <a:cxnLst/>
            <a:rect l="l" t="t" r="r" b="b"/>
            <a:pathLst>
              <a:path w="4" h="50">
                <a:moveTo>
                  <a:pt x="2" y="0"/>
                </a:moveTo>
                <a:lnTo>
                  <a:pt x="2" y="50"/>
                </a:lnTo>
              </a:path>
            </a:pathLst>
          </a:custGeom>
          <a:noFill/>
          <a:ln w="19050">
            <a:solidFill>
              <a:srgbClr val="C96F16"/>
            </a:solidFill>
            <a:headEnd type="arrow"/>
            <a:tailEnd type="arrow"/>
          </a:ln>
        </p:spPr>
      </p:sp>
      <p:sp>
        <p:nvSpPr>
          <p:cNvPr id="10" name="amp-label"/>
          <p:cNvSpPr txBox="1"/>
          <p:nvPr/>
        </p:nvSpPr>
        <p:spPr>
          <a:xfrm>
            <a:off x="1320800" y="2870200"/>
            <a:ext cx="1016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振幅 A</a:t>
            </a:r>
            <a:endParaRPr lang="en-US" sz="1200" noProof="1"/>
          </a:p>
        </p:txBody>
      </p:sp>
      <p:sp>
        <p:nvSpPr>
          <p:cNvPr id="11" name="lam-arrow"/>
          <p:cNvSpPr/>
          <p:nvPr>
            <p:extLst>
              <p:ext uri="{F5677B7D-0D2A-4D9B-9A5C-6D8D7D0E5A5D}">
                <pptd:line encoding="base64url">eyJ2aWV3Qm94IjpbMTE0LDRdLCJwb2ludHMiOiIwLDIgMTE0LDIiLCJjdXJ2ZSI6InNoYXJwIn0</pptd:line>
              </p:ext>
            </p:extLst>
          </p:nvPr>
        </p:nvSpPr>
        <p:spPr>
          <a:xfrm>
            <a:off x="1244600" y="4229100"/>
            <a:ext cx="1447800" cy="50800"/>
          </a:xfrm>
          <a:custGeom>
            <a:avLst/>
            <a:gdLst/>
            <a:ahLst/>
            <a:cxnLst/>
            <a:rect l="l" t="t" r="r" b="b"/>
            <a:pathLst>
              <a:path w="114" h="4">
                <a:moveTo>
                  <a:pt x="0" y="2"/>
                </a:moveTo>
                <a:lnTo>
                  <a:pt x="114" y="2"/>
                </a:lnTo>
              </a:path>
            </a:pathLst>
          </a:custGeom>
          <a:noFill/>
          <a:ln w="19050">
            <a:solidFill>
              <a:srgbClr val="C96F16"/>
            </a:solidFill>
            <a:headEnd type="arrow"/>
            <a:tailEnd type="arrow"/>
          </a:ln>
        </p:spPr>
      </p:sp>
      <p:sp>
        <p:nvSpPr>
          <p:cNvPr id="12" name="lam-label"/>
          <p:cNvSpPr txBox="1"/>
          <p:nvPr/>
        </p:nvSpPr>
        <p:spPr>
          <a:xfrm>
            <a:off x="1778000" y="43561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λ</a:t>
            </a:r>
            <a:endParaRPr lang="en-US" sz="1200" noProof="1"/>
          </a:p>
        </p:txBody>
      </p:sp>
      <p:sp>
        <p:nvSpPr>
          <p:cNvPr id="13" name="eq-caption"/>
          <p:cNvSpPr txBox="1"/>
          <p:nvPr/>
        </p:nvSpPr>
        <p:spPr>
          <a:xfrm>
            <a:off x="889000" y="464820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虚线 = 平衡位置 equilibrium position；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A = 峰到平衡位置；λ = 相邻波峰（或波谷）间距。</a:t>
            </a:r>
            <a:endParaRPr lang="en-US" sz="1100" noProof="1"/>
          </a:p>
        </p:txBody>
      </p:sp>
      <p:sp>
        <p:nvSpPr>
          <p:cNvPr id="14" name="terms-h"/>
          <p:cNvSpPr txBox="1"/>
          <p:nvPr/>
        </p:nvSpPr>
        <p:spPr>
          <a:xfrm>
            <a:off x="5969000" y="17526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必背定义 Definitions</a:t>
            </a:r>
            <a:endParaRPr lang="en-US" sz="1500" noProof="1"/>
          </a:p>
        </p:txBody>
      </p:sp>
      <p:sp>
        <p:nvSpPr>
          <p:cNvPr id="15" name="terms-body"/>
          <p:cNvSpPr txBox="1"/>
          <p:nvPr/>
        </p:nvSpPr>
        <p:spPr>
          <a:xfrm>
            <a:off x="5969000" y="2108200"/>
            <a:ext cx="5461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displacement 位移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质点离平衡位置的距离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amplitude 振幅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最大位移（不是峰-谷距！）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wavelength λ 波长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一次完整振动的长度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frequency f 频率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每秒通过某点的完整振动次数（Hz）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period T 周期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一次完整振动所需时间（s）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speed v 波速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波单位时间传播的距离（m/s）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phase difference 相位差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一个波比另一个落后多少（rad / ° / 几分之几 cycle）</a:t>
            </a:r>
            <a:endParaRPr lang="en-US" sz="1250" noProof="1"/>
          </a:p>
        </p:txBody>
      </p:sp>
      <p:sp>
        <p:nvSpPr>
          <p:cNvPr id="16" name="warn-box"/>
          <p:cNvSpPr/>
          <p:nvPr/>
        </p:nvSpPr>
        <p:spPr>
          <a:xfrm>
            <a:off x="762000" y="5689600"/>
            <a:ext cx="10668000" cy="558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7" name="warn-body"/>
          <p:cNvSpPr txBox="1"/>
          <p:nvPr/>
        </p:nvSpPr>
        <p:spPr>
          <a:xfrm>
            <a:off x="965200" y="57658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振幅 ≠ 峰到谷的距离（那是 2A）；② 位移从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平衡位置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量起；③ 相位差单位看题目要求：rad、° 或 cycle 分数。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7.1 · THE WAVE EQUATION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v = fλ：三个定义拼出来的公式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Deriving the wave equation from first definitions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推导 Derivation（三步）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82800"/>
            <a:ext cx="584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速度定义：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v = 距离 ÷ 时间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一个周期 T 内，波恰好传播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一个波长 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→　v = λ/T；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③ 代入 f = 1/T　→　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v = fλ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41910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单位与数量级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45466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v：m/s　·　f：Hz（= s⁻¹）　·　λ：m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电磁波在真空：v = c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3×10⁸ m/s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（7.4 节直接用）。</a:t>
            </a:r>
            <a:endParaRPr lang="en-US" sz="1350" noProof="1"/>
          </a:p>
        </p:txBody>
      </p:sp>
      <p:sp>
        <p:nvSpPr>
          <p:cNvPr id="10" name="card"/>
          <p:cNvSpPr/>
          <p:nvPr/>
        </p:nvSpPr>
        <p:spPr>
          <a:xfrm>
            <a:off x="7112000" y="1905000"/>
            <a:ext cx="4318000" cy="2540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1" name="card-formula"/>
          <p:cNvSpPr txBox="1"/>
          <p:nvPr/>
        </p:nvSpPr>
        <p:spPr>
          <a:xfrm>
            <a:off x="7112000" y="2413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400" noProof="1" b="1">
                <a:solidFill>
                  <a:srgbClr val="FFFFFF"/>
                </a:solidFill>
                <a:latin typeface="MiSans"/>
                <a:ea typeface="MiSans"/>
              </a:rPr>
              <a:t>v = fλ</a:t>
            </a:r>
            <a:endParaRPr lang="en-US" sz="3400" noProof="1"/>
          </a:p>
        </p:txBody>
      </p:sp>
      <p:sp>
        <p:nvSpPr>
          <p:cNvPr id="12" name="card-sub"/>
          <p:cNvSpPr txBox="1"/>
          <p:nvPr/>
        </p:nvSpPr>
        <p:spPr>
          <a:xfrm>
            <a:off x="7366000" y="32766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250" noProof="1">
                <a:solidFill>
                  <a:srgbClr val="FFFFFF"/>
                </a:solidFill>
                <a:latin typeface="MiSans"/>
                <a:ea typeface="MiSans"/>
              </a:rPr>
              <a:t>speed = frequency × wavelength</a:t>
            </a:r>
            <a:endParaRPr lang="en-US" sz="1250" noProof="1"/>
          </a:p>
          <a:p>
            <a:pPr algn="ctr">
              <a:lnSpc>
                <a:spcPct val="150000"/>
              </a:lnSpc>
            </a:pPr>
            <a:r>
              <a:rPr lang="en-US" sz="1250" noProof="1">
                <a:solidFill>
                  <a:srgbClr val="FFFFFF"/>
                </a:solidFill>
                <a:latin typeface="MiSans"/>
                <a:ea typeface="MiSans"/>
              </a:rPr>
              <a:t>波速 = 频率 × 波长</a:t>
            </a:r>
            <a:endParaRPr lang="en-US" sz="1250" noProof="1"/>
          </a:p>
        </p:txBody>
      </p:sp>
      <p:sp>
        <p:nvSpPr>
          <p:cNvPr id="13" name="tip-box"/>
          <p:cNvSpPr/>
          <p:nvPr/>
        </p:nvSpPr>
        <p:spPr>
          <a:xfrm>
            <a:off x="7112000" y="4724400"/>
            <a:ext cx="4318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4" name="tip-body"/>
          <p:cNvSpPr txBox="1"/>
          <p:nvPr/>
        </p:nvSpPr>
        <p:spPr>
          <a:xfrm>
            <a:off x="7315200" y="4826000"/>
            <a:ext cx="3911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图像化理解：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f 决定"一秒过几个波"，λ 决定"一个波多长"，乘起来就是"一秒走多远"。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7.1 · MEASURING SOUND WITH A CRO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实验：用示波器测频率与振幅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Time-base reads the period · volts/div reads the amplitude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etup"/>
          <p:cNvSpPr txBox="1"/>
          <p:nvPr/>
        </p:nvSpPr>
        <p:spPr>
          <a:xfrm>
            <a:off x="762000" y="16764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装置：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信号发生器 → 扬声器发声；麦克风 → CRO 输入端。</a:t>
            </a:r>
            <a:endParaRPr lang="en-US" sz="1350" noProof="1"/>
          </a:p>
        </p:txBody>
      </p:sp>
      <p:sp>
        <p:nvSpPr>
          <p:cNvPr id="7" name="h1"/>
          <p:cNvSpPr txBox="1"/>
          <p:nvPr/>
        </p:nvSpPr>
        <p:spPr>
          <a:xfrm>
            <a:off x="762000" y="23114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测频率 Measuring frequency</a:t>
            </a:r>
            <a:endParaRPr lang="en-US" sz="1500" noProof="1"/>
          </a:p>
        </p:txBody>
      </p:sp>
      <p:sp>
        <p:nvSpPr>
          <p:cNvPr id="8" name="b1"/>
          <p:cNvSpPr txBox="1"/>
          <p:nvPr/>
        </p:nvSpPr>
        <p:spPr>
          <a:xfrm>
            <a:off x="762000" y="2641600"/>
            <a:ext cx="5969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调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time-base（时基）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，让波形尽量铺满屏幕；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数出 N 个完整波形占据的格数 d：总时间 = d × time-base，周期 T = 总时间 ÷ N；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f = 1/T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9" name="h2"/>
          <p:cNvSpPr txBox="1"/>
          <p:nvPr/>
        </p:nvSpPr>
        <p:spPr>
          <a:xfrm>
            <a:off x="762000" y="41402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测振幅 Measuring amplitude</a:t>
            </a:r>
            <a:endParaRPr lang="en-US" sz="1500" noProof="1"/>
          </a:p>
        </p:txBody>
      </p:sp>
      <p:sp>
        <p:nvSpPr>
          <p:cNvPr id="10" name="b2"/>
          <p:cNvSpPr txBox="1"/>
          <p:nvPr/>
        </p:nvSpPr>
        <p:spPr>
          <a:xfrm>
            <a:off x="762000" y="44704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调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voltage/div（伏/格）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，让波形竖直方向尽量占满；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振幅 = 平衡位置到波峰的格数 × voltage/div（以电压表示）。</a:t>
            </a:r>
            <a:endParaRPr lang="en-US" sz="1250" noProof="1"/>
          </a:p>
        </p:txBody>
      </p:sp>
      <p:sp>
        <p:nvSpPr>
          <p:cNvPr id="11" name="cro-frame"/>
          <p:cNvSpPr/>
          <p:nvPr/>
        </p:nvSpPr>
        <p:spPr>
          <a:xfrm>
            <a:off x="7366000" y="1905000"/>
            <a:ext cx="4064000" cy="27940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2" name="cro-screen"/>
          <p:cNvSpPr/>
          <p:nvPr/>
        </p:nvSpPr>
        <p:spPr>
          <a:xfrm>
            <a:off x="7569200" y="2108200"/>
            <a:ext cx="3657600" cy="1981200"/>
          </a:xfrm>
          <a:prstGeom prst="rect">
            <a:avLst/>
          </a:prstGeom>
          <a:solidFill>
            <a:srgbClr val="0B2B28"/>
          </a:solidFill>
          <a:ln>
            <a:noFill/>
          </a:ln>
        </p:spPr>
      </p:sp>
      <p:sp>
        <p:nvSpPr>
          <p:cNvPr id="13" name="cro-mid"/>
          <p:cNvSpPr/>
          <p:nvPr>
            <p:extLst>
              <p:ext uri="{F5677B7D-0D2A-4D9B-9A5C-6D8D7D0E5A5D}">
                <pptd:line encoding="base64url">eyJ2aWV3Qm94IjpbMjg4LDJdLCJwb2ludHMiOiIwLDEgMjg4LDEiLCJjdXJ2ZSI6InNoYXJwIn0</pptd:line>
              </p:ext>
            </p:extLst>
          </p:nvPr>
        </p:nvSpPr>
        <p:spPr>
          <a:xfrm>
            <a:off x="7569200" y="3098800"/>
            <a:ext cx="3657600" cy="25400"/>
          </a:xfrm>
          <a:custGeom>
            <a:avLst/>
            <a:gdLst/>
            <a:ahLst/>
            <a:cxnLst/>
            <a:rect l="l" t="t" r="r" b="b"/>
            <a:pathLst>
              <a:path w="288" h="2">
                <a:moveTo>
                  <a:pt x="0" y="1"/>
                </a:moveTo>
                <a:lnTo>
                  <a:pt x="288" y="1"/>
                </a:lnTo>
              </a:path>
            </a:pathLst>
          </a:custGeom>
          <a:noFill/>
          <a:ln w="12700">
            <a:solidFill>
              <a:srgbClr val="3E6B64"/>
            </a:solidFill>
            <a:prstDash val="dash"/>
          </a:ln>
        </p:spPr>
      </p:sp>
      <p:sp>
        <p:nvSpPr>
          <p:cNvPr id="14" name="cro-wave"/>
          <p:cNvSpPr/>
          <p:nvPr>
            <p:extLst>
              <p:ext uri="{F5677B7D-0D2A-4D9B-9A5C-6D8D7D0E5A5D}">
                <pptd:line encoding="base64url">eyJ2aWV3Qm94IjpbMjY4LDk2XSwicG9pbnRzIjoiMCw0NyA4LDI2IDE2LDEyIDI0LDggMzIsMTcgNDAsMzYgNDgsNTggNTYsNzcgNjQsODcgNzIsODUgODAsNzIgODgsNTEgOTYsMjkgMTA0LDEzIDExMiw4IDEyMCwxNSAxMjgsMzIgMTM2LDU1IDE0NCw3NSAxNTIsODYgMTYwLDg2IDE2OCw3NSAxNzYsNTUgMTg0LDMyIDE5MiwxNSAyMDAsOCAyMDgsMTMgMjE2LDI5IDIyNCw1MSAyMzIsNzIgMjQwLDg1IDI0OCw4NyAyNTYsNzcgMjY0LDU4IDI2OCw0NyIsImN1cnZlIjoic2hhcnAifQ</pptd:line>
              </p:ext>
            </p:extLst>
          </p:nvPr>
        </p:nvSpPr>
        <p:spPr>
          <a:xfrm>
            <a:off x="7696200" y="2489200"/>
            <a:ext cx="3403600" cy="1219200"/>
          </a:xfrm>
          <a:custGeom>
            <a:avLst/>
            <a:gdLst/>
            <a:ahLst/>
            <a:cxnLst/>
            <a:rect l="l" t="t" r="r" b="b"/>
            <a:pathLst>
              <a:path w="268" h="96">
                <a:moveTo>
                  <a:pt x="0" y="47"/>
                </a:moveTo>
                <a:lnTo>
                  <a:pt x="8" y="26"/>
                </a:lnTo>
                <a:lnTo>
                  <a:pt x="16" y="12"/>
                </a:lnTo>
                <a:lnTo>
                  <a:pt x="24" y="8"/>
                </a:lnTo>
                <a:lnTo>
                  <a:pt x="32" y="17"/>
                </a:lnTo>
                <a:lnTo>
                  <a:pt x="40" y="36"/>
                </a:lnTo>
                <a:lnTo>
                  <a:pt x="48" y="58"/>
                </a:lnTo>
                <a:lnTo>
                  <a:pt x="56" y="77"/>
                </a:lnTo>
                <a:lnTo>
                  <a:pt x="64" y="87"/>
                </a:lnTo>
                <a:lnTo>
                  <a:pt x="72" y="85"/>
                </a:lnTo>
                <a:lnTo>
                  <a:pt x="80" y="72"/>
                </a:lnTo>
                <a:lnTo>
                  <a:pt x="88" y="51"/>
                </a:lnTo>
                <a:lnTo>
                  <a:pt x="96" y="29"/>
                </a:lnTo>
                <a:lnTo>
                  <a:pt x="104" y="13"/>
                </a:lnTo>
                <a:lnTo>
                  <a:pt x="112" y="8"/>
                </a:lnTo>
                <a:lnTo>
                  <a:pt x="120" y="15"/>
                </a:lnTo>
                <a:lnTo>
                  <a:pt x="128" y="32"/>
                </a:lnTo>
                <a:lnTo>
                  <a:pt x="136" y="55"/>
                </a:lnTo>
                <a:lnTo>
                  <a:pt x="144" y="75"/>
                </a:lnTo>
                <a:lnTo>
                  <a:pt x="152" y="86"/>
                </a:lnTo>
                <a:lnTo>
                  <a:pt x="160" y="86"/>
                </a:lnTo>
                <a:lnTo>
                  <a:pt x="168" y="75"/>
                </a:lnTo>
                <a:lnTo>
                  <a:pt x="176" y="55"/>
                </a:lnTo>
                <a:lnTo>
                  <a:pt x="184" y="32"/>
                </a:lnTo>
                <a:lnTo>
                  <a:pt x="192" y="15"/>
                </a:lnTo>
                <a:lnTo>
                  <a:pt x="200" y="8"/>
                </a:lnTo>
                <a:lnTo>
                  <a:pt x="208" y="13"/>
                </a:lnTo>
                <a:lnTo>
                  <a:pt x="216" y="29"/>
                </a:lnTo>
                <a:lnTo>
                  <a:pt x="224" y="51"/>
                </a:lnTo>
                <a:lnTo>
                  <a:pt x="232" y="72"/>
                </a:lnTo>
                <a:lnTo>
                  <a:pt x="240" y="85"/>
                </a:lnTo>
                <a:lnTo>
                  <a:pt x="248" y="87"/>
                </a:lnTo>
                <a:lnTo>
                  <a:pt x="256" y="77"/>
                </a:lnTo>
                <a:lnTo>
                  <a:pt x="264" y="58"/>
                </a:lnTo>
                <a:lnTo>
                  <a:pt x="268" y="47"/>
                </a:lnTo>
              </a:path>
            </a:pathLst>
          </a:custGeom>
          <a:noFill/>
          <a:ln w="25400">
            <a:solidFill>
              <a:srgbClr val="7FE0C3"/>
            </a:solidFill>
          </a:ln>
        </p:spPr>
      </p:sp>
      <p:sp>
        <p:nvSpPr>
          <p:cNvPr id="15" name="cro-tbase"/>
          <p:cNvSpPr txBox="1"/>
          <p:nvPr/>
        </p:nvSpPr>
        <p:spPr>
          <a:xfrm>
            <a:off x="7569200" y="4191000"/>
            <a:ext cx="365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time-base：x 轴每格秒数（→ 求 T）</a:t>
            </a:r>
            <a:endParaRPr lang="en-US" sz="1050" noProof="1"/>
          </a:p>
        </p:txBody>
      </p:sp>
      <p:sp>
        <p:nvSpPr>
          <p:cNvPr id="16" name="cro-vdiv"/>
          <p:cNvSpPr txBox="1"/>
          <p:nvPr/>
        </p:nvSpPr>
        <p:spPr>
          <a:xfrm>
            <a:off x="7569200" y="4419600"/>
            <a:ext cx="3657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voltage/div：y 轴每格电压（→ 求 A）</a:t>
            </a:r>
            <a:endParaRPr lang="en-US" sz="1050" noProof="1"/>
          </a:p>
        </p:txBody>
      </p:sp>
      <p:sp>
        <p:nvSpPr>
          <p:cNvPr id="17" name="warn-box"/>
          <p:cNvSpPr/>
          <p:nvPr/>
        </p:nvSpPr>
        <p:spPr>
          <a:xfrm>
            <a:off x="7366000" y="4902200"/>
            <a:ext cx="4064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8" name="warn-body"/>
          <p:cNvSpPr txBox="1"/>
          <p:nvPr/>
        </p:nvSpPr>
        <p:spPr>
          <a:xfrm>
            <a:off x="7543800" y="4978400"/>
            <a:ext cx="3708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time-base 管横轴（时间），voltage/div 管纵轴（电压），别张冠李戴。</a:t>
            </a:r>
            <a:endParaRPr lang="en-US" sz="1200" noProof="1"/>
          </a:p>
        </p:txBody>
      </p:sp>
      <p:sp>
        <p:nvSpPr>
          <p:cNvPr id="19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21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7.1 · INTENSITY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强度：功率摊在面积上，振幅平方说了算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I = P/A and intensity ∝ amplitude²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card"/>
          <p:cNvSpPr/>
          <p:nvPr/>
        </p:nvSpPr>
        <p:spPr>
          <a:xfrm>
            <a:off x="762000" y="1701800"/>
            <a:ext cx="5334000" cy="1524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def-body"/>
          <p:cNvSpPr txBox="1"/>
          <p:nvPr/>
        </p:nvSpPr>
        <p:spPr>
          <a:xfrm>
            <a:off x="1016000" y="1879600"/>
            <a:ext cx="4826000" cy="119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强度 Intensity = 单位面积上的功率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I = P / A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单位 W/m²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P 功率（W），A 面积（m²）</a:t>
            </a:r>
            <a:endParaRPr lang="en-US" sz="1400" noProof="1"/>
          </a:p>
        </p:txBody>
      </p:sp>
      <p:sp>
        <p:nvSpPr>
          <p:cNvPr id="8" name="prop-card"/>
          <p:cNvSpPr/>
          <p:nvPr/>
        </p:nvSpPr>
        <p:spPr>
          <a:xfrm>
            <a:off x="6604000" y="1701800"/>
            <a:ext cx="4826000" cy="1524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9" name="prop-body"/>
          <p:cNvSpPr txBox="1"/>
          <p:nvPr/>
        </p:nvSpPr>
        <p:spPr>
          <a:xfrm>
            <a:off x="6858000" y="1879600"/>
            <a:ext cx="4318000" cy="1193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强度 ∝ 振幅²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I ∝ A²</a:t>
            </a:r>
            <a:endParaRPr lang="en-US" sz="14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振幅 ×2 → 强度 ×4；振幅 ×3 → 强度 ×9</a:t>
            </a:r>
            <a:endParaRPr lang="en-US" sz="1400" noProof="1"/>
          </a:p>
        </p:txBody>
      </p:sp>
      <p:sp>
        <p:nvSpPr>
          <p:cNvPr id="10" name="h1"/>
          <p:cNvSpPr txBox="1"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比例推算怎么写（简答/计算都爱考）</a:t>
            </a:r>
            <a:endParaRPr lang="en-US" sz="1500" noProof="1"/>
          </a:p>
        </p:txBody>
      </p:sp>
      <p:sp>
        <p:nvSpPr>
          <p:cNvPr id="11" name="b1"/>
          <p:cNvSpPr txBox="1"/>
          <p:nvPr/>
        </p:nvSpPr>
        <p:spPr>
          <a:xfrm>
            <a:off x="762000" y="39370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同一列波，只改振幅：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I₁/I₂ = (A₁/A₂)²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例：振幅从 2.0 mm 增到 3.0 mm，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I₂/I₁ = (3.0/2.0)² = 2.25 —— 强度变为原来的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2.25 倍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</p:txBody>
      </p:sp>
      <p:sp>
        <p:nvSpPr>
          <p:cNvPr id="12" name="tip-box"/>
          <p:cNvSpPr/>
          <p:nvPr/>
        </p:nvSpPr>
        <p:spPr>
          <a:xfrm>
            <a:off x="7366000" y="3937000"/>
            <a:ext cx="4064000" cy="1524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tip-body"/>
          <p:cNvSpPr txBox="1"/>
          <p:nvPr/>
        </p:nvSpPr>
        <p:spPr>
          <a:xfrm>
            <a:off x="7569200" y="4064000"/>
            <a:ext cx="36576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拓展（球面波）：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点声源向四周均匀辐射，距离 r 处面积 = 4πr²，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I = P / 4πr² —— 距离加倍，强度变 ¼。</a:t>
            </a:r>
            <a:endParaRPr lang="en-US" sz="1250" noProof="1"/>
          </a:p>
        </p:txBody>
      </p:sp>
      <p:sp>
        <p:nvSpPr>
          <p:cNvPr id="14" name="warn-box"/>
          <p:cNvSpPr/>
          <p:nvPr/>
        </p:nvSpPr>
        <p:spPr>
          <a:xfrm>
            <a:off x="762000" y="5689600"/>
            <a:ext cx="10668000" cy="558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warn-body"/>
          <p:cNvSpPr txBox="1"/>
          <p:nvPr/>
        </p:nvSpPr>
        <p:spPr>
          <a:xfrm>
            <a:off x="965200" y="57658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"振幅加倍强度加倍"是经典错误——强度跟的是振幅的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平方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7.2 · TRANSVERSE AND LONGITUDINAL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横波 vs 纵波：看振动方向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Oscillations perpendicular vs parallel to energy transfer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ard-t"/>
          <p:cNvSpPr/>
          <p:nvPr/>
        </p:nvSpPr>
        <p:spPr>
          <a:xfrm>
            <a:off x="762000" y="1701800"/>
            <a:ext cx="5080000" cy="1905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card-t-body"/>
          <p:cNvSpPr txBox="1"/>
          <p:nvPr/>
        </p:nvSpPr>
        <p:spPr>
          <a:xfrm>
            <a:off x="990600" y="1854200"/>
            <a:ext cx="46228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横波 Transverse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振动方向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⊥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能量传递方向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例：所有电磁波（真空速 3×10⁸ m/s）、绳波；演示：竖直抖 slinky</a:t>
            </a:r>
            <a:endParaRPr lang="en-US" sz="1300" noProof="1"/>
          </a:p>
        </p:txBody>
      </p:sp>
      <p:sp>
        <p:nvSpPr>
          <p:cNvPr id="8" name="card-l"/>
          <p:cNvSpPr/>
          <p:nvPr/>
        </p:nvSpPr>
        <p:spPr>
          <a:xfrm>
            <a:off x="6350000" y="1701800"/>
            <a:ext cx="5080000" cy="1905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card-l-body"/>
          <p:cNvSpPr txBox="1"/>
          <p:nvPr/>
        </p:nvSpPr>
        <p:spPr>
          <a:xfrm>
            <a:off x="6578600" y="1854200"/>
            <a:ext cx="46228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纵波 Longitudinal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振动方向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∥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能量传递方向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由密部 compressions + 疏部 rarefactions 组成；不能在真空传播；例：声波；演示：水平推拉 slinky</a:t>
            </a:r>
            <a:endParaRPr lang="en-US" sz="1300" noProof="1"/>
          </a:p>
        </p:txBody>
      </p:sp>
      <p:sp>
        <p:nvSpPr>
          <p:cNvPr id="10" name="dia-t-label"/>
          <p:cNvSpPr txBox="1"/>
          <p:nvPr/>
        </p:nvSpPr>
        <p:spPr>
          <a:xfrm>
            <a:off x="762000" y="3810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横波：质点上下振，波向前走</a:t>
            </a:r>
            <a:endParaRPr lang="en-US" sz="1100" noProof="1"/>
          </a:p>
        </p:txBody>
      </p:sp>
      <p:sp>
        <p:nvSpPr>
          <p:cNvPr id="11" name="twave"/>
          <p:cNvSpPr/>
          <p:nvPr>
            <p:extLst>
              <p:ext uri="{F5677B7D-0D2A-4D9B-9A5C-6D8D7D0E5A5D}">
                <pptd:line encoding="base64url">eyJ2aWV3Qm94IjpbMzMwLDYwXSwicG9pbnRzIjoiMCwzMSAxMCwxNiAyMCw1IDMwLDIgNDAsOCA1MCwyMSA2MCwzNyA3MCw1MSA4MCw1OCA5MCw1NiAxMDAsNDYgMTEwLDMxIDEyMCwxNiAxMzAsNSAxNDAsMiAxNTAsOCAxNjAsMjEgMTcwLDM3IDE4MCw1MSAxOTAsNTggMjAwLDU2IDIxMCw0NiAyMjAsMzEgMjMwLDE2IDI0MCw1IDI1MCwyIDI2MCw4IDI3MCwyMSAyODAsMzcgMjkwLDUxIDMwMCw1OCAzMTAsNTYgMzIwLDQ2IDMzMCwzMSIsImN1cnZlIjoic2hhcnAifQ</pptd:line>
              </p:ext>
            </p:extLst>
          </p:nvPr>
        </p:nvSpPr>
        <p:spPr>
          <a:xfrm>
            <a:off x="889000" y="4140200"/>
            <a:ext cx="4191000" cy="762000"/>
          </a:xfrm>
          <a:custGeom>
            <a:avLst/>
            <a:gdLst/>
            <a:ahLst/>
            <a:cxnLst/>
            <a:rect l="l" t="t" r="r" b="b"/>
            <a:pathLst>
              <a:path w="330" h="60">
                <a:moveTo>
                  <a:pt x="0" y="31"/>
                </a:moveTo>
                <a:lnTo>
                  <a:pt x="10" y="16"/>
                </a:lnTo>
                <a:lnTo>
                  <a:pt x="20" y="5"/>
                </a:lnTo>
                <a:lnTo>
                  <a:pt x="30" y="2"/>
                </a:lnTo>
                <a:lnTo>
                  <a:pt x="40" y="8"/>
                </a:lnTo>
                <a:lnTo>
                  <a:pt x="50" y="21"/>
                </a:lnTo>
                <a:lnTo>
                  <a:pt x="60" y="37"/>
                </a:lnTo>
                <a:lnTo>
                  <a:pt x="70" y="51"/>
                </a:lnTo>
                <a:lnTo>
                  <a:pt x="80" y="58"/>
                </a:lnTo>
                <a:lnTo>
                  <a:pt x="90" y="56"/>
                </a:lnTo>
                <a:lnTo>
                  <a:pt x="100" y="46"/>
                </a:lnTo>
                <a:lnTo>
                  <a:pt x="110" y="31"/>
                </a:lnTo>
                <a:lnTo>
                  <a:pt x="120" y="16"/>
                </a:lnTo>
                <a:lnTo>
                  <a:pt x="130" y="5"/>
                </a:lnTo>
                <a:lnTo>
                  <a:pt x="140" y="2"/>
                </a:lnTo>
                <a:lnTo>
                  <a:pt x="150" y="8"/>
                </a:lnTo>
                <a:lnTo>
                  <a:pt x="160" y="21"/>
                </a:lnTo>
                <a:lnTo>
                  <a:pt x="170" y="37"/>
                </a:lnTo>
                <a:lnTo>
                  <a:pt x="180" y="51"/>
                </a:lnTo>
                <a:lnTo>
                  <a:pt x="190" y="58"/>
                </a:lnTo>
                <a:lnTo>
                  <a:pt x="200" y="56"/>
                </a:lnTo>
                <a:lnTo>
                  <a:pt x="210" y="46"/>
                </a:lnTo>
                <a:lnTo>
                  <a:pt x="220" y="31"/>
                </a:lnTo>
                <a:lnTo>
                  <a:pt x="230" y="16"/>
                </a:lnTo>
                <a:lnTo>
                  <a:pt x="240" y="5"/>
                </a:lnTo>
                <a:lnTo>
                  <a:pt x="250" y="2"/>
                </a:lnTo>
                <a:lnTo>
                  <a:pt x="260" y="8"/>
                </a:lnTo>
                <a:lnTo>
                  <a:pt x="270" y="21"/>
                </a:lnTo>
                <a:lnTo>
                  <a:pt x="280" y="37"/>
                </a:lnTo>
                <a:lnTo>
                  <a:pt x="290" y="51"/>
                </a:lnTo>
                <a:lnTo>
                  <a:pt x="300" y="58"/>
                </a:lnTo>
                <a:lnTo>
                  <a:pt x="310" y="56"/>
                </a:lnTo>
                <a:lnTo>
                  <a:pt x="320" y="46"/>
                </a:lnTo>
                <a:lnTo>
                  <a:pt x="330" y="31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2" name="twave-arr"/>
          <p:cNvSpPr/>
          <p:nvPr>
            <p:extLst>
              <p:ext uri="{F5677B7D-0D2A-4D9B-9A5C-6D8D7D0E5A5D}">
                <pptd:line encoding="base64url">eyJ2aWV3Qm94IjpbMzMwLDRdLCJwb2ludHMiOiIwLDIgMzMwLDIiLCJjdXJ2ZSI6InNoYXJwIn0</pptd:line>
              </p:ext>
            </p:extLst>
          </p:nvPr>
        </p:nvSpPr>
        <p:spPr>
          <a:xfrm>
            <a:off x="889000" y="5105400"/>
            <a:ext cx="4191000" cy="50800"/>
          </a:xfrm>
          <a:custGeom>
            <a:avLst/>
            <a:gdLst/>
            <a:ahLst/>
            <a:cxnLst/>
            <a:rect l="l" t="t" r="r" b="b"/>
            <a:pathLst>
              <a:path w="330" h="4">
                <a:moveTo>
                  <a:pt x="0" y="2"/>
                </a:moveTo>
                <a:lnTo>
                  <a:pt x="330" y="2"/>
                </a:lnTo>
              </a:path>
            </a:pathLst>
          </a:custGeom>
          <a:noFill/>
          <a:ln w="25400">
            <a:solidFill>
              <a:srgbClr val="C96F16"/>
            </a:solidFill>
            <a:tailEnd type="arrow"/>
          </a:ln>
        </p:spPr>
      </p:sp>
      <p:sp>
        <p:nvSpPr>
          <p:cNvPr id="13" name="twave-arr-lb"/>
          <p:cNvSpPr txBox="1"/>
          <p:nvPr/>
        </p:nvSpPr>
        <p:spPr>
          <a:xfrm>
            <a:off x="889000" y="52324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能量传递方向 →</a:t>
            </a:r>
            <a:endParaRPr lang="en-US" sz="1100" noProof="1"/>
          </a:p>
        </p:txBody>
      </p:sp>
      <p:sp>
        <p:nvSpPr>
          <p:cNvPr id="14" name="dia-l-label"/>
          <p:cNvSpPr txBox="1"/>
          <p:nvPr/>
        </p:nvSpPr>
        <p:spPr>
          <a:xfrm>
            <a:off x="6350000" y="3810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纵波：疏密相间向前推</a:t>
            </a:r>
            <a:endParaRPr lang="en-US" sz="1100" noProof="1"/>
          </a:p>
        </p:txBody>
      </p:sp>
      <p:sp>
        <p:nvSpPr>
          <p:cNvPr id="15" name="c1"/>
          <p:cNvSpPr/>
          <p:nvPr/>
        </p:nvSpPr>
        <p:spPr>
          <a:xfrm>
            <a:off x="64770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6" name="c2"/>
          <p:cNvSpPr/>
          <p:nvPr/>
        </p:nvSpPr>
        <p:spPr>
          <a:xfrm>
            <a:off x="65913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7" name="c3"/>
          <p:cNvSpPr/>
          <p:nvPr/>
        </p:nvSpPr>
        <p:spPr>
          <a:xfrm>
            <a:off x="67056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8" name="c4"/>
          <p:cNvSpPr/>
          <p:nvPr/>
        </p:nvSpPr>
        <p:spPr>
          <a:xfrm>
            <a:off x="68199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9" name="c5"/>
          <p:cNvSpPr/>
          <p:nvPr/>
        </p:nvSpPr>
        <p:spPr>
          <a:xfrm>
            <a:off x="70612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0" name="c6"/>
          <p:cNvSpPr/>
          <p:nvPr/>
        </p:nvSpPr>
        <p:spPr>
          <a:xfrm>
            <a:off x="73406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1" name="c7"/>
          <p:cNvSpPr/>
          <p:nvPr/>
        </p:nvSpPr>
        <p:spPr>
          <a:xfrm>
            <a:off x="76200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2" name="c8"/>
          <p:cNvSpPr/>
          <p:nvPr/>
        </p:nvSpPr>
        <p:spPr>
          <a:xfrm>
            <a:off x="78105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3" name="c9"/>
          <p:cNvSpPr/>
          <p:nvPr/>
        </p:nvSpPr>
        <p:spPr>
          <a:xfrm>
            <a:off x="79248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4" name="c10"/>
          <p:cNvSpPr/>
          <p:nvPr/>
        </p:nvSpPr>
        <p:spPr>
          <a:xfrm>
            <a:off x="80391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5" name="c11"/>
          <p:cNvSpPr/>
          <p:nvPr/>
        </p:nvSpPr>
        <p:spPr>
          <a:xfrm>
            <a:off x="82804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6" name="c12"/>
          <p:cNvSpPr/>
          <p:nvPr/>
        </p:nvSpPr>
        <p:spPr>
          <a:xfrm>
            <a:off x="85852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7" name="c13"/>
          <p:cNvSpPr/>
          <p:nvPr/>
        </p:nvSpPr>
        <p:spPr>
          <a:xfrm>
            <a:off x="8890000" y="4191000"/>
            <a:ext cx="381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8" name="comp-lb"/>
          <p:cNvSpPr txBox="1"/>
          <p:nvPr/>
        </p:nvSpPr>
        <p:spPr>
          <a:xfrm>
            <a:off x="6477000" y="50038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密部 compression</a:t>
            </a:r>
            <a:endParaRPr lang="en-US" sz="1100" noProof="1"/>
          </a:p>
        </p:txBody>
      </p:sp>
      <p:sp>
        <p:nvSpPr>
          <p:cNvPr id="29" name="rare-lb"/>
          <p:cNvSpPr txBox="1"/>
          <p:nvPr/>
        </p:nvSpPr>
        <p:spPr>
          <a:xfrm>
            <a:off x="8255000" y="50038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疏部 rarefaction</a:t>
            </a:r>
            <a:endParaRPr lang="en-US" sz="1100" noProof="1"/>
          </a:p>
        </p:txBody>
      </p:sp>
      <p:sp>
        <p:nvSpPr>
          <p:cNvPr id="30" name="lwave-arr"/>
          <p:cNvSpPr/>
          <p:nvPr>
            <p:extLst>
              <p:ext uri="{F5677B7D-0D2A-4D9B-9A5C-6D8D7D0E5A5D}">
                <pptd:line encoding="base64url">eyJ2aWV3Qm94IjpbMzIwLDRdLCJwb2ludHMiOiIwLDIgMzIwLDIiLCJjdXJ2ZSI6InNoYXJwIn0</pptd:line>
              </p:ext>
            </p:extLst>
          </p:nvPr>
        </p:nvSpPr>
        <p:spPr>
          <a:xfrm>
            <a:off x="6477000" y="5359400"/>
            <a:ext cx="4064000" cy="50800"/>
          </a:xfrm>
          <a:custGeom>
            <a:avLst/>
            <a:gdLst/>
            <a:ahLst/>
            <a:cxnLst/>
            <a:rect l="l" t="t" r="r" b="b"/>
            <a:pathLst>
              <a:path w="320" h="4">
                <a:moveTo>
                  <a:pt x="0" y="2"/>
                </a:moveTo>
                <a:lnTo>
                  <a:pt x="320" y="2"/>
                </a:lnTo>
              </a:path>
            </a:pathLst>
          </a:custGeom>
          <a:noFill/>
          <a:ln w="25400">
            <a:solidFill>
              <a:srgbClr val="C96F16"/>
            </a:solidFill>
            <a:tailEnd type="arrow"/>
          </a:ln>
        </p:spPr>
      </p:sp>
      <p:sp>
        <p:nvSpPr>
          <p:cNvPr id="31" name="lwave-arr-lb"/>
          <p:cNvSpPr txBox="1"/>
          <p:nvPr/>
        </p:nvSpPr>
        <p:spPr>
          <a:xfrm>
            <a:off x="6477000" y="5486400"/>
            <a:ext cx="406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能量传递方向 →（质点也沿此方向来回振）</a:t>
            </a:r>
            <a:endParaRPr lang="en-US" sz="1100" noProof="1"/>
          </a:p>
        </p:txBody>
      </p:sp>
      <p:sp>
        <p:nvSpPr>
          <p:cNvPr id="32" name="warn-box"/>
          <p:cNvSpPr/>
          <p:nvPr/>
        </p:nvSpPr>
        <p:spPr>
          <a:xfrm>
            <a:off x="762000" y="57912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33" name="warn-body"/>
          <p:cNvSpPr txBox="1"/>
          <p:nvPr/>
        </p:nvSpPr>
        <p:spPr>
          <a:xfrm>
            <a:off x="965200" y="58420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送分点：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声波 = 纵波；电磁波 = 横波、真空可传。判断类别只看一句话：振动方向与能量方向垂直还是平行。</a:t>
            </a:r>
            <a:endParaRPr lang="en-US" sz="1250" noProof="1"/>
          </a:p>
        </p:txBody>
      </p:sp>
      <p:sp>
        <p:nvSpPr>
          <p:cNvPr id="3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3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3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7.2 · TWO GRAPHS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两张"长得一样"的图：先看横轴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Displacement-distance reads λ · displacement-time reads 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g1-h"/>
          <p:cNvSpPr txBox="1"/>
          <p:nvPr/>
        </p:nvSpPr>
        <p:spPr>
          <a:xfrm>
            <a:off x="762000" y="1701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① 位移-距离图（给波拍快照）</a:t>
            </a:r>
            <a:endParaRPr lang="en-US" sz="1500" noProof="1"/>
          </a:p>
        </p:txBody>
      </p:sp>
      <p:sp>
        <p:nvSpPr>
          <p:cNvPr id="7" name="g1-ax-y"/>
          <p:cNvSpPr/>
          <p:nvPr>
            <p:extLst>
              <p:ext uri="{F5677B7D-0D2A-4D9B-9A5C-6D8D7D0E5A5D}">
                <pptd:line encoding="base64url">eyJ2aWV3Qm94IjpbNCwxNTBdLCJwb2ludHMiOiIyLDE1MCAyLDAiLCJjdXJ2ZSI6InNoYXJwIn0</pptd:line>
              </p:ext>
            </p:extLst>
          </p:nvPr>
        </p:nvSpPr>
        <p:spPr>
          <a:xfrm>
            <a:off x="1016000" y="2133600"/>
            <a:ext cx="50800" cy="1905000"/>
          </a:xfrm>
          <a:custGeom>
            <a:avLst/>
            <a:gdLst/>
            <a:ahLst/>
            <a:cxnLst/>
            <a:rect l="l" t="t" r="r" b="b"/>
            <a:pathLst>
              <a:path w="4" h="150">
                <a:moveTo>
                  <a:pt x="2" y="15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8" name="g1-ax-x"/>
          <p:cNvSpPr/>
          <p:nvPr>
            <p:extLst>
              <p:ext uri="{F5677B7D-0D2A-4D9B-9A5C-6D8D7D0E5A5D}">
                <pptd:line encoding="base64url">eyJ2aWV3Qm94IjpbMzQwLDRdLCJwb2ludHMiOiIwLDIgMzQwLDIiLCJjdXJ2ZSI6InNoYXJwIn0</pptd:line>
              </p:ext>
            </p:extLst>
          </p:nvPr>
        </p:nvSpPr>
        <p:spPr>
          <a:xfrm>
            <a:off x="1016000" y="4013200"/>
            <a:ext cx="4318000" cy="50800"/>
          </a:xfrm>
          <a:custGeom>
            <a:avLst/>
            <a:gdLst/>
            <a:ahLst/>
            <a:cxnLst/>
            <a:rect l="l" t="t" r="r" b="b"/>
            <a:pathLst>
              <a:path w="340" h="4">
                <a:moveTo>
                  <a:pt x="0" y="2"/>
                </a:moveTo>
                <a:lnTo>
                  <a:pt x="34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9" name="g1-wave"/>
          <p:cNvSpPr/>
          <p:nvPr>
            <p:extLst>
              <p:ext uri="{F5677B7D-0D2A-4D9B-9A5C-6D8D7D0E5A5D}">
                <pptd:line encoding="base64url">eyJ2aWV3Qm94IjpbMzMwLDkwXSwicG9pbnRzIjoiMCw0NiAxMCwyNCAyMCw4IDMwLDQgNDAsMTMgNTAsMzIgNjAsNTUgNzAsNzUgODAsODUgOTAsODMgMTAwLDY4IDExMCw0NiAxMjAsMjQgMTMwLDggMTQwLDQgMTUwLDEzIDE2MCwzMiAxNzAsNTUgMTgwLDc1IDE5MCw4NSAyMDAsODMgMjEwLDY4IDIyMCw0NiAyMzAsMjQgMjQwLDggMjUwLDQgMjYwLDEzIDI3MCwzMiAyODAsNTUgMjkwLDc1IDMwMCw4NSAzMTAsODMgMzIwLDY4IDMzMCw0NiIsImN1cnZlIjoic2hhcnAifQ</pptd:line>
              </p:ext>
            </p:extLst>
          </p:nvPr>
        </p:nvSpPr>
        <p:spPr>
          <a:xfrm>
            <a:off x="1041400" y="2540000"/>
            <a:ext cx="4191000" cy="1143000"/>
          </a:xfrm>
          <a:custGeom>
            <a:avLst/>
            <a:gdLst/>
            <a:ahLst/>
            <a:cxnLst/>
            <a:rect l="l" t="t" r="r" b="b"/>
            <a:pathLst>
              <a:path w="330" h="90">
                <a:moveTo>
                  <a:pt x="0" y="46"/>
                </a:moveTo>
                <a:lnTo>
                  <a:pt x="10" y="24"/>
                </a:lnTo>
                <a:lnTo>
                  <a:pt x="20" y="8"/>
                </a:lnTo>
                <a:lnTo>
                  <a:pt x="30" y="4"/>
                </a:lnTo>
                <a:lnTo>
                  <a:pt x="40" y="13"/>
                </a:lnTo>
                <a:lnTo>
                  <a:pt x="50" y="32"/>
                </a:lnTo>
                <a:lnTo>
                  <a:pt x="60" y="55"/>
                </a:lnTo>
                <a:lnTo>
                  <a:pt x="70" y="75"/>
                </a:lnTo>
                <a:lnTo>
                  <a:pt x="80" y="85"/>
                </a:lnTo>
                <a:lnTo>
                  <a:pt x="90" y="83"/>
                </a:lnTo>
                <a:lnTo>
                  <a:pt x="100" y="68"/>
                </a:lnTo>
                <a:lnTo>
                  <a:pt x="110" y="46"/>
                </a:lnTo>
                <a:lnTo>
                  <a:pt x="120" y="24"/>
                </a:lnTo>
                <a:lnTo>
                  <a:pt x="130" y="8"/>
                </a:lnTo>
                <a:lnTo>
                  <a:pt x="140" y="4"/>
                </a:lnTo>
                <a:lnTo>
                  <a:pt x="150" y="13"/>
                </a:lnTo>
                <a:lnTo>
                  <a:pt x="160" y="32"/>
                </a:lnTo>
                <a:lnTo>
                  <a:pt x="170" y="55"/>
                </a:lnTo>
                <a:lnTo>
                  <a:pt x="180" y="75"/>
                </a:lnTo>
                <a:lnTo>
                  <a:pt x="190" y="85"/>
                </a:lnTo>
                <a:lnTo>
                  <a:pt x="200" y="83"/>
                </a:lnTo>
                <a:lnTo>
                  <a:pt x="210" y="68"/>
                </a:lnTo>
                <a:lnTo>
                  <a:pt x="220" y="46"/>
                </a:lnTo>
                <a:lnTo>
                  <a:pt x="230" y="24"/>
                </a:lnTo>
                <a:lnTo>
                  <a:pt x="240" y="8"/>
                </a:lnTo>
                <a:lnTo>
                  <a:pt x="250" y="4"/>
                </a:lnTo>
                <a:lnTo>
                  <a:pt x="260" y="13"/>
                </a:lnTo>
                <a:lnTo>
                  <a:pt x="270" y="32"/>
                </a:lnTo>
                <a:lnTo>
                  <a:pt x="280" y="55"/>
                </a:lnTo>
                <a:lnTo>
                  <a:pt x="290" y="75"/>
                </a:lnTo>
                <a:lnTo>
                  <a:pt x="300" y="85"/>
                </a:lnTo>
                <a:lnTo>
                  <a:pt x="310" y="83"/>
                </a:lnTo>
                <a:lnTo>
                  <a:pt x="320" y="68"/>
                </a:lnTo>
                <a:lnTo>
                  <a:pt x="330" y="46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0" name="g1-lam"/>
          <p:cNvSpPr/>
          <p:nvPr>
            <p:extLst>
              <p:ext uri="{F5677B7D-0D2A-4D9B-9A5C-6D8D7D0E5A5D}">
                <pptd:line encoding="base64url">eyJ2aWV3Qm94IjpbMTEwLDRdLCJwb2ludHMiOiIwLDIgMTEwLDIiLCJjdXJ2ZSI6InNoYXJwIn0</pptd:line>
              </p:ext>
            </p:extLst>
          </p:nvPr>
        </p:nvSpPr>
        <p:spPr>
          <a:xfrm>
            <a:off x="1397000" y="3810000"/>
            <a:ext cx="1397000" cy="50800"/>
          </a:xfrm>
          <a:custGeom>
            <a:avLst/>
            <a:gdLst/>
            <a:ahLst/>
            <a:cxnLst/>
            <a:rect l="l" t="t" r="r" b="b"/>
            <a:pathLst>
              <a:path w="110" h="4">
                <a:moveTo>
                  <a:pt x="0" y="2"/>
                </a:moveTo>
                <a:lnTo>
                  <a:pt x="110" y="2"/>
                </a:lnTo>
              </a:path>
            </a:pathLst>
          </a:custGeom>
          <a:noFill/>
          <a:ln w="19050">
            <a:solidFill>
              <a:srgbClr val="C96F16"/>
            </a:solidFill>
            <a:headEnd type="arrow"/>
            <a:tailEnd type="arrow"/>
          </a:ln>
        </p:spPr>
      </p:sp>
      <p:sp>
        <p:nvSpPr>
          <p:cNvPr id="11" name="g1-lam-lb"/>
          <p:cNvSpPr txBox="1"/>
          <p:nvPr/>
        </p:nvSpPr>
        <p:spPr>
          <a:xfrm>
            <a:off x="1841500" y="3581400"/>
            <a:ext cx="762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λ</a:t>
            </a:r>
            <a:endParaRPr lang="en-US" sz="1200" noProof="1"/>
          </a:p>
        </p:txBody>
      </p:sp>
      <p:sp>
        <p:nvSpPr>
          <p:cNvPr id="12" name="g1-xlb"/>
          <p:cNvSpPr txBox="1"/>
          <p:nvPr/>
        </p:nvSpPr>
        <p:spPr>
          <a:xfrm>
            <a:off x="4699000" y="4140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距离 x/m</a:t>
            </a:r>
            <a:endParaRPr lang="en-US" sz="1200" noProof="1"/>
          </a:p>
        </p:txBody>
      </p:sp>
      <p:sp>
        <p:nvSpPr>
          <p:cNvPr id="13" name="g1-ylb"/>
          <p:cNvSpPr txBox="1"/>
          <p:nvPr/>
        </p:nvSpPr>
        <p:spPr>
          <a:xfrm>
            <a:off x="381000" y="21336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位移</a:t>
            </a:r>
            <a:endParaRPr lang="en-US" sz="1200" noProof="1"/>
          </a:p>
        </p:txBody>
      </p:sp>
      <p:sp>
        <p:nvSpPr>
          <p:cNvPr id="14" name="g1-cap"/>
          <p:cNvSpPr txBox="1"/>
          <p:nvPr/>
        </p:nvSpPr>
        <p:spPr>
          <a:xfrm>
            <a:off x="762000" y="44196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某一时刻、不同位置质点的位移 → 读</a:t>
            </a:r>
            <a:r>
              <a:rPr lang="en-US" sz="1100" noProof="1" b="1">
                <a:solidFill>
                  <a:srgbClr val="6E6A62"/>
                </a:solidFill>
                <a:latin typeface="MiSans"/>
                <a:ea typeface="MiSans"/>
              </a:rPr>
              <a:t>波长 λ</a:t>
            </a: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横波的图长得像波本身；纵波的图像是"翻译"出来的。</a:t>
            </a:r>
            <a:endParaRPr lang="en-US" sz="1100" noProof="1"/>
          </a:p>
        </p:txBody>
      </p:sp>
      <p:sp>
        <p:nvSpPr>
          <p:cNvPr id="15" name="g2-h"/>
          <p:cNvSpPr txBox="1"/>
          <p:nvPr/>
        </p:nvSpPr>
        <p:spPr>
          <a:xfrm>
            <a:off x="6604000" y="1701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② 位移-时间图（盯住一个质点）</a:t>
            </a:r>
            <a:endParaRPr lang="en-US" sz="1500" noProof="1"/>
          </a:p>
        </p:txBody>
      </p:sp>
      <p:sp>
        <p:nvSpPr>
          <p:cNvPr id="16" name="g2-ax-y"/>
          <p:cNvSpPr/>
          <p:nvPr>
            <p:extLst>
              <p:ext uri="{F5677B7D-0D2A-4D9B-9A5C-6D8D7D0E5A5D}">
                <pptd:line encoding="base64url">eyJ2aWV3Qm94IjpbNCwxNTBdLCJwb2ludHMiOiIyLDE1MCAyLDAiLCJjdXJ2ZSI6InNoYXJwIn0</pptd:line>
              </p:ext>
            </p:extLst>
          </p:nvPr>
        </p:nvSpPr>
        <p:spPr>
          <a:xfrm>
            <a:off x="6858000" y="2133600"/>
            <a:ext cx="50800" cy="1905000"/>
          </a:xfrm>
          <a:custGeom>
            <a:avLst/>
            <a:gdLst/>
            <a:ahLst/>
            <a:cxnLst/>
            <a:rect l="l" t="t" r="r" b="b"/>
            <a:pathLst>
              <a:path w="4" h="150">
                <a:moveTo>
                  <a:pt x="2" y="15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7" name="g2-ax-x"/>
          <p:cNvSpPr/>
          <p:nvPr>
            <p:extLst>
              <p:ext uri="{F5677B7D-0D2A-4D9B-9A5C-6D8D7D0E5A5D}">
                <pptd:line encoding="base64url">eyJ2aWV3Qm94IjpbMzQwLDRdLCJwb2ludHMiOiIwLDIgMzQwLDIiLCJjdXJ2ZSI6InNoYXJwIn0</pptd:line>
              </p:ext>
            </p:extLst>
          </p:nvPr>
        </p:nvSpPr>
        <p:spPr>
          <a:xfrm>
            <a:off x="6858000" y="4013200"/>
            <a:ext cx="4318000" cy="50800"/>
          </a:xfrm>
          <a:custGeom>
            <a:avLst/>
            <a:gdLst/>
            <a:ahLst/>
            <a:cxnLst/>
            <a:rect l="l" t="t" r="r" b="b"/>
            <a:pathLst>
              <a:path w="340" h="4">
                <a:moveTo>
                  <a:pt x="0" y="2"/>
                </a:moveTo>
                <a:lnTo>
                  <a:pt x="34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8" name="g2-wave"/>
          <p:cNvSpPr/>
          <p:nvPr>
            <p:extLst>
              <p:ext uri="{F5677B7D-0D2A-4D9B-9A5C-6D8D7D0E5A5D}">
                <pptd:line encoding="base64url">eyJ2aWV3Qm94IjpbMzMwLDkwXSwicG9pbnRzIjoiMCw0NiAxMCwyNCAyMCw4IDMwLDQgNDAsMTMgNTAsMzIgNjAsNTUgNzAsNzUgODAsODUgOTAsODMgMTAwLDY4IDExMCw0NiAxMjAsMjQgMTMwLDggMTQwLDQgMTUwLDEzIDE2MCwzMiAxNzAsNTUgMTgwLDc1IDE5MCw4NSAyMDAsODMgMjEwLDY4IDIyMCw0NiAyMzAsMjQgMjQwLDggMjUwLDQgMjYwLDEzIDI3MCwzMiAyODAsNTUgMjkwLDc1IDMwMCw4NSAzMTAsODMgMzIwLDY4IDMzMCw0NiIsImN1cnZlIjoic2hhcnAifQ</pptd:line>
              </p:ext>
            </p:extLst>
          </p:nvPr>
        </p:nvSpPr>
        <p:spPr>
          <a:xfrm>
            <a:off x="6883400" y="2540000"/>
            <a:ext cx="4191000" cy="1143000"/>
          </a:xfrm>
          <a:custGeom>
            <a:avLst/>
            <a:gdLst/>
            <a:ahLst/>
            <a:cxnLst/>
            <a:rect l="l" t="t" r="r" b="b"/>
            <a:pathLst>
              <a:path w="330" h="90">
                <a:moveTo>
                  <a:pt x="0" y="46"/>
                </a:moveTo>
                <a:lnTo>
                  <a:pt x="10" y="24"/>
                </a:lnTo>
                <a:lnTo>
                  <a:pt x="20" y="8"/>
                </a:lnTo>
                <a:lnTo>
                  <a:pt x="30" y="4"/>
                </a:lnTo>
                <a:lnTo>
                  <a:pt x="40" y="13"/>
                </a:lnTo>
                <a:lnTo>
                  <a:pt x="50" y="32"/>
                </a:lnTo>
                <a:lnTo>
                  <a:pt x="60" y="55"/>
                </a:lnTo>
                <a:lnTo>
                  <a:pt x="70" y="75"/>
                </a:lnTo>
                <a:lnTo>
                  <a:pt x="80" y="85"/>
                </a:lnTo>
                <a:lnTo>
                  <a:pt x="90" y="83"/>
                </a:lnTo>
                <a:lnTo>
                  <a:pt x="100" y="68"/>
                </a:lnTo>
                <a:lnTo>
                  <a:pt x="110" y="46"/>
                </a:lnTo>
                <a:lnTo>
                  <a:pt x="120" y="24"/>
                </a:lnTo>
                <a:lnTo>
                  <a:pt x="130" y="8"/>
                </a:lnTo>
                <a:lnTo>
                  <a:pt x="140" y="4"/>
                </a:lnTo>
                <a:lnTo>
                  <a:pt x="150" y="13"/>
                </a:lnTo>
                <a:lnTo>
                  <a:pt x="160" y="32"/>
                </a:lnTo>
                <a:lnTo>
                  <a:pt x="170" y="55"/>
                </a:lnTo>
                <a:lnTo>
                  <a:pt x="180" y="75"/>
                </a:lnTo>
                <a:lnTo>
                  <a:pt x="190" y="85"/>
                </a:lnTo>
                <a:lnTo>
                  <a:pt x="200" y="83"/>
                </a:lnTo>
                <a:lnTo>
                  <a:pt x="210" y="68"/>
                </a:lnTo>
                <a:lnTo>
                  <a:pt x="220" y="46"/>
                </a:lnTo>
                <a:lnTo>
                  <a:pt x="230" y="24"/>
                </a:lnTo>
                <a:lnTo>
                  <a:pt x="240" y="8"/>
                </a:lnTo>
                <a:lnTo>
                  <a:pt x="250" y="4"/>
                </a:lnTo>
                <a:lnTo>
                  <a:pt x="260" y="13"/>
                </a:lnTo>
                <a:lnTo>
                  <a:pt x="270" y="32"/>
                </a:lnTo>
                <a:lnTo>
                  <a:pt x="280" y="55"/>
                </a:lnTo>
                <a:lnTo>
                  <a:pt x="290" y="75"/>
                </a:lnTo>
                <a:lnTo>
                  <a:pt x="300" y="85"/>
                </a:lnTo>
                <a:lnTo>
                  <a:pt x="310" y="83"/>
                </a:lnTo>
                <a:lnTo>
                  <a:pt x="320" y="68"/>
                </a:lnTo>
                <a:lnTo>
                  <a:pt x="330" y="46"/>
                </a:lnTo>
              </a:path>
            </a:pathLst>
          </a:custGeom>
          <a:noFill/>
          <a:ln w="31750">
            <a:solidFill>
              <a:srgbClr val="C96F16"/>
            </a:solidFill>
          </a:ln>
        </p:spPr>
      </p:sp>
      <p:sp>
        <p:nvSpPr>
          <p:cNvPr id="19" name="g2-T"/>
          <p:cNvSpPr/>
          <p:nvPr>
            <p:extLst>
              <p:ext uri="{F5677B7D-0D2A-4D9B-9A5C-6D8D7D0E5A5D}">
                <pptd:line encoding="base64url">eyJ2aWV3Qm94IjpbMTEwLDRdLCJwb2ludHMiOiIwLDIgMTEwLDIiLCJjdXJ2ZSI6InNoYXJwIn0</pptd:line>
              </p:ext>
            </p:extLst>
          </p:nvPr>
        </p:nvSpPr>
        <p:spPr>
          <a:xfrm>
            <a:off x="7239000" y="3810000"/>
            <a:ext cx="1397000" cy="50800"/>
          </a:xfrm>
          <a:custGeom>
            <a:avLst/>
            <a:gdLst/>
            <a:ahLst/>
            <a:cxnLst/>
            <a:rect l="l" t="t" r="r" b="b"/>
            <a:pathLst>
              <a:path w="110" h="4">
                <a:moveTo>
                  <a:pt x="0" y="2"/>
                </a:moveTo>
                <a:lnTo>
                  <a:pt x="110" y="2"/>
                </a:lnTo>
              </a:path>
            </a:pathLst>
          </a:custGeom>
          <a:noFill/>
          <a:ln w="19050">
            <a:solidFill>
              <a:srgbClr val="0E5A55"/>
            </a:solidFill>
            <a:headEnd type="arrow"/>
            <a:tailEnd type="arrow"/>
          </a:ln>
        </p:spPr>
      </p:sp>
      <p:sp>
        <p:nvSpPr>
          <p:cNvPr id="20" name="g2-T-lb"/>
          <p:cNvSpPr txBox="1"/>
          <p:nvPr/>
        </p:nvSpPr>
        <p:spPr>
          <a:xfrm>
            <a:off x="7721600" y="3581400"/>
            <a:ext cx="762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T</a:t>
            </a:r>
            <a:endParaRPr lang="en-US" sz="1200" noProof="1"/>
          </a:p>
        </p:txBody>
      </p:sp>
      <p:sp>
        <p:nvSpPr>
          <p:cNvPr id="21" name="g2-xlb"/>
          <p:cNvSpPr txBox="1"/>
          <p:nvPr/>
        </p:nvSpPr>
        <p:spPr>
          <a:xfrm>
            <a:off x="10541000" y="41402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时间 t/s</a:t>
            </a:r>
            <a:endParaRPr lang="en-US" sz="1200" noProof="1"/>
          </a:p>
        </p:txBody>
      </p:sp>
      <p:sp>
        <p:nvSpPr>
          <p:cNvPr id="22" name="g2-ylb"/>
          <p:cNvSpPr txBox="1"/>
          <p:nvPr/>
        </p:nvSpPr>
        <p:spPr>
          <a:xfrm>
            <a:off x="6223000" y="2133600"/>
            <a:ext cx="6096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位移</a:t>
            </a:r>
            <a:endParaRPr lang="en-US" sz="1200" noProof="1"/>
          </a:p>
        </p:txBody>
      </p:sp>
      <p:sp>
        <p:nvSpPr>
          <p:cNvPr id="23" name="g2-cap"/>
          <p:cNvSpPr txBox="1"/>
          <p:nvPr/>
        </p:nvSpPr>
        <p:spPr>
          <a:xfrm>
            <a:off x="6604000" y="44196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同一质点、不同时刻的位移 → 读</a:t>
            </a:r>
            <a:r>
              <a:rPr lang="en-US" sz="1100" noProof="1" b="1">
                <a:solidFill>
                  <a:srgbClr val="6E6A62"/>
                </a:solidFill>
                <a:latin typeface="MiSans"/>
                <a:ea typeface="MiSans"/>
              </a:rPr>
              <a:t>周期 T</a:t>
            </a: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配合 f = 1/T 求频率（CRO 屏上就是这张图）。</a:t>
            </a:r>
            <a:endParaRPr lang="en-US" sz="1100" noProof="1"/>
          </a:p>
        </p:txBody>
      </p:sp>
      <p:sp>
        <p:nvSpPr>
          <p:cNvPr id="24" name="warn-box"/>
          <p:cNvSpPr/>
          <p:nvPr/>
        </p:nvSpPr>
        <p:spPr>
          <a:xfrm>
            <a:off x="762000" y="5486400"/>
            <a:ext cx="10668000" cy="711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5" name="warn-body"/>
          <p:cNvSpPr txBox="1"/>
          <p:nvPr/>
        </p:nvSpPr>
        <p:spPr>
          <a:xfrm>
            <a:off x="965200" y="5575300"/>
            <a:ext cx="10261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两张图都是正弦曲线，外形完全相同！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λ 只能从位移-距离图读，T 只能从位移-时间图读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——落笔前先确认横轴是 x 还是 t。</a:t>
            </a:r>
            <a:endParaRPr lang="en-US" sz="1250" noProof="1"/>
          </a:p>
        </p:txBody>
      </p:sp>
      <p:sp>
        <p:nvSpPr>
          <p:cNvPr id="2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2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7.3 · DOPPLER EFFECT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多普勒效应：先判升降，再选符号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Waves compressed ahead of a moving source, spread out behind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现象与原理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运动的波源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发出（或反射）的波被压缩或展宽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观察频率改变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前方波长被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压缩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f 变高；后方被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展宽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f 变低。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例：汽车驶过，靠近时音调高、远离时音调低。</a:t>
            </a:r>
            <a:endParaRPr lang="en-US" sz="1350" noProof="1"/>
          </a:p>
        </p:txBody>
      </p:sp>
      <p:sp>
        <p:nvSpPr>
          <p:cNvPr id="8" name="fcard"/>
          <p:cNvSpPr/>
          <p:nvPr/>
        </p:nvSpPr>
        <p:spPr>
          <a:xfrm>
            <a:off x="762000" y="3530600"/>
            <a:ext cx="5080000" cy="8128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9" name="fcard-t"/>
          <p:cNvSpPr txBox="1"/>
          <p:nvPr/>
        </p:nvSpPr>
        <p:spPr>
          <a:xfrm>
            <a:off x="762000" y="35306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f_o = f_s · v / (v ± v_s)</a:t>
            </a:r>
            <a:endParaRPr lang="en-US" sz="2200" noProof="1"/>
          </a:p>
        </p:txBody>
      </p:sp>
      <p:sp>
        <p:nvSpPr>
          <p:cNvPr id="10" name="sign-h"/>
          <p:cNvSpPr txBox="1"/>
          <p:nvPr/>
        </p:nvSpPr>
        <p:spPr>
          <a:xfrm>
            <a:off x="762000" y="4546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分母符号规则 Sign rule</a:t>
            </a:r>
            <a:endParaRPr lang="en-US" sz="1500" noProof="1"/>
          </a:p>
        </p:txBody>
      </p:sp>
      <p:sp>
        <p:nvSpPr>
          <p:cNvPr id="11" name="sign-body"/>
          <p:cNvSpPr txBox="1"/>
          <p:nvPr/>
        </p:nvSpPr>
        <p:spPr>
          <a:xfrm>
            <a:off x="762000" y="48768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波源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靠近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towards → 分母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 − v_s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→ f_o 升高</a:t>
            </a:r>
            <a:endParaRPr lang="en-US" sz="1300" noProof="1"/>
          </a:p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波源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远离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away → 分母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 + v_s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→ f_o 降低</a:t>
            </a:r>
            <a:endParaRPr lang="en-US" sz="1300" noProof="1"/>
          </a:p>
        </p:txBody>
      </p:sp>
      <p:sp>
        <p:nvSpPr>
          <p:cNvPr id="12" name="wf4"/>
          <p:cNvSpPr/>
          <p:nvPr/>
        </p:nvSpPr>
        <p:spPr>
          <a:xfrm>
            <a:off x="5842000" y="1524000"/>
            <a:ext cx="4064000" cy="4064000"/>
          </a:xfrm>
          <a:prstGeom prst="ellipse">
            <a:avLst/>
          </a:prstGeom>
          <a:solidFill>
            <a:srgbClr val="FAF8F4"/>
          </a:solidFill>
          <a:ln w="19050">
            <a:solidFill>
              <a:srgbClr val="0E5A55"/>
            </a:solidFill>
          </a:ln>
        </p:spPr>
      </p:sp>
      <p:sp>
        <p:nvSpPr>
          <p:cNvPr id="13" name="wf3"/>
          <p:cNvSpPr/>
          <p:nvPr/>
        </p:nvSpPr>
        <p:spPr>
          <a:xfrm>
            <a:off x="6350000" y="2032000"/>
            <a:ext cx="3048000" cy="3048000"/>
          </a:xfrm>
          <a:prstGeom prst="ellipse">
            <a:avLst/>
          </a:prstGeom>
          <a:solidFill>
            <a:srgbClr val="FAF8F4"/>
          </a:solidFill>
          <a:ln w="19050">
            <a:solidFill>
              <a:srgbClr val="0E5A55"/>
            </a:solidFill>
          </a:ln>
        </p:spPr>
      </p:sp>
      <p:sp>
        <p:nvSpPr>
          <p:cNvPr id="14" name="wf2"/>
          <p:cNvSpPr/>
          <p:nvPr/>
        </p:nvSpPr>
        <p:spPr>
          <a:xfrm>
            <a:off x="7366000" y="2540000"/>
            <a:ext cx="2032000" cy="2032000"/>
          </a:xfrm>
          <a:prstGeom prst="ellipse">
            <a:avLst/>
          </a:prstGeom>
          <a:solidFill>
            <a:srgbClr val="FAF8F4"/>
          </a:solidFill>
          <a:ln w="19050">
            <a:solidFill>
              <a:srgbClr val="0E5A55"/>
            </a:solidFill>
          </a:ln>
        </p:spPr>
      </p:sp>
      <p:sp>
        <p:nvSpPr>
          <p:cNvPr id="15" name="wf1"/>
          <p:cNvSpPr/>
          <p:nvPr/>
        </p:nvSpPr>
        <p:spPr>
          <a:xfrm>
            <a:off x="8128000" y="3048000"/>
            <a:ext cx="1016000" cy="1016000"/>
          </a:xfrm>
          <a:prstGeom prst="ellipse">
            <a:avLst/>
          </a:prstGeom>
          <a:solidFill>
            <a:srgbClr val="FAF8F4"/>
          </a:solidFill>
          <a:ln w="19050">
            <a:solidFill>
              <a:srgbClr val="0E5A55"/>
            </a:solidFill>
          </a:ln>
        </p:spPr>
      </p:sp>
      <p:sp>
        <p:nvSpPr>
          <p:cNvPr id="16" name="src-dot"/>
          <p:cNvSpPr/>
          <p:nvPr/>
        </p:nvSpPr>
        <p:spPr>
          <a:xfrm>
            <a:off x="8788400" y="3454400"/>
            <a:ext cx="203200" cy="203200"/>
          </a:xfrm>
          <a:prstGeom prst="ellipse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7" name="src-arr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9093200" y="35306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25400">
            <a:solidFill>
              <a:srgbClr val="C96F16"/>
            </a:solidFill>
            <a:tailEnd type="arrow"/>
          </a:ln>
        </p:spPr>
      </p:sp>
      <p:sp>
        <p:nvSpPr>
          <p:cNvPr id="18" name="src-lb"/>
          <p:cNvSpPr txBox="1"/>
          <p:nvPr/>
        </p:nvSpPr>
        <p:spPr>
          <a:xfrm>
            <a:off x="9093200" y="3657600"/>
            <a:ext cx="1905000" cy="2032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波源运动方向 v_s</a:t>
            </a:r>
            <a:endParaRPr lang="en-US" sz="1100" noProof="1"/>
          </a:p>
        </p:txBody>
      </p:sp>
      <p:sp>
        <p:nvSpPr>
          <p:cNvPr id="19" name="front-lb"/>
          <p:cNvSpPr txBox="1"/>
          <p:nvPr/>
        </p:nvSpPr>
        <p:spPr>
          <a:xfrm>
            <a:off x="10033000" y="25400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0E5A55"/>
                </a:solidFill>
                <a:latin typeface="MiSans"/>
                <a:ea typeface="MiSans"/>
              </a:rPr>
              <a:t>前方：波长压缩</a:t>
            </a:r>
            <a:endParaRPr lang="en-US" sz="1150" noProof="1"/>
          </a:p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0E5A55"/>
                </a:solidFill>
                <a:latin typeface="MiSans"/>
                <a:ea typeface="MiSans"/>
              </a:rPr>
              <a:t>→ f_o 升高</a:t>
            </a:r>
            <a:endParaRPr lang="en-US" sz="1150" noProof="1"/>
          </a:p>
        </p:txBody>
      </p:sp>
      <p:sp>
        <p:nvSpPr>
          <p:cNvPr id="20" name="back-lb"/>
          <p:cNvSpPr txBox="1"/>
          <p:nvPr/>
        </p:nvSpPr>
        <p:spPr>
          <a:xfrm>
            <a:off x="5918200" y="1651000"/>
            <a:ext cx="1651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6E6A62"/>
                </a:solidFill>
                <a:latin typeface="MiSans"/>
                <a:ea typeface="MiSans"/>
              </a:rPr>
              <a:t>后方：波长展宽</a:t>
            </a:r>
            <a:endParaRPr lang="en-US" sz="1150" noProof="1"/>
          </a:p>
          <a:p>
            <a:pPr>
              <a:lnSpc>
                <a:spcPct val="140000"/>
              </a:lnSpc>
            </a:pPr>
            <a:r>
              <a:rPr lang="en-US" sz="1150" noProof="1" b="1">
                <a:solidFill>
                  <a:srgbClr val="6E6A62"/>
                </a:solidFill>
                <a:latin typeface="MiSans"/>
                <a:ea typeface="MiSans"/>
              </a:rPr>
              <a:t>→ f_o 降低</a:t>
            </a:r>
            <a:endParaRPr lang="en-US" sz="1150" noProof="1"/>
          </a:p>
        </p:txBody>
      </p:sp>
      <p:sp>
        <p:nvSpPr>
          <p:cNvPr id="21" name="warn-box"/>
          <p:cNvSpPr/>
          <p:nvPr/>
        </p:nvSpPr>
        <p:spPr>
          <a:xfrm>
            <a:off x="762000" y="57912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2" name="warn-body"/>
          <p:cNvSpPr txBox="1"/>
          <p:nvPr/>
        </p:nvSpPr>
        <p:spPr>
          <a:xfrm>
            <a:off x="965200" y="58420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符号记反是本章第一杀手。自查口诀：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靠近压缩 → 分母变小 → 频率变高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，先判升降再选 ±。</a:t>
            </a:r>
            <a:endParaRPr lang="en-US" sz="125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7.4 · ELECTROMAGNETIC SPECTRUM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电磁波谱：背数量级，不背精确值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Seven bands by order of magnitude of wavelength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th"/>
          <p:cNvSpPr/>
          <p:nvPr/>
        </p:nvSpPr>
        <p:spPr>
          <a:xfrm>
            <a:off x="762000" y="1778000"/>
            <a:ext cx="6096000" cy="381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th-t1"/>
          <p:cNvSpPr txBox="1"/>
          <p:nvPr/>
        </p:nvSpPr>
        <p:spPr>
          <a:xfrm>
            <a:off x="965200" y="1778000"/>
            <a:ext cx="355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波段 EM radiation</a:t>
            </a:r>
            <a:endParaRPr lang="en-US" sz="1250" noProof="1"/>
          </a:p>
        </p:txBody>
      </p:sp>
      <p:sp>
        <p:nvSpPr>
          <p:cNvPr id="8" name="th-t2"/>
          <p:cNvSpPr txBox="1"/>
          <p:nvPr/>
        </p:nvSpPr>
        <p:spPr>
          <a:xfrm>
            <a:off x="4826000" y="1778000"/>
            <a:ext cx="1828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波长数量级 (m)</a:t>
            </a:r>
            <a:endParaRPr lang="en-US" sz="1250" noProof="1"/>
          </a:p>
        </p:txBody>
      </p:sp>
      <p:sp>
        <p:nvSpPr>
          <p:cNvPr id="9" name="r1"/>
          <p:cNvSpPr/>
          <p:nvPr/>
        </p:nvSpPr>
        <p:spPr>
          <a:xfrm>
            <a:off x="762000" y="2159000"/>
            <a:ext cx="6096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r1-t1"/>
          <p:cNvSpPr txBox="1"/>
          <p:nvPr/>
        </p:nvSpPr>
        <p:spPr>
          <a:xfrm>
            <a:off x="965200" y="21590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Radio 无线电波</a:t>
            </a:r>
            <a:endParaRPr lang="en-US" sz="1250" noProof="1"/>
          </a:p>
        </p:txBody>
      </p:sp>
      <p:sp>
        <p:nvSpPr>
          <p:cNvPr id="11" name="r1-t2"/>
          <p:cNvSpPr txBox="1"/>
          <p:nvPr/>
        </p:nvSpPr>
        <p:spPr>
          <a:xfrm>
            <a:off x="4826000" y="21590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10³</a:t>
            </a:r>
            <a:endParaRPr lang="en-US" sz="1250" noProof="1"/>
          </a:p>
        </p:txBody>
      </p:sp>
      <p:sp>
        <p:nvSpPr>
          <p:cNvPr id="12" name="r2"/>
          <p:cNvSpPr/>
          <p:nvPr/>
        </p:nvSpPr>
        <p:spPr>
          <a:xfrm>
            <a:off x="762000" y="2527300"/>
            <a:ext cx="6096000" cy="3683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r2-t1"/>
          <p:cNvSpPr txBox="1"/>
          <p:nvPr/>
        </p:nvSpPr>
        <p:spPr>
          <a:xfrm>
            <a:off x="965200" y="25273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Microwave 微波</a:t>
            </a:r>
            <a:endParaRPr lang="en-US" sz="1250" noProof="1"/>
          </a:p>
        </p:txBody>
      </p:sp>
      <p:sp>
        <p:nvSpPr>
          <p:cNvPr id="14" name="r2-t2"/>
          <p:cNvSpPr txBox="1"/>
          <p:nvPr/>
        </p:nvSpPr>
        <p:spPr>
          <a:xfrm>
            <a:off x="4826000" y="25273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10⁻²</a:t>
            </a:r>
            <a:endParaRPr lang="en-US" sz="1250" noProof="1"/>
          </a:p>
        </p:txBody>
      </p:sp>
      <p:sp>
        <p:nvSpPr>
          <p:cNvPr id="15" name="r3"/>
          <p:cNvSpPr/>
          <p:nvPr/>
        </p:nvSpPr>
        <p:spPr>
          <a:xfrm>
            <a:off x="762000" y="2895600"/>
            <a:ext cx="6096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r3-t1"/>
          <p:cNvSpPr txBox="1"/>
          <p:nvPr/>
        </p:nvSpPr>
        <p:spPr>
          <a:xfrm>
            <a:off x="965200" y="28956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Infrared 红外线</a:t>
            </a:r>
            <a:endParaRPr lang="en-US" sz="1250" noProof="1"/>
          </a:p>
        </p:txBody>
      </p:sp>
      <p:sp>
        <p:nvSpPr>
          <p:cNvPr id="17" name="r3-t2"/>
          <p:cNvSpPr txBox="1"/>
          <p:nvPr/>
        </p:nvSpPr>
        <p:spPr>
          <a:xfrm>
            <a:off x="4826000" y="28956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10⁻⁵</a:t>
            </a:r>
            <a:endParaRPr lang="en-US" sz="1250" noProof="1"/>
          </a:p>
        </p:txBody>
      </p:sp>
      <p:sp>
        <p:nvSpPr>
          <p:cNvPr id="18" name="r4"/>
          <p:cNvSpPr/>
          <p:nvPr/>
        </p:nvSpPr>
        <p:spPr>
          <a:xfrm>
            <a:off x="762000" y="3263900"/>
            <a:ext cx="6096000" cy="3683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r4-hl"/>
          <p:cNvSpPr/>
          <p:nvPr/>
        </p:nvSpPr>
        <p:spPr>
          <a:xfrm>
            <a:off x="762000" y="3263900"/>
            <a:ext cx="50800" cy="3683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20" name="r4-t1"/>
          <p:cNvSpPr txBox="1"/>
          <p:nvPr/>
        </p:nvSpPr>
        <p:spPr>
          <a:xfrm>
            <a:off x="965200" y="32639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Visible 可见光（400–700 nm）</a:t>
            </a:r>
            <a:endParaRPr lang="en-US" sz="1250" noProof="1"/>
          </a:p>
        </p:txBody>
      </p:sp>
      <p:sp>
        <p:nvSpPr>
          <p:cNvPr id="21" name="r4-t2"/>
          <p:cNvSpPr txBox="1"/>
          <p:nvPr/>
        </p:nvSpPr>
        <p:spPr>
          <a:xfrm>
            <a:off x="4826000" y="32639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10⁻⁷</a:t>
            </a:r>
            <a:endParaRPr lang="en-US" sz="1250" noProof="1"/>
          </a:p>
        </p:txBody>
      </p:sp>
      <p:sp>
        <p:nvSpPr>
          <p:cNvPr id="22" name="r5"/>
          <p:cNvSpPr/>
          <p:nvPr/>
        </p:nvSpPr>
        <p:spPr>
          <a:xfrm>
            <a:off x="762000" y="3632200"/>
            <a:ext cx="6096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" name="r5-t1"/>
          <p:cNvSpPr txBox="1"/>
          <p:nvPr/>
        </p:nvSpPr>
        <p:spPr>
          <a:xfrm>
            <a:off x="965200" y="36322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Ultraviolet 紫外线</a:t>
            </a:r>
            <a:endParaRPr lang="en-US" sz="1250" noProof="1"/>
          </a:p>
        </p:txBody>
      </p:sp>
      <p:sp>
        <p:nvSpPr>
          <p:cNvPr id="24" name="r5-t2"/>
          <p:cNvSpPr txBox="1"/>
          <p:nvPr/>
        </p:nvSpPr>
        <p:spPr>
          <a:xfrm>
            <a:off x="4826000" y="36322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10⁻⁸</a:t>
            </a:r>
            <a:endParaRPr lang="en-US" sz="1250" noProof="1"/>
          </a:p>
        </p:txBody>
      </p:sp>
      <p:sp>
        <p:nvSpPr>
          <p:cNvPr id="25" name="r6"/>
          <p:cNvSpPr/>
          <p:nvPr/>
        </p:nvSpPr>
        <p:spPr>
          <a:xfrm>
            <a:off x="762000" y="4000500"/>
            <a:ext cx="6096000" cy="3683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6" name="r6-t1"/>
          <p:cNvSpPr txBox="1"/>
          <p:nvPr/>
        </p:nvSpPr>
        <p:spPr>
          <a:xfrm>
            <a:off x="965200" y="40005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X-ray X 射线</a:t>
            </a:r>
            <a:endParaRPr lang="en-US" sz="1250" noProof="1"/>
          </a:p>
        </p:txBody>
      </p:sp>
      <p:sp>
        <p:nvSpPr>
          <p:cNvPr id="27" name="r6-t2"/>
          <p:cNvSpPr txBox="1"/>
          <p:nvPr/>
        </p:nvSpPr>
        <p:spPr>
          <a:xfrm>
            <a:off x="4826000" y="40005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10⁻¹⁰</a:t>
            </a:r>
            <a:endParaRPr lang="en-US" sz="1250" noProof="1"/>
          </a:p>
        </p:txBody>
      </p:sp>
      <p:sp>
        <p:nvSpPr>
          <p:cNvPr id="28" name="r7"/>
          <p:cNvSpPr/>
          <p:nvPr/>
        </p:nvSpPr>
        <p:spPr>
          <a:xfrm>
            <a:off x="762000" y="4368800"/>
            <a:ext cx="6096000" cy="36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9" name="r7-t1"/>
          <p:cNvSpPr txBox="1"/>
          <p:nvPr/>
        </p:nvSpPr>
        <p:spPr>
          <a:xfrm>
            <a:off x="965200" y="4368800"/>
            <a:ext cx="38100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Gamma ray γ 射线</a:t>
            </a:r>
            <a:endParaRPr lang="en-US" sz="1250" noProof="1"/>
          </a:p>
        </p:txBody>
      </p:sp>
      <p:sp>
        <p:nvSpPr>
          <p:cNvPr id="30" name="r7-t2"/>
          <p:cNvSpPr txBox="1"/>
          <p:nvPr/>
        </p:nvSpPr>
        <p:spPr>
          <a:xfrm>
            <a:off x="4826000" y="4368800"/>
            <a:ext cx="1828800" cy="3683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10⁻¹²</a:t>
            </a:r>
            <a:endParaRPr lang="en-US" sz="1250" noProof="1"/>
          </a:p>
        </p:txBody>
      </p:sp>
      <p:sp>
        <p:nvSpPr>
          <p:cNvPr id="31" name="tbl-note"/>
          <p:cNvSpPr txBox="1"/>
          <p:nvPr/>
        </p:nvSpPr>
        <p:spPr>
          <a:xfrm>
            <a:off x="762000" y="48768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从上到下：波长递减 ↓，频率与能量递增 ↑。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记忆顺序：</a:t>
            </a:r>
            <a:r>
              <a:rPr lang="en-US" sz="1100" noProof="1" b="1">
                <a:solidFill>
                  <a:srgbClr val="6E6A62"/>
                </a:solidFill>
                <a:latin typeface="MiSans"/>
                <a:ea typeface="MiSans"/>
              </a:rPr>
              <a:t>R M I V U X G</a:t>
            </a: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sp>
        <p:nvSpPr>
          <p:cNvPr id="32" name="c-card"/>
          <p:cNvSpPr/>
          <p:nvPr/>
        </p:nvSpPr>
        <p:spPr>
          <a:xfrm>
            <a:off x="7366000" y="1778000"/>
            <a:ext cx="4064000" cy="965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3" name="c-card-t"/>
          <p:cNvSpPr txBox="1"/>
          <p:nvPr/>
        </p:nvSpPr>
        <p:spPr>
          <a:xfrm>
            <a:off x="7569200" y="18796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真空中所有电磁波同速：</a:t>
            </a:r>
            <a:endParaRPr lang="en-US" sz="1400" noProof="1"/>
          </a:p>
          <a:p>
            <a:pPr>
              <a:lnSpc>
                <a:spcPct val="15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c = 3×10⁸ m/s</a:t>
            </a:r>
            <a:endParaRPr lang="en-US" sz="1400" noProof="1"/>
          </a:p>
        </p:txBody>
      </p:sp>
      <p:sp>
        <p:nvSpPr>
          <p:cNvPr id="34" name="vis-card"/>
          <p:cNvSpPr/>
          <p:nvPr/>
        </p:nvSpPr>
        <p:spPr>
          <a:xfrm>
            <a:off x="7366000" y="2946400"/>
            <a:ext cx="4064000" cy="965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35" name="vis-card-t"/>
          <p:cNvSpPr txBox="1"/>
          <p:nvPr/>
        </p:nvSpPr>
        <p:spPr>
          <a:xfrm>
            <a:off x="7569200" y="3048000"/>
            <a:ext cx="3657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人眼可见：400–700 nm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6E6A62"/>
                </a:solidFill>
                <a:latin typeface="MiSans"/>
                <a:ea typeface="MiSans"/>
              </a:rPr>
              <a:t>紫光（短）→ 红光（长），要记准数值</a:t>
            </a:r>
            <a:endParaRPr lang="en-US" sz="1250" noProof="1"/>
          </a:p>
        </p:txBody>
      </p:sp>
      <p:sp>
        <p:nvSpPr>
          <p:cNvPr id="36" name="calc-card"/>
          <p:cNvSpPr/>
          <p:nvPr/>
        </p:nvSpPr>
        <p:spPr>
          <a:xfrm>
            <a:off x="7366000" y="4114800"/>
            <a:ext cx="4064000" cy="1270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37" name="calc-card-t"/>
          <p:cNvSpPr txBox="1"/>
          <p:nvPr/>
        </p:nvSpPr>
        <p:spPr>
          <a:xfrm>
            <a:off x="7569200" y="4216400"/>
            <a:ext cx="36576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常规考法：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用 v = fλ + c 做波长 ↔ 频率换算，再对照数量级表判断波段。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例：f = 3.0×10¹⁰ Hz → λ = 10⁻² m → 微波。</a:t>
            </a:r>
            <a:endParaRPr lang="en-US" sz="1250" noProof="1"/>
          </a:p>
        </p:txBody>
      </p:sp>
      <p:sp>
        <p:nvSpPr>
          <p:cNvPr id="38" name="warn-box"/>
          <p:cNvSpPr/>
          <p:nvPr/>
        </p:nvSpPr>
        <p:spPr>
          <a:xfrm>
            <a:off x="762000" y="5638800"/>
            <a:ext cx="10668000" cy="558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39" name="warn-body"/>
          <p:cNvSpPr txBox="1"/>
          <p:nvPr/>
        </p:nvSpPr>
        <p:spPr>
          <a:xfrm>
            <a:off x="965200" y="5715000"/>
            <a:ext cx="10261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顺序记反（γ 是波长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最短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端）；② 可见光范围写成 400–700 m 之类的单位笑话；③ 忘记真空中各波段速度相同。</a:t>
            </a:r>
            <a:endParaRPr lang="en-US" sz="1250" noProof="1"/>
          </a:p>
        </p:txBody>
      </p:sp>
      <p:sp>
        <p:nvSpPr>
          <p:cNvPr id="4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4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4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7.5 · POLARISATION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偏振：只在一个平面内振动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Only transverse waves can be polarised · Malus' law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h1"/>
          <p:cNvSpPr txBox="1"/>
          <p:nvPr/>
        </p:nvSpPr>
        <p:spPr>
          <a:xfrm>
            <a:off x="762000" y="17018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定义与意义</a:t>
            </a:r>
            <a:endParaRPr lang="en-US" sz="1500" noProof="1"/>
          </a:p>
        </p:txBody>
      </p:sp>
      <p:sp>
        <p:nvSpPr>
          <p:cNvPr id="7" name="b1"/>
          <p:cNvSpPr txBox="1"/>
          <p:nvPr/>
        </p:nvSpPr>
        <p:spPr>
          <a:xfrm>
            <a:off x="762000" y="2057400"/>
            <a:ext cx="5461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偏振波只在一个平面内振动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（如竖直偏振 = 只上下振）。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只有横波才能偏振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偏振是"光是横波"的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证据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：只有振动方向 ⊥ 传播方向时才可能发生偏振。</a:t>
            </a:r>
            <a:endParaRPr lang="en-US" sz="1350" noProof="1"/>
          </a:p>
        </p:txBody>
      </p:sp>
      <p:sp>
        <p:nvSpPr>
          <p:cNvPr id="8" name="h2"/>
          <p:cNvSpPr txBox="1"/>
          <p:nvPr/>
        </p:nvSpPr>
        <p:spPr>
          <a:xfrm>
            <a:off x="762000" y="38354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偏振片 Polarising filter</a:t>
            </a:r>
            <a:endParaRPr lang="en-US" sz="1500" noProof="1"/>
          </a:p>
        </p:txBody>
      </p:sp>
      <p:sp>
        <p:nvSpPr>
          <p:cNvPr id="9" name="b2"/>
          <p:cNvSpPr txBox="1"/>
          <p:nvPr/>
        </p:nvSpPr>
        <p:spPr>
          <a:xfrm>
            <a:off x="762000" y="4191000"/>
            <a:ext cx="5461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偏振片只让某一透振方向的振动通过，其余被挡掉：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过滤后强度 ≤ 过滤前强度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非偏振光过第一片 → 强度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减半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（I = ½I₀）。</a:t>
            </a:r>
            <a:endParaRPr lang="en-US" sz="1350" noProof="1"/>
          </a:p>
        </p:txBody>
      </p:sp>
      <p:sp>
        <p:nvSpPr>
          <p:cNvPr id="10" name="axis"/>
          <p:cNvSpPr/>
          <p:nvPr>
            <p:extLst>
              <p:ext uri="{F5677B7D-0D2A-4D9B-9A5C-6D8D7D0E5A5D}">
                <pptd:line encoding="base64url">eyJ2aWV3Qm94IjpbMzYwLDRdLCJwb2ludHMiOiIwLDIgMzYwLDIiLCJjdXJ2ZSI6InNoYXJwIn0</pptd:line>
              </p:ext>
            </p:extLst>
          </p:nvPr>
        </p:nvSpPr>
        <p:spPr>
          <a:xfrm>
            <a:off x="6858000" y="2413000"/>
            <a:ext cx="4572000" cy="50800"/>
          </a:xfrm>
          <a:custGeom>
            <a:avLst/>
            <a:gdLst/>
            <a:ahLst/>
            <a:cxnLst/>
            <a:rect l="l" t="t" r="r" b="b"/>
            <a:pathLst>
              <a:path w="360" h="4">
                <a:moveTo>
                  <a:pt x="0" y="2"/>
                </a:moveTo>
                <a:lnTo>
                  <a:pt x="36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1" name="pre-v"/>
          <p:cNvSpPr/>
          <p:nvPr>
            <p:extLst>
              <p:ext uri="{F5677B7D-0D2A-4D9B-9A5C-6D8D7D0E5A5D}">
                <pptd:line encoding="base64url">eyJ2aWV3Qm94IjpbNCwxMDBdLCJwb2ludHMiOiIyLDAgMiwxMDAiLCJjdXJ2ZSI6InNoYXJwIn0</pptd:line>
              </p:ext>
            </p:extLst>
          </p:nvPr>
        </p:nvSpPr>
        <p:spPr>
          <a:xfrm>
            <a:off x="7086600" y="17780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4" h="100">
                <a:moveTo>
                  <a:pt x="2" y="0"/>
                </a:moveTo>
                <a:lnTo>
                  <a:pt x="2" y="100"/>
                </a:lnTo>
              </a:path>
            </a:pathLst>
          </a:custGeom>
          <a:noFill/>
          <a:ln w="25400">
            <a:solidFill>
              <a:srgbClr val="6E6A62"/>
            </a:solidFill>
            <a:headEnd type="arrow"/>
            <a:tailEnd type="arrow"/>
          </a:ln>
        </p:spPr>
      </p:sp>
      <p:sp>
        <p:nvSpPr>
          <p:cNvPr id="12" name="pre-d"/>
          <p:cNvSpPr/>
          <p:nvPr>
            <p:extLst>
              <p:ext uri="{F5677B7D-0D2A-4D9B-9A5C-6D8D7D0E5A5D}">
                <pptd:line encoding="base64url">eyJ2aWV3Qm94IjpbMjgsODBdLCJwb2ludHMiOiIwLDgwIDI4LDAiLCJjdXJ2ZSI6InNoYXJwIn0</pptd:line>
              </p:ext>
            </p:extLst>
          </p:nvPr>
        </p:nvSpPr>
        <p:spPr>
          <a:xfrm>
            <a:off x="7442200" y="1905000"/>
            <a:ext cx="355600" cy="1016000"/>
          </a:xfrm>
          <a:custGeom>
            <a:avLst/>
            <a:gdLst/>
            <a:ahLst/>
            <a:cxnLst/>
            <a:rect l="l" t="t" r="r" b="b"/>
            <a:pathLst>
              <a:path w="28" h="80">
                <a:moveTo>
                  <a:pt x="0" y="80"/>
                </a:moveTo>
                <a:lnTo>
                  <a:pt x="28" y="0"/>
                </a:lnTo>
              </a:path>
            </a:pathLst>
          </a:custGeom>
          <a:noFill/>
          <a:ln w="25400">
            <a:solidFill>
              <a:srgbClr val="6E6A62"/>
            </a:solidFill>
            <a:headEnd type="arrow"/>
            <a:tailEnd type="arrow"/>
          </a:ln>
        </p:spPr>
      </p:sp>
      <p:sp>
        <p:nvSpPr>
          <p:cNvPr id="13" name="pre-lb"/>
          <p:cNvSpPr txBox="1"/>
          <p:nvPr/>
        </p:nvSpPr>
        <p:spPr>
          <a:xfrm>
            <a:off x="6858000" y="3124200"/>
            <a:ext cx="127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非偏振：各方向都有</a:t>
            </a:r>
            <a:endParaRPr lang="en-US" sz="1100" noProof="1"/>
          </a:p>
        </p:txBody>
      </p:sp>
      <p:sp>
        <p:nvSpPr>
          <p:cNvPr id="14" name="filter-frame"/>
          <p:cNvSpPr/>
          <p:nvPr/>
        </p:nvSpPr>
        <p:spPr>
          <a:xfrm>
            <a:off x="8432800" y="1651000"/>
            <a:ext cx="177800" cy="1574800"/>
          </a:xfrm>
          <a:prstGeom prst="rect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5" name="filter-lb"/>
          <p:cNvSpPr txBox="1"/>
          <p:nvPr/>
        </p:nvSpPr>
        <p:spPr>
          <a:xfrm>
            <a:off x="8001000" y="3276600"/>
            <a:ext cx="1143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偏振片</a:t>
            </a:r>
            <a:endParaRPr lang="en-US" sz="1100" noProof="1"/>
          </a:p>
        </p:txBody>
      </p:sp>
      <p:sp>
        <p:nvSpPr>
          <p:cNvPr id="16" name="post-v"/>
          <p:cNvSpPr/>
          <p:nvPr>
            <p:extLst>
              <p:ext uri="{F5677B7D-0D2A-4D9B-9A5C-6D8D7D0E5A5D}">
                <pptd:line encoding="base64url">eyJ2aWV3Qm94IjpbNCwxMDBdLCJwb2ludHMiOiIyLDAgMiwxMDAiLCJjdXJ2ZSI6InNoYXJwIn0</pptd:line>
              </p:ext>
            </p:extLst>
          </p:nvPr>
        </p:nvSpPr>
        <p:spPr>
          <a:xfrm>
            <a:off x="9347200" y="17780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4" h="100">
                <a:moveTo>
                  <a:pt x="2" y="0"/>
                </a:moveTo>
                <a:lnTo>
                  <a:pt x="2" y="100"/>
                </a:lnTo>
              </a:path>
            </a:pathLst>
          </a:custGeom>
          <a:noFill/>
          <a:ln w="31750">
            <a:solidFill>
              <a:srgbClr val="0E5A55"/>
            </a:solidFill>
            <a:headEnd type="arrow"/>
            <a:tailEnd type="arrow"/>
          </a:ln>
        </p:spPr>
      </p:sp>
      <p:sp>
        <p:nvSpPr>
          <p:cNvPr id="17" name="post-v2"/>
          <p:cNvSpPr/>
          <p:nvPr>
            <p:extLst>
              <p:ext uri="{F5677B7D-0D2A-4D9B-9A5C-6D8D7D0E5A5D}">
                <pptd:line encoding="base64url">eyJ2aWV3Qm94IjpbNCwxMDBdLCJwb2ludHMiOiIyLDAgMiwxMDAiLCJjdXJ2ZSI6InNoYXJwIn0</pptd:line>
              </p:ext>
            </p:extLst>
          </p:nvPr>
        </p:nvSpPr>
        <p:spPr>
          <a:xfrm>
            <a:off x="10160000" y="17780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4" h="100">
                <a:moveTo>
                  <a:pt x="2" y="0"/>
                </a:moveTo>
                <a:lnTo>
                  <a:pt x="2" y="100"/>
                </a:lnTo>
              </a:path>
            </a:pathLst>
          </a:custGeom>
          <a:noFill/>
          <a:ln w="31750">
            <a:solidFill>
              <a:srgbClr val="0E5A55"/>
            </a:solidFill>
            <a:headEnd type="arrow"/>
            <a:tailEnd type="arrow"/>
          </a:ln>
        </p:spPr>
      </p:sp>
      <p:sp>
        <p:nvSpPr>
          <p:cNvPr id="18" name="post-lb"/>
          <p:cNvSpPr txBox="1"/>
          <p:nvPr/>
        </p:nvSpPr>
        <p:spPr>
          <a:xfrm>
            <a:off x="9194800" y="31242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0E5A55"/>
                </a:solidFill>
                <a:latin typeface="MiSans"/>
                <a:ea typeface="MiSans"/>
              </a:rPr>
              <a:t>偏振后：只剩一个振动面</a:t>
            </a:r>
            <a:endParaRPr lang="en-US" sz="1100" noProof="1"/>
          </a:p>
        </p:txBody>
      </p:sp>
      <p:sp>
        <p:nvSpPr>
          <p:cNvPr id="19" name="malus-card"/>
          <p:cNvSpPr/>
          <p:nvPr/>
        </p:nvSpPr>
        <p:spPr>
          <a:xfrm>
            <a:off x="6858000" y="3708400"/>
            <a:ext cx="4572000" cy="7112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0" name="malus-t"/>
          <p:cNvSpPr txBox="1"/>
          <p:nvPr/>
        </p:nvSpPr>
        <p:spPr>
          <a:xfrm>
            <a:off x="6858000" y="3708400"/>
            <a:ext cx="457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200" noProof="1" b="1">
                <a:solidFill>
                  <a:srgbClr val="FFFFFF"/>
                </a:solidFill>
                <a:latin typeface="MiSans"/>
                <a:ea typeface="MiSans"/>
              </a:rPr>
              <a:t>马吕斯定律 I = I₀cos²θ</a:t>
            </a:r>
            <a:endParaRPr lang="en-US" sz="2200" noProof="1"/>
          </a:p>
        </p:txBody>
      </p:sp>
      <p:sp>
        <p:nvSpPr>
          <p:cNvPr id="21" name="malus-note"/>
          <p:cNvSpPr txBox="1"/>
          <p:nvPr/>
        </p:nvSpPr>
        <p:spPr>
          <a:xfrm>
            <a:off x="6858000" y="4572000"/>
            <a:ext cx="4572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θ = 振动面与偏振片透振方向的夹角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θ = 0° → I = I₀（全通过）；θ = 90° → I = 0（全挡）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两片连续：先 ½I₀，再乘 cos²θ</a:t>
            </a:r>
            <a:endParaRPr lang="en-US" sz="1250" noProof="1"/>
          </a:p>
        </p:txBody>
      </p:sp>
      <p:sp>
        <p:nvSpPr>
          <p:cNvPr id="22" name="warn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3" name="warn-body"/>
          <p:cNvSpPr txBox="1"/>
          <p:nvPr/>
        </p:nvSpPr>
        <p:spPr>
          <a:xfrm>
            <a:off x="965200" y="5816600"/>
            <a:ext cx="10261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是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cos²θ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不是 cosθ；② θ 找错角全题皆错；③ 声波是纵波，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不能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偏振。</a:t>
            </a:r>
            <a:endParaRPr lang="en-US" sz="1250" noProof="1"/>
          </a:p>
        </p:txBody>
      </p:sp>
      <p:sp>
        <p:nvSpPr>
          <p:cNvPr id="2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2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WORKED EXAMPLE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综合例题：多普勒 + 马吕斯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Two classic calculations in one sitting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-box"/>
          <p:cNvSpPr/>
          <p:nvPr/>
        </p:nvSpPr>
        <p:spPr>
          <a:xfrm>
            <a:off x="762000" y="1625600"/>
            <a:ext cx="10668000" cy="914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-body"/>
          <p:cNvSpPr txBox="1"/>
          <p:nvPr/>
        </p:nvSpPr>
        <p:spPr>
          <a:xfrm>
            <a:off x="965200" y="1727200"/>
            <a:ext cx="1026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(a) 汽车鸣笛 f_s = 500 Hz，以 30 m/s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驶向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静止观察者，声速 v = 340 m/s。求观察频率 f_o；驶过后 f_o 又是多少？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(b) 强度 I₀ 的非偏振光依次通过两片偏振片，第二片透振方向与第一片成 60°。求出射光强。</a:t>
            </a:r>
            <a:endParaRPr lang="en-US" sz="1300" noProof="1"/>
          </a:p>
        </p:txBody>
      </p:sp>
      <p:sp>
        <p:nvSpPr>
          <p:cNvPr id="8" name="a-h"/>
          <p:cNvSpPr txBox="1"/>
          <p:nvPr/>
        </p:nvSpPr>
        <p:spPr>
          <a:xfrm>
            <a:off x="762000" y="27940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(a) 多普勒效应</a:t>
            </a:r>
            <a:endParaRPr lang="en-US" sz="1500" noProof="1"/>
          </a:p>
        </p:txBody>
      </p:sp>
      <p:sp>
        <p:nvSpPr>
          <p:cNvPr id="9" name="a-body"/>
          <p:cNvSpPr txBox="1"/>
          <p:nvPr/>
        </p:nvSpPr>
        <p:spPr>
          <a:xfrm>
            <a:off x="762000" y="3149600"/>
            <a:ext cx="5461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靠近 → 分母取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−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f_o = 500 × 340 / (340 − 30)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　= 170 000 / 310 ≈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548 Hz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（升高 ✓）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驶过后远离 → 分母取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+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f_o = 500 × 340 / (340 + 30) ≈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459 Hz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（降低 ✓）</a:t>
            </a:r>
            <a:endParaRPr lang="en-US" sz="1350" noProof="1"/>
          </a:p>
        </p:txBody>
      </p:sp>
      <p:sp>
        <p:nvSpPr>
          <p:cNvPr id="10" name="b-h"/>
          <p:cNvSpPr txBox="1"/>
          <p:nvPr/>
        </p:nvSpPr>
        <p:spPr>
          <a:xfrm>
            <a:off x="6858000" y="279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(b) 两片偏振片</a:t>
            </a:r>
            <a:endParaRPr lang="en-US" sz="1500" noProof="1"/>
          </a:p>
        </p:txBody>
      </p:sp>
      <p:sp>
        <p:nvSpPr>
          <p:cNvPr id="11" name="b-body"/>
          <p:cNvSpPr txBox="1"/>
          <p:nvPr/>
        </p:nvSpPr>
        <p:spPr>
          <a:xfrm>
            <a:off x="6858000" y="3149600"/>
            <a:ext cx="4572000" cy="190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第 1 步：非偏振光过第一片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→ I₁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½I₀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第 2 步：用马吕斯定律过第二片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I = ½I₀ × cos²60° = ½I₀ × 0.25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I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I₀/8 = 0.125 I₀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✓</a:t>
            </a:r>
            <a:endParaRPr lang="en-US" sz="1350" noProof="1"/>
          </a:p>
        </p:txBody>
      </p:sp>
      <p:sp>
        <p:nvSpPr>
          <p:cNvPr id="12" name="tip-box"/>
          <p:cNvSpPr/>
          <p:nvPr/>
        </p:nvSpPr>
        <p:spPr>
          <a:xfrm>
            <a:off x="762000" y="5461000"/>
            <a:ext cx="10668000" cy="736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tip-body"/>
          <p:cNvSpPr txBox="1"/>
          <p:nvPr/>
        </p:nvSpPr>
        <p:spPr>
          <a:xfrm>
            <a:off x="965200" y="5549900"/>
            <a:ext cx="1026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提示：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算出结果先 sanity check——靠近必须比 500 Hz 高、远离必须低；(b) "非偏振光第一片减半"是隐藏步骤，漏掉就错一倍。</a:t>
            </a:r>
            <a:endParaRPr lang="en-US" sz="12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YOUR TURN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课堂练习：三道题过关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Wave equation · intensity · polarisation explanation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7272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badge-t"/>
          <p:cNvSpPr txBox="1"/>
          <p:nvPr/>
        </p:nvSpPr>
        <p:spPr>
          <a:xfrm>
            <a:off x="762000" y="1727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400" noProof="1"/>
          </a:p>
        </p:txBody>
      </p:sp>
      <p:sp>
        <p:nvSpPr>
          <p:cNvPr id="8" name="q1-tag"/>
          <p:cNvSpPr txBox="1"/>
          <p:nvPr/>
        </p:nvSpPr>
        <p:spPr>
          <a:xfrm>
            <a:off x="1346200" y="1752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波速公式 + 电磁波谱</a:t>
            </a:r>
            <a:endParaRPr lang="en-US" sz="1500" noProof="1"/>
          </a:p>
        </p:txBody>
      </p:sp>
      <p:sp>
        <p:nvSpPr>
          <p:cNvPr id="9" name="q1-body"/>
          <p:cNvSpPr txBox="1"/>
          <p:nvPr/>
        </p:nvSpPr>
        <p:spPr>
          <a:xfrm>
            <a:off x="1346200" y="20574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某电磁波在真空中的频率为 3.0×10¹⁰ Hz。求其波长，并指出它属于电磁波谱的哪个波段。</a:t>
            </a:r>
            <a:endParaRPr lang="en-US" sz="1350" noProof="1"/>
          </a:p>
        </p:txBody>
      </p:sp>
      <p:sp>
        <p:nvSpPr>
          <p:cNvPr id="10" name="q2-badge"/>
          <p:cNvSpPr/>
          <p:nvPr/>
        </p:nvSpPr>
        <p:spPr>
          <a:xfrm>
            <a:off x="762000" y="29464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1" name="q2-badge-t"/>
          <p:cNvSpPr txBox="1"/>
          <p:nvPr/>
        </p:nvSpPr>
        <p:spPr>
          <a:xfrm>
            <a:off x="762000" y="2946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400" noProof="1"/>
          </a:p>
        </p:txBody>
      </p:sp>
      <p:sp>
        <p:nvSpPr>
          <p:cNvPr id="12" name="q2-tag"/>
          <p:cNvSpPr txBox="1"/>
          <p:nvPr/>
        </p:nvSpPr>
        <p:spPr>
          <a:xfrm>
            <a:off x="1346200" y="2971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强度与振幅</a:t>
            </a:r>
            <a:endParaRPr lang="en-US" sz="1500" noProof="1"/>
          </a:p>
        </p:txBody>
      </p:sp>
      <p:sp>
        <p:nvSpPr>
          <p:cNvPr id="13" name="q2-body"/>
          <p:cNvSpPr txBox="1"/>
          <p:nvPr/>
        </p:nvSpPr>
        <p:spPr>
          <a:xfrm>
            <a:off x="1346200" y="3276600"/>
            <a:ext cx="10083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(a) 一列波振幅从 2.0 mm 增大到 3.0 mm，强度变为原来的多少倍？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(b) 一个 12 W 点声源向四周均匀发声，求距离 2.0 m 处的强度（球面面积 = 4πr²）。</a:t>
            </a:r>
            <a:endParaRPr lang="en-US" sz="1350" noProof="1"/>
          </a:p>
        </p:txBody>
      </p:sp>
      <p:sp>
        <p:nvSpPr>
          <p:cNvPr id="14" name="q3-badge"/>
          <p:cNvSpPr/>
          <p:nvPr/>
        </p:nvSpPr>
        <p:spPr>
          <a:xfrm>
            <a:off x="762000" y="4216400"/>
            <a:ext cx="431800" cy="431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q3-badge-t"/>
          <p:cNvSpPr txBox="1"/>
          <p:nvPr/>
        </p:nvSpPr>
        <p:spPr>
          <a:xfrm>
            <a:off x="762000" y="4216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400" noProof="1"/>
          </a:p>
        </p:txBody>
      </p:sp>
      <p:sp>
        <p:nvSpPr>
          <p:cNvPr id="16" name="q3-tag"/>
          <p:cNvSpPr txBox="1"/>
          <p:nvPr/>
        </p:nvSpPr>
        <p:spPr>
          <a:xfrm>
            <a:off x="1346200" y="42418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简答：偏振与横波</a:t>
            </a:r>
            <a:endParaRPr lang="en-US" sz="1500" noProof="1"/>
          </a:p>
        </p:txBody>
      </p:sp>
      <p:sp>
        <p:nvSpPr>
          <p:cNvPr id="17" name="q3-body"/>
          <p:cNvSpPr txBox="1"/>
          <p:nvPr/>
        </p:nvSpPr>
        <p:spPr>
          <a:xfrm>
            <a:off x="1346200" y="4546600"/>
            <a:ext cx="10083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解释为什么"光可以偏振"证明光是横波，并说明声波能否偏振。</a:t>
            </a:r>
            <a:endParaRPr lang="en-US" sz="1350" noProof="1"/>
          </a:p>
        </p:txBody>
      </p:sp>
      <p:sp>
        <p:nvSpPr>
          <p:cNvPr id="18" name="std-box"/>
          <p:cNvSpPr/>
          <p:nvPr/>
        </p:nvSpPr>
        <p:spPr>
          <a:xfrm>
            <a:off x="762000" y="5461000"/>
            <a:ext cx="10668000" cy="787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std-body"/>
          <p:cNvSpPr txBox="1"/>
          <p:nvPr/>
        </p:nvSpPr>
        <p:spPr>
          <a:xfrm>
            <a:off x="965200" y="55626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完成标准：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计算题写清公式 → 代入 → 数值 + 单位；Q3 必须出现"振动方向垂直于传播方向""只有横波能偏振"两个关键词。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建议用时 12 分钟，做完翻页对答案。</a:t>
            </a:r>
            <a:endParaRPr lang="en-US" sz="12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练习讲评：答案与错因排查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Answers, marking points, and the traps behind each error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254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tag"/>
          <p:cNvSpPr txBox="1"/>
          <p:nvPr/>
        </p:nvSpPr>
        <p:spPr>
          <a:xfrm>
            <a:off x="762000" y="1651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Q1 · 波速公式 + 电磁波谱</a:t>
            </a:r>
            <a:endParaRPr lang="en-US" sz="15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55800"/>
            <a:ext cx="5969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λ = c/f = 3×10⁸ / 3.0×10¹⁰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1.0×10⁻² m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对照数量级表 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微波 Microwave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c 记错；10⁻² 对应微波没背下来。</a:t>
            </a:r>
            <a:endParaRPr lang="en-US" sz="1250" noProof="1"/>
          </a:p>
        </p:txBody>
      </p:sp>
      <p:sp>
        <p:nvSpPr>
          <p:cNvPr id="8" name="a2-tag"/>
          <p:cNvSpPr txBox="1"/>
          <p:nvPr/>
        </p:nvSpPr>
        <p:spPr>
          <a:xfrm>
            <a:off x="762000" y="31242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Q2 · 强度与振幅</a:t>
            </a:r>
            <a:endParaRPr lang="en-US" sz="1500" noProof="1"/>
          </a:p>
        </p:txBody>
      </p:sp>
      <p:sp>
        <p:nvSpPr>
          <p:cNvPr id="9" name="a2-body"/>
          <p:cNvSpPr txBox="1"/>
          <p:nvPr/>
        </p:nvSpPr>
        <p:spPr>
          <a:xfrm>
            <a:off x="762000" y="34290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I₂/I₁ = (3.0/2.0)²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2.25 倍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(b) A = 4πr² = 4π × 2.0² = 50.3 m²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　 I = P/A = 12 / 50.3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0.24 W/m²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(a) 忘平方答 1.5；(b) 面积误用 πr²。</a:t>
            </a:r>
            <a:endParaRPr lang="en-US" sz="1250" noProof="1"/>
          </a:p>
        </p:txBody>
      </p:sp>
      <p:sp>
        <p:nvSpPr>
          <p:cNvPr id="10" name="a3-tag"/>
          <p:cNvSpPr txBox="1"/>
          <p:nvPr/>
        </p:nvSpPr>
        <p:spPr>
          <a:xfrm>
            <a:off x="762000" y="4826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Q3 · 偏振与横波（3 分）</a:t>
            </a:r>
            <a:endParaRPr lang="en-US" sz="1500" noProof="1"/>
          </a:p>
        </p:txBody>
      </p:sp>
      <p:sp>
        <p:nvSpPr>
          <p:cNvPr id="11" name="a3-body"/>
          <p:cNvSpPr txBox="1"/>
          <p:nvPr/>
        </p:nvSpPr>
        <p:spPr>
          <a:xfrm>
            <a:off x="762000" y="51308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偏振 = 振动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只在一个平面内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只有振动方向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垂直于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传播方向的波才能偏振；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声波是纵波（振动 ∥ 传播），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不能偏振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只答"横波能偏振"，缺关键词链。</a:t>
            </a:r>
            <a:endParaRPr lang="en-US" sz="1250" noProof="1"/>
          </a:p>
        </p:txBody>
      </p:sp>
      <p:sp>
        <p:nvSpPr>
          <p:cNvPr id="12" name="rule-v"/>
          <p:cNvSpPr/>
          <p:nvPr/>
        </p:nvSpPr>
        <p:spPr>
          <a:xfrm>
            <a:off x="7061200" y="1651000"/>
            <a:ext cx="19050" cy="4572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3" name="chk-tag"/>
          <p:cNvSpPr txBox="1"/>
          <p:nvPr/>
        </p:nvSpPr>
        <p:spPr>
          <a:xfrm>
            <a:off x="7366000" y="16510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自查清单 Marking checklist</a:t>
            </a:r>
            <a:endParaRPr lang="en-US" sz="1500" noProof="1"/>
          </a:p>
        </p:txBody>
      </p:sp>
      <p:sp>
        <p:nvSpPr>
          <p:cNvPr id="14" name="chk-body"/>
          <p:cNvSpPr txBox="1"/>
          <p:nvPr/>
        </p:nvSpPr>
        <p:spPr>
          <a:xfrm>
            <a:off x="7366000" y="2006600"/>
            <a:ext cx="4064000" cy="254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公式先写符号式，再代数字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真空中电磁波一律用 c = 3×10⁸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强度单位 W/m²，别写成 W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比例题写 I₁/I₂ = (A₁/A₂)² 再代入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简答题关键词逐条命中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□ 有效数字 2–3 位，与题目一致</a:t>
            </a:r>
            <a:endParaRPr lang="en-US" sz="1250" noProof="1"/>
          </a:p>
        </p:txBody>
      </p:sp>
      <p:sp>
        <p:nvSpPr>
          <p:cNvPr id="15" name="chk-box"/>
          <p:cNvSpPr/>
          <p:nvPr/>
        </p:nvSpPr>
        <p:spPr>
          <a:xfrm>
            <a:off x="7366000" y="4749800"/>
            <a:ext cx="4064000" cy="1473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hk-box-t"/>
          <p:cNvSpPr txBox="1"/>
          <p:nvPr/>
        </p:nvSpPr>
        <p:spPr>
          <a:xfrm>
            <a:off x="7569200" y="4876800"/>
            <a:ext cx="36576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评分参考：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Q1 共 3 分（公式 1 + 数值 1 + 波段 1），Q2 共 4 分，Q3 共 3 分。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拿到 8/10 以上即可进入下一章。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本章小结：波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Waves · five takeaways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-body"/>
          <p:cNvSpPr txBox="1"/>
          <p:nvPr/>
        </p:nvSpPr>
        <p:spPr>
          <a:xfrm>
            <a:off x="762000" y="1676400"/>
            <a:ext cx="7112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七个术语背定义；行波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传能不传质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v = fλ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会从定义推导。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强度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I = P/A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（W/m²），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I ∝ 振幅²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；点源球面波 I = P/4πr²。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3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横波振动 ⊥ 传播（电磁波），纵波 ∥（声波、疏密相间）；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位移-距离图读 λ，位移-时间图读 T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4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多普勒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f_o = f_s·v/(v±v_s)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：靠近取 −（升）、远离取 +（降），先判升降再选符号。</a:t>
            </a:r>
            <a:endParaRPr lang="en-US" sz="1350" noProof="1"/>
          </a:p>
          <a:p>
            <a:pPr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EM 谱数量级 R M I V U X G（10³ → 10⁻¹²），可见光 400–700 nm；偏振只属横波，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I = I₀cos²θ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，非偏振光首片减半。</a:t>
            </a:r>
            <a:endParaRPr lang="en-US" sz="1350" noProof="1"/>
          </a:p>
        </p:txBody>
      </p:sp>
      <p:sp>
        <p:nvSpPr>
          <p:cNvPr id="7" name="res-box"/>
          <p:cNvSpPr/>
          <p:nvPr/>
        </p:nvSpPr>
        <p:spPr>
          <a:xfrm>
            <a:off x="762000" y="5689600"/>
            <a:ext cx="7112000" cy="558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8" name="res-body"/>
          <p:cNvSpPr txBox="1"/>
          <p:nvPr/>
        </p:nvSpPr>
        <p:spPr>
          <a:xfrm>
            <a:off x="965200" y="5765800"/>
            <a:ext cx="6705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配套资源：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《Topic 7 中英对照笔记》PDF / MD + 本课件；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建议先做题再回查笔记对应小节。</a:t>
            </a:r>
            <a:endParaRPr lang="en-US" sz="1200" noProof="1"/>
          </a:p>
        </p:txBody>
      </p:sp>
      <p:sp>
        <p:nvSpPr>
          <p:cNvPr id="9" name="next-rule"/>
          <p:cNvSpPr/>
          <p:nvPr/>
        </p:nvSpPr>
        <p:spPr>
          <a:xfrm>
            <a:off x="8331200" y="1676400"/>
            <a:ext cx="19050" cy="45720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0" name="next-tag"/>
          <p:cNvSpPr txBox="1"/>
          <p:nvPr/>
        </p:nvSpPr>
        <p:spPr>
          <a:xfrm>
            <a:off x="8636000" y="1676400"/>
            <a:ext cx="279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NEXT · 下一章</a:t>
            </a:r>
            <a:endParaRPr lang="en-US" sz="1500" noProof="1"/>
          </a:p>
        </p:txBody>
      </p:sp>
      <p:sp>
        <p:nvSpPr>
          <p:cNvPr id="11" name="next-title"/>
          <p:cNvSpPr txBox="1"/>
          <p:nvPr/>
        </p:nvSpPr>
        <p:spPr>
          <a:xfrm>
            <a:off x="8636000" y="2032000"/>
            <a:ext cx="279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0000"/>
              </a:lnSpc>
            </a:pPr>
            <a:r>
              <a:rPr lang="en-US" sz="2000" noProof="1" b="1">
                <a:solidFill>
                  <a:srgbClr val="22303A"/>
                </a:solidFill>
                <a:latin typeface="MiSans"/>
                <a:ea typeface="MiSans"/>
              </a:rPr>
              <a:t>Topic 8</a:t>
            </a:r>
            <a:endParaRPr lang="en-US" sz="2000" noProof="1"/>
          </a:p>
          <a:p>
            <a:pPr>
              <a:lnSpc>
                <a:spcPct val="130000"/>
              </a:lnSpc>
            </a:pPr>
            <a:r>
              <a:rPr lang="en-US" sz="2000" noProof="1" b="1">
                <a:solidFill>
                  <a:srgbClr val="22303A"/>
                </a:solidFill>
                <a:latin typeface="MiSans"/>
                <a:ea typeface="MiSans"/>
              </a:rPr>
              <a:t>Superposition 叠加</a:t>
            </a:r>
            <a:endParaRPr lang="en-US" sz="2000" noProof="1"/>
          </a:p>
        </p:txBody>
      </p:sp>
      <p:sp>
        <p:nvSpPr>
          <p:cNvPr id="12" name="next-body"/>
          <p:cNvSpPr txBox="1"/>
          <p:nvPr/>
        </p:nvSpPr>
        <p:spPr>
          <a:xfrm>
            <a:off x="8636000" y="29464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叠加原理与干涉；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双缝与衍射光栅；</a:t>
            </a:r>
            <a:endParaRPr lang="en-US" sz="1100" noProof="1"/>
          </a:p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驻波的形成与节点。</a:t>
            </a:r>
            <a:endParaRPr lang="en-US" sz="1100" noProof="1"/>
          </a:p>
        </p:txBody>
      </p:sp>
      <p:sp>
        <p:nvSpPr>
          <p:cNvPr id="13" name="next-hint"/>
          <p:cNvSpPr txBox="1"/>
          <p:nvPr/>
        </p:nvSpPr>
        <p:spPr>
          <a:xfrm>
            <a:off x="8636000" y="4826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回复"继续"，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即开始制作第八章资料。</a:t>
            </a:r>
            <a:endParaRPr lang="en-US" sz="120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7 波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>
  <dc:title>Topic7_Waves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