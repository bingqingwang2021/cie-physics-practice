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custom"/>
  <p:notesSz cx="12192000" cy="6858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1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1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物理量与单位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Physical Quantities and Units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unit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spc="400" kern="0">
                <a:solidFill>
                  <a:srgbClr val="22303A"/>
                </a:solidFill>
                <a:latin typeface="MiSans"/>
                <a:ea typeface="MiSans"/>
              </a:rPr>
              <a:t>kg · m · s · A · K · mol</a:t>
            </a:r>
            <a:endParaRPr lang="en-US" sz="1500" noProof="1"/>
          </a:p>
        </p:txBody>
      </p:sp>
      <p:sp>
        <p:nvSpPr>
          <p:cNvPr id="9" name="unit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SI 基本单位 —— 物理学一切测量的起点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1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stops, one toolkit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 b="1">
                <a:solidFill>
                  <a:srgbClr val="0E5A55"/>
                </a:solidFill>
                <a:latin typeface="MiSans"/>
                <a:ea typeface="MiSans"/>
              </a:rPr>
              <a:t>1.1</a:t>
            </a:r>
            <a:endParaRPr lang="en-US" sz="26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物理量 Physical quantities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数值 + 单位，缺一不可；会用估算检验结果是否合理。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A quantity = a numerical value + a unit · estimation as a sanity check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 b="1">
                <a:solidFill>
                  <a:srgbClr val="0E5A55"/>
                </a:solidFill>
                <a:latin typeface="MiSans"/>
                <a:ea typeface="MiSans"/>
              </a:rPr>
              <a:t>1.2</a:t>
            </a:r>
            <a:endParaRPr lang="en-US" sz="26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SI 单位 SI units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背熟 6 个基本单位；用公式推导导出单位；用量纲齐次性检验方程。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Base units · derived units · homogeneity check · prefixes and conversions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 b="1">
                <a:solidFill>
                  <a:srgbClr val="0E5A55"/>
                </a:solidFill>
                <a:latin typeface="MiSans"/>
                <a:ea typeface="MiSans"/>
              </a:rPr>
              <a:t>1.3</a:t>
            </a:r>
            <a:endParaRPr lang="en-US" sz="26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误差与不确定度 Errors &amp; uncertainties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分清随机/系统误差、精度/准度；会合成不确定度。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Random vs systematic · precision vs accuracy · combining uncertainties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 b="1">
                <a:solidFill>
                  <a:srgbClr val="0E5A55"/>
                </a:solidFill>
                <a:latin typeface="MiSans"/>
                <a:ea typeface="MiSans"/>
              </a:rPr>
              <a:t>1.4</a:t>
            </a:r>
            <a:endParaRPr lang="en-US" sz="26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标量与矢量 Scalars &amp; vectors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区分两类量；会合成矢量（勾股/作图），会分解矢量（三角函数）。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Adding vectors · scale drawing · resolving into components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看到任何物理量能写出 SI 单位；看到实验数据能写出 ± 不确定度；看到矢量能合成与分解。这三件事将贯穿整个 A-Level 物理。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1.1 · PHYSICAL QUANTITIES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物理量 = 数值 × 单位，估算帮你守住“合理性”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 physical quantity consists of a numerical value and a unit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formula"/>
          <p:cNvSpPr txBox="1"/>
          <p:nvPr/>
        </p:nvSpPr>
        <p:spPr>
          <a:xfrm>
            <a:off x="762000" y="16764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700" noProof="1" b="1">
                <a:solidFill>
                  <a:srgbClr val="22303A"/>
                </a:solidFill>
                <a:latin typeface="MiSans"/>
                <a:ea typeface="MiSans"/>
              </a:rPr>
              <a:t>physical quantity 物理量</a:t>
            </a:r>
            <a:endParaRPr lang="en-US" sz="1700" noProof="1"/>
          </a:p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= numerical value </a:t>
            </a: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数值</a:t>
            </a: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 × unit </a:t>
            </a: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单位</a:t>
            </a:r>
            <a:endParaRPr lang="en-US" sz="1700" noProof="1"/>
          </a:p>
        </p:txBody>
      </p:sp>
      <p:sp>
        <p:nvSpPr>
          <p:cNvPr id="7" name="def-eg"/>
          <p:cNvSpPr txBox="1"/>
          <p:nvPr/>
        </p:nvSpPr>
        <p:spPr>
          <a:xfrm>
            <a:off x="762000" y="26162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例：长度 </a:t>
            </a:r>
            <a:r>
              <a:rPr lang="en-US" sz="1350" noProof="1" i="1">
                <a:solidFill>
                  <a:srgbClr val="22303A"/>
                </a:solidFill>
                <a:latin typeface="MiSans"/>
                <a:ea typeface="MiSans"/>
              </a:rPr>
              <a:t>l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= 4 m —— “4” 是数值，“m” 是单位，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只写一个都不算完整答案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8" name="est-head"/>
          <p:cNvSpPr txBox="1"/>
          <p:nvPr/>
        </p:nvSpPr>
        <p:spPr>
          <a:xfrm>
            <a:off x="762000" y="34036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估算 Estimation：物理学家的基本功</a:t>
            </a:r>
            <a:endParaRPr lang="en-US" sz="1500" noProof="1"/>
          </a:p>
        </p:txBody>
      </p:sp>
      <p:sp>
        <p:nvSpPr>
          <p:cNvPr id="9" name="est-body"/>
          <p:cNvSpPr txBox="1"/>
          <p:nvPr/>
        </p:nvSpPr>
        <p:spPr>
          <a:xfrm>
            <a:off x="762000" y="3759200"/>
            <a:ext cx="635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对物理量做近似，用来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比较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（comparisons）或检验计算结果是否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合理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（reasonable）。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考试中估算题只要求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数量级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正确，不要求精确值。</a:t>
            </a:r>
            <a:endParaRPr lang="en-US" sz="1350" noProof="1"/>
          </a:p>
        </p:txBody>
      </p:sp>
      <p:sp>
        <p:nvSpPr>
          <p:cNvPr id="10" name="anchor-rule"/>
          <p:cNvSpPr/>
          <p:nvPr/>
        </p:nvSpPr>
        <p:spPr>
          <a:xfrm>
            <a:off x="7518400" y="1676400"/>
            <a:ext cx="12700" cy="37338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1" name="anchor-head"/>
          <p:cNvSpPr txBox="1"/>
          <p:nvPr/>
        </p:nvSpPr>
        <p:spPr>
          <a:xfrm>
            <a:off x="7874000" y="16764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常用量级锚点（请背下来）</a:t>
            </a:r>
            <a:endParaRPr lang="en-US" sz="1500" noProof="1"/>
          </a:p>
        </p:txBody>
      </p:sp>
      <p:sp>
        <p:nvSpPr>
          <p:cNvPr id="12" name="anchor-list"/>
          <p:cNvSpPr txBox="1"/>
          <p:nvPr/>
        </p:nvSpPr>
        <p:spPr>
          <a:xfrm>
            <a:off x="7874000" y="2082800"/>
            <a:ext cx="3556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一个鸡蛋 ≈ 50 g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一个成年人 ≈ 70 kg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教室高度 ≈ 3 m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步行速度 ≈ 1.5 m s</a:t>
            </a:r>
            <a:r>
              <a:rPr lang="en-US" sz="130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汽车时速 ≈ 30 m s</a:t>
            </a:r>
            <a:r>
              <a:rPr lang="en-US" sz="130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声音在空气中 ≈ 340 m s</a:t>
            </a:r>
            <a:r>
              <a:rPr lang="en-US" sz="130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endParaRPr lang="en-US" sz="1300" noProof="1"/>
          </a:p>
        </p:txBody>
      </p:sp>
      <p:sp>
        <p:nvSpPr>
          <p:cNvPr id="13" name="tip-box"/>
          <p:cNvSpPr/>
          <p:nvPr/>
        </p:nvSpPr>
        <p:spPr>
          <a:xfrm>
            <a:off x="762000" y="5613400"/>
            <a:ext cx="10668000" cy="609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4" name="tip-text"/>
          <p:cNvSpPr txBox="1"/>
          <p:nvPr/>
        </p:nvSpPr>
        <p:spPr>
          <a:xfrm>
            <a:off x="965200" y="5702300"/>
            <a:ext cx="10261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考试提示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Paper 1 常考数量级估算：先选锚点，再换算到相同单位比较。答案与选项差 10 倍以上时，检查单位换算。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1.2 · SI UNITS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6 个基本单位，推导出整个物理世界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Base units and derived units — equations are homogeneous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base-table"/>
          <p:cNvGraphicFramePr>
            <a:graphicFrameLocks noGrp="1"/>
          </p:cNvGraphicFramePr>
          <p:nvPr/>
        </p:nvGraphicFramePr>
        <p:xfrm>
          <a:off x="762000" y="1651000"/>
          <a:ext cx="5080000" cy="3200400"/>
        </p:xfrm>
        <a:graphic>
          <a:graphicData uri="http://schemas.openxmlformats.org/drawingml/2006/table">
            <a:tbl>
              <a:tblPr/>
              <a:tblGrid>
                <a:gridCol w="2235200"/>
                <a:gridCol w="1727200"/>
                <a:gridCol w="1117600"/>
              </a:tblGrid>
              <a:tr h="5120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物理量 Quantity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单位 Unit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符号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质量 mass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kilogram 千克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kg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长度 length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metre 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时间 time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second 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电流 current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ampere 安培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温度 temperature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kelvin 开尔文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物质的量 amount of substance 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mole 摩尔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mol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</a:tbl>
          </a:graphicData>
        </a:graphic>
      </p:graphicFrame>
      <p:sp>
        <p:nvSpPr>
          <p:cNvPr id="7" name="table-note"/>
          <p:cNvSpPr txBox="1"/>
          <p:nvPr/>
        </p:nvSpPr>
        <p:spPr>
          <a:xfrm>
            <a:off x="762000" y="4927600"/>
            <a:ext cx="508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* 物质的量仅 A2 阶段考查。注意：质量基本单位是 </a:t>
            </a:r>
            <a:r>
              <a:rPr lang="en-US" sz="1100" noProof="1" b="1">
                <a:solidFill>
                  <a:srgbClr val="6E6A62"/>
                </a:solidFill>
                <a:latin typeface="MiSans"/>
                <a:ea typeface="MiSans"/>
              </a:rPr>
              <a:t>kg</a:t>
            </a: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 不是 g；温度写 K，不写 °K。</a:t>
            </a:r>
            <a:endParaRPr lang="en-US" sz="1100" noProof="1"/>
          </a:p>
        </p:txBody>
      </p:sp>
      <p:sp>
        <p:nvSpPr>
          <p:cNvPr id="8" name="mid-rule"/>
          <p:cNvSpPr/>
          <p:nvPr/>
        </p:nvSpPr>
        <p:spPr>
          <a:xfrm>
            <a:off x="6299200" y="1676400"/>
            <a:ext cx="12700" cy="3683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derived-head"/>
          <p:cNvSpPr txBox="1"/>
          <p:nvPr/>
        </p:nvSpPr>
        <p:spPr>
          <a:xfrm>
            <a:off x="6654800" y="1651000"/>
            <a:ext cx="477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导出单位 Derived units：用公式推</a:t>
            </a:r>
            <a:endParaRPr lang="en-US" sz="1500" noProof="1"/>
          </a:p>
        </p:txBody>
      </p:sp>
      <p:sp>
        <p:nvSpPr>
          <p:cNvPr id="10" name="derived-body"/>
          <p:cNvSpPr txBox="1"/>
          <p:nvPr/>
        </p:nvSpPr>
        <p:spPr>
          <a:xfrm>
            <a:off x="6654800" y="2032000"/>
            <a:ext cx="4775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由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 = ma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，力的 SI 单位 = 质量单位 × 加速度单位：</a:t>
            </a:r>
            <a:endParaRPr lang="en-US" sz="1350" noProof="1"/>
          </a:p>
          <a:p>
            <a:pPr algn="ctr">
              <a:lnSpc>
                <a:spcPct val="155000"/>
              </a:lnSpc>
              <a:spcBef>
                <a:spcPts val="600"/>
              </a:spcBef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kg × m s</a:t>
            </a:r>
            <a:r>
              <a:rPr lang="en-US" sz="150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 = </a:t>
            </a:r>
            <a:r>
              <a:rPr lang="en-US" sz="1500" noProof="1" b="1">
                <a:solidFill>
                  <a:srgbClr val="22303A"/>
                </a:solidFill>
                <a:latin typeface="MiSans"/>
                <a:ea typeface="MiSans"/>
              </a:rPr>
              <a:t>kg m s</a:t>
            </a:r>
            <a:r>
              <a:rPr lang="en-US" sz="150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 ≡ </a:t>
            </a:r>
            <a:r>
              <a:rPr lang="en-US" sz="1500" noProof="1" b="1">
                <a:solidFill>
                  <a:srgbClr val="22303A"/>
                </a:solidFill>
                <a:latin typeface="MiSans"/>
                <a:ea typeface="MiSans"/>
              </a:rPr>
              <a:t>N</a:t>
            </a: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（牛顿）</a:t>
            </a:r>
            <a:endParaRPr lang="en-US" sz="1350" noProof="1"/>
          </a:p>
        </p:txBody>
      </p:sp>
      <p:sp>
        <p:nvSpPr>
          <p:cNvPr id="11" name="homo-head"/>
          <p:cNvSpPr txBox="1"/>
          <p:nvPr/>
        </p:nvSpPr>
        <p:spPr>
          <a:xfrm>
            <a:off x="6654800" y="3327400"/>
            <a:ext cx="4775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齐次性 Homogeneity：方程的“体检”</a:t>
            </a:r>
            <a:endParaRPr lang="en-US" sz="1500" noProof="1"/>
          </a:p>
        </p:txBody>
      </p:sp>
      <p:sp>
        <p:nvSpPr>
          <p:cNvPr id="12" name="homo-body"/>
          <p:cNvSpPr txBox="1"/>
          <p:nvPr/>
        </p:nvSpPr>
        <p:spPr>
          <a:xfrm>
            <a:off x="6654800" y="3708400"/>
            <a:ext cx="47752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所有成立的物理方程，等号两边单位必然相同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（homogeneous）。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用途 ①：由公式推导未知量的单位；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用途 ②：检查公式——两边单位不同，公式一定错。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C96F16"/>
                </a:solidFill>
                <a:latin typeface="MiSans"/>
                <a:ea typeface="MiSans"/>
              </a:rPr>
              <a:t>注意：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单位相同是必要而非充分条件——单位对，公式仍可能错。</a:t>
            </a:r>
            <a:endParaRPr lang="en-US" sz="1300" noProof="1"/>
          </a:p>
        </p:txBody>
      </p:sp>
      <p:sp>
        <p:nvSpPr>
          <p:cNvPr id="1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1.2 · PREFIXES &amp; CONVERSIONS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词头是“乘数开关”，换算要走两步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Prefixes multiply by powers of ten · eV and kWh conversions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prefix-table"/>
          <p:cNvGraphicFramePr>
            <a:graphicFrameLocks noGrp="1"/>
          </p:cNvGraphicFramePr>
          <p:nvPr/>
        </p:nvGraphicFramePr>
        <p:xfrm>
          <a:off x="762000" y="1651000"/>
          <a:ext cx="4826000" cy="3759200"/>
        </p:xfrm>
        <a:graphic>
          <a:graphicData uri="http://schemas.openxmlformats.org/drawingml/2006/table">
            <a:tbl>
              <a:tblPr/>
              <a:tblGrid>
                <a:gridCol w="1930400"/>
                <a:gridCol w="1351280"/>
                <a:gridCol w="1544320"/>
              </a:tblGrid>
              <a:tr h="5074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词头 Prefix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符号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倍数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4642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kilo 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10³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42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deci 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10⁻¹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4642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centi 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10⁻²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42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milli 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10⁻³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4642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micro 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10⁻⁶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42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nano 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10⁻⁹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46614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pico 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10⁻¹²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refix-note"/>
          <p:cNvSpPr txBox="1"/>
          <p:nvPr/>
        </p:nvSpPr>
        <p:spPr>
          <a:xfrm>
            <a:off x="762000" y="5486400"/>
            <a:ext cx="4826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记忆口诀（从大到小）：</a:t>
            </a:r>
            <a:r>
              <a:rPr lang="en-US" sz="1100" noProof="1" b="1">
                <a:solidFill>
                  <a:srgbClr val="6E6A62"/>
                </a:solidFill>
                <a:latin typeface="MiSans"/>
                <a:ea typeface="MiSans"/>
              </a:rPr>
              <a:t>k → m → µ → n → p</a:t>
            </a: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，相邻相差 10³。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milli 的 m 与 metre 的 m 同字母，靠语境区分。</a:t>
            </a:r>
            <a:endParaRPr lang="en-US" sz="1100" noProof="1"/>
          </a:p>
        </p:txBody>
      </p:sp>
      <p:sp>
        <p:nvSpPr>
          <p:cNvPr id="8" name="mid-rule"/>
          <p:cNvSpPr/>
          <p:nvPr/>
        </p:nvSpPr>
        <p:spPr>
          <a:xfrm>
            <a:off x="6045200" y="1676400"/>
            <a:ext cx="12700" cy="45466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conv1-head"/>
          <p:cNvSpPr txBox="1"/>
          <p:nvPr/>
        </p:nvSpPr>
        <p:spPr>
          <a:xfrm>
            <a:off x="6400800" y="16510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换算 ①　MeV → J（原子核物理常用）</a:t>
            </a:r>
            <a:endParaRPr lang="en-US" sz="1500" noProof="1"/>
          </a:p>
        </p:txBody>
      </p:sp>
      <p:sp>
        <p:nvSpPr>
          <p:cNvPr id="10" name="conv1-body"/>
          <p:cNvSpPr txBox="1"/>
          <p:nvPr/>
        </p:nvSpPr>
        <p:spPr>
          <a:xfrm>
            <a:off x="6400800" y="2032000"/>
            <a:ext cx="5029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桥梁：1 eV = 1.6 ×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−19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J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例：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76 MeV 是多少焦耳？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第 1 步：76 × 10⁶ eV　（MeV → eV，×10⁶）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第 2 步：×1.6 ×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−19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（eV → J）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= 1.216 × 10</a:t>
            </a:r>
            <a:r>
              <a:rPr lang="en-US" sz="1350" noProof="1" b="1" baseline="30000">
                <a:solidFill>
                  <a:srgbClr val="0E5A55"/>
                </a:solidFill>
                <a:latin typeface="MiSans"/>
                <a:ea typeface="MiSans"/>
              </a:rPr>
              <a:t>−11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 J</a:t>
            </a:r>
            <a:endParaRPr lang="en-US" sz="1350" noProof="1"/>
          </a:p>
        </p:txBody>
      </p:sp>
      <p:sp>
        <p:nvSpPr>
          <p:cNvPr id="11" name="conv2-head"/>
          <p:cNvSpPr txBox="1"/>
          <p:nvPr/>
        </p:nvSpPr>
        <p:spPr>
          <a:xfrm>
            <a:off x="6400800" y="3708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换算 ②　kWh → J（一度电）</a:t>
            </a:r>
            <a:endParaRPr lang="en-US" sz="1500" noProof="1"/>
          </a:p>
        </p:txBody>
      </p:sp>
      <p:sp>
        <p:nvSpPr>
          <p:cNvPr id="12" name="conv2-body"/>
          <p:cNvSpPr txBox="1"/>
          <p:nvPr/>
        </p:nvSpPr>
        <p:spPr>
          <a:xfrm>
            <a:off x="6400800" y="4089400"/>
            <a:ext cx="5029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1 kW = 1000 J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，1 h = 3600 s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1 kWh = 1000 × 3600 = 3.6 × 10⁶ J = 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3.6 MJ</a:t>
            </a:r>
            <a:endParaRPr lang="en-US" sz="1350" noProof="1"/>
          </a:p>
        </p:txBody>
      </p:sp>
      <p:sp>
        <p:nvSpPr>
          <p:cNvPr id="13" name="warn-box"/>
          <p:cNvSpPr/>
          <p:nvPr/>
        </p:nvSpPr>
        <p:spPr>
          <a:xfrm>
            <a:off x="6400800" y="5613400"/>
            <a:ext cx="5029200" cy="609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4" name="warn-text"/>
          <p:cNvSpPr txBox="1"/>
          <p:nvPr/>
        </p:nvSpPr>
        <p:spPr>
          <a:xfrm>
            <a:off x="6578600" y="5702300"/>
            <a:ext cx="4673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kWh（度电）是</a:t>
            </a: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能量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单位，不是功率单位！A2 电学、核物理反复用到。</a:t>
            </a:r>
            <a:endParaRPr lang="en-US" sz="120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1.3 · ERRORS AND UNCERTAINTIES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随机误差影响精度，系统误差影响准度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Random errors affect precision · systematic errors affect accuracy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rand-head"/>
          <p:cNvSpPr txBox="1"/>
          <p:nvPr/>
        </p:nvSpPr>
        <p:spPr>
          <a:xfrm>
            <a:off x="762000" y="1651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E5A55"/>
                </a:solidFill>
                <a:latin typeface="MiSans"/>
                <a:ea typeface="MiSans"/>
              </a:rPr>
              <a:t>随机误差 Random error</a:t>
            </a:r>
            <a:endParaRPr lang="en-US" sz="1600" noProof="1"/>
          </a:p>
        </p:txBody>
      </p:sp>
      <p:sp>
        <p:nvSpPr>
          <p:cNvPr id="7" name="rand-sub"/>
          <p:cNvSpPr txBox="1"/>
          <p:nvPr/>
        </p:nvSpPr>
        <p:spPr>
          <a:xfrm>
            <a:off x="762000" y="2006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影响 精密度 precision ｜ 无法完全消除</a:t>
            </a:r>
            <a:endParaRPr lang="en-US" sz="1200" noProof="1"/>
          </a:p>
        </p:txBody>
      </p:sp>
      <p:sp>
        <p:nvSpPr>
          <p:cNvPr id="8" name="rand-body"/>
          <p:cNvSpPr txBox="1"/>
          <p:nvPr/>
        </p:nvSpPr>
        <p:spPr>
          <a:xfrm>
            <a:off x="762000" y="2362200"/>
            <a:ext cx="5080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特点：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测量值在平均值附近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分散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，忽大忽小。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例子：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电子仪器的电子噪声（electronic noise）。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减小方法：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重复测量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至少 3 次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取平均，同时可发现异常值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用数据采集器/摄像机，减少人为误差、缩小时间间隔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换用更合适的仪器（如千分尺代替直尺）</a:t>
            </a:r>
            <a:endParaRPr lang="en-US" sz="1300" noProof="1"/>
          </a:p>
        </p:txBody>
      </p:sp>
      <p:sp>
        <p:nvSpPr>
          <p:cNvPr id="9" name="mid-rule"/>
          <p:cNvSpPr/>
          <p:nvPr/>
        </p:nvSpPr>
        <p:spPr>
          <a:xfrm>
            <a:off x="6096000" y="1676400"/>
            <a:ext cx="12700" cy="3810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0" name="sys-head"/>
          <p:cNvSpPr txBox="1"/>
          <p:nvPr/>
        </p:nvSpPr>
        <p:spPr>
          <a:xfrm>
            <a:off x="6451600" y="1651000"/>
            <a:ext cx="4978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96F16"/>
                </a:solidFill>
                <a:latin typeface="MiSans"/>
                <a:ea typeface="MiSans"/>
              </a:rPr>
              <a:t>系统误差 Systematic error</a:t>
            </a:r>
            <a:endParaRPr lang="en-US" sz="1600" noProof="1"/>
          </a:p>
        </p:txBody>
      </p:sp>
      <p:sp>
        <p:nvSpPr>
          <p:cNvPr id="11" name="sys-sub"/>
          <p:cNvSpPr txBox="1"/>
          <p:nvPr/>
        </p:nvSpPr>
        <p:spPr>
          <a:xfrm>
            <a:off x="6451600" y="2006600"/>
            <a:ext cx="497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影响 准确度 accuracy ｜ 每次偏差方向相同</a:t>
            </a:r>
            <a:endParaRPr lang="en-US" sz="1200" noProof="1"/>
          </a:p>
        </p:txBody>
      </p:sp>
      <p:sp>
        <p:nvSpPr>
          <p:cNvPr id="12" name="sys-body"/>
          <p:cNvSpPr txBox="1"/>
          <p:nvPr/>
        </p:nvSpPr>
        <p:spPr>
          <a:xfrm>
            <a:off x="6451600" y="2362200"/>
            <a:ext cx="4978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特点：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所有结果每次都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偏高或偏低相同的量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例子：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天平未调零（zero error）；斜视刻度造成视差（parallax error）。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减小方法：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校准仪器（calibrate）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辐射实验先测本底辐射再扣除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视线与液面凹面（meniscus）平齐读数；设对照组</a:t>
            </a:r>
            <a:endParaRPr lang="en-US" sz="1300" noProof="1"/>
          </a:p>
        </p:txBody>
      </p:sp>
      <p:sp>
        <p:nvSpPr>
          <p:cNvPr id="13" name="band-box"/>
          <p:cNvSpPr/>
          <p:nvPr/>
        </p:nvSpPr>
        <p:spPr>
          <a:xfrm>
            <a:off x="762000" y="4470400"/>
            <a:ext cx="10668000" cy="1651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4" name="band-head"/>
          <p:cNvSpPr txBox="1"/>
          <p:nvPr/>
        </p:nvSpPr>
        <p:spPr>
          <a:xfrm>
            <a:off x="1016000" y="46228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一句话对照（考场速判）</a:t>
            </a:r>
            <a:endParaRPr lang="en-US" sz="1500" noProof="1"/>
          </a:p>
        </p:txBody>
      </p:sp>
      <p:graphicFrame>
        <p:nvGraphicFramePr>
          <p:cNvPr id="15" name="band-table"/>
          <p:cNvGraphicFramePr>
            <a:graphicFrameLocks noGrp="1"/>
          </p:cNvGraphicFramePr>
          <p:nvPr/>
        </p:nvGraphicFramePr>
        <p:xfrm>
          <a:off x="1016000" y="4978400"/>
          <a:ext cx="10160000" cy="990600"/>
        </p:xfrm>
        <a:graphic>
          <a:graphicData uri="http://schemas.openxmlformats.org/drawingml/2006/table">
            <a:tbl>
              <a:tblPr/>
              <a:tblGrid>
                <a:gridCol w="2032000"/>
                <a:gridCol w="4064000"/>
                <a:gridCol w="4064000"/>
              </a:tblGrid>
              <a:tr h="336804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0E5A55"/>
                          </a:solidFill>
                          <a:latin typeface="Times New Roman"/>
                          <a:ea typeface="Times New Roman"/>
                        </a:rPr>
                        <a:t>随机误差 random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0E5A55"/>
                          </a:solidFill>
                          <a:latin typeface="Times New Roman"/>
                          <a:ea typeface="Times New Roman"/>
                        </a:rPr>
                        <a:t>系统误差 systematic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8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数据表现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分散，平均值附近波动 → 重复取平均可减小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整体偏移，重复取平均</a:t>
                      </a:r>
                      <a:r>
                        <a:rPr lang="en-US" sz="1250" noProof="1" b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无效</a:t>
                      </a:r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 → 必须校准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1.3 · PRECISION VS ACCURACY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精密 ≠ 准确：用打靶图一眼分清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Precise = consistent about a mean · accurate = close to the true value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1-head"/>
          <p:cNvSpPr txBox="1"/>
          <p:nvPr/>
        </p:nvSpPr>
        <p:spPr>
          <a:xfrm>
            <a:off x="762000" y="17018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精密度 Precision</a:t>
            </a:r>
            <a:endParaRPr lang="en-US" sz="1500" noProof="1"/>
          </a:p>
        </p:txBody>
      </p:sp>
      <p:sp>
        <p:nvSpPr>
          <p:cNvPr id="7" name="def1-body"/>
          <p:cNvSpPr txBox="1"/>
          <p:nvPr/>
        </p:nvSpPr>
        <p:spPr>
          <a:xfrm>
            <a:off x="762000" y="20574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测量结果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彼此接近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，围绕平均值小幅波动。精密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不代表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准确——可能全部偏离真值（存在系统误差）。</a:t>
            </a:r>
            <a:endParaRPr lang="en-US" sz="1350" noProof="1"/>
          </a:p>
        </p:txBody>
      </p:sp>
      <p:sp>
        <p:nvSpPr>
          <p:cNvPr id="8" name="def2-head"/>
          <p:cNvSpPr txBox="1"/>
          <p:nvPr/>
        </p:nvSpPr>
        <p:spPr>
          <a:xfrm>
            <a:off x="762000" y="30988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准确度 Accuracy</a:t>
            </a:r>
            <a:endParaRPr lang="en-US" sz="1500" noProof="1"/>
          </a:p>
        </p:txBody>
      </p:sp>
      <p:sp>
        <p:nvSpPr>
          <p:cNvPr id="9" name="def2-body"/>
          <p:cNvSpPr txBox="1"/>
          <p:nvPr/>
        </p:nvSpPr>
        <p:spPr>
          <a:xfrm>
            <a:off x="762000" y="34544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测量值接近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真实值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true value。分散但平均落在真值上，仍然准确（只是不精密）。</a:t>
            </a:r>
            <a:endParaRPr lang="en-US" sz="1350" noProof="1"/>
          </a:p>
        </p:txBody>
      </p:sp>
      <p:sp>
        <p:nvSpPr>
          <p:cNvPr id="10" name="exam-tip"/>
          <p:cNvSpPr txBox="1"/>
          <p:nvPr/>
        </p:nvSpPr>
        <p:spPr>
          <a:xfrm>
            <a:off x="762000" y="45212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考法：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给出数据散点图/表格，要求判断并说明“precise / accurate”，答题必须落到</a:t>
            </a:r>
            <a:r>
              <a:rPr lang="en-US" sz="1250" noProof="1" i="1">
                <a:solidFill>
                  <a:srgbClr val="22303A"/>
                </a:solidFill>
                <a:latin typeface="MiSans"/>
                <a:ea typeface="MiSans"/>
              </a:rPr>
              <a:t>分散程度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与</a:t>
            </a:r>
            <a:r>
              <a:rPr lang="en-US" sz="1250" noProof="1" i="1">
                <a:solidFill>
                  <a:srgbClr val="22303A"/>
                </a:solidFill>
                <a:latin typeface="MiSans"/>
                <a:ea typeface="MiSans"/>
              </a:rPr>
              <a:t>偏离真值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两个词上。</a:t>
            </a:r>
            <a:endParaRPr lang="en-US" sz="1250" noProof="1"/>
          </a:p>
        </p:txBody>
      </p:sp>
      <p:sp>
        <p:nvSpPr>
          <p:cNvPr id="11" name="t1-ring-outer"/>
          <p:cNvSpPr/>
          <p:nvPr/>
        </p:nvSpPr>
        <p:spPr>
          <a:xfrm>
            <a:off x="7620000" y="1752600"/>
            <a:ext cx="1397000" cy="139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6A62"/>
            </a:solidFill>
          </a:ln>
        </p:spPr>
      </p:sp>
      <p:sp>
        <p:nvSpPr>
          <p:cNvPr id="12" name="t1-ring-mid"/>
          <p:cNvSpPr/>
          <p:nvPr/>
        </p:nvSpPr>
        <p:spPr>
          <a:xfrm>
            <a:off x="7962900" y="2095500"/>
            <a:ext cx="711200" cy="711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6A62"/>
            </a:solidFill>
          </a:ln>
        </p:spPr>
      </p:sp>
      <p:sp>
        <p:nvSpPr>
          <p:cNvPr id="13" name="t1-ring-in"/>
          <p:cNvSpPr/>
          <p:nvPr/>
        </p:nvSpPr>
        <p:spPr>
          <a:xfrm>
            <a:off x="8216900" y="2349500"/>
            <a:ext cx="203200" cy="203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4" name="t1-d1"/>
          <p:cNvSpPr/>
          <p:nvPr/>
        </p:nvSpPr>
        <p:spPr>
          <a:xfrm>
            <a:off x="8636000" y="19050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5" name="t1-d2"/>
          <p:cNvSpPr/>
          <p:nvPr/>
        </p:nvSpPr>
        <p:spPr>
          <a:xfrm>
            <a:off x="8763000" y="20574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6" name="t1-d3"/>
          <p:cNvSpPr/>
          <p:nvPr/>
        </p:nvSpPr>
        <p:spPr>
          <a:xfrm>
            <a:off x="8585200" y="21590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7" name="t1-d4"/>
          <p:cNvSpPr/>
          <p:nvPr/>
        </p:nvSpPr>
        <p:spPr>
          <a:xfrm>
            <a:off x="8813800" y="22352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8" name="t1-label"/>
          <p:cNvSpPr txBox="1"/>
          <p:nvPr/>
        </p:nvSpPr>
        <p:spPr>
          <a:xfrm>
            <a:off x="7366000" y="32258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精密 不 准确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precise, not accurate</a:t>
            </a:r>
            <a:endParaRPr lang="en-US" sz="1200" noProof="1"/>
          </a:p>
        </p:txBody>
      </p:sp>
      <p:sp>
        <p:nvSpPr>
          <p:cNvPr id="19" name="t2-ring-outer"/>
          <p:cNvSpPr/>
          <p:nvPr/>
        </p:nvSpPr>
        <p:spPr>
          <a:xfrm>
            <a:off x="10033000" y="1752600"/>
            <a:ext cx="1397000" cy="139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6A62"/>
            </a:solidFill>
          </a:ln>
        </p:spPr>
      </p:sp>
      <p:sp>
        <p:nvSpPr>
          <p:cNvPr id="20" name="t2-ring-mid"/>
          <p:cNvSpPr/>
          <p:nvPr/>
        </p:nvSpPr>
        <p:spPr>
          <a:xfrm>
            <a:off x="10375900" y="2095500"/>
            <a:ext cx="711200" cy="711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6A62"/>
            </a:solidFill>
          </a:ln>
        </p:spPr>
      </p:sp>
      <p:sp>
        <p:nvSpPr>
          <p:cNvPr id="21" name="t2-ring-in"/>
          <p:cNvSpPr/>
          <p:nvPr/>
        </p:nvSpPr>
        <p:spPr>
          <a:xfrm>
            <a:off x="10629900" y="2349500"/>
            <a:ext cx="203200" cy="203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2" name="t2-d1"/>
          <p:cNvSpPr/>
          <p:nvPr/>
        </p:nvSpPr>
        <p:spPr>
          <a:xfrm>
            <a:off x="10160000" y="19050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23" name="t2-d2"/>
          <p:cNvSpPr/>
          <p:nvPr/>
        </p:nvSpPr>
        <p:spPr>
          <a:xfrm>
            <a:off x="11049000" y="19685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24" name="t2-d3"/>
          <p:cNvSpPr/>
          <p:nvPr/>
        </p:nvSpPr>
        <p:spPr>
          <a:xfrm>
            <a:off x="10795000" y="28575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25" name="t2-d4"/>
          <p:cNvSpPr/>
          <p:nvPr/>
        </p:nvSpPr>
        <p:spPr>
          <a:xfrm>
            <a:off x="10287000" y="2730500"/>
            <a:ext cx="114300" cy="1143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26" name="t2-label"/>
          <p:cNvSpPr txBox="1"/>
          <p:nvPr/>
        </p:nvSpPr>
        <p:spPr>
          <a:xfrm>
            <a:off x="9779000" y="32258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准确 不 精密</a:t>
            </a:r>
            <a:endParaRPr lang="en-US" sz="1200" noProof="1"/>
          </a:p>
          <a:p>
            <a:pPr algn="ctr">
              <a:lnSpc>
                <a:spcPct val="13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accurate, not precise</a:t>
            </a:r>
            <a:endParaRPr lang="en-US" sz="1200" noProof="1"/>
          </a:p>
        </p:txBody>
      </p:sp>
      <p:sp>
        <p:nvSpPr>
          <p:cNvPr id="27" name="diagram-note"/>
          <p:cNvSpPr txBox="1"/>
          <p:nvPr/>
        </p:nvSpPr>
        <p:spPr>
          <a:xfrm>
            <a:off x="7366000" y="39370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左图：弹着点密集但整体偏离靶心 → 有系统误差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右图：弹着点分散但平均在靶心 → 有随机误差</a:t>
            </a:r>
            <a:endParaRPr lang="en-US" sz="1100" noProof="1"/>
          </a:p>
        </p:txBody>
      </p:sp>
      <p:sp>
        <p:nvSpPr>
          <p:cNvPr id="28" name="key-line"/>
          <p:cNvSpPr/>
          <p:nvPr/>
        </p:nvSpPr>
        <p:spPr>
          <a:xfrm>
            <a:off x="762000" y="5613400"/>
            <a:ext cx="10668000" cy="609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9" name="key-text"/>
          <p:cNvSpPr txBox="1"/>
          <p:nvPr/>
        </p:nvSpPr>
        <p:spPr>
          <a:xfrm>
            <a:off x="965200" y="5702300"/>
            <a:ext cx="10261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记忆锚点：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precision 看“挤不挤”（数据之间），accuracy 看“准不准”（对真值）。不确定度 uncertainty 表示真值预期所在的范围，如 20 °C ± 2 °C。</a:t>
            </a:r>
            <a:endParaRPr lang="en-US" sz="1250" noProof="1"/>
          </a:p>
        </p:txBody>
      </p:sp>
      <p:sp>
        <p:nvSpPr>
          <p:cNvPr id="3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3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3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1.3 · UNCERTAINTY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不确定度有三种写法，读数与测量规则不同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Absolute / fractional / percentage uncertainty · reading vs measurement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type-table"/>
          <p:cNvGraphicFramePr>
            <a:graphicFrameLocks noGrp="1"/>
          </p:cNvGraphicFramePr>
          <p:nvPr/>
        </p:nvGraphicFramePr>
        <p:xfrm>
          <a:off x="762000" y="1651000"/>
          <a:ext cx="10668000" cy="1676400"/>
        </p:xfrm>
        <a:graphic>
          <a:graphicData uri="http://schemas.openxmlformats.org/drawingml/2006/table">
            <a:tbl>
              <a:tblPr/>
              <a:tblGrid>
                <a:gridCol w="2773680"/>
                <a:gridCol w="4693920"/>
                <a:gridCol w="3200400"/>
              </a:tblGrid>
              <a:tr h="3688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类型 Type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含义 Meaning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示例 Example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4358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绝对不确定度 absolute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带单位的固定数值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7 V ± 0.6 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相对不确定度 fractional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不确定度 ÷ 测量值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7 V ± 3/35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4358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百分比不确定度 percentage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不确定度 ÷ 测量值 × 100%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7 V ± 8.6%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ype-note"/>
          <p:cNvSpPr txBox="1"/>
          <p:nvPr/>
        </p:nvSpPr>
        <p:spPr>
          <a:xfrm>
            <a:off x="762000" y="3429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想减小百分比/相对不确定度？测量更大的量 —— 分母变大，百分比自然变小。</a:t>
            </a:r>
            <a:endParaRPr lang="en-US" sz="1100" noProof="1"/>
          </a:p>
        </p:txBody>
      </p:sp>
      <p:sp>
        <p:nvSpPr>
          <p:cNvPr id="8" name="rm-head"/>
          <p:cNvSpPr txBox="1"/>
          <p:nvPr/>
        </p:nvSpPr>
        <p:spPr>
          <a:xfrm>
            <a:off x="762000" y="3886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读数 Reading vs 测量 Measurement：不确定度规则不同</a:t>
            </a:r>
            <a:endParaRPr lang="en-US" sz="1500" noProof="1"/>
          </a:p>
        </p:txBody>
      </p:sp>
      <p:graphicFrame>
        <p:nvGraphicFramePr>
          <p:cNvPr id="9" name="rm-table"/>
          <p:cNvGraphicFramePr>
            <a:graphicFrameLocks noGrp="1"/>
          </p:cNvGraphicFramePr>
          <p:nvPr/>
        </p:nvGraphicFramePr>
        <p:xfrm>
          <a:off x="762000" y="4292600"/>
          <a:ext cx="10668000" cy="1320800"/>
        </p:xfrm>
        <a:graphic>
          <a:graphicData uri="http://schemas.openxmlformats.org/drawingml/2006/table">
            <a:tbl>
              <a:tblPr/>
              <a:tblGrid>
                <a:gridCol w="2346960"/>
                <a:gridCol w="4053840"/>
                <a:gridCol w="4267200"/>
              </a:tblGrid>
              <a:tr h="369824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读数 reading（读一次值）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测量 measurement（两次读数之差）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4754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温度计读数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直尺测长度（起点、终点都要判断）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不确定度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± 最小分度的一半（如分度 1 °C → ±0.5 °C）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至少 ± 1 个最小分度（两端各 ±0.5 mm，相加为 ±1 mm）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</a:tbl>
          </a:graphicData>
        </a:graphic>
      </p:graphicFrame>
      <p:sp>
        <p:nvSpPr>
          <p:cNvPr id="10" name="rule-box"/>
          <p:cNvSpPr/>
          <p:nvPr/>
        </p:nvSpPr>
        <p:spPr>
          <a:xfrm>
            <a:off x="762000" y="5791200"/>
            <a:ext cx="10668000" cy="482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rule-text"/>
          <p:cNvSpPr txBox="1"/>
          <p:nvPr/>
        </p:nvSpPr>
        <p:spPr>
          <a:xfrm>
            <a:off x="965200" y="58547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判断口诀：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读数 = 1 次判断 → ±½ 分度；测量 = 2 次判断 → 两个 ±½ 相加 = ±1 分度。</a:t>
            </a:r>
            <a:endParaRPr lang="en-US" sz="1250" noProof="1"/>
          </a:p>
        </p:txBody>
      </p:sp>
      <p:sp>
        <p:nvSpPr>
          <p:cNvPr id="12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3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4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1.3 · COMBINING UNCERTAINTIES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不确定度合成：三条规则，各管一种运算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The three rules every exam question is built 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r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r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2000" noProof="1"/>
          </a:p>
        </p:txBody>
      </p:sp>
      <p:sp>
        <p:nvSpPr>
          <p:cNvPr id="8" name="r1-head"/>
          <p:cNvSpPr txBox="1"/>
          <p:nvPr/>
        </p:nvSpPr>
        <p:spPr>
          <a:xfrm>
            <a:off x="1549400" y="1676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22303A"/>
                </a:solidFill>
                <a:latin typeface="MiSans"/>
                <a:ea typeface="MiSans"/>
              </a:rPr>
              <a:t>加减运算 → 绝对不确定度相加（add absolute uncertainties）</a:t>
            </a:r>
            <a:endParaRPr lang="en-US" sz="1550" noProof="1"/>
          </a:p>
        </p:txBody>
      </p:sp>
      <p:sp>
        <p:nvSpPr>
          <p:cNvPr id="9" name="r1-body"/>
          <p:cNvSpPr txBox="1"/>
          <p:nvPr/>
        </p:nvSpPr>
        <p:spPr>
          <a:xfrm>
            <a:off x="1549400" y="2006600"/>
            <a:ext cx="9880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水温从 298 ± 0.5 K 降到 273 ± 0.5 K，温差 = 25 K，不确定度 = 0.5 + 0.5 = 1 K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25 ± 1 K</a:t>
            </a:r>
            <a:endParaRPr lang="en-US" sz="1250" noProof="1"/>
          </a:p>
        </p:txBody>
      </p:sp>
      <p:sp>
        <p:nvSpPr>
          <p:cNvPr id="10" name="r1-line"/>
          <p:cNvSpPr/>
          <p:nvPr/>
        </p:nvSpPr>
        <p:spPr>
          <a:xfrm>
            <a:off x="1549400" y="2692400"/>
            <a:ext cx="98806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1" name="r2-badge"/>
          <p:cNvSpPr/>
          <p:nvPr/>
        </p:nvSpPr>
        <p:spPr>
          <a:xfrm>
            <a:off x="762000" y="28956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2" name="r2-num"/>
          <p:cNvSpPr txBox="1"/>
          <p:nvPr/>
        </p:nvSpPr>
        <p:spPr>
          <a:xfrm>
            <a:off x="762000" y="28956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2000" noProof="1"/>
          </a:p>
        </p:txBody>
      </p:sp>
      <p:sp>
        <p:nvSpPr>
          <p:cNvPr id="13" name="r2-head"/>
          <p:cNvSpPr txBox="1"/>
          <p:nvPr/>
        </p:nvSpPr>
        <p:spPr>
          <a:xfrm>
            <a:off x="1549400" y="28956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22303A"/>
                </a:solidFill>
                <a:latin typeface="MiSans"/>
                <a:ea typeface="MiSans"/>
              </a:rPr>
              <a:t>乘除运算 → 百分比不确定度相加（add percentage uncertainties）</a:t>
            </a:r>
            <a:endParaRPr lang="en-US" sz="1550" noProof="1"/>
          </a:p>
        </p:txBody>
      </p:sp>
      <p:sp>
        <p:nvSpPr>
          <p:cNvPr id="14" name="r2-body"/>
          <p:cNvSpPr txBox="1"/>
          <p:nvPr/>
        </p:nvSpPr>
        <p:spPr>
          <a:xfrm>
            <a:off x="1549400" y="3225800"/>
            <a:ext cx="9880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F = 91 ± 3 N，m = 7 ± 0.2 kg，a = F/m：3.3% + 2.9% = 6.2%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→ a = 13 m s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± 6.2%，即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13 ± 0.8 m s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（下页看完整步骤）</a:t>
            </a:r>
            <a:endParaRPr lang="en-US" sz="1250" noProof="1"/>
          </a:p>
        </p:txBody>
      </p:sp>
      <p:sp>
        <p:nvSpPr>
          <p:cNvPr id="15" name="r2-line"/>
          <p:cNvSpPr/>
          <p:nvPr/>
        </p:nvSpPr>
        <p:spPr>
          <a:xfrm>
            <a:off x="1549400" y="3911600"/>
            <a:ext cx="98806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r3-badge"/>
          <p:cNvSpPr/>
          <p:nvPr/>
        </p:nvSpPr>
        <p:spPr>
          <a:xfrm>
            <a:off x="762000" y="41148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7" name="r3-num"/>
          <p:cNvSpPr txBox="1"/>
          <p:nvPr/>
        </p:nvSpPr>
        <p:spPr>
          <a:xfrm>
            <a:off x="762000" y="41148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2000" noProof="1"/>
          </a:p>
        </p:txBody>
      </p:sp>
      <p:sp>
        <p:nvSpPr>
          <p:cNvPr id="18" name="r3-head"/>
          <p:cNvSpPr txBox="1"/>
          <p:nvPr/>
        </p:nvSpPr>
        <p:spPr>
          <a:xfrm>
            <a:off x="1549400" y="4114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22303A"/>
                </a:solidFill>
                <a:latin typeface="MiSans"/>
                <a:ea typeface="MiSans"/>
              </a:rPr>
              <a:t>乘方运算 → 百分比不确定度 × 幂次（multiply by the power）</a:t>
            </a:r>
            <a:endParaRPr lang="en-US" sz="1550" noProof="1"/>
          </a:p>
        </p:txBody>
      </p:sp>
      <p:sp>
        <p:nvSpPr>
          <p:cNvPr id="19" name="r3-body"/>
          <p:cNvSpPr txBox="1"/>
          <p:nvPr/>
        </p:nvSpPr>
        <p:spPr>
          <a:xfrm>
            <a:off x="1549400" y="4445000"/>
            <a:ext cx="9880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圆半径 r = 5 ± 0.3 cm，A = πr²：r 的百分比不确定度 6% × 2（幂次）= 12%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→ A = 78.5 cm²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± 12%</a:t>
            </a:r>
            <a:endParaRPr lang="en-US" sz="1250" noProof="1"/>
          </a:p>
        </p:txBody>
      </p:sp>
      <p:sp>
        <p:nvSpPr>
          <p:cNvPr id="20" name="warn-box"/>
          <p:cNvSpPr/>
          <p:nvPr/>
        </p:nvSpPr>
        <p:spPr>
          <a:xfrm>
            <a:off x="762000" y="5257800"/>
            <a:ext cx="10668000" cy="965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1" name="warn-text"/>
          <p:cNvSpPr txBox="1"/>
          <p:nvPr/>
        </p:nvSpPr>
        <p:spPr>
          <a:xfrm>
            <a:off x="965200" y="5359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中国学生三大易错：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加减用绝对、乘除用百分比，别混；② 乘方是百分比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乘以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幂次（r² 是 ×2），不是平方；③ 最终不确定度保留 1 位有效数字，测量值与其对齐小数位。</a:t>
            </a:r>
            <a:endParaRPr lang="en-US" sz="1250" noProof="1"/>
          </a:p>
        </p:txBody>
      </p:sp>
      <p:sp>
        <p:nvSpPr>
          <p:cNvPr id="22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1.3 · WORKED EXAMPLE 例题演示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完整示范：除法运算的不确定度怎么写进答案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Finding acceleration with its uncertainty, step by step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given-box"/>
          <p:cNvSpPr/>
          <p:nvPr/>
        </p:nvSpPr>
        <p:spPr>
          <a:xfrm>
            <a:off x="762000" y="16510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given-text"/>
          <p:cNvSpPr txBox="1"/>
          <p:nvPr/>
        </p:nvSpPr>
        <p:spPr>
          <a:xfrm>
            <a:off x="965200" y="1752600"/>
            <a:ext cx="10261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题目：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力 F = 91 ± 3 N 作用于质量 m = 7 ± 0.2 kg 的物体。求加速度 a 及其不确定度。</a:t>
            </a:r>
            <a:endParaRPr lang="en-US" sz="1350" noProof="1"/>
          </a:p>
        </p:txBody>
      </p:sp>
      <p:sp>
        <p:nvSpPr>
          <p:cNvPr id="8" name="st1-badge"/>
          <p:cNvSpPr txBox="1"/>
          <p:nvPr/>
        </p:nvSpPr>
        <p:spPr>
          <a:xfrm>
            <a:off x="762000" y="25400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1 步</a:t>
            </a:r>
            <a:endParaRPr lang="en-US" sz="1300" noProof="1"/>
          </a:p>
        </p:txBody>
      </p:sp>
      <p:sp>
        <p:nvSpPr>
          <p:cNvPr id="9" name="st1-body"/>
          <p:cNvSpPr txBox="1"/>
          <p:nvPr/>
        </p:nvSpPr>
        <p:spPr>
          <a:xfrm>
            <a:off x="1905000" y="25146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算出结果本身：a = F / m = 91 / 7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13 m s</a:t>
            </a:r>
            <a:r>
              <a:rPr lang="en-US" sz="135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（先不管不确定度）</a:t>
            </a:r>
            <a:endParaRPr lang="en-US" sz="1350" noProof="1"/>
          </a:p>
        </p:txBody>
      </p:sp>
      <p:sp>
        <p:nvSpPr>
          <p:cNvPr id="10" name="st2-badge"/>
          <p:cNvSpPr txBox="1"/>
          <p:nvPr/>
        </p:nvSpPr>
        <p:spPr>
          <a:xfrm>
            <a:off x="762000" y="3022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2 步</a:t>
            </a:r>
            <a:endParaRPr lang="en-US" sz="1300" noProof="1"/>
          </a:p>
        </p:txBody>
      </p:sp>
      <p:sp>
        <p:nvSpPr>
          <p:cNvPr id="11" name="st2-body"/>
          <p:cNvSpPr txBox="1"/>
          <p:nvPr/>
        </p:nvSpPr>
        <p:spPr>
          <a:xfrm>
            <a:off x="1905000" y="2997200"/>
            <a:ext cx="952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各量的百分比不确定度：F：3/91 × 100%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3.3%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；m：0.2/7 × 100%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2.9%</a:t>
            </a:r>
            <a:endParaRPr lang="en-US" sz="1350" noProof="1"/>
          </a:p>
        </p:txBody>
      </p:sp>
      <p:sp>
        <p:nvSpPr>
          <p:cNvPr id="12" name="st3-badge"/>
          <p:cNvSpPr txBox="1"/>
          <p:nvPr/>
        </p:nvSpPr>
        <p:spPr>
          <a:xfrm>
            <a:off x="762000" y="37592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3 步</a:t>
            </a:r>
            <a:endParaRPr lang="en-US" sz="1300" noProof="1"/>
          </a:p>
        </p:txBody>
      </p:sp>
      <p:sp>
        <p:nvSpPr>
          <p:cNvPr id="13" name="st3-body"/>
          <p:cNvSpPr txBox="1"/>
          <p:nvPr/>
        </p:nvSpPr>
        <p:spPr>
          <a:xfrm>
            <a:off x="1905000" y="37338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除法 → 百分比相加：3.3% + 2.9%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6.2%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（规则 2）</a:t>
            </a:r>
            <a:endParaRPr lang="en-US" sz="1350" noProof="1"/>
          </a:p>
        </p:txBody>
      </p:sp>
      <p:sp>
        <p:nvSpPr>
          <p:cNvPr id="14" name="st4-badge"/>
          <p:cNvSpPr txBox="1"/>
          <p:nvPr/>
        </p:nvSpPr>
        <p:spPr>
          <a:xfrm>
            <a:off x="762000" y="42418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4 步</a:t>
            </a:r>
            <a:endParaRPr lang="en-US" sz="1300" noProof="1"/>
          </a:p>
        </p:txBody>
      </p:sp>
      <p:sp>
        <p:nvSpPr>
          <p:cNvPr id="15" name="st4-body"/>
          <p:cNvSpPr txBox="1"/>
          <p:nvPr/>
        </p:nvSpPr>
        <p:spPr>
          <a:xfrm>
            <a:off x="1905000" y="4216400"/>
            <a:ext cx="952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换回绝对不确定度：6.2% × 13 ≈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0.8 m s</a:t>
            </a:r>
            <a:r>
              <a:rPr lang="en-US" sz="135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（不确定度保留 1 位有效数字）</a:t>
            </a:r>
            <a:endParaRPr lang="en-US" sz="1350" noProof="1"/>
          </a:p>
        </p:txBody>
      </p:sp>
      <p:sp>
        <p:nvSpPr>
          <p:cNvPr id="16" name="ans-rule-top"/>
          <p:cNvSpPr/>
          <p:nvPr/>
        </p:nvSpPr>
        <p:spPr>
          <a:xfrm>
            <a:off x="762000" y="5054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ans"/>
          <p:cNvSpPr txBox="1"/>
          <p:nvPr/>
        </p:nvSpPr>
        <p:spPr>
          <a:xfrm>
            <a:off x="762000" y="5257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0E5A55"/>
                </a:solidFill>
                <a:latin typeface="MiSans"/>
                <a:ea typeface="MiSans"/>
              </a:rPr>
              <a:t>最终答案：a = 13 ± 0.8 m s⁻²</a:t>
            </a:r>
            <a:endParaRPr lang="en-US" sz="1800" noProof="1"/>
          </a:p>
        </p:txBody>
      </p:sp>
      <p:sp>
        <p:nvSpPr>
          <p:cNvPr id="18" name="ans-note"/>
          <p:cNvSpPr txBox="1"/>
          <p:nvPr/>
        </p:nvSpPr>
        <p:spPr>
          <a:xfrm>
            <a:off x="762000" y="5867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写法检查：不确定度 0.8 只有 1 位有效数字；13 与 0.8 对齐到同一小数位；单位、± 号齐全。</a:t>
            </a:r>
            <a:endParaRPr lang="en-US" sz="1100" noProof="1"/>
          </a:p>
        </p:txBody>
      </p:sp>
      <p:sp>
        <p:nvSpPr>
          <p:cNvPr id="19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21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1.4 · SCALARS AND VECTORS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标量只有大小，矢量还要带上方向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Scalars have magnitude only · vectors have magnitude and direction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c-head"/>
          <p:cNvSpPr txBox="1"/>
          <p:nvPr/>
        </p:nvSpPr>
        <p:spPr>
          <a:xfrm>
            <a:off x="762000" y="1676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E5A55"/>
                </a:solidFill>
                <a:latin typeface="MiSans"/>
                <a:ea typeface="MiSans"/>
              </a:rPr>
              <a:t>标量 Scalars —— 只有大小</a:t>
            </a:r>
            <a:endParaRPr lang="en-US" sz="1600" noProof="1"/>
          </a:p>
        </p:txBody>
      </p:sp>
      <p:sp>
        <p:nvSpPr>
          <p:cNvPr id="7" name="sc-list"/>
          <p:cNvSpPr txBox="1"/>
          <p:nvPr/>
        </p:nvSpPr>
        <p:spPr>
          <a:xfrm>
            <a:off x="762000" y="2108200"/>
            <a:ext cx="5080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distance 距离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speed 速率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mass 质量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temperature 温度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energy 能量</a:t>
            </a:r>
            <a:endParaRPr lang="en-US" sz="1400" noProof="1"/>
          </a:p>
        </p:txBody>
      </p:sp>
      <p:sp>
        <p:nvSpPr>
          <p:cNvPr id="8" name="mid-rule"/>
          <p:cNvSpPr/>
          <p:nvPr/>
        </p:nvSpPr>
        <p:spPr>
          <a:xfrm>
            <a:off x="6096000" y="1676400"/>
            <a:ext cx="12700" cy="28448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vc-head"/>
          <p:cNvSpPr txBox="1"/>
          <p:nvPr/>
        </p:nvSpPr>
        <p:spPr>
          <a:xfrm>
            <a:off x="6451600" y="1676400"/>
            <a:ext cx="4978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C96F16"/>
                </a:solidFill>
                <a:latin typeface="MiSans"/>
                <a:ea typeface="MiSans"/>
              </a:rPr>
              <a:t>矢量 Vectors —— 大小 + 方向</a:t>
            </a:r>
            <a:endParaRPr lang="en-US" sz="1600" noProof="1"/>
          </a:p>
        </p:txBody>
      </p:sp>
      <p:sp>
        <p:nvSpPr>
          <p:cNvPr id="10" name="vc-list"/>
          <p:cNvSpPr txBox="1"/>
          <p:nvPr/>
        </p:nvSpPr>
        <p:spPr>
          <a:xfrm>
            <a:off x="6451600" y="2108200"/>
            <a:ext cx="49784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displacement 位移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velocity 速度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force / weight 力 / 重力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acceleration 加速度</a:t>
            </a:r>
            <a:endParaRPr lang="en-US" sz="1400" noProof="1"/>
          </a:p>
          <a:p>
            <a:pPr>
              <a:lnSpc>
                <a:spcPct val="20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momentum 动量</a:t>
            </a:r>
            <a:endParaRPr lang="en-US" sz="1400" noProof="1"/>
          </a:p>
        </p:txBody>
      </p:sp>
      <p:sp>
        <p:nvSpPr>
          <p:cNvPr id="11" name="trap-box"/>
          <p:cNvSpPr/>
          <p:nvPr/>
        </p:nvSpPr>
        <p:spPr>
          <a:xfrm>
            <a:off x="762000" y="4749800"/>
            <a:ext cx="10668000" cy="1473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2" name="trap-head"/>
          <p:cNvSpPr txBox="1"/>
          <p:nvPr/>
        </p:nvSpPr>
        <p:spPr>
          <a:xfrm>
            <a:off x="965200" y="4902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选择题高频陷阱：两对“孪生词”</a:t>
            </a:r>
            <a:endParaRPr lang="en-US" sz="1500" noProof="1"/>
          </a:p>
        </p:txBody>
      </p:sp>
      <p:sp>
        <p:nvSpPr>
          <p:cNvPr id="13" name="trap-body"/>
          <p:cNvSpPr txBox="1"/>
          <p:nvPr/>
        </p:nvSpPr>
        <p:spPr>
          <a:xfrm>
            <a:off x="965200" y="5257800"/>
            <a:ext cx="10261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speed 速率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（标量） vs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velocity 速度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（矢量）：圆周运动速率不变，但速度时刻在变（方向在变）。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distance 距离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（标量） vs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displacement 位移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（矢量）：跑完一圈 400 m 回到起点，distance = 400 m，displacement = 0。</a:t>
            </a:r>
            <a:endParaRPr lang="en-US" sz="130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1.4 · ADDING VECTORS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矢量相加：垂直用勾股，非垂直用作图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Calculation when perpendicular · scale drawing otherwise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m1-head"/>
          <p:cNvSpPr txBox="1"/>
          <p:nvPr/>
        </p:nvSpPr>
        <p:spPr>
          <a:xfrm>
            <a:off x="762000" y="16510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方法 ① 计算法 Calculation（两矢量夹角 = 90°）</a:t>
            </a:r>
            <a:endParaRPr lang="en-US" sz="1500" noProof="1"/>
          </a:p>
        </p:txBody>
      </p:sp>
      <p:sp>
        <p:nvSpPr>
          <p:cNvPr id="7" name="m1-body"/>
          <p:cNvSpPr txBox="1"/>
          <p:nvPr/>
        </p:nvSpPr>
        <p:spPr>
          <a:xfrm>
            <a:off x="762000" y="2032000"/>
            <a:ext cx="6350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例：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两个互相垂直的力 5 N 与 12 N，求合力大小和方向。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大小（勾股定理 Pythagoras）：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R² = 5² + 12² = 169 →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R = 13 N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方向（三角函数）：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tan θ = 5/12 →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θ = 22.6°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（与水平方向）</a:t>
            </a:r>
            <a:endParaRPr lang="en-US" sz="1300" noProof="1"/>
          </a:p>
        </p:txBody>
      </p:sp>
      <p:sp>
        <p:nvSpPr>
          <p:cNvPr id="8" name="m1-warn"/>
          <p:cNvSpPr txBox="1"/>
          <p:nvPr/>
        </p:nvSpPr>
        <p:spPr>
          <a:xfrm>
            <a:off x="762000" y="43688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踩分点：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必须写清角度的参照方向（如 from the horizontal），否则方向分会丢！</a:t>
            </a:r>
            <a:endParaRPr lang="en-US" sz="1250" noProof="1"/>
          </a:p>
        </p:txBody>
      </p:sp>
      <p:sp>
        <p:nvSpPr>
          <p:cNvPr id="9" name="m2-head"/>
          <p:cNvSpPr txBox="1"/>
          <p:nvPr/>
        </p:nvSpPr>
        <p:spPr>
          <a:xfrm>
            <a:off x="762000" y="50800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方法 ② 标度作图法 Scale drawing（夹角 ≠ 90°）</a:t>
            </a:r>
            <a:endParaRPr lang="en-US" sz="1500" noProof="1"/>
          </a:p>
        </p:txBody>
      </p:sp>
      <p:sp>
        <p:nvSpPr>
          <p:cNvPr id="10" name="m2-body"/>
          <p:cNvSpPr txBox="1"/>
          <p:nvPr/>
        </p:nvSpPr>
        <p:spPr>
          <a:xfrm>
            <a:off x="762000" y="54356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用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直尺 + 量角器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按比例画图，注明比例尺；量出合矢量长度与角度。同方向矢量直接加减大小即可。</a:t>
            </a:r>
            <a:endParaRPr lang="en-US" sz="1250" noProof="1"/>
          </a:p>
        </p:txBody>
      </p:sp>
      <p:sp>
        <p:nvSpPr>
          <p:cNvPr id="11" name="tri-base"/>
          <p:cNvSpPr/>
          <p:nvPr>
            <p:extLst>
              <p:ext uri="{F5677B7D-0D2A-4D9B-9A5C-6D8D7D0E5A5D}">
                <pptd:line encoding="base64url">eyJ2aWV3Qm94IjpbMjIwLDRdLCJwb2ludHMiOiIwLDIgMjIwLDIiLCJjdXJ2ZSI6InNoYXJwIn0</pptd:line>
              </p:ext>
            </p:extLst>
          </p:nvPr>
        </p:nvSpPr>
        <p:spPr>
          <a:xfrm>
            <a:off x="7924800" y="4902200"/>
            <a:ext cx="2794000" cy="50800"/>
          </a:xfrm>
          <a:custGeom>
            <a:avLst/>
            <a:gdLst/>
            <a:ahLst/>
            <a:cxnLst/>
            <a:rect l="l" t="t" r="r" b="b"/>
            <a:pathLst>
              <a:path w="220" h="4">
                <a:moveTo>
                  <a:pt x="0" y="2"/>
                </a:moveTo>
                <a:lnTo>
                  <a:pt x="220" y="2"/>
                </a:lnTo>
              </a:path>
            </a:pathLst>
          </a:custGeom>
          <a:noFill/>
          <a:ln w="31750">
            <a:solidFill>
              <a:srgbClr val="22303A"/>
            </a:solidFill>
            <a:tailEnd type="arrow"/>
          </a:ln>
        </p:spPr>
      </p:sp>
      <p:sp>
        <p:nvSpPr>
          <p:cNvPr id="12" name="tri-vert"/>
          <p:cNvSpPr/>
          <p:nvPr>
            <p:extLst>
              <p:ext uri="{F5677B7D-0D2A-4D9B-9A5C-6D8D7D0E5A5D}">
                <pptd:line encoding="base64url">eyJ2aWV3Qm94IjpbNCw5NF0sInBvaW50cyI6IjIsOTQgMiwwIiwiY3VydmUiOiJzaGFycCJ9</pptd:line>
              </p:ext>
            </p:extLst>
          </p:nvPr>
        </p:nvSpPr>
        <p:spPr>
          <a:xfrm>
            <a:off x="10668000" y="3733800"/>
            <a:ext cx="50800" cy="1193800"/>
          </a:xfrm>
          <a:custGeom>
            <a:avLst/>
            <a:gdLst/>
            <a:ahLst/>
            <a:cxnLst/>
            <a:rect l="l" t="t" r="r" b="b"/>
            <a:pathLst>
              <a:path w="4" h="94">
                <a:moveTo>
                  <a:pt x="2" y="94"/>
                </a:moveTo>
                <a:lnTo>
                  <a:pt x="2" y="0"/>
                </a:lnTo>
              </a:path>
            </a:pathLst>
          </a:custGeom>
          <a:noFill/>
          <a:ln w="31750">
            <a:solidFill>
              <a:srgbClr val="22303A"/>
            </a:solidFill>
            <a:tailEnd type="arrow"/>
          </a:ln>
        </p:spPr>
      </p:sp>
      <p:sp>
        <p:nvSpPr>
          <p:cNvPr id="13" name="tri-hyp"/>
          <p:cNvSpPr/>
          <p:nvPr>
            <p:extLst>
              <p:ext uri="{F5677B7D-0D2A-4D9B-9A5C-6D8D7D0E5A5D}">
                <pptd:line encoding="base64url">eyJ2aWV3Qm94IjpbMjIwLDk0XSwicG9pbnRzIjoiMCw5NCAyMjAsMCIsImN1cnZlIjoic2hhcnAifQ</pptd:line>
              </p:ext>
            </p:extLst>
          </p:nvPr>
        </p:nvSpPr>
        <p:spPr>
          <a:xfrm>
            <a:off x="7924800" y="3733800"/>
            <a:ext cx="2794000" cy="1193800"/>
          </a:xfrm>
          <a:custGeom>
            <a:avLst/>
            <a:gdLst/>
            <a:ahLst/>
            <a:cxnLst/>
            <a:rect l="l" t="t" r="r" b="b"/>
            <a:pathLst>
              <a:path w="220" h="94">
                <a:moveTo>
                  <a:pt x="0" y="94"/>
                </a:moveTo>
                <a:lnTo>
                  <a:pt x="220" y="0"/>
                </a:lnTo>
              </a:path>
            </a:pathLst>
          </a:custGeom>
          <a:noFill/>
          <a:ln w="31750">
            <a:solidFill>
              <a:srgbClr val="0E5A55"/>
            </a:solidFill>
            <a:tailEnd type="arrow"/>
          </a:ln>
        </p:spPr>
      </p:sp>
      <p:sp>
        <p:nvSpPr>
          <p:cNvPr id="14" name="tri-lb-base"/>
          <p:cNvSpPr txBox="1"/>
          <p:nvPr/>
        </p:nvSpPr>
        <p:spPr>
          <a:xfrm>
            <a:off x="8763000" y="5029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12 N</a:t>
            </a:r>
            <a:endParaRPr lang="en-US" sz="1300" noProof="1"/>
          </a:p>
        </p:txBody>
      </p:sp>
      <p:sp>
        <p:nvSpPr>
          <p:cNvPr id="15" name="tri-lb-vert"/>
          <p:cNvSpPr txBox="1"/>
          <p:nvPr/>
        </p:nvSpPr>
        <p:spPr>
          <a:xfrm>
            <a:off x="10820400" y="4191000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5 N</a:t>
            </a:r>
            <a:endParaRPr lang="en-US" sz="1300" noProof="1"/>
          </a:p>
        </p:txBody>
      </p:sp>
      <p:sp>
        <p:nvSpPr>
          <p:cNvPr id="16" name="tri-lb-hyp"/>
          <p:cNvSpPr txBox="1"/>
          <p:nvPr/>
        </p:nvSpPr>
        <p:spPr>
          <a:xfrm>
            <a:off x="8382000" y="3810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R = 13 N</a:t>
            </a:r>
            <a:endParaRPr lang="en-US" sz="1300" noProof="1"/>
          </a:p>
        </p:txBody>
      </p:sp>
      <p:sp>
        <p:nvSpPr>
          <p:cNvPr id="17" name="tri-lb-ang"/>
          <p:cNvSpPr txBox="1"/>
          <p:nvPr/>
        </p:nvSpPr>
        <p:spPr>
          <a:xfrm>
            <a:off x="8077200" y="4521200"/>
            <a:ext cx="1397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θ = 22.6°</a:t>
            </a:r>
            <a:endParaRPr lang="en-US" sz="1200" noProof="1"/>
          </a:p>
        </p:txBody>
      </p:sp>
      <p:sp>
        <p:nvSpPr>
          <p:cNvPr id="18" name="tri-caption"/>
          <p:cNvSpPr txBox="1"/>
          <p:nvPr/>
        </p:nvSpPr>
        <p:spPr>
          <a:xfrm>
            <a:off x="7620000" y="538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矢量首尾相接（tip-to-tail），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从起点指向终点的就是合矢量 R</a:t>
            </a:r>
            <a:endParaRPr lang="en-US" sz="1100" noProof="1"/>
          </a:p>
        </p:txBody>
      </p:sp>
      <p:sp>
        <p:nvSpPr>
          <p:cNvPr id="19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21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1.4 · RESOLVING VECTORS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分解矢量：相加的逆运算，垂直分量互不影响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Resolve any vector into perpendicular components with trigonometry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why-body"/>
          <p:cNvSpPr txBox="1"/>
          <p:nvPr/>
        </p:nvSpPr>
        <p:spPr>
          <a:xfrm>
            <a:off x="762000" y="16510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互相垂直的分量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互不影响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，可以分开处理——这就是分解的价值：抛体运动、斜面受力都靠它。</a:t>
            </a:r>
            <a:endParaRPr lang="en-US" sz="1350" noProof="1"/>
          </a:p>
        </p:txBody>
      </p:sp>
      <p:sp>
        <p:nvSpPr>
          <p:cNvPr id="7" name="formula-box"/>
          <p:cNvSpPr/>
          <p:nvPr/>
        </p:nvSpPr>
        <p:spPr>
          <a:xfrm>
            <a:off x="762000" y="2590800"/>
            <a:ext cx="6350000" cy="939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formula-text"/>
              <p:cNvSpPr txBox="1"/>
              <p:nvPr/>
            </p:nvSpPr>
            <p:spPr>
              <a:xfrm>
                <a:off x="1016000" y="2692400"/>
                <a:ext cx="58420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noProof="1">
                    <a:solidFill>
                      <a:srgbClr val="22303A"/>
                    </a:solidFill>
                    <a:latin typeface="MiSans"/>
                    <a:ea typeface="MiSans"/>
                  </a:rPr>
                  <a:t>水平分量　</a:t>
                </a:r>
                <a14:m>
                  <m:oMath>
                    <m:r>
                      <a:rPr lang="en-US" sz="1600" noProof="1" i="1">
                        <a:solidFill>
                          <a:srgbClr val="22303A"/>
                        </a:solidFill>
                        <a:latin typeface="MiSans"/>
                      </a:rPr>
                      <m:t>x</m:t>
                    </m:r>
                    <m:r>
                      <a:rPr lang="en-US" sz="1600" noProof="1" i="0">
                        <a:solidFill>
                          <a:srgbClr val="22303A"/>
                        </a:solidFill>
                        <a:latin typeface="MiSans"/>
                      </a:rPr>
                      <m:t>=</m:t>
                    </m:r>
                    <m:r>
                      <a:rPr lang="en-US" sz="1600" noProof="1" i="1">
                        <a:solidFill>
                          <a:srgbClr val="22303A"/>
                        </a:solidFill>
                        <a:latin typeface="MiSans"/>
                      </a:rPr>
                      <m:t>V</m:t>
                    </m:r>
                    <m:r>
                      <a:rPr lang="en-US" sz="1600" noProof="1" i="0">
                        <a:solidFill>
                          <a:srgbClr val="22303A"/>
                        </a:solidFill>
                        <a:latin typeface="MiSans"/>
                      </a:rPr>
                      <m:t>cos</m:t>
                    </m:r>
                    <m:r>
                      <a:rPr lang="en-US" sz="1600" noProof="1" i="0">
                        <a:solidFill>
                          <a:srgbClr val="22303A"/>
                        </a:solidFill>
                        <a:latin typeface="MiSans"/>
                      </a:rPr>
                      <m:t>θ</m:t>
                    </m:r>
                  </m:oMath>
                </a14:m>
                <a:r>
                  <a:rPr lang="en-US" sz="1600" noProof="1">
                    <a:solidFill>
                      <a:srgbClr val="22303A"/>
                    </a:solidFill>
                    <a:latin typeface="MiSans"/>
                    <a:ea typeface="MiSans"/>
                  </a:rPr>
                  <a:t>　　竖直分量　</a:t>
                </a:r>
                <a14:m>
                  <m:oMath>
                    <m:r>
                      <a:rPr lang="en-US" sz="1600" noProof="1" i="1">
                        <a:solidFill>
                          <a:srgbClr val="22303A"/>
                        </a:solidFill>
                        <a:latin typeface="MiSans"/>
                      </a:rPr>
                      <m:t>y</m:t>
                    </m:r>
                    <m:r>
                      <a:rPr lang="en-US" sz="1600" noProof="1" i="0">
                        <a:solidFill>
                          <a:srgbClr val="22303A"/>
                        </a:solidFill>
                        <a:latin typeface="MiSans"/>
                      </a:rPr>
                      <m:t>=</m:t>
                    </m:r>
                    <m:r>
                      <a:rPr lang="en-US" sz="1600" noProof="1" i="1">
                        <a:solidFill>
                          <a:srgbClr val="22303A"/>
                        </a:solidFill>
                        <a:latin typeface="MiSans"/>
                      </a:rPr>
                      <m:t>V</m:t>
                    </m:r>
                    <m:r>
                      <a:rPr lang="en-US" sz="1600" noProof="1" i="0">
                        <a:solidFill>
                          <a:srgbClr val="22303A"/>
                        </a:solidFill>
                        <a:latin typeface="MiSans"/>
                      </a:rPr>
                      <m:t>sin</m:t>
                    </m:r>
                    <m:r>
                      <a:rPr lang="en-US" sz="1600" noProof="1" i="0">
                        <a:solidFill>
                          <a:srgbClr val="22303A"/>
                        </a:solidFill>
                        <a:latin typeface="MiSans"/>
                      </a:rPr>
                      <m:t>θ</m:t>
                    </m:r>
                  </m:oMath>
                </a14:m>
                <a:endParaRPr lang="en-US" sz="1600" noProof="1"/>
              </a:p>
            </p:txBody>
          </p:sp>
        </mc:Choice>
        <mc:Fallback xmlns="">
          <p:sp>
            <p:nvSpPr>
              <p:cNvPr id="8" name="formula-text"/>
              <p:cNvSpPr txBox="1"/>
              <p:nvPr/>
            </p:nvSpPr>
            <p:spPr>
              <a:xfrm>
                <a:off x="1016000" y="2692400"/>
                <a:ext cx="58420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 anchor="ctr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noProof="1">
                    <a:solidFill>
                      <a:srgbClr val="22303A"/>
                    </a:solidFill>
                    <a:latin typeface="MiSans"/>
                    <a:ea typeface="MiSans"/>
                  </a:rPr>
                  <a:t>水平分量　\(x = V\cos\theta\)　　竖直分量　\(y = V\sin\theta\)</a:t>
                </a:r>
                <a:endParaRPr lang="en-US" sz="1600" noProof="1"/>
              </a:p>
            </p:txBody>
          </p:sp>
        </mc:Fallback>
      </mc:AlternateContent>
      <p:sp>
        <p:nvSpPr>
          <p:cNvPr id="9" name="tip-body"/>
          <p:cNvSpPr txBox="1"/>
          <p:nvPr/>
        </p:nvSpPr>
        <p:spPr>
          <a:xfrm>
            <a:off x="762000" y="37084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不背公式的记法：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从原矢量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穿过 θ 角到达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的分量用 cos；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远离 θ 角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的分量用 sin。</a:t>
            </a:r>
            <a:endParaRPr lang="en-US" sz="1300" noProof="1"/>
          </a:p>
        </p:txBody>
      </p:sp>
      <p:sp>
        <p:nvSpPr>
          <p:cNvPr id="10" name="eg-head"/>
          <p:cNvSpPr txBox="1"/>
          <p:nvPr/>
        </p:nvSpPr>
        <p:spPr>
          <a:xfrm>
            <a:off x="762000" y="46482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例题：10 m s⁻¹、与水平成 30° 抛出</a:t>
            </a:r>
            <a:endParaRPr lang="en-US" sz="1500" noProof="1"/>
          </a:p>
        </p:txBody>
      </p:sp>
      <p:sp>
        <p:nvSpPr>
          <p:cNvPr id="11" name="eg-body"/>
          <p:cNvSpPr txBox="1"/>
          <p:nvPr/>
        </p:nvSpPr>
        <p:spPr>
          <a:xfrm>
            <a:off x="762000" y="50038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x = 10 cos 30° = 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8.7 m s</a:t>
            </a:r>
            <a:r>
              <a:rPr lang="en-US" sz="1350" noProof="1" b="1" baseline="30000">
                <a:solidFill>
                  <a:srgbClr val="0E5A55"/>
                </a:solidFill>
                <a:latin typeface="MiSans"/>
                <a:ea typeface="MiSans"/>
              </a:rPr>
              <a:t>−1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（穿过 θ 角 → cos）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y = 10 sin 30° = 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5.0 m s</a:t>
            </a:r>
            <a:r>
              <a:rPr lang="en-US" sz="1350" noProof="1" b="1" baseline="30000">
                <a:solidFill>
                  <a:srgbClr val="0E5A55"/>
                </a:solidFill>
                <a:latin typeface="MiSans"/>
                <a:ea typeface="MiSans"/>
              </a:rPr>
              <a:t>−1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（远离 θ 角 → sin）</a:t>
            </a:r>
            <a:endParaRPr lang="en-US" sz="1350" noProof="1"/>
          </a:p>
        </p:txBody>
      </p:sp>
      <p:sp>
        <p:nvSpPr>
          <p:cNvPr id="12" name="use-note"/>
          <p:cNvSpPr txBox="1"/>
          <p:nvPr/>
        </p:nvSpPr>
        <p:spPr>
          <a:xfrm>
            <a:off x="762000" y="5969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非 90° 矢量相加也可以：先各自分解，分量相加，再用勾股合成。</a:t>
            </a:r>
            <a:endParaRPr lang="en-US" sz="1100" noProof="1"/>
          </a:p>
        </p:txBody>
      </p:sp>
      <p:sp>
        <p:nvSpPr>
          <p:cNvPr id="13" name="vec-main"/>
          <p:cNvSpPr/>
          <p:nvPr>
            <p:extLst>
              <p:ext uri="{F5677B7D-0D2A-4D9B-9A5C-6D8D7D0E5A5D}">
                <pptd:line encoding="base64url">eyJ2aWV3Qm94IjpbMjAwLDE0MF0sInBvaW50cyI6IjAsMTQwIDIwMCwwIiwiY3VydmUiOiJzaGFycCJ9</pptd:line>
              </p:ext>
            </p:extLst>
          </p:nvPr>
        </p:nvSpPr>
        <p:spPr>
          <a:xfrm>
            <a:off x="8128000" y="3048000"/>
            <a:ext cx="2540000" cy="1778000"/>
          </a:xfrm>
          <a:custGeom>
            <a:avLst/>
            <a:gdLst/>
            <a:ahLst/>
            <a:cxnLst/>
            <a:rect l="l" t="t" r="r" b="b"/>
            <a:pathLst>
              <a:path w="200" h="140">
                <a:moveTo>
                  <a:pt x="0" y="140"/>
                </a:moveTo>
                <a:lnTo>
                  <a:pt x="200" y="0"/>
                </a:lnTo>
              </a:path>
            </a:pathLst>
          </a:custGeom>
          <a:noFill/>
          <a:ln w="38100">
            <a:solidFill>
              <a:srgbClr val="0E5A55"/>
            </a:solidFill>
            <a:tailEnd type="arrow"/>
          </a:ln>
        </p:spPr>
      </p:sp>
      <p:sp>
        <p:nvSpPr>
          <p:cNvPr id="14" name="vec-x"/>
          <p:cNvSpPr/>
          <p:nvPr>
            <p:extLst>
              <p:ext uri="{F5677B7D-0D2A-4D9B-9A5C-6D8D7D0E5A5D}">
                <pptd:line encoding="base64url">eyJ2aWV3Qm94IjpbMjAwLDRdLCJwb2ludHMiOiIwLDIgMjAwLDIiLCJjdXJ2ZSI6InNoYXJwIn0</pptd:line>
              </p:ext>
            </p:extLst>
          </p:nvPr>
        </p:nvSpPr>
        <p:spPr>
          <a:xfrm>
            <a:off x="8128000" y="4775200"/>
            <a:ext cx="2540000" cy="50800"/>
          </a:xfrm>
          <a:custGeom>
            <a:avLst/>
            <a:gdLst/>
            <a:ahLst/>
            <a:cxnLst/>
            <a:rect l="l" t="t" r="r" b="b"/>
            <a:pathLst>
              <a:path w="200" h="4">
                <a:moveTo>
                  <a:pt x="0" y="2"/>
                </a:moveTo>
                <a:lnTo>
                  <a:pt x="200" y="2"/>
                </a:lnTo>
              </a:path>
            </a:pathLst>
          </a:custGeom>
          <a:noFill/>
          <a:ln w="25400">
            <a:solidFill>
              <a:srgbClr val="6E6A62"/>
            </a:solidFill>
            <a:prstDash val="dash"/>
            <a:tailEnd type="arrow"/>
          </a:ln>
        </p:spPr>
      </p:sp>
      <p:sp>
        <p:nvSpPr>
          <p:cNvPr id="15" name="vec-y"/>
          <p:cNvSpPr/>
          <p:nvPr>
            <p:extLst>
              <p:ext uri="{F5677B7D-0D2A-4D9B-9A5C-6D8D7D0E5A5D}">
                <pptd:line encoding="base64url">eyJ2aWV3Qm94IjpbNCwxMzhdLCJwb2ludHMiOiIyLDEzOCAyLDAiLCJjdXJ2ZSI6InNoYXJwIn0</pptd:line>
              </p:ext>
            </p:extLst>
          </p:nvPr>
        </p:nvSpPr>
        <p:spPr>
          <a:xfrm>
            <a:off x="10617200" y="3048000"/>
            <a:ext cx="50800" cy="1752600"/>
          </a:xfrm>
          <a:custGeom>
            <a:avLst/>
            <a:gdLst/>
            <a:ahLst/>
            <a:cxnLst/>
            <a:rect l="l" t="t" r="r" b="b"/>
            <a:pathLst>
              <a:path w="4" h="138">
                <a:moveTo>
                  <a:pt x="2" y="138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6E6A62"/>
            </a:solidFill>
            <a:prstDash val="dash"/>
            <a:tailEnd type="arrow"/>
          </a:ln>
        </p:spPr>
      </p:sp>
      <p:sp>
        <p:nvSpPr>
          <p:cNvPr id="16" name="vec-lb-main"/>
          <p:cNvSpPr txBox="1"/>
          <p:nvPr/>
        </p:nvSpPr>
        <p:spPr>
          <a:xfrm>
            <a:off x="8636000" y="34036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V = 10 m s⁻¹</a:t>
            </a:r>
            <a:endParaRPr lang="en-US" sz="1300" noProof="1"/>
          </a:p>
        </p:txBody>
      </p:sp>
      <p:sp>
        <p:nvSpPr>
          <p:cNvPr id="17" name="vec-lb-x"/>
          <p:cNvSpPr txBox="1"/>
          <p:nvPr/>
        </p:nvSpPr>
        <p:spPr>
          <a:xfrm>
            <a:off x="8382000" y="49276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x = V cos θ = 8.7</a:t>
            </a:r>
            <a:endParaRPr lang="en-US" sz="1250" noProof="1"/>
          </a:p>
        </p:txBody>
      </p:sp>
      <p:sp>
        <p:nvSpPr>
          <p:cNvPr id="18" name="vec-lb-y"/>
          <p:cNvSpPr txBox="1"/>
          <p:nvPr/>
        </p:nvSpPr>
        <p:spPr>
          <a:xfrm>
            <a:off x="10744200" y="3810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y = V sin θ</a:t>
            </a:r>
            <a:endParaRPr lang="en-US" sz="1250" noProof="1"/>
          </a:p>
        </p:txBody>
      </p:sp>
      <p:sp>
        <p:nvSpPr>
          <p:cNvPr id="19" name="vec-lb-ang"/>
          <p:cNvSpPr txBox="1"/>
          <p:nvPr/>
        </p:nvSpPr>
        <p:spPr>
          <a:xfrm>
            <a:off x="8432800" y="4368800"/>
            <a:ext cx="1016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θ = 30°</a:t>
            </a:r>
            <a:endParaRPr lang="en-US" sz="1200" noProof="1"/>
          </a:p>
        </p:txBody>
      </p:sp>
      <p:sp>
        <p:nvSpPr>
          <p:cNvPr id="20" name="vec-caption"/>
          <p:cNvSpPr txBox="1"/>
          <p:nvPr/>
        </p:nvSpPr>
        <p:spPr>
          <a:xfrm>
            <a:off x="7620000" y="538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虚线是 V 的两个分量；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它们等效替代原矢量，且互不干扰</a:t>
            </a:r>
            <a:endParaRPr lang="en-US" sz="1100" noProof="1"/>
          </a:p>
        </p:txBody>
      </p:sp>
      <p:sp>
        <p:nvSpPr>
          <p:cNvPr id="21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PRACTICE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动手试一试：三道题覆盖本章三大考点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Cover this page's answers (next page) before you check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800" noProof="1"/>
          </a:p>
        </p:txBody>
      </p:sp>
      <p:sp>
        <p:nvSpPr>
          <p:cNvPr id="8" name="q1-body"/>
          <p:cNvSpPr txBox="1"/>
          <p:nvPr/>
        </p:nvSpPr>
        <p:spPr>
          <a:xfrm>
            <a:off x="1549400" y="16764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【SI 单位】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压强定义为 p = F / A（力 ÷ 面积）。用 SI 基本单位表示压强的单位，并写出推导过程。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Express the unit of pressure in SI base units. Show your working.</a:t>
            </a:r>
            <a:endParaRPr lang="en-US" sz="1350" noProof="1"/>
          </a:p>
        </p:txBody>
      </p:sp>
      <p:sp>
        <p:nvSpPr>
          <p:cNvPr id="9" name="q2-badge"/>
          <p:cNvSpPr/>
          <p:nvPr/>
        </p:nvSpPr>
        <p:spPr>
          <a:xfrm>
            <a:off x="762000" y="27432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800" noProof="1"/>
          </a:p>
        </p:txBody>
      </p:sp>
      <p:sp>
        <p:nvSpPr>
          <p:cNvPr id="11" name="q2-body"/>
          <p:cNvSpPr txBox="1"/>
          <p:nvPr/>
        </p:nvSpPr>
        <p:spPr>
          <a:xfrm>
            <a:off x="1549400" y="27432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【不确定度】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矩形金属片长 12.0 ± 0.1 cm、宽 5.0 ± 0.1 cm。求其面积的百分比不确定度，并写出 A = 60.0 cm² 的完整结果（含绝对不确定度）。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Find the percentage uncertainty in the area, then quote the area with its absolute uncertainty.</a:t>
            </a:r>
            <a:endParaRPr lang="en-US" sz="1350" noProof="1"/>
          </a:p>
        </p:txBody>
      </p:sp>
      <p:sp>
        <p:nvSpPr>
          <p:cNvPr id="12" name="q3-badge"/>
          <p:cNvSpPr/>
          <p:nvPr/>
        </p:nvSpPr>
        <p:spPr>
          <a:xfrm>
            <a:off x="762000" y="3810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q3-num"/>
          <p:cNvSpPr txBox="1"/>
          <p:nvPr/>
        </p:nvSpPr>
        <p:spPr>
          <a:xfrm>
            <a:off x="762000" y="381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800" noProof="1"/>
          </a:p>
        </p:txBody>
      </p:sp>
      <p:sp>
        <p:nvSpPr>
          <p:cNvPr id="14" name="q3-body"/>
          <p:cNvSpPr txBox="1"/>
          <p:nvPr/>
        </p:nvSpPr>
        <p:spPr>
          <a:xfrm>
            <a:off x="1549400" y="38100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【矢量分解】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大小 20 N 的拉力与水平方向成 60° 角。求该力的水平分量与竖直分量。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Resolve a 20 N force at 60° to the horizontal into components.</a:t>
            </a:r>
            <a:endParaRPr lang="en-US" sz="1350" noProof="1"/>
          </a:p>
        </p:txBody>
      </p:sp>
      <p:sp>
        <p:nvSpPr>
          <p:cNvPr id="15" name="crit-box"/>
          <p:cNvSpPr/>
          <p:nvPr/>
        </p:nvSpPr>
        <p:spPr>
          <a:xfrm>
            <a:off x="762000" y="5029200"/>
            <a:ext cx="10668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rit-head"/>
          <p:cNvSpPr txBox="1"/>
          <p:nvPr/>
        </p:nvSpPr>
        <p:spPr>
          <a:xfrm>
            <a:off x="965200" y="5156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完成标准 Completion criteria</a:t>
            </a:r>
            <a:endParaRPr lang="en-US" sz="1500" noProof="1"/>
          </a:p>
        </p:txBody>
      </p:sp>
      <p:sp>
        <p:nvSpPr>
          <p:cNvPr id="17" name="crit-body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每题都写出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公式 → 代入 → 结果 + 单位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三步；② 不确定度题写清用了哪条规则；③ 矢量题画受力/分解草图并标注 θ。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全部完成后，翻到下一页对答案。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 · 参考答案与解析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对答案：每一步为什么这样做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 with reasons — check your working, not just the number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head"/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Q1　压强的 SI 基本单位</a:t>
            </a:r>
            <a:endParaRPr lang="en-US" sz="14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304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p = F/A → 单位 = (kg m s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) / m²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kg m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 s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−2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（即 Pa）。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6E6A62"/>
                </a:solidFill>
                <a:latin typeface="MiSans"/>
                <a:ea typeface="MiSans"/>
              </a:rPr>
              <a:t>依据：齐次性——公式两边单位必须相同；先用 F = ma 推力的单位，再除以面积单位 m²。</a:t>
            </a:r>
            <a:endParaRPr lang="en-US" sz="1250" noProof="1"/>
          </a:p>
        </p:txBody>
      </p:sp>
      <p:sp>
        <p:nvSpPr>
          <p:cNvPr id="8" name="a1-line"/>
          <p:cNvSpPr/>
          <p:nvPr/>
        </p:nvSpPr>
        <p:spPr>
          <a:xfrm>
            <a:off x="762000" y="27178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a2-head"/>
          <p:cNvSpPr txBox="1"/>
          <p:nvPr/>
        </p:nvSpPr>
        <p:spPr>
          <a:xfrm>
            <a:off x="762000" y="2870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Q2　面积的百分比不确定度</a:t>
            </a:r>
            <a:endParaRPr lang="en-US" sz="1400" noProof="1"/>
          </a:p>
        </p:txBody>
      </p:sp>
      <p:sp>
        <p:nvSpPr>
          <p:cNvPr id="10" name="a2-body"/>
          <p:cNvSpPr txBox="1"/>
          <p:nvPr/>
        </p:nvSpPr>
        <p:spPr>
          <a:xfrm>
            <a:off x="762000" y="3175000"/>
            <a:ext cx="10668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长：0.1/12.0 = 0.83%；宽：0.1/5.0 = 2.0%。乘法（A = l × w）→ 百分比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相加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：0.83% + 2.0% ≈ 2.8%。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绝对不确定度 = 2.8% × 60.0 ≈ 1.7 cm² 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A = 60.0 ± 1.7 cm²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错因排查：把 0.1 直接相加（×，那是加减法的规则）；或忘记换回绝对不确定度。</a:t>
            </a:r>
            <a:endParaRPr lang="en-US" sz="1250" noProof="1"/>
          </a:p>
        </p:txBody>
      </p:sp>
      <p:sp>
        <p:nvSpPr>
          <p:cNvPr id="11" name="a2-line"/>
          <p:cNvSpPr/>
          <p:nvPr/>
        </p:nvSpPr>
        <p:spPr>
          <a:xfrm>
            <a:off x="762000" y="43434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a3-head"/>
          <p:cNvSpPr txBox="1"/>
          <p:nvPr/>
        </p:nvSpPr>
        <p:spPr>
          <a:xfrm>
            <a:off x="762000" y="4495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Q3　20 N 拉力分解</a:t>
            </a:r>
            <a:endParaRPr lang="en-US" sz="1400" noProof="1"/>
          </a:p>
        </p:txBody>
      </p:sp>
      <p:sp>
        <p:nvSpPr>
          <p:cNvPr id="13" name="a3-body"/>
          <p:cNvSpPr txBox="1"/>
          <p:nvPr/>
        </p:nvSpPr>
        <p:spPr>
          <a:xfrm>
            <a:off x="762000" y="48006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水平（穿过 θ 角 → cos）：x = 20 cos 60°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10 N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竖直（远离 θ 角 → sin）：y = 20 sin 60°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17.3 N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错因排查：cos / sin 用反——回到“穿过角用 cos”的判据，并画图确认。</a:t>
            </a:r>
            <a:endParaRPr lang="en-US" sz="1250" noProof="1"/>
          </a:p>
        </p:txBody>
      </p:sp>
      <p:sp>
        <p:nvSpPr>
          <p:cNvPr id="14" name="check-box"/>
          <p:cNvSpPr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check-text"/>
          <p:cNvSpPr txBox="1"/>
          <p:nvPr/>
        </p:nvSpPr>
        <p:spPr>
          <a:xfrm>
            <a:off x="965200" y="5880100"/>
            <a:ext cx="10261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自查口令：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单位推了吗？规则选对了吗？cos/sin 判据用了吗？——三问都过，本章过关。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 · 本章小结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离开本章前，请带走这五件事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Topic 1 checklist — what transfers to every later chapter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762000" y="1676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背熟 6 个 SI 基本单位（kg, m, s, A, K, mol），会用公式推导导出单位并做齐次性检验。</a:t>
            </a:r>
            <a:endParaRPr lang="en-US" sz="1400" noProof="1"/>
          </a:p>
        </p:txBody>
      </p:sp>
      <p:sp>
        <p:nvSpPr>
          <p:cNvPr id="7" name="c2"/>
          <p:cNvSpPr txBox="1"/>
          <p:nvPr/>
        </p:nvSpPr>
        <p:spPr>
          <a:xfrm>
            <a:off x="762000" y="2133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词头 k / m / µ / n / p 相差 10³；记住 1 eV = 1.6×10</a:t>
            </a:r>
            <a:r>
              <a:rPr lang="en-US" sz="1400" noProof="1" baseline="30000">
                <a:solidFill>
                  <a:srgbClr val="22303A"/>
                </a:solidFill>
                <a:latin typeface="MiSans"/>
                <a:ea typeface="MiSans"/>
              </a:rPr>
              <a:t>−19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 J、1 kWh = 3.6 MJ。</a:t>
            </a:r>
            <a:endParaRPr lang="en-US" sz="140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590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随机误差 → 精度 → 重复取平均；系统误差 → 准度 → 校准。精密 ≠ 准确。</a:t>
            </a:r>
            <a:endParaRPr lang="en-US" sz="1400" noProof="1"/>
          </a:p>
        </p:txBody>
      </p:sp>
      <p:sp>
        <p:nvSpPr>
          <p:cNvPr id="9" name="c4"/>
          <p:cNvSpPr txBox="1"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不确定度合成：加减加绝对、乘除加百分比、乘方乘幂次；结果保留 1 位有效数字。</a:t>
            </a:r>
            <a:endParaRPr lang="en-US" sz="140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505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⑤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标量看大小，矢量带方向；垂直用勾股求合成，任意矢量用 Vcosθ / Vsinθ 分解。</a:t>
            </a:r>
            <a:endParaRPr lang="en-US" sz="1400" noProof="1"/>
          </a:p>
        </p:txBody>
      </p:sp>
      <p:sp>
        <p:nvSpPr>
          <p:cNvPr id="11" name="res-rule"/>
          <p:cNvSpPr/>
          <p:nvPr/>
        </p:nvSpPr>
        <p:spPr>
          <a:xfrm>
            <a:off x="762000" y="41402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res-head"/>
          <p:cNvSpPr txBox="1"/>
          <p:nvPr/>
        </p:nvSpPr>
        <p:spPr>
          <a:xfrm>
            <a:off x="762000" y="4343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配套学习资源</a:t>
            </a:r>
            <a:endParaRPr lang="en-US" sz="1500" noProof="1"/>
          </a:p>
        </p:txBody>
      </p:sp>
      <p:sp>
        <p:nvSpPr>
          <p:cNvPr id="13" name="res-body"/>
          <p:cNvSpPr txBox="1"/>
          <p:nvPr/>
        </p:nvSpPr>
        <p:spPr>
          <a:xfrm>
            <a:off x="762000" y="4724400"/>
            <a:ext cx="1066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《中英对照笔记》：本课件全部内容的双语详版，适合课后精读与考前背诵（中英结合笔记 文件夹）。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《讲授演示视频》：10 分钟左右过一遍本章核心概念与例题（教学视频 文件夹）。</a:t>
            </a:r>
            <a:endParaRPr lang="en-US" sz="1300" noProof="1"/>
          </a:p>
        </p:txBody>
      </p:sp>
      <p:sp>
        <p:nvSpPr>
          <p:cNvPr id="14" name="next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next-text"/>
          <p:cNvSpPr txBox="1"/>
          <p:nvPr/>
        </p:nvSpPr>
        <p:spPr>
          <a:xfrm>
            <a:off x="965200" y="58166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下一章预告 Next：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Topic 2 Kinematics 运动学 —— 位移、速度、加速度与运动图像，将反复用到本章的矢量与不确定度。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 物理量与单位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16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16</Slides>
</Properties>
</file>

<file path=docProps/core.xml><?xml version="1.0" encoding="utf-8"?>
<cp:coreProperties xmlns:dc="http://purl.org/dc/elements/1.1/" xmlns:cp="http://schemas.openxmlformats.org/package/2006/metadata/core-properties">
  <dc:title>Topic 1 Physical Quantities and Units 物理量与单位 · CIE A-Level Physics 9702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