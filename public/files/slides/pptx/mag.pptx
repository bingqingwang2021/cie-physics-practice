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m"/>
          <p:cNvSpPr/>
          <p:nvPr/>
        </p:nvSpPr>
        <p:spPr>
          <a:xfrm>
            <a:off x="9258300" y="3067050"/>
            <a:ext cx="342900" cy="3429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dsl:dc-f0"/>
          <p:cNvCxnSpPr/>
          <p:nvPr/>
        </p:nvCxnSpPr>
        <p:spPr>
          <a:xfrm>
            <a:off x="969645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f1"/>
          <p:cNvCxnSpPr/>
          <p:nvPr/>
        </p:nvCxnSpPr>
        <p:spPr>
          <a:xfrm>
            <a:off x="9660718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f2"/>
          <p:cNvCxnSpPr/>
          <p:nvPr/>
        </p:nvCxnSpPr>
        <p:spPr>
          <a:xfrm>
            <a:off x="9563100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f3"/>
          <p:cNvCxnSpPr/>
          <p:nvPr/>
        </p:nvCxnSpPr>
        <p:spPr>
          <a:xfrm>
            <a:off x="9429750" y="350520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f4"/>
          <p:cNvCxnSpPr/>
          <p:nvPr/>
        </p:nvCxnSpPr>
        <p:spPr>
          <a:xfrm flipH="1">
            <a:off x="8715375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f5"/>
          <p:cNvCxnSpPr/>
          <p:nvPr/>
        </p:nvCxnSpPr>
        <p:spPr>
          <a:xfrm flipH="1">
            <a:off x="8192416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f6"/>
          <p:cNvCxnSpPr/>
          <p:nvPr/>
        </p:nvCxnSpPr>
        <p:spPr>
          <a:xfrm>
            <a:off x="800100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f7"/>
          <p:cNvCxnSpPr/>
          <p:nvPr/>
        </p:nvCxnSpPr>
        <p:spPr>
          <a:xfrm>
            <a:off x="8192416" y="2524125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f8"/>
          <p:cNvCxnSpPr/>
          <p:nvPr/>
        </p:nvCxnSpPr>
        <p:spPr>
          <a:xfrm>
            <a:off x="8715374" y="2001166"/>
            <a:ext cx="581026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f9"/>
          <p:cNvCxnSpPr/>
          <p:nvPr/>
        </p:nvCxnSpPr>
        <p:spPr>
          <a:xfrm>
            <a:off x="9429750" y="180975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f10"/>
          <p:cNvCxnSpPr/>
          <p:nvPr/>
        </p:nvCxnSpPr>
        <p:spPr>
          <a:xfrm flipH="1">
            <a:off x="9563100" y="2001166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f11"/>
          <p:cNvCxnSpPr/>
          <p:nvPr/>
        </p:nvCxnSpPr>
        <p:spPr>
          <a:xfrm flipH="1">
            <a:off x="9660718" y="2524124"/>
            <a:ext cx="1006365" cy="581026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20</a:t>
            </a: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Magnetic Fields</a:t>
            </a:r>
          </a:p>
        </p:txBody>
      </p:sp>
      <p:sp>
        <p:nvSpPr>
          <p:cNvPr id="17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磁场</a:t>
            </a:r>
          </a:p>
        </p:txBody>
      </p:sp>
      <p:cxnSp>
        <p:nvCxnSpPr>
          <p:cNvPr id="18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20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22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20.1–20.2 Field &amp; force on a conductor 磁场与安培力</a:t>
            </a:r>
          </a:p>
        </p:txBody>
      </p:sp>
      <p:pic>
        <p:nvPicPr>
          <p:cNvPr id="14" name="dsl:oc0_0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Magnetic field as a field of force; field lines 磁场概念与磁感线</a:t>
            </a:r>
          </a:p>
        </p:txBody>
      </p:sp>
      <p:pic>
        <p:nvPicPr>
          <p:cNvPr id="16" name="dsl:oc0_1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 = BIL sinθ with Fleming’s left-hand rule 左手定则</a:t>
            </a:r>
          </a:p>
        </p:txBody>
      </p:sp>
      <p:pic>
        <p:nvPicPr>
          <p:cNvPr id="18" name="dsl:oc0_2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7146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6860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Define magnetic flux density B (tesla) 磁通密度定义</a:t>
            </a:r>
          </a:p>
        </p:txBody>
      </p:sp>
      <p:sp>
        <p:nvSpPr>
          <p:cNvPr id="20" name="dsl:og1"/>
          <p:cNvSpPr txBox="1"/>
          <p:nvPr/>
        </p:nvSpPr>
        <p:spPr>
          <a:xfrm>
            <a:off x="3467100" y="31051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20.3 Force on a moving charge 洛伦兹力</a:t>
            </a:r>
          </a:p>
        </p:txBody>
      </p:sp>
      <p:pic>
        <p:nvPicPr>
          <p:cNvPr id="21" name="dsl:oc1_0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0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 = BQv sinθ; circular motion in a uniform field 圆周运动</a:t>
            </a:r>
          </a:p>
        </p:txBody>
      </p:sp>
      <p:pic>
        <p:nvPicPr>
          <p:cNvPr id="23" name="dsl:oc1_1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7623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1"/>
          <p:cNvSpPr txBox="1"/>
          <p:nvPr/>
        </p:nvSpPr>
        <p:spPr>
          <a:xfrm>
            <a:off x="3752850" y="37338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Hall voltage V_H = BI/(ntq) and the Hall probe 霍尔效应</a:t>
            </a:r>
          </a:p>
        </p:txBody>
      </p:sp>
      <p:sp>
        <p:nvSpPr>
          <p:cNvPr id="25" name="dsl:og2"/>
          <p:cNvSpPr txBox="1"/>
          <p:nvPr/>
        </p:nvSpPr>
        <p:spPr>
          <a:xfrm>
            <a:off x="3467100" y="41529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20.4 Fields due to currents 电流的磁场</a:t>
            </a:r>
          </a:p>
        </p:txBody>
      </p:sp>
      <p:pic>
        <p:nvPicPr>
          <p:cNvPr id="26" name="dsl:oc2_0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5053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ot2_0"/>
          <p:cNvSpPr txBox="1"/>
          <p:nvPr/>
        </p:nvSpPr>
        <p:spPr>
          <a:xfrm>
            <a:off x="3752850" y="44767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Field patterns of a straight wire, flat coil and solenoid 三种载流体的磁场分布</a:t>
            </a:r>
          </a:p>
        </p:txBody>
      </p:sp>
      <p:sp>
        <p:nvSpPr>
          <p:cNvPr id="28" name="dsl:og3"/>
          <p:cNvSpPr txBox="1"/>
          <p:nvPr/>
        </p:nvSpPr>
        <p:spPr>
          <a:xfrm>
            <a:off x="3467100" y="48958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20.5 Electromagnetic induction 电磁感应</a:t>
            </a:r>
          </a:p>
        </p:txBody>
      </p:sp>
      <p:pic>
        <p:nvPicPr>
          <p:cNvPr id="29" name="dsl:oc3_0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2482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0" name="dsl:ot3_0"/>
          <p:cNvSpPr txBox="1"/>
          <p:nvPr/>
        </p:nvSpPr>
        <p:spPr>
          <a:xfrm>
            <a:off x="3752850" y="52197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Magnetic flux Φ = BA and flux linkage NΦ 磁通量与磁链</a:t>
            </a:r>
          </a:p>
        </p:txBody>
      </p:sp>
      <p:pic>
        <p:nvPicPr>
          <p:cNvPr id="31" name="dsl:oc3_1|i=fas:square-check" descr="tmp8jcscz7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5530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2" name="dsl:ot3_1"/>
          <p:cNvSpPr txBox="1"/>
          <p:nvPr/>
        </p:nvSpPr>
        <p:spPr>
          <a:xfrm>
            <a:off x="3752850" y="55245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Faraday’s law and Lenz’s law 法拉第定律与楞次定律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Concept of a Magnetic Field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磁场的概念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22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magnetic field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a region of space where a force is experienced by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magnetic pole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moving charge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or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current-carrying conductor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磁体、运动电荷或载流导体受力的区域。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314700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Produced by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permanent magnets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or by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moving charges (currents)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永磁体或电流产生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Field lines: N → S outside the magnet 外部 N 到 S；density shows strength 疏密表强弱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Oersted (1820): a current deflects a compass — currents create magnetic fields 奥斯特发现电流磁效应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mg-n"/>
          <p:cNvSpPr/>
          <p:nvPr/>
        </p:nvSpPr>
        <p:spPr>
          <a:xfrm>
            <a:off x="6858000" y="2857500"/>
            <a:ext cx="857250" cy="12382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mg-nt"/>
          <p:cNvSpPr txBox="1"/>
          <p:nvPr/>
        </p:nvSpPr>
        <p:spPr>
          <a:xfrm>
            <a:off x="6858000" y="2857500"/>
            <a:ext cx="857250" cy="1238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FFFFFF"/>
                </a:solidFill>
                <a:latin typeface="MiSans"/>
                <a:ea typeface="MiSans"/>
              </a:rPr>
              <a:t>N</a:t>
            </a:r>
          </a:p>
        </p:txBody>
      </p:sp>
      <p:sp>
        <p:nvSpPr>
          <p:cNvPr id="16" name="dsl:mg-s"/>
          <p:cNvSpPr/>
          <p:nvPr/>
        </p:nvSpPr>
        <p:spPr>
          <a:xfrm>
            <a:off x="10382250" y="2857500"/>
            <a:ext cx="857250" cy="12382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mg-st"/>
          <p:cNvSpPr txBox="1"/>
          <p:nvPr/>
        </p:nvSpPr>
        <p:spPr>
          <a:xfrm>
            <a:off x="10382250" y="2857500"/>
            <a:ext cx="857250" cy="1238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FFFFFF"/>
                </a:solidFill>
                <a:latin typeface="MiSans"/>
                <a:ea typeface="MiSans"/>
              </a:rPr>
              <a:t>S</a:t>
            </a:r>
          </a:p>
        </p:txBody>
      </p:sp>
      <p:cxnSp>
        <p:nvCxnSpPr>
          <p:cNvPr id="18" name="dsl:mg-l1"/>
          <p:cNvCxnSpPr/>
          <p:nvPr/>
        </p:nvCxnSpPr>
        <p:spPr>
          <a:xfrm>
            <a:off x="7715250" y="3476625"/>
            <a:ext cx="26670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mg-a1"/>
          <p:cNvSpPr/>
          <p:nvPr/>
        </p:nvSpPr>
        <p:spPr>
          <a:xfrm>
            <a:off x="7715250" y="2428875"/>
            <a:ext cx="2667000" cy="2095500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mg-a2"/>
          <p:cNvSpPr/>
          <p:nvPr/>
        </p:nvSpPr>
        <p:spPr>
          <a:xfrm>
            <a:off x="7715250" y="2428875"/>
            <a:ext cx="2667000" cy="2095500"/>
          </a:xfrm>
          <a:prstGeom prst="arc">
            <a:avLst>
              <a:gd name="adj1" fmla="val 0"/>
              <a:gd name="adj2" fmla="val 10800000"/>
            </a:avLst>
          </a:prstGeom>
          <a:noFill/>
          <a:ln w="1905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mg-cap|s=$small"/>
          <p:cNvSpPr txBox="1"/>
          <p:nvPr/>
        </p:nvSpPr>
        <p:spPr>
          <a:xfrm>
            <a:off x="6286500" y="4762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Field lines of a bar magnet 条形磁铁的磁感线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Force on a Current-Carrying Conductor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通电导线的受力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22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3543300" y="18097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θ = 电流与磁场的夹角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Maximum force when wire ⊥ field (θ = 90°)；zero when parallel 垂直最大，平行为零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Direction: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Fleming’s left-hand rule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左手定则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First finger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ield, se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ond finger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urrent, thu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b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otion 手指定则口诀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fl-b1"/>
          <p:cNvCxnSpPr/>
          <p:nvPr/>
        </p:nvCxnSpPr>
        <p:spPr>
          <a:xfrm>
            <a:off x="6667500" y="2476500"/>
            <a:ext cx="41910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fl-b2"/>
          <p:cNvCxnSpPr/>
          <p:nvPr/>
        </p:nvCxnSpPr>
        <p:spPr>
          <a:xfrm>
            <a:off x="6667500" y="3143250"/>
            <a:ext cx="41910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fl-b3"/>
          <p:cNvCxnSpPr/>
          <p:nvPr/>
        </p:nvCxnSpPr>
        <p:spPr>
          <a:xfrm>
            <a:off x="6667500" y="3810000"/>
            <a:ext cx="41910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fl-bl"/>
          <p:cNvSpPr txBox="1"/>
          <p:nvPr/>
        </p:nvSpPr>
        <p:spPr>
          <a:xfrm>
            <a:off x="10287000" y="220980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5C7A84"/>
                </a:solidFill>
                <a:latin typeface="MiSans"/>
                <a:ea typeface="MiSans"/>
              </a:rPr>
              <a:t>B</a:t>
            </a:r>
            <a:r>
              <a:rPr sz="1200" noProof="1">
                <a:solidFill>
                  <a:srgbClr val="5C7A84"/>
                </a:solidFill>
                <a:latin typeface="MiSans"/>
                <a:ea typeface="MiSans"/>
              </a:rPr>
              <a:t> →</a:t>
            </a:r>
          </a:p>
        </p:txBody>
      </p:sp>
      <p:cxnSp>
        <p:nvCxnSpPr>
          <p:cNvPr id="18" name="dsl:fl-wire"/>
          <p:cNvCxnSpPr/>
          <p:nvPr/>
        </p:nvCxnSpPr>
        <p:spPr>
          <a:xfrm>
            <a:off x="8001000" y="3143250"/>
            <a:ext cx="0" cy="133350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fl-i"/>
          <p:cNvSpPr txBox="1"/>
          <p:nvPr/>
        </p:nvSpPr>
        <p:spPr>
          <a:xfrm>
            <a:off x="7258050" y="4343400"/>
            <a:ext cx="666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0E4D64"/>
                </a:solidFill>
                <a:latin typeface="MiSans"/>
                <a:ea typeface="MiSans"/>
              </a:rPr>
              <a:t>I</a:t>
            </a:r>
            <a:r>
              <a:rPr sz="1200" noProof="1">
                <a:solidFill>
                  <a:srgbClr val="0E4D64"/>
                </a:solidFill>
                <a:latin typeface="MiSans"/>
                <a:ea typeface="MiSans"/>
              </a:rPr>
              <a:t> ↓</a:t>
            </a:r>
          </a:p>
        </p:txBody>
      </p:sp>
      <p:cxnSp>
        <p:nvCxnSpPr>
          <p:cNvPr id="20" name="dsl:fl-f"/>
          <p:cNvCxnSpPr/>
          <p:nvPr/>
        </p:nvCxnSpPr>
        <p:spPr>
          <a:xfrm>
            <a:off x="6953250" y="3143250"/>
            <a:ext cx="104775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fl-fl"/>
          <p:cNvSpPr txBox="1"/>
          <p:nvPr/>
        </p:nvSpPr>
        <p:spPr>
          <a:xfrm>
            <a:off x="6724650" y="281940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  <a:r>
              <a:rPr sz="1200" noProof="1">
                <a:solidFill>
                  <a:srgbClr val="D97D29"/>
                </a:solidFill>
                <a:latin typeface="MiSans"/>
                <a:ea typeface="MiSans"/>
              </a:rPr>
              <a:t> 力</a:t>
            </a:r>
          </a:p>
        </p:txBody>
      </p:sp>
      <p:sp>
        <p:nvSpPr>
          <p:cNvPr id="22" name="dsl:fl-cap|s=$small"/>
          <p:cNvSpPr txBox="1"/>
          <p:nvPr/>
        </p:nvSpPr>
        <p:spPr>
          <a:xfrm>
            <a:off x="6286500" y="4762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B、I、F 两两垂直（θ = 90°）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Magnetic Flux Density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磁通密度 B 的定义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22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Magnetic flux density B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 force per unit current per unit length on a wire placed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at right angles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to the magnetic field.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垂直于磁场的导线，单位电流单位长度所受的力。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</m:den>
                </m:f>
                <m:r>
                  <m:t> 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90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单位 tesla (T) = N A⁻¹ m⁻¹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 is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vector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direction of the field line tangent 矢量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current balance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measures B from F = BIL 电流天平测 B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Typical values: Earth’s field ≈ 10⁻⁵ T；laboratory magnets 0.01–1 T 量级参考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Force on a Moving Charge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运动电荷的受力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504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Current is moving charge: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 single charge feels 由导线受力争得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4860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4860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4860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洛伦兹力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267075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Direction: left-hand rule on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conventional current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direction 左手定则按电流方向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Negative charges move opposite to current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force direction reverses 负电荷反向！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Force is always ⊥ velocity ⇒ changes direction, not speed 只改变方向不改变速率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mc-x0a"/>
          <p:cNvCxnSpPr/>
          <p:nvPr/>
        </p:nvCxnSpPr>
        <p:spPr>
          <a:xfrm>
            <a:off x="7162800" y="25908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mc-x0b"/>
          <p:cNvCxnSpPr/>
          <p:nvPr/>
        </p:nvCxnSpPr>
        <p:spPr>
          <a:xfrm flipH="1">
            <a:off x="7162800" y="25908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mc-x1a"/>
          <p:cNvCxnSpPr/>
          <p:nvPr/>
        </p:nvCxnSpPr>
        <p:spPr>
          <a:xfrm>
            <a:off x="8496300" y="25908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mc-x1b"/>
          <p:cNvCxnSpPr/>
          <p:nvPr/>
        </p:nvCxnSpPr>
        <p:spPr>
          <a:xfrm flipH="1">
            <a:off x="8496300" y="25908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mc-x2a"/>
          <p:cNvCxnSpPr/>
          <p:nvPr/>
        </p:nvCxnSpPr>
        <p:spPr>
          <a:xfrm>
            <a:off x="9829800" y="25908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mc-x2b"/>
          <p:cNvCxnSpPr/>
          <p:nvPr/>
        </p:nvCxnSpPr>
        <p:spPr>
          <a:xfrm flipH="1">
            <a:off x="9829800" y="25908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mc-x3a"/>
          <p:cNvCxnSpPr/>
          <p:nvPr/>
        </p:nvCxnSpPr>
        <p:spPr>
          <a:xfrm>
            <a:off x="7162800" y="39243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mc-x3b"/>
          <p:cNvCxnSpPr/>
          <p:nvPr/>
        </p:nvCxnSpPr>
        <p:spPr>
          <a:xfrm flipH="1">
            <a:off x="7162800" y="39243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mc-x4a"/>
          <p:cNvCxnSpPr/>
          <p:nvPr/>
        </p:nvCxnSpPr>
        <p:spPr>
          <a:xfrm>
            <a:off x="8496300" y="39243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mc-x4b"/>
          <p:cNvCxnSpPr/>
          <p:nvPr/>
        </p:nvCxnSpPr>
        <p:spPr>
          <a:xfrm flipH="1">
            <a:off x="8496300" y="39243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mc-x5a"/>
          <p:cNvCxnSpPr/>
          <p:nvPr/>
        </p:nvCxnSpPr>
        <p:spPr>
          <a:xfrm>
            <a:off x="9829800" y="39243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mc-x5b"/>
          <p:cNvCxnSpPr/>
          <p:nvPr/>
        </p:nvCxnSpPr>
        <p:spPr>
          <a:xfrm flipH="1">
            <a:off x="9829800" y="3924300"/>
            <a:ext cx="152400" cy="1524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mc-v"/>
          <p:cNvCxnSpPr/>
          <p:nvPr/>
        </p:nvCxnSpPr>
        <p:spPr>
          <a:xfrm>
            <a:off x="6572250" y="3333750"/>
            <a:ext cx="10477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mc-vl"/>
          <p:cNvSpPr txBox="1"/>
          <p:nvPr/>
        </p:nvSpPr>
        <p:spPr>
          <a:xfrm>
            <a:off x="6667500" y="304800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1C2B33"/>
                </a:solidFill>
                <a:latin typeface="MiSans"/>
                <a:ea typeface="MiSans"/>
              </a:rPr>
              <a:t>v</a:t>
            </a:r>
          </a:p>
        </p:txBody>
      </p:sp>
      <p:sp>
        <p:nvSpPr>
          <p:cNvPr id="29" name="dsl:mc-e"/>
          <p:cNvSpPr/>
          <p:nvPr/>
        </p:nvSpPr>
        <p:spPr>
          <a:xfrm>
            <a:off x="7620000" y="3257550"/>
            <a:ext cx="152400" cy="1524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mc-el"/>
          <p:cNvSpPr txBox="1"/>
          <p:nvPr/>
        </p:nvSpPr>
        <p:spPr>
          <a:xfrm>
            <a:off x="7867650" y="3295650"/>
            <a:ext cx="571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−e</a:t>
            </a:r>
          </a:p>
        </p:txBody>
      </p:sp>
      <p:cxnSp>
        <p:nvCxnSpPr>
          <p:cNvPr id="31" name="dsl:mc-f"/>
          <p:cNvCxnSpPr/>
          <p:nvPr/>
        </p:nvCxnSpPr>
        <p:spPr>
          <a:xfrm>
            <a:off x="7696200" y="3333750"/>
            <a:ext cx="0" cy="85725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sl:mc-fl"/>
          <p:cNvSpPr txBox="1"/>
          <p:nvPr/>
        </p:nvSpPr>
        <p:spPr>
          <a:xfrm>
            <a:off x="7810500" y="4248150"/>
            <a:ext cx="8572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 力</a:t>
            </a:r>
          </a:p>
        </p:txBody>
      </p:sp>
      <p:sp>
        <p:nvSpPr>
          <p:cNvPr id="33" name="dsl:mc-cap|s=$small"/>
          <p:cNvSpPr txBox="1"/>
          <p:nvPr/>
        </p:nvSpPr>
        <p:spPr>
          <a:xfrm>
            <a:off x="6286500" y="53340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× = B into page 磁场垂直纸面向里；电子受力向下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Circular Motion in Magnetic Fields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匀强磁场中的圆周运动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828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 = BQv is always ⊥ v ⇒ provides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centripetal force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洛伦兹力充当向心力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8098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8098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8098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半径与周期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590925"/>
            <a:ext cx="5334000" cy="828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Period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independent of speed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周期与速率无关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Applications 应用: mass spectrometer 质谱仪, cyclotron 回旋加速器, fine-beam tube 电子比荷测定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cm-x0a"/>
          <p:cNvCxnSpPr/>
          <p:nvPr/>
        </p:nvCxnSpPr>
        <p:spPr>
          <a:xfrm>
            <a:off x="7172325" y="25050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cm-x0b"/>
          <p:cNvCxnSpPr/>
          <p:nvPr/>
        </p:nvCxnSpPr>
        <p:spPr>
          <a:xfrm flipH="1">
            <a:off x="7172325" y="25050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cm-x1a"/>
          <p:cNvCxnSpPr/>
          <p:nvPr/>
        </p:nvCxnSpPr>
        <p:spPr>
          <a:xfrm>
            <a:off x="8886825" y="25050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cm-x1b"/>
          <p:cNvCxnSpPr/>
          <p:nvPr/>
        </p:nvCxnSpPr>
        <p:spPr>
          <a:xfrm flipH="1">
            <a:off x="8886825" y="25050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cm-x2a"/>
          <p:cNvCxnSpPr/>
          <p:nvPr/>
        </p:nvCxnSpPr>
        <p:spPr>
          <a:xfrm>
            <a:off x="10601325" y="25050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cm-x2b"/>
          <p:cNvCxnSpPr/>
          <p:nvPr/>
        </p:nvCxnSpPr>
        <p:spPr>
          <a:xfrm flipH="1">
            <a:off x="10601325" y="25050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cm-x3a"/>
          <p:cNvCxnSpPr/>
          <p:nvPr/>
        </p:nvCxnSpPr>
        <p:spPr>
          <a:xfrm>
            <a:off x="7172325" y="42195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cm-x3b"/>
          <p:cNvCxnSpPr/>
          <p:nvPr/>
        </p:nvCxnSpPr>
        <p:spPr>
          <a:xfrm flipH="1">
            <a:off x="7172325" y="42195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cm-x4a"/>
          <p:cNvCxnSpPr/>
          <p:nvPr/>
        </p:nvCxnSpPr>
        <p:spPr>
          <a:xfrm>
            <a:off x="8886825" y="42195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cm-x4b"/>
          <p:cNvCxnSpPr/>
          <p:nvPr/>
        </p:nvCxnSpPr>
        <p:spPr>
          <a:xfrm flipH="1">
            <a:off x="8886825" y="42195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cm-x5a"/>
          <p:cNvCxnSpPr/>
          <p:nvPr/>
        </p:nvCxnSpPr>
        <p:spPr>
          <a:xfrm>
            <a:off x="10601325" y="42195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cm-x5b"/>
          <p:cNvCxnSpPr/>
          <p:nvPr/>
        </p:nvCxnSpPr>
        <p:spPr>
          <a:xfrm flipH="1">
            <a:off x="10601325" y="4219575"/>
            <a:ext cx="133350" cy="1333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cm-orbit"/>
          <p:cNvSpPr/>
          <p:nvPr/>
        </p:nvSpPr>
        <p:spPr>
          <a:xfrm>
            <a:off x="7905750" y="2381250"/>
            <a:ext cx="2095500" cy="209550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cm-e"/>
          <p:cNvSpPr/>
          <p:nvPr/>
        </p:nvSpPr>
        <p:spPr>
          <a:xfrm>
            <a:off x="9906000" y="3333750"/>
            <a:ext cx="152400" cy="1524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dsl:cm-v"/>
          <p:cNvCxnSpPr/>
          <p:nvPr/>
        </p:nvCxnSpPr>
        <p:spPr>
          <a:xfrm>
            <a:off x="10058400" y="2667000"/>
            <a:ext cx="0" cy="74295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sl:cm-vl"/>
          <p:cNvSpPr txBox="1"/>
          <p:nvPr/>
        </p:nvSpPr>
        <p:spPr>
          <a:xfrm>
            <a:off x="10134600" y="2667000"/>
            <a:ext cx="381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1C2B33"/>
                </a:solidFill>
                <a:latin typeface="MiSans"/>
                <a:ea typeface="MiSans"/>
              </a:rPr>
              <a:t>v</a:t>
            </a:r>
          </a:p>
        </p:txBody>
      </p:sp>
      <p:cxnSp>
        <p:nvCxnSpPr>
          <p:cNvPr id="31" name="dsl:cm-f"/>
          <p:cNvCxnSpPr/>
          <p:nvPr/>
        </p:nvCxnSpPr>
        <p:spPr>
          <a:xfrm>
            <a:off x="9144000" y="3409950"/>
            <a:ext cx="76200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sl:cm-fl"/>
          <p:cNvSpPr txBox="1"/>
          <p:nvPr/>
        </p:nvSpPr>
        <p:spPr>
          <a:xfrm>
            <a:off x="9163050" y="3143250"/>
            <a:ext cx="381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</a:p>
        </p:txBody>
      </p:sp>
      <p:sp>
        <p:nvSpPr>
          <p:cNvPr id="33" name="dsl:cm-cap|s=$small"/>
          <p:cNvSpPr txBox="1"/>
          <p:nvPr/>
        </p:nvSpPr>
        <p:spPr>
          <a:xfrm>
            <a:off x="6286500" y="53340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Charged particle spirals in a uniform field 带电粒子的圆周轨迹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Hall Effect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霍尔效应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Charge carriers are deflected by the magnetic force and accumulate on one face ⇒ transverse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Hall voltage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V_H 载流子偏转积累形成横向电压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Equilibrium: magnetic force = electric force ⇒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num>
                  <m:den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平衡条件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With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36290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36290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36290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n 载流子密度 · t 厚度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4410075"/>
            <a:ext cx="5334000" cy="828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Metals: huge n ⇒ tiny V_H (µV) 金属霍尔电压极小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Semiconductors: small n ⇒ measurable V_H 半导体明显 ⇒ 实用探头材料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he-slab"/>
          <p:cNvSpPr/>
          <p:nvPr/>
        </p:nvSpPr>
        <p:spPr>
          <a:xfrm>
            <a:off x="7239000" y="2857500"/>
            <a:ext cx="3238500" cy="1238250"/>
          </a:xfrm>
          <a:prstGeom prst="rect">
            <a:avLst/>
          </a:prstGeom>
          <a:solidFill>
            <a:srgbClr val="EEF3F3"/>
          </a:solidFill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dsl:he-i"/>
          <p:cNvCxnSpPr/>
          <p:nvPr/>
        </p:nvCxnSpPr>
        <p:spPr>
          <a:xfrm>
            <a:off x="7429500" y="3476625"/>
            <a:ext cx="2857500" cy="0"/>
          </a:xfrm>
          <a:prstGeom prst="straightConnector1">
            <a:avLst/>
          </a:prstGeom>
          <a:ln w="381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he-il"/>
          <p:cNvSpPr txBox="1"/>
          <p:nvPr/>
        </p:nvSpPr>
        <p:spPr>
          <a:xfrm>
            <a:off x="9810750" y="320040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0E4D64"/>
                </a:solidFill>
                <a:latin typeface="MiSans"/>
                <a:ea typeface="MiSans"/>
              </a:rPr>
              <a:t>I</a:t>
            </a:r>
          </a:p>
        </p:txBody>
      </p:sp>
      <p:cxnSp>
        <p:nvCxnSpPr>
          <p:cNvPr id="18" name="dsl:he-b"/>
          <p:cNvCxnSpPr/>
          <p:nvPr/>
        </p:nvCxnSpPr>
        <p:spPr>
          <a:xfrm>
            <a:off x="8858250" y="4095750"/>
            <a:ext cx="0" cy="66675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he-bl"/>
          <p:cNvSpPr txBox="1"/>
          <p:nvPr/>
        </p:nvSpPr>
        <p:spPr>
          <a:xfrm>
            <a:off x="8572500" y="47815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5C7A84"/>
                </a:solidFill>
                <a:latin typeface="MiSans"/>
                <a:ea typeface="MiSans"/>
              </a:rPr>
              <a:t>B</a:t>
            </a: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 ↓</a:t>
            </a:r>
          </a:p>
        </p:txBody>
      </p:sp>
      <p:sp>
        <p:nvSpPr>
          <p:cNvPr id="20" name="dsl:he-neg"/>
          <p:cNvSpPr txBox="1"/>
          <p:nvPr/>
        </p:nvSpPr>
        <p:spPr>
          <a:xfrm>
            <a:off x="7334250" y="2914650"/>
            <a:ext cx="952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− − −</a:t>
            </a:r>
          </a:p>
        </p:txBody>
      </p:sp>
      <p:sp>
        <p:nvSpPr>
          <p:cNvPr id="21" name="dsl:he-pos"/>
          <p:cNvSpPr txBox="1"/>
          <p:nvPr/>
        </p:nvSpPr>
        <p:spPr>
          <a:xfrm>
            <a:off x="7334250" y="3848100"/>
            <a:ext cx="952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＋ ＋ ＋</a:t>
            </a:r>
          </a:p>
        </p:txBody>
      </p:sp>
      <p:sp>
        <p:nvSpPr>
          <p:cNvPr id="22" name="dsl:he-vh"/>
          <p:cNvSpPr txBox="1"/>
          <p:nvPr/>
        </p:nvSpPr>
        <p:spPr>
          <a:xfrm>
            <a:off x="10572750" y="3333750"/>
            <a:ext cx="952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V_H</a:t>
            </a:r>
          </a:p>
        </p:txBody>
      </p:sp>
      <p:sp>
        <p:nvSpPr>
          <p:cNvPr id="23" name="dsl:he-cap|s=$small"/>
          <p:cNvSpPr txBox="1"/>
          <p:nvPr/>
        </p:nvSpPr>
        <p:spPr>
          <a:xfrm>
            <a:off x="6286500" y="53340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Hall slice 霍尔片：载流子偏转形成横向电压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Hall Probe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霍尔探头测磁场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15525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∝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(for fixed I, n, t, q) ⇒ the voltage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measures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flux density 电压正比于 B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Calibrate against a known field, then read B directly 校准后直读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Measures only the component of B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normal to the probe slice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只测垂直分量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Small and fast: used to map field distributions (e.g. inside a solenoid) 可测磁场分布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Angle θ to the field: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角度修正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Fields due to Currents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电流产生的磁场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22</a:t>
            </a:r>
          </a:p>
        </p:txBody>
      </p:sp>
      <p:sp>
        <p:nvSpPr>
          <p:cNvPr id="9" name="dsl:fc1-bg"/>
          <p:cNvSpPr/>
          <p:nvPr/>
        </p:nvSpPr>
        <p:spPr>
          <a:xfrm>
            <a:off x="609600" y="1809750"/>
            <a:ext cx="3524250" cy="31432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fc1-w"/>
          <p:cNvSpPr/>
          <p:nvPr/>
        </p:nvSpPr>
        <p:spPr>
          <a:xfrm>
            <a:off x="2209800" y="3124200"/>
            <a:ext cx="171450" cy="17145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fc1-c0"/>
          <p:cNvSpPr/>
          <p:nvPr/>
        </p:nvSpPr>
        <p:spPr>
          <a:xfrm>
            <a:off x="1857375" y="2771775"/>
            <a:ext cx="876300" cy="876300"/>
          </a:xfrm>
          <a:prstGeom prst="ellipse">
            <a:avLst/>
          </a:prstGeom>
          <a:noFill/>
          <a:ln w="1905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fc1-c1"/>
          <p:cNvSpPr/>
          <p:nvPr/>
        </p:nvSpPr>
        <p:spPr>
          <a:xfrm>
            <a:off x="1514475" y="2428875"/>
            <a:ext cx="1562100" cy="1562100"/>
          </a:xfrm>
          <a:prstGeom prst="ellipse">
            <a:avLst/>
          </a:prstGeom>
          <a:noFill/>
          <a:ln w="1905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fc1-c2"/>
          <p:cNvSpPr/>
          <p:nvPr/>
        </p:nvSpPr>
        <p:spPr>
          <a:xfrm>
            <a:off x="1171575" y="2085975"/>
            <a:ext cx="2247900" cy="2247900"/>
          </a:xfrm>
          <a:prstGeom prst="ellipse">
            <a:avLst/>
          </a:prstGeom>
          <a:noFill/>
          <a:ln w="1905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fc1-dot"/>
          <p:cNvSpPr txBox="1"/>
          <p:nvPr/>
        </p:nvSpPr>
        <p:spPr>
          <a:xfrm>
            <a:off x="2209800" y="3124200"/>
            <a:ext cx="17145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FFFFFF"/>
                </a:solidFill>
                <a:latin typeface="MiSans"/>
                <a:ea typeface="MiSans"/>
              </a:rPr>
              <a:t>·</a:t>
            </a:r>
          </a:p>
        </p:txBody>
      </p:sp>
      <p:sp>
        <p:nvSpPr>
          <p:cNvPr id="15" name="dsl:fc1-lab"/>
          <p:cNvSpPr txBox="1"/>
          <p:nvPr/>
        </p:nvSpPr>
        <p:spPr>
          <a:xfrm>
            <a:off x="609600" y="5010150"/>
            <a:ext cx="352425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Long straight wire 长直导线：</a:t>
            </a:r>
            <a14:m>
              <m:oMath>
                <m:r>
                  <a:rPr lang="en-US" i="1" sz="10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0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0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0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0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num>
                  <m:den>
                    <m:r>
                      <a:rPr lang="en-US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</a:p>
        </p:txBody>
      </p:sp>
      <p:sp>
        <p:nvSpPr>
          <p:cNvPr id="16" name="dsl:fc1-rh"/>
          <p:cNvSpPr txBox="1"/>
          <p:nvPr/>
        </p:nvSpPr>
        <p:spPr>
          <a:xfrm>
            <a:off x="609600" y="5295900"/>
            <a:ext cx="352425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Right-hand grip rule 右手螺旋定则：拇指指电流，四指指磁场</a:t>
            </a:r>
          </a:p>
        </p:txBody>
      </p:sp>
      <p:sp>
        <p:nvSpPr>
          <p:cNvPr id="17" name="dsl:fc2-bg"/>
          <p:cNvSpPr/>
          <p:nvPr/>
        </p:nvSpPr>
        <p:spPr>
          <a:xfrm>
            <a:off x="4476750" y="1809750"/>
            <a:ext cx="7105650" cy="31432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fc2-l0"/>
          <p:cNvSpPr/>
          <p:nvPr/>
        </p:nvSpPr>
        <p:spPr>
          <a:xfrm>
            <a:off x="6096000" y="2667000"/>
            <a:ext cx="381000" cy="123825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fc2-l1"/>
          <p:cNvSpPr/>
          <p:nvPr/>
        </p:nvSpPr>
        <p:spPr>
          <a:xfrm>
            <a:off x="7048500" y="2667000"/>
            <a:ext cx="381000" cy="123825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fc2-l2"/>
          <p:cNvSpPr/>
          <p:nvPr/>
        </p:nvSpPr>
        <p:spPr>
          <a:xfrm>
            <a:off x="8001000" y="2667000"/>
            <a:ext cx="381000" cy="123825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fc2-l3"/>
          <p:cNvSpPr/>
          <p:nvPr/>
        </p:nvSpPr>
        <p:spPr>
          <a:xfrm>
            <a:off x="8953500" y="2667000"/>
            <a:ext cx="381000" cy="123825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fc2-l4"/>
          <p:cNvSpPr/>
          <p:nvPr/>
        </p:nvSpPr>
        <p:spPr>
          <a:xfrm>
            <a:off x="9906000" y="2667000"/>
            <a:ext cx="381000" cy="123825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dsl:fc2-a1"/>
          <p:cNvCxnSpPr/>
          <p:nvPr/>
        </p:nvCxnSpPr>
        <p:spPr>
          <a:xfrm>
            <a:off x="5334000" y="3286125"/>
            <a:ext cx="59055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fc2-lab"/>
          <p:cNvSpPr txBox="1"/>
          <p:nvPr/>
        </p:nvSpPr>
        <p:spPr>
          <a:xfrm>
            <a:off x="4476750" y="5010150"/>
            <a:ext cx="710565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Solenoid 螺线管：内部近似匀强 </a:t>
            </a:r>
            <a14:m>
              <m:oMath>
                <m:r>
                  <a:rPr lang="en-US" i="1" sz="10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0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μ</m:t>
                    </m:r>
                  </m:e>
                  <m:sub>
                    <m:r>
                      <a:rPr lang="en-US" sz="10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0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0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</m:oMath>
            </a14:m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（n = 单位长度匝数）</a:t>
            </a:r>
          </a:p>
        </p:txBody>
      </p:sp>
      <p:sp>
        <p:nvSpPr>
          <p:cNvPr id="25" name="dsl:fc2-note"/>
          <p:cNvSpPr txBox="1"/>
          <p:nvPr/>
        </p:nvSpPr>
        <p:spPr>
          <a:xfrm>
            <a:off x="4476750" y="5295900"/>
            <a:ext cx="710565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Field like a bar magnet outside; uniform inside 外部类似条形磁铁</a:t>
            </a:r>
          </a:p>
        </p:txBody>
      </p:sp>
      <p:sp>
        <p:nvSpPr>
          <p:cNvPr id="26" name="dsl:fc-form"/>
          <p:cNvSpPr txBox="1"/>
          <p:nvPr/>
        </p:nvSpPr>
        <p:spPr>
          <a:xfrm>
            <a:off x="609600" y="5810250"/>
            <a:ext cx="109728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Flat circular coil 圆线圈: field strongest at the centre,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I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；μ₀ = 4π × 10⁻⁷ H m⁻¹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Forces between Currents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平行载流导线间的作用力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504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Each wire sits in the field of the other: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一条导线处在另一条导线的磁场中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4860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4860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4860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单位长度的作用力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267075"/>
            <a:ext cx="5334000" cy="828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Same-direction currents attract; opposite repel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同向相吸，反向相斥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This defines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ampere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安培的定义基础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pw-w1"/>
          <p:cNvCxnSpPr/>
          <p:nvPr/>
        </p:nvCxnSpPr>
        <p:spPr>
          <a:xfrm>
            <a:off x="7905750" y="2286000"/>
            <a:ext cx="0" cy="2286000"/>
          </a:xfrm>
          <a:prstGeom prst="straightConnector1">
            <a:avLst/>
          </a:prstGeom>
          <a:ln w="381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pw-w2"/>
          <p:cNvCxnSpPr/>
          <p:nvPr/>
        </p:nvCxnSpPr>
        <p:spPr>
          <a:xfrm>
            <a:off x="10096500" y="2286000"/>
            <a:ext cx="0" cy="2286000"/>
          </a:xfrm>
          <a:prstGeom prst="straightConnector1">
            <a:avLst/>
          </a:prstGeom>
          <a:ln w="381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pw-i1"/>
          <p:cNvSpPr txBox="1"/>
          <p:nvPr/>
        </p:nvSpPr>
        <p:spPr>
          <a:xfrm>
            <a:off x="7734300" y="462915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I₁ ↑</a:t>
            </a:r>
          </a:p>
        </p:txBody>
      </p:sp>
      <p:sp>
        <p:nvSpPr>
          <p:cNvPr id="18" name="dsl:pw-i2"/>
          <p:cNvSpPr txBox="1"/>
          <p:nvPr/>
        </p:nvSpPr>
        <p:spPr>
          <a:xfrm>
            <a:off x="9925050" y="462915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I₂ ↑</a:t>
            </a:r>
          </a:p>
        </p:txBody>
      </p:sp>
      <p:cxnSp>
        <p:nvCxnSpPr>
          <p:cNvPr id="19" name="dsl:pw-f1"/>
          <p:cNvCxnSpPr/>
          <p:nvPr/>
        </p:nvCxnSpPr>
        <p:spPr>
          <a:xfrm>
            <a:off x="8096250" y="3429000"/>
            <a:ext cx="1047750" cy="0"/>
          </a:xfrm>
          <a:prstGeom prst="straightConnector1">
            <a:avLst/>
          </a:prstGeom>
          <a:ln w="3175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pw-f2"/>
          <p:cNvCxnSpPr/>
          <p:nvPr/>
        </p:nvCxnSpPr>
        <p:spPr>
          <a:xfrm>
            <a:off x="8858250" y="3429000"/>
            <a:ext cx="1047750" cy="0"/>
          </a:xfrm>
          <a:prstGeom prst="straightConnector1">
            <a:avLst/>
          </a:prstGeom>
          <a:ln w="3175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pw-f1l"/>
          <p:cNvSpPr txBox="1"/>
          <p:nvPr/>
        </p:nvSpPr>
        <p:spPr>
          <a:xfrm>
            <a:off x="8382000" y="31432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</a:p>
        </p:txBody>
      </p:sp>
      <p:sp>
        <p:nvSpPr>
          <p:cNvPr id="22" name="dsl:pw-f2l"/>
          <p:cNvSpPr txBox="1"/>
          <p:nvPr/>
        </p:nvSpPr>
        <p:spPr>
          <a:xfrm>
            <a:off x="9144000" y="31432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</a:p>
        </p:txBody>
      </p:sp>
      <p:sp>
        <p:nvSpPr>
          <p:cNvPr id="23" name="dsl:pw-cap|s=$small"/>
          <p:cNvSpPr txBox="1"/>
          <p:nvPr/>
        </p:nvSpPr>
        <p:spPr>
          <a:xfrm>
            <a:off x="6286500" y="5143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Same-direction currents attract 同向电流相吸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Magnetic Flux &amp; Flux Linkage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磁通量与磁链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22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Magnetic flux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 product of flux density and the area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normal to the field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Unit: weber (Wb).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垂直于磁场方向的面积与磁通密度的乘积。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314700"/>
            <a:ext cx="5334000" cy="1152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 a coil of N turns: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flux linkage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磁链 </a:t>
            </a:r>
            <a14:m>
              <m:oMath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Field at angle θ to the normal: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斜交修正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 can be read as "flux per unit area" ⇒ 磁通密度名称由来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fx-coil"/>
          <p:cNvSpPr/>
          <p:nvPr/>
        </p:nvSpPr>
        <p:spPr>
          <a:xfrm>
            <a:off x="8191500" y="2476500"/>
            <a:ext cx="1143000" cy="2095500"/>
          </a:xfrm>
          <a:prstGeom prst="ellipse">
            <a:avLst/>
          </a:prstGeom>
          <a:noFill/>
          <a:ln w="381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fx-b1"/>
          <p:cNvCxnSpPr/>
          <p:nvPr/>
        </p:nvCxnSpPr>
        <p:spPr>
          <a:xfrm>
            <a:off x="6858000" y="2857500"/>
            <a:ext cx="40005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fx-b2"/>
          <p:cNvCxnSpPr/>
          <p:nvPr/>
        </p:nvCxnSpPr>
        <p:spPr>
          <a:xfrm>
            <a:off x="6858000" y="3524250"/>
            <a:ext cx="40005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fx-b3"/>
          <p:cNvCxnSpPr/>
          <p:nvPr/>
        </p:nvCxnSpPr>
        <p:spPr>
          <a:xfrm>
            <a:off x="6858000" y="4191000"/>
            <a:ext cx="400050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fx-bl"/>
          <p:cNvSpPr txBox="1"/>
          <p:nvPr/>
        </p:nvSpPr>
        <p:spPr>
          <a:xfrm>
            <a:off x="10287000" y="259080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5C7A84"/>
                </a:solidFill>
                <a:latin typeface="MiSans"/>
                <a:ea typeface="MiSans"/>
              </a:rPr>
              <a:t>B</a:t>
            </a:r>
          </a:p>
        </p:txBody>
      </p:sp>
      <p:sp>
        <p:nvSpPr>
          <p:cNvPr id="19" name="dsl:fx-al"/>
          <p:cNvSpPr txBox="1"/>
          <p:nvPr/>
        </p:nvSpPr>
        <p:spPr>
          <a:xfrm>
            <a:off x="8629650" y="476250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area A</a:t>
            </a:r>
          </a:p>
        </p:txBody>
      </p:sp>
      <p:sp>
        <p:nvSpPr>
          <p:cNvPr id="20" name="dsl:fx-cap|s=$small"/>
          <p:cNvSpPr txBox="1"/>
          <p:nvPr/>
        </p:nvSpPr>
        <p:spPr>
          <a:xfrm>
            <a:off x="6286500" y="53340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Flux through a coil 穿过线圈的磁通量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Faraday's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法拉第电磁感应定律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22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8191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8191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induced e.m.f. is proportional to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rate of change of flux linkage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感应电动势正比于磁链的变化率。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280035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280035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280035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负号见楞次定律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581400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Flux can change via: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changing,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area A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changing, or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angle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changing 三种变化途径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Moving a magnet into a coil, or a wire cutting field lines, induces an e.m.f. 磁铁插入线圈/导线切割磁感线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Magnitude only matters: faster change ⇒ bigger e.m.f. 变化越快电动势越大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Lenz's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楞次定律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22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direction of the induced e.m.f. (current) is such as to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oppose the change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producing it.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感应电流的效果总是阻碍引起感应的变化。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057525"/>
            <a:ext cx="5334000" cy="147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Identify the original flux direction 判断原磁通方向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flux increasing or decreasing? 判断磁通增减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Induced field opposes the change 感应磁场阻碍该变化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4.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Use the right-hand grip rule to get the current direction 右手定电流方向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4705350"/>
            <a:ext cx="5334000" cy="504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Lenz’s law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conservation of energy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work must be done against the opposing force 楞次定律=能量守恒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lz-coil"/>
          <p:cNvSpPr/>
          <p:nvPr/>
        </p:nvSpPr>
        <p:spPr>
          <a:xfrm>
            <a:off x="9144000" y="2571750"/>
            <a:ext cx="571500" cy="1809750"/>
          </a:xfrm>
          <a:prstGeom prst="ellipse">
            <a:avLst/>
          </a:prstGeom>
          <a:noFill/>
          <a:ln w="381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lz-mag"/>
          <p:cNvSpPr/>
          <p:nvPr/>
        </p:nvSpPr>
        <p:spPr>
          <a:xfrm>
            <a:off x="6858000" y="3143250"/>
            <a:ext cx="1047750" cy="5715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lz-magt"/>
          <p:cNvSpPr txBox="1"/>
          <p:nvPr/>
        </p:nvSpPr>
        <p:spPr>
          <a:xfrm>
            <a:off x="6858000" y="3143250"/>
            <a:ext cx="523875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N</a:t>
            </a:r>
          </a:p>
        </p:txBody>
      </p:sp>
      <p:sp>
        <p:nvSpPr>
          <p:cNvPr id="18" name="dsl:lz-mags"/>
          <p:cNvSpPr txBox="1"/>
          <p:nvPr/>
        </p:nvSpPr>
        <p:spPr>
          <a:xfrm>
            <a:off x="7381875" y="3143250"/>
            <a:ext cx="523875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S</a:t>
            </a:r>
          </a:p>
        </p:txBody>
      </p:sp>
      <p:cxnSp>
        <p:nvCxnSpPr>
          <p:cNvPr id="19" name="dsl:lz-mv"/>
          <p:cNvCxnSpPr/>
          <p:nvPr/>
        </p:nvCxnSpPr>
        <p:spPr>
          <a:xfrm>
            <a:off x="8001000" y="3429000"/>
            <a:ext cx="952500" cy="0"/>
          </a:xfrm>
          <a:prstGeom prst="straightConnector1">
            <a:avLst/>
          </a:prstGeom>
          <a:ln w="3175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lz-mvl"/>
          <p:cNvSpPr txBox="1"/>
          <p:nvPr/>
        </p:nvSpPr>
        <p:spPr>
          <a:xfrm>
            <a:off x="8096250" y="31432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1C2B33"/>
                </a:solidFill>
                <a:latin typeface="MiSans"/>
                <a:ea typeface="MiSans"/>
              </a:rPr>
              <a:t>moving 靠近</a:t>
            </a:r>
          </a:p>
        </p:txBody>
      </p:sp>
      <p:sp>
        <p:nvSpPr>
          <p:cNvPr id="21" name="dsl:lz-txt"/>
          <p:cNvSpPr txBox="1"/>
          <p:nvPr/>
        </p:nvSpPr>
        <p:spPr>
          <a:xfrm>
            <a:off x="6667500" y="4572000"/>
            <a:ext cx="4762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N pole approaches ⇒ near end of coil becomes N (repels) 近端生 N 极阻碍靠近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Applications of Electromagnetic Induction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电磁感应的应用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A.C. generator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交流发电机: rotating coil in a field ⇒ flux linkage varies sinusoidally ⇒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Electromagnetic braking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电磁制动: eddy currents oppose motion (Lenz) 涡流制动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Induction charging / cooking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感应充电/电磁炉: changing field induces currents in a device or pan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Microphones, credit-card stripes, metal detectors 话筒/探测器等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20A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例题解析：磁场作图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16 / 22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97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Question 题目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A circular magnet has its north pole at the centre, separated from the surrounding circular south pole by an air gap.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Draw the magnetic field lines in the gap.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圆环磁铁中心为 N 极、外环为 S 极，画出气隙中的磁感线。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Method 方法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field lines run from N to S 磁感线由 N 指向 S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In the gap they are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radial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pointing outwards from the central N 气隙中呈放射状向外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Evenly spaced ⇒ uniform strength in the gap 等间距表示气隙中近似匀强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wa-ring"/>
          <p:cNvSpPr/>
          <p:nvPr/>
        </p:nvSpPr>
        <p:spPr>
          <a:xfrm>
            <a:off x="7524750" y="2190750"/>
            <a:ext cx="2857500" cy="2857500"/>
          </a:xfrm>
          <a:prstGeom prst="donut">
            <a:avLst>
              <a:gd name="adj" fmla="val 18000"/>
            </a:avLst>
          </a:prstGeom>
          <a:solidFill>
            <a:srgbClr val="0E4D6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wa-s"/>
          <p:cNvSpPr txBox="1"/>
          <p:nvPr/>
        </p:nvSpPr>
        <p:spPr>
          <a:xfrm>
            <a:off x="8763000" y="2247900"/>
            <a:ext cx="571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S</a:t>
            </a:r>
          </a:p>
        </p:txBody>
      </p:sp>
      <p:sp>
        <p:nvSpPr>
          <p:cNvPr id="13" name="dsl:wa-n"/>
          <p:cNvSpPr/>
          <p:nvPr/>
        </p:nvSpPr>
        <p:spPr>
          <a:xfrm>
            <a:off x="8763000" y="3429000"/>
            <a:ext cx="381000" cy="3810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wa-nt"/>
          <p:cNvSpPr txBox="1"/>
          <p:nvPr/>
        </p:nvSpPr>
        <p:spPr>
          <a:xfrm>
            <a:off x="8763000" y="3429000"/>
            <a:ext cx="381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N</a:t>
            </a:r>
          </a:p>
        </p:txBody>
      </p:sp>
      <p:cxnSp>
        <p:nvCxnSpPr>
          <p:cNvPr id="15" name="dsl:wa-f0"/>
          <p:cNvCxnSpPr/>
          <p:nvPr/>
        </p:nvCxnSpPr>
        <p:spPr>
          <a:xfrm>
            <a:off x="9353550" y="3619500"/>
            <a:ext cx="361950" cy="0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wa-f1"/>
          <p:cNvCxnSpPr/>
          <p:nvPr/>
        </p:nvCxnSpPr>
        <p:spPr>
          <a:xfrm>
            <a:off x="9299953" y="3819525"/>
            <a:ext cx="313458" cy="180975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wa-f2"/>
          <p:cNvCxnSpPr/>
          <p:nvPr/>
        </p:nvCxnSpPr>
        <p:spPr>
          <a:xfrm>
            <a:off x="9153525" y="3965953"/>
            <a:ext cx="180975" cy="313458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wa-f3"/>
          <p:cNvCxnSpPr/>
          <p:nvPr/>
        </p:nvCxnSpPr>
        <p:spPr>
          <a:xfrm>
            <a:off x="8953500" y="4019550"/>
            <a:ext cx="0" cy="361950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wa-f4"/>
          <p:cNvCxnSpPr/>
          <p:nvPr/>
        </p:nvCxnSpPr>
        <p:spPr>
          <a:xfrm flipH="1">
            <a:off x="8572500" y="3965953"/>
            <a:ext cx="180975" cy="313458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wa-f5"/>
          <p:cNvCxnSpPr/>
          <p:nvPr/>
        </p:nvCxnSpPr>
        <p:spPr>
          <a:xfrm flipH="1">
            <a:off x="8293588" y="3819525"/>
            <a:ext cx="313458" cy="180975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wa-f6"/>
          <p:cNvCxnSpPr/>
          <p:nvPr/>
        </p:nvCxnSpPr>
        <p:spPr>
          <a:xfrm>
            <a:off x="8191500" y="3619500"/>
            <a:ext cx="361950" cy="0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wa-f7"/>
          <p:cNvCxnSpPr/>
          <p:nvPr/>
        </p:nvCxnSpPr>
        <p:spPr>
          <a:xfrm>
            <a:off x="8293588" y="3238500"/>
            <a:ext cx="313458" cy="180975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wa-f8"/>
          <p:cNvCxnSpPr/>
          <p:nvPr/>
        </p:nvCxnSpPr>
        <p:spPr>
          <a:xfrm>
            <a:off x="8572500" y="2959588"/>
            <a:ext cx="180975" cy="313458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wa-f9"/>
          <p:cNvCxnSpPr/>
          <p:nvPr/>
        </p:nvCxnSpPr>
        <p:spPr>
          <a:xfrm>
            <a:off x="8953500" y="2857500"/>
            <a:ext cx="0" cy="361950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wa-f10"/>
          <p:cNvCxnSpPr/>
          <p:nvPr/>
        </p:nvCxnSpPr>
        <p:spPr>
          <a:xfrm flipH="1">
            <a:off x="9153525" y="2959588"/>
            <a:ext cx="180975" cy="313458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wa-f11"/>
          <p:cNvCxnSpPr/>
          <p:nvPr/>
        </p:nvCxnSpPr>
        <p:spPr>
          <a:xfrm flipH="1">
            <a:off x="9299953" y="3238499"/>
            <a:ext cx="313458" cy="180976"/>
          </a:xfrm>
          <a:prstGeom prst="straightConnector1">
            <a:avLst/>
          </a:prstGeom>
          <a:ln w="1524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wa-cap|s=$small"/>
          <p:cNvSpPr txBox="1"/>
          <p:nvPr/>
        </p:nvSpPr>
        <p:spPr>
          <a:xfrm>
            <a:off x="6286500" y="523875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Radial field lines in the air gap 气隙中的放射状磁感线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20B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17 / 22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20B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6478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381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horizontal component of the Earth’s magnetic flux density is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1.8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The current in a horizontal cable is 120 A. Calculate (a) the maximum and (b) the minimum force per unit length, stating the angle in each case.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θ 是电流与磁场的夹角，注意不是与法线的夹角。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Force per unit length: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(a) Maximum at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1.8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120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Minimum when the cable is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parallel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to the field: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(a) </a:t>
            </a:r>
            <a14:m>
              <m:oMath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2.16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N m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at 90°　(b) zero（parallel 平行时）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20C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18 / 22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20C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8573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590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Electrons are accelerated to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9.1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and enter a uniform field of flux density 0.50 mT. Their path is a circle of radius 10.2 cm. Calculate (a) the specific charge of the electron; (b) the mass of the electron (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1.6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).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这就是历史上测电子比荷（荷质比）的方法。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Circular motion: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(a) </a:t>
            </a:r>
            <a14:m>
              <m:oMath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9.1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0.50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0.102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1.8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11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 kg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1.8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(a) </a:t>
            </a:r>
            <a14:m>
              <m:oMath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1.8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11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C kg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　(b)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9.1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31</m:t>
                    </m:r>
                  </m:sup>
                </m:sSup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kg</m:t>
                </m:r>
              </m:oMath>
            </a14:m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20D &amp; 20E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19 / 22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20D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 velocity selector must select ions of speed </a:t>
            </a:r>
            <a14:m>
              <m:oMath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6.3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. The electric field strength is </a:t>
            </a:r>
            <a14:m>
              <m:oMath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4.8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 m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. Calculate the magnetic flux density required.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Undeviated ⇒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num>
                  <m:den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den>
                </m:f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4.8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6.3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3" name="dsl:te0-abg"/>
          <p:cNvSpPr/>
          <p:nvPr/>
        </p:nvSpPr>
        <p:spPr>
          <a:xfrm>
            <a:off x="6096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7.6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20E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 Hall probe at right angles to a uniform field reads 82 mV. The probe is then turned so its plane makes 35° with the field. Calculate the new Hall voltage.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Only the normal component counts: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35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82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35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</m:oMath>
            </a14:m>
          </a:p>
        </p:txBody>
      </p:sp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47</m:t>
                </m:r>
                <m:r>
                  <m:t> 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mV</m:t>
                </m:r>
              </m:oMath>
            </a14:m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20 / 22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Electrons are accelerated through 250 V, then enter a uniform field of 0.58 mT at right angles. Calculate (a) their speed (m = 9.1 × 10⁻³¹ kg, e = 1.6 × 10⁻¹⁹ C); (b) the radius of the circular path.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Singly charged ions pass undeviated through a velocity selector with E = 4.2 × 10⁴ V m⁻¹ and B = 8.4 × 10⁻³ T. Calculate the selected speed. 速度选择器。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Aluminium foil 0.10 mm thick carries 4.5 A; n = 6.0 × 10²⁸ m⁻³; a field of 85 mT is normal to the foil. Calculate the Hall voltage. 霍尔电压计算。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(a)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9.4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 (b) 9.2 cm　Q2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5.0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Q3 </a:t>
            </a:r>
            <a14:m>
              <m:oMath>
                <m:sSub>
                  <m:sSub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4.0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7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（0.40 µV）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21 / 22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force on wire 安培力</a:t>
            </a:r>
          </a:p>
        </p:txBody>
      </p:sp>
      <p:sp>
        <p:nvSpPr>
          <p:cNvPr id="13" name="dsl:smf1-bg"/>
          <p:cNvSpPr/>
          <p:nvPr/>
        </p:nvSpPr>
        <p:spPr>
          <a:xfrm>
            <a:off x="4314825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4467225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4467225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force on charge 洛伦兹力</a:t>
            </a:r>
          </a:p>
        </p:txBody>
      </p:sp>
      <p:sp>
        <p:nvSpPr>
          <p:cNvPr id="16" name="dsl:smf2-bg"/>
          <p:cNvSpPr/>
          <p:nvPr/>
        </p:nvSpPr>
        <p:spPr>
          <a:xfrm>
            <a:off x="802005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817245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817245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circular path 半径</a:t>
            </a:r>
          </a:p>
        </p:txBody>
      </p:sp>
      <p:sp>
        <p:nvSpPr>
          <p:cNvPr id="19" name="dsl:smf3-bg"/>
          <p:cNvSpPr/>
          <p:nvPr/>
        </p:nvSpPr>
        <p:spPr>
          <a:xfrm>
            <a:off x="60960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76200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76200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Hall voltage 霍尔电压</a:t>
            </a:r>
          </a:p>
        </p:txBody>
      </p:sp>
      <p:sp>
        <p:nvSpPr>
          <p:cNvPr id="22" name="dsl:smf4-bg"/>
          <p:cNvSpPr/>
          <p:nvPr/>
        </p:nvSpPr>
        <p:spPr>
          <a:xfrm>
            <a:off x="4314825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4467225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4467225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straight wire 直导线</a:t>
            </a:r>
          </a:p>
        </p:txBody>
      </p:sp>
      <p:sp>
        <p:nvSpPr>
          <p:cNvPr id="25" name="dsl:smf5-bg"/>
          <p:cNvSpPr/>
          <p:nvPr/>
        </p:nvSpPr>
        <p:spPr>
          <a:xfrm>
            <a:off x="802005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817245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817245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flux 磁通量</a:t>
            </a:r>
          </a:p>
        </p:txBody>
      </p:sp>
      <p:sp>
        <p:nvSpPr>
          <p:cNvPr id="28" name="dsl:smf6-bg"/>
          <p:cNvSpPr/>
          <p:nvPr/>
        </p:nvSpPr>
        <p:spPr>
          <a:xfrm>
            <a:off x="609600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smf6-f"/>
          <p:cNvSpPr txBox="1"/>
          <p:nvPr/>
        </p:nvSpPr>
        <p:spPr>
          <a:xfrm>
            <a:off x="762000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den>
                </m:f>
              </m:oMath>
            </a14:m>
          </a:p>
        </p:txBody>
      </p:sp>
      <p:sp>
        <p:nvSpPr>
          <p:cNvPr id="30" name="dsl:smf6-n"/>
          <p:cNvSpPr txBox="1"/>
          <p:nvPr/>
        </p:nvSpPr>
        <p:spPr>
          <a:xfrm>
            <a:off x="762000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Faraday 法拉第</a:t>
            </a:r>
          </a:p>
        </p:txBody>
      </p:sp>
      <p:sp>
        <p:nvSpPr>
          <p:cNvPr id="31" name="dsl:smf7-bg"/>
          <p:cNvSpPr/>
          <p:nvPr/>
        </p:nvSpPr>
        <p:spPr>
          <a:xfrm>
            <a:off x="4314825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smf7-f"/>
          <p:cNvSpPr txBox="1"/>
          <p:nvPr/>
        </p:nvSpPr>
        <p:spPr>
          <a:xfrm>
            <a:off x="4467225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</m:den>
                </m:f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</m:oMath>
            </a14:m>
          </a:p>
        </p:txBody>
      </p:sp>
      <p:sp>
        <p:nvSpPr>
          <p:cNvPr id="33" name="dsl:smf7-n"/>
          <p:cNvSpPr txBox="1"/>
          <p:nvPr/>
        </p:nvSpPr>
        <p:spPr>
          <a:xfrm>
            <a:off x="4467225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two wires 平行导线</a:t>
            </a:r>
          </a:p>
        </p:txBody>
      </p:sp>
      <p:sp>
        <p:nvSpPr>
          <p:cNvPr id="34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35" name="dsl:sm-ideas"/>
          <p:cNvSpPr txBox="1"/>
          <p:nvPr/>
        </p:nvSpPr>
        <p:spPr>
          <a:xfrm>
            <a:off x="609600" y="46291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Left-hand rule for forces; right-hand grip rule for fields 左力右场。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Magnetic force changes direction, never speed 洛伦兹力不做功。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Faraday gives magnitude, Lenz gives direction 法拉第定大小，楞次定方向。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20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20 Magnetic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22 / 22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hand-point-left" descr="tmpvs7t3n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Left-hand rule uses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conventional current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reverse the direction for electrons/negative charges. 负电荷受力反向。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list-ol" descr="tmpvs7t3n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Hall voltage derivation steps: force balance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→ substitute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→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推导按步给分。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circle-exclamation" descr="tmpvs7t3n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Flux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linkage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= NΦ — do not forget the N turns in Faraday’s law. 磁链别漏乘 N。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7338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arrows-spin" descr="tmpvs7t3n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71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8290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Period of circular motion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is independent of v — a favourite short question. 周期与速率无关。</a:t>
            </a:r>
          </a:p>
        </p:txBody>
      </p:sp>
      <p:sp>
        <p:nvSpPr>
          <p:cNvPr id="21" name="dsl:tp4-bg"/>
          <p:cNvSpPr/>
          <p:nvPr/>
        </p:nvSpPr>
        <p:spPr>
          <a:xfrm>
            <a:off x="609600" y="43815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tp4-ic|i=fas:pen-nib" descr="tmpvs7t3n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148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tp4-t"/>
          <p:cNvSpPr txBox="1"/>
          <p:nvPr/>
        </p:nvSpPr>
        <p:spPr>
          <a:xfrm>
            <a:off x="1143000" y="44767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 Lenz’s law, state: change → opposing induced field → current direction. 三步表述完整。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BBCD7940-2C66-48F0-84CE-C4A6C0A3CC3E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