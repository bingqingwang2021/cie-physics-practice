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customXml" Target="../customXml/item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isotherm T₁</c:v>
                </c:pt>
              </c:strCache>
            </c:strRef>
          </c:tx>
          <c:spPr>
            <a:solidFill>
              <a:srgbClr val="0E4D64"/>
            </a:solidFill>
            <a:ln w="19050">
              <a:solidFill>
                <a:srgbClr val="0E4D64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0.5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6.0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6.0</c:v>
                </c:pt>
                <c:pt idx="1">
                  <c:v>3.0</c:v>
                </c:pt>
                <c:pt idx="2">
                  <c:v>1.5</c:v>
                </c:pt>
                <c:pt idx="3">
                  <c:v>1.0</c:v>
                </c:pt>
                <c:pt idx="4">
                  <c:v>0.75</c:v>
                </c:pt>
                <c:pt idx="5">
                  <c:v>0.5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isotherm T₂ &gt; T₁</c:v>
                </c:pt>
              </c:strCache>
            </c:strRef>
          </c:tx>
          <c:spPr>
            <a:solidFill>
              <a:srgbClr val="D97D29"/>
            </a:solidFill>
            <a:ln w="19050">
              <a:solidFill>
                <a:srgbClr val="D97D29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0.5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6.0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12.0</c:v>
                </c:pt>
                <c:pt idx="1">
                  <c:v>6.0</c:v>
                </c:pt>
                <c:pt idx="2">
                  <c:v>3.0</c:v>
                </c:pt>
                <c:pt idx="3">
                  <c:v>2.0</c:v>
                </c:pt>
                <c:pt idx="4">
                  <c:v>1.5</c:v>
                </c:pt>
                <c:pt idx="5">
                  <c:v>1.0</c:v>
                </c:pt>
              </c:numCache>
            </c:numRef>
          </c:val>
          <c:smooth val="1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V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BDEE4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p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93748"/>
            </a:gs>
            <a:gs pos="100000">
              <a:srgbClr val="0E4D64"/>
            </a:gs>
          </a:gsLst>
          <a:lin scaled="1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dc-s0"/>
          <p:cNvSpPr/>
          <p:nvPr/>
        </p:nvSpPr>
        <p:spPr>
          <a:xfrm>
            <a:off x="8191500" y="2095500"/>
            <a:ext cx="57150" cy="5715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c-s1"/>
          <p:cNvSpPr/>
          <p:nvPr/>
        </p:nvSpPr>
        <p:spPr>
          <a:xfrm>
            <a:off x="8953500" y="2857500"/>
            <a:ext cx="38100" cy="3810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c-s2"/>
          <p:cNvSpPr/>
          <p:nvPr/>
        </p:nvSpPr>
        <p:spPr>
          <a:xfrm>
            <a:off x="10001250" y="1714500"/>
            <a:ext cx="76200" cy="7620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dc-s3"/>
          <p:cNvSpPr/>
          <p:nvPr/>
        </p:nvSpPr>
        <p:spPr>
          <a:xfrm>
            <a:off x="10668000" y="3619500"/>
            <a:ext cx="38100" cy="3810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dc-s4"/>
          <p:cNvSpPr/>
          <p:nvPr/>
        </p:nvSpPr>
        <p:spPr>
          <a:xfrm>
            <a:off x="9334500" y="4381500"/>
            <a:ext cx="57150" cy="5715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dc-s5"/>
          <p:cNvSpPr/>
          <p:nvPr/>
        </p:nvSpPr>
        <p:spPr>
          <a:xfrm>
            <a:off x="11239500" y="2476500"/>
            <a:ext cx="38100" cy="3810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dc-s6"/>
          <p:cNvSpPr/>
          <p:nvPr/>
        </p:nvSpPr>
        <p:spPr>
          <a:xfrm>
            <a:off x="8382000" y="3810000"/>
            <a:ext cx="38100" cy="3810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dc-s7"/>
          <p:cNvSpPr/>
          <p:nvPr/>
        </p:nvSpPr>
        <p:spPr>
          <a:xfrm>
            <a:off x="10382250" y="4762500"/>
            <a:ext cx="57150" cy="5715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dc-o1"/>
          <p:cNvSpPr/>
          <p:nvPr/>
        </p:nvSpPr>
        <p:spPr>
          <a:xfrm>
            <a:off x="7905750" y="1714500"/>
            <a:ext cx="3238500" cy="3238500"/>
          </a:xfrm>
          <a:prstGeom prst="ellipse">
            <a:avLst/>
          </a:prstGeom>
          <a:noFill/>
          <a:ln w="12700">
            <a:solidFill>
              <a:srgbClr val="FFFFFF"/>
            </a:solidFill>
            <a:prstDash val="dash"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topic-tag"/>
          <p:cNvSpPr txBox="1"/>
          <p:nvPr/>
        </p:nvSpPr>
        <p:spPr>
          <a:xfrm>
            <a:off x="838200" y="1428750"/>
            <a:ext cx="4762500" cy="2667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200" noProof="1" spc="300">
                <a:solidFill>
                  <a:srgbClr val="D97D29"/>
                </a:solidFill>
                <a:latin typeface="QuattrocentoSans"/>
                <a:ea typeface="MiSans"/>
              </a:rPr>
              <a:t>TOPIC 15</a:t>
            </a:r>
          </a:p>
        </p:txBody>
      </p:sp>
      <p:sp>
        <p:nvSpPr>
          <p:cNvPr id="12" name="dsl:title-main"/>
          <p:cNvSpPr txBox="1"/>
          <p:nvPr/>
        </p:nvSpPr>
        <p:spPr>
          <a:xfrm>
            <a:off x="838200" y="2000250"/>
            <a:ext cx="62865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300" noProof="1">
                <a:solidFill>
                  <a:srgbClr val="FFFFFF"/>
                </a:solidFill>
                <a:latin typeface="Unna"/>
                <a:ea typeface="siyuanSongti"/>
              </a:rPr>
              <a:t>Ideal Gases</a:t>
            </a:r>
          </a:p>
        </p:txBody>
      </p:sp>
      <p:sp>
        <p:nvSpPr>
          <p:cNvPr id="13" name="dsl:title-cn"/>
          <p:cNvSpPr txBox="1"/>
          <p:nvPr/>
        </p:nvSpPr>
        <p:spPr>
          <a:xfrm>
            <a:off x="838200" y="3352800"/>
            <a:ext cx="6286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FFFFFF"/>
                </a:solidFill>
                <a:latin typeface="siyuanSongti"/>
                <a:ea typeface="siyuanSongti"/>
              </a:rPr>
              <a:t>理想气体</a:t>
            </a:r>
          </a:p>
        </p:txBody>
      </p:sp>
      <p:cxnSp>
        <p:nvCxnSpPr>
          <p:cNvPr id="14" name="dsl:div"/>
          <p:cNvCxnSpPr/>
          <p:nvPr/>
        </p:nvCxnSpPr>
        <p:spPr>
          <a:xfrm>
            <a:off x="838200" y="4000500"/>
            <a:ext cx="2019300" cy="0"/>
          </a:xfrm>
          <a:prstGeom prst="straightConnector1">
            <a:avLst/>
          </a:prstGeom>
          <a:ln w="38100">
            <a:solidFill>
              <a:srgbClr val="D97D2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sl:exam-info"/>
          <p:cNvSpPr txBox="1"/>
          <p:nvPr/>
        </p:nvSpPr>
        <p:spPr>
          <a:xfrm>
            <a:off x="838200" y="5715000"/>
            <a:ext cx="6667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FFFFFF"/>
                </a:solidFill>
                <a:latin typeface="QuattrocentoSans"/>
                <a:ea typeface="MiSans"/>
              </a:rPr>
              <a:t>CIE 9702 · A Level Physics A2 · Paper 4</a:t>
            </a:r>
          </a:p>
        </p:txBody>
      </p:sp>
      <p:sp>
        <p:nvSpPr>
          <p:cNvPr id="16" name="dsl:series-info"/>
          <p:cNvSpPr txBox="1"/>
          <p:nvPr/>
        </p:nvSpPr>
        <p:spPr>
          <a:xfrm>
            <a:off x="838200" y="6019800"/>
            <a:ext cx="66675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>
                <a:solidFill>
                  <a:srgbClr val="FFFFFF"/>
                </a:solidFill>
                <a:latin typeface="QuattrocentoSans"/>
                <a:ea typeface="MiSans"/>
              </a:rPr>
              <a:t>剑桥国际物理 A2 分章节讲义 · 中英双语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15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Learning Outcomes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学习目标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15 Ideal Gases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02 / 15</a:t>
            </a:r>
          </a:p>
        </p:txBody>
      </p:sp>
      <p:sp>
        <p:nvSpPr>
          <p:cNvPr id="9" name="dsl:ol-panel"/>
          <p:cNvSpPr/>
          <p:nvPr/>
        </p:nvSpPr>
        <p:spPr>
          <a:xfrm>
            <a:off x="609600" y="1695450"/>
            <a:ext cx="2476500" cy="447675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ol-big"/>
          <p:cNvSpPr txBox="1"/>
          <p:nvPr/>
        </p:nvSpPr>
        <p:spPr>
          <a:xfrm>
            <a:off x="838200" y="1981200"/>
            <a:ext cx="2019300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LEARNING</a:t>
            </a: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
</a:t>
            </a: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OUTCOMES</a:t>
            </a:r>
          </a:p>
        </p:txBody>
      </p:sp>
      <p:sp>
        <p:nvSpPr>
          <p:cNvPr id="11" name="dsl:ol-cn"/>
          <p:cNvSpPr txBox="1"/>
          <p:nvPr/>
        </p:nvSpPr>
        <p:spPr>
          <a:xfrm>
            <a:off x="838200" y="3695700"/>
            <a:ext cx="2019300" cy="2857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500" noProof="1">
                <a:solidFill>
                  <a:srgbClr val="FFFFFF"/>
                </a:solidFill>
                <a:latin typeface="siyuanSongti"/>
                <a:ea typeface="siyuanSongti"/>
              </a:rPr>
              <a:t>学习目标</a:t>
            </a:r>
          </a:p>
        </p:txBody>
      </p:sp>
      <p:sp>
        <p:nvSpPr>
          <p:cNvPr id="12" name="dsl:ol-note"/>
          <p:cNvSpPr txBox="1"/>
          <p:nvPr/>
        </p:nvSpPr>
        <p:spPr>
          <a:xfrm>
            <a:off x="838200" y="5505450"/>
            <a:ext cx="20193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75" noProof="1">
                <a:solidFill>
                  <a:srgbClr val="FFFFFF"/>
                </a:solidFill>
                <a:latin typeface="MiSans"/>
                <a:ea typeface="MiSans"/>
              </a:rPr>
              <a:t>By the end of this topic, you will be able to…</a:t>
            </a:r>
          </a:p>
        </p:txBody>
      </p:sp>
      <p:sp>
        <p:nvSpPr>
          <p:cNvPr id="13" name="dsl:og0"/>
          <p:cNvSpPr txBox="1"/>
          <p:nvPr/>
        </p:nvSpPr>
        <p:spPr>
          <a:xfrm>
            <a:off x="3467100" y="175260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15.1 The mole 摩尔</a:t>
            </a:r>
          </a:p>
        </p:txBody>
      </p:sp>
      <p:pic>
        <p:nvPicPr>
          <p:cNvPr id="14" name="dsl:oc0_0|i=fas:square-check" descr="tmpjuwqv83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1050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5" name="dsl:ot0_0"/>
          <p:cNvSpPr txBox="1"/>
          <p:nvPr/>
        </p:nvSpPr>
        <p:spPr>
          <a:xfrm>
            <a:off x="3752850" y="20764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Amount of substance is an SI base quantity with base unit mol 物质的量是基本量</a:t>
            </a:r>
          </a:p>
        </p:txBody>
      </p:sp>
      <p:pic>
        <p:nvPicPr>
          <p:cNvPr id="16" name="dsl:oc0_1|i=fas:square-check" descr="tmpjuwqv83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4098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ot0_1"/>
          <p:cNvSpPr txBox="1"/>
          <p:nvPr/>
        </p:nvSpPr>
        <p:spPr>
          <a:xfrm>
            <a:off x="3752850" y="23812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One mole contains the Avogadro constant N_A = 6.02×10²³ particles 阿伏伽德罗常数</a:t>
            </a:r>
          </a:p>
        </p:txBody>
      </p:sp>
      <p:sp>
        <p:nvSpPr>
          <p:cNvPr id="18" name="dsl:og1"/>
          <p:cNvSpPr txBox="1"/>
          <p:nvPr/>
        </p:nvSpPr>
        <p:spPr>
          <a:xfrm>
            <a:off x="3467100" y="280035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15.2 Equation of state 状态方程</a:t>
            </a:r>
          </a:p>
        </p:txBody>
      </p:sp>
      <p:pic>
        <p:nvPicPr>
          <p:cNvPr id="19" name="dsl:oc1_0|i=fas:square-check" descr="tmpjuwqv83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31527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ot1_0"/>
          <p:cNvSpPr txBox="1"/>
          <p:nvPr/>
        </p:nvSpPr>
        <p:spPr>
          <a:xfrm>
            <a:off x="3752850" y="31242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An ideal gas obeys pV ∝ T (T in kelvin) 理想气体定义</a:t>
            </a:r>
          </a:p>
        </p:txBody>
      </p:sp>
      <p:pic>
        <p:nvPicPr>
          <p:cNvPr id="21" name="dsl:oc1_1|i=fas:square-check" descr="tmpjuwqv83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34575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2" name="dsl:ot1_1"/>
          <p:cNvSpPr txBox="1"/>
          <p:nvPr/>
        </p:nvSpPr>
        <p:spPr>
          <a:xfrm>
            <a:off x="3752850" y="34290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Recall and use pV = nRT and pV = NkT; k = R/N_A 两种形式的状态方程</a:t>
            </a:r>
          </a:p>
        </p:txBody>
      </p:sp>
      <p:sp>
        <p:nvSpPr>
          <p:cNvPr id="23" name="dsl:og2"/>
          <p:cNvSpPr txBox="1"/>
          <p:nvPr/>
        </p:nvSpPr>
        <p:spPr>
          <a:xfrm>
            <a:off x="3467100" y="384810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15.3 Kinetic theory of gases 分子动理论</a:t>
            </a:r>
          </a:p>
        </p:txBody>
      </p:sp>
      <p:pic>
        <p:nvPicPr>
          <p:cNvPr id="24" name="dsl:oc2_0|i=fas:square-check" descr="tmpjuwqv83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42005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5" name="dsl:ot2_0"/>
          <p:cNvSpPr txBox="1"/>
          <p:nvPr/>
        </p:nvSpPr>
        <p:spPr>
          <a:xfrm>
            <a:off x="3752850" y="41719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State the basic assumptions of the kinetic theory 动理论基本假设</a:t>
            </a:r>
          </a:p>
        </p:txBody>
      </p:sp>
      <p:pic>
        <p:nvPicPr>
          <p:cNvPr id="26" name="dsl:oc2_1|i=fas:square-check" descr="tmpjuwqv83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45053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7" name="dsl:ot2_1"/>
          <p:cNvSpPr txBox="1"/>
          <p:nvPr/>
        </p:nvSpPr>
        <p:spPr>
          <a:xfrm>
            <a:off x="3752850" y="44767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Explain pressure from molecular motion; derive and use p = ⅓ρ〈c²〉 压强微观推导</a:t>
            </a:r>
          </a:p>
        </p:txBody>
      </p:sp>
      <p:pic>
        <p:nvPicPr>
          <p:cNvPr id="28" name="dsl:oc2_2|i=fas:square-check" descr="tmpjuwqv83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48101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9" name="dsl:ot2_2"/>
          <p:cNvSpPr txBox="1"/>
          <p:nvPr/>
        </p:nvSpPr>
        <p:spPr>
          <a:xfrm>
            <a:off x="3752850" y="47815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Relate mean kinetic energy to thermodynamic temperature 平均动能与温度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15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The Mole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摩尔与阿伏伽德罗常数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15 Ideal Gases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03 / 15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10972800" cy="81915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81915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10515600" cy="5905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Amount of substance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is an SI base quantity; its base unit is the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mole (mol)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物质的量是 SI 基本量，单位摩尔。</a:t>
            </a:r>
          </a:p>
        </p:txBody>
      </p:sp>
      <p:sp>
        <p:nvSpPr>
          <p:cNvPr id="12" name="dsl:b1-bg"/>
          <p:cNvSpPr/>
          <p:nvPr/>
        </p:nvSpPr>
        <p:spPr>
          <a:xfrm>
            <a:off x="609600" y="2800350"/>
            <a:ext cx="10972800" cy="1076325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b1-bar"/>
          <p:cNvSpPr/>
          <p:nvPr/>
        </p:nvSpPr>
        <p:spPr>
          <a:xfrm>
            <a:off x="609600" y="2800350"/>
            <a:ext cx="38100" cy="1076325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b1-tx"/>
          <p:cNvSpPr txBox="1"/>
          <p:nvPr/>
        </p:nvSpPr>
        <p:spPr>
          <a:xfrm>
            <a:off x="838200" y="2914650"/>
            <a:ext cx="10515600" cy="847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One mole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of any substance contains a number of particles equal to the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Avogadro constant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14:m>
              <m:oMath>
                <m:sSub>
                  <m:sSub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N</m:t>
                    </m:r>
                  </m:e>
                  <m:sub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A</m:t>
                    </m:r>
                  </m:sub>
                </m:sSub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6.02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23</m:t>
                    </m:r>
                  </m:sup>
                </m:sSup>
                <m:r>
                  <m:t> </m:t>
                </m:r>
                <m:sSup>
                  <m:s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mol</m:t>
                    </m:r>
                  </m:e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1 摩尔物质含有 Nₐ 个粒子。</a:t>
            </a:r>
          </a:p>
        </p:txBody>
      </p:sp>
      <p:sp>
        <p:nvSpPr>
          <p:cNvPr id="15" name="dsl:b2-bg"/>
          <p:cNvSpPr/>
          <p:nvPr/>
        </p:nvSpPr>
        <p:spPr>
          <a:xfrm>
            <a:off x="609600" y="4048125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b2-fx"/>
          <p:cNvSpPr txBox="1"/>
          <p:nvPr/>
        </p:nvSpPr>
        <p:spPr>
          <a:xfrm>
            <a:off x="838200" y="4048125"/>
            <a:ext cx="52578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N</m:t>
                    </m:r>
                  </m:num>
                  <m:den>
                    <m:sSub>
                      <m:sSubPr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den>
                </m:f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m</m:t>
                    </m:r>
                  </m:num>
                  <m:den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M</m:t>
                    </m:r>
                  </m:den>
                </m:f>
              </m:oMath>
            </a14:m>
          </a:p>
        </p:txBody>
      </p:sp>
      <p:sp>
        <p:nvSpPr>
          <p:cNvPr id="17" name="dsl:b2-nt|s=$small"/>
          <p:cNvSpPr txBox="1"/>
          <p:nvPr/>
        </p:nvSpPr>
        <p:spPr>
          <a:xfrm>
            <a:off x="6638925" y="4048125"/>
            <a:ext cx="4791075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N 粒子数 · m 质量 · M 摩尔质量</a:t>
            </a:r>
          </a:p>
        </p:txBody>
      </p:sp>
      <p:sp>
        <p:nvSpPr>
          <p:cNvPr id="18" name="dsl:b3"/>
          <p:cNvSpPr txBox="1"/>
          <p:nvPr/>
        </p:nvSpPr>
        <p:spPr>
          <a:xfrm>
            <a:off x="609600" y="4829175"/>
            <a:ext cx="10972800" cy="5810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Molar mass 摩尔质量: mass of 1 mol, in g mol⁻¹（数值≈相对原子/分子质量）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Counting by moles links the microscopic (molecules) to the macroscopic (grams) 摩尔是微观与宏观的桥梁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15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Equation of State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理想气体状态方程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15 Ideal Gases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04 / 15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10972800" cy="81915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81915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10515600" cy="5905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An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ideal gas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is a gas that obeys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∝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, where T is the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thermodynamic temperature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理想气体：任意状态下 pV 与热力学温度成正比的气体。</a:t>
            </a:r>
          </a:p>
        </p:txBody>
      </p:sp>
      <p:sp>
        <p:nvSpPr>
          <p:cNvPr id="12" name="dsl:b1-bg"/>
          <p:cNvSpPr/>
          <p:nvPr/>
        </p:nvSpPr>
        <p:spPr>
          <a:xfrm>
            <a:off x="609600" y="2800350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b1-fx"/>
          <p:cNvSpPr txBox="1"/>
          <p:nvPr/>
        </p:nvSpPr>
        <p:spPr>
          <a:xfrm>
            <a:off x="838200" y="2800350"/>
            <a:ext cx="52578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R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T</m:t>
                </m:r>
                <m:r>
                  <m:t> 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k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</a:p>
        </p:txBody>
      </p:sp>
      <p:sp>
        <p:nvSpPr>
          <p:cNvPr id="14" name="dsl:b1-nt|s=$small"/>
          <p:cNvSpPr txBox="1"/>
          <p:nvPr/>
        </p:nvSpPr>
        <p:spPr>
          <a:xfrm>
            <a:off x="6638925" y="2800350"/>
            <a:ext cx="4791075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n 摩尔数 · N 分子数</a:t>
            </a:r>
          </a:p>
        </p:txBody>
      </p:sp>
      <p:sp>
        <p:nvSpPr>
          <p:cNvPr id="15" name="dsl:b2"/>
          <p:cNvSpPr txBox="1"/>
          <p:nvPr/>
        </p:nvSpPr>
        <p:spPr>
          <a:xfrm>
            <a:off x="609600" y="3581400"/>
            <a:ext cx="10972800" cy="1228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R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8.31</m:t>
                </m:r>
                <m:r>
                  <m:t> </m:t>
                </m:r>
                <m:sSup>
                  <m:s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J K</m:t>
                    </m:r>
                  </m:e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  <m:sSup>
                  <m:s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mol</m:t>
                    </m:r>
                  </m:e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molar gas constant 普适气体常量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Boltzmann constant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k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R</m:t>
                    </m:r>
                  </m:num>
                  <m:den>
                    <m:sSub>
                      <m:sSubPr>
                        <m:ctrlP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den>
                </m:f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1.38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23</m:t>
                    </m:r>
                  </m:sup>
                </m:sSup>
                <m:r>
                  <m:t> </m:t>
                </m:r>
                <m:sSup>
                  <m:s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J K</m:t>
                    </m:r>
                  </m:e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玻尔兹曼常数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Two forms are equivalent: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k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n</m:t>
                </m:r>
                <m:sSub>
                  <m:sSub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N</m:t>
                    </m:r>
                  </m:e>
                  <m:sub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A</m:t>
                    </m:r>
                  </m:sub>
                </m:sSub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k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R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两式等价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T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must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be in kelvin 温度必须用开尔文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15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Gas Laws in Graphs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气体实验定律与图像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15 Ideal Gases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05 / 15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5334000" cy="22955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Boyle’s law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玻意耳定律: pV = constant at fixed T（p–V 双曲线；T 越高等温线越靠外）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Charles’ law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查理定律: V ∝ T at fixed p（V–T 过原点直线，T 用 K）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Pressure law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压强定律: p ∝ T at fixed V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All three combine into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R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三定律统一为状态方程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Two states of a fixed mass: </a:t>
            </a:r>
            <a14:m>
              <m:oMath>
                <m:f>
                  <m:f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sSub>
                      <m:sSubPr>
                        <m:ctrlP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num>
                  <m:den>
                    <m:sSub>
                      <m:sSubPr>
                        <m:ctrlP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den>
                </m:f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sSub>
                      <m:sSubPr>
                        <m:ctrlP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num>
                  <m:den>
                    <m:sSub>
                      <m:sSubPr>
                        <m:ctrlP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den>
                </m:f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两状态联立式</a:t>
            </a:r>
          </a:p>
        </p:txBody>
      </p:sp>
      <p:sp>
        <p:nvSpPr>
          <p:cNvPr id="10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dsl:gl-chart"/>
          <p:cNvGraphicFramePr>
            <a:graphicFrameLocks noGrp="1"/>
          </p:cNvGraphicFramePr>
          <p:nvPr/>
        </p:nvGraphicFramePr>
        <p:xfrm>
          <a:off x="6667500" y="2095500"/>
          <a:ext cx="4667250" cy="3238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dsl:dg-cap2|s=$small"/>
          <p:cNvSpPr txBox="1"/>
          <p:nvPr/>
        </p:nvSpPr>
        <p:spPr>
          <a:xfrm>
            <a:off x="6286500" y="594360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p–V isotherms of a fixed mass of gas 等温线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15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Kinetic Theory Assumptions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分子动理论基本假设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15 Ideal Gases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06 / 15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5334000" cy="27908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1.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A gas consists of a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very large number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of molecules in continuous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random motion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大量分子无规则运动</a:t>
            </a:r>
          </a:p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2.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The volume of the molecules is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negligible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compared with the volume of the gas 分子本身体积可忽略</a:t>
            </a:r>
          </a:p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3.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Intermolecular forces are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negligible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except during collisions 除碰撞瞬间无分子间力</a:t>
            </a:r>
          </a:p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4.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All collisions (molecule–molecule and molecule–wall) are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perfectly elastic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碰撞完全弹性</a:t>
            </a:r>
          </a:p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5.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The time of collisions is negligible compared with the time between collisions 碰撞时间极短</a:t>
            </a:r>
          </a:p>
        </p:txBody>
      </p:sp>
      <p:sp>
        <p:nvSpPr>
          <p:cNvPr id="10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kt-m0"/>
          <p:cNvSpPr/>
          <p:nvPr/>
        </p:nvSpPr>
        <p:spPr>
          <a:xfrm>
            <a:off x="6858000" y="2286000"/>
            <a:ext cx="114300" cy="114300"/>
          </a:xfrm>
          <a:prstGeom prst="ellipse">
            <a:avLst/>
          </a:prstGeom>
          <a:solidFill>
            <a:srgbClr val="0E4D64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dsl:kt-a0"/>
          <p:cNvCxnSpPr/>
          <p:nvPr/>
        </p:nvCxnSpPr>
        <p:spPr>
          <a:xfrm>
            <a:off x="6915150" y="2343150"/>
            <a:ext cx="247650" cy="0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sl:kt-m1"/>
          <p:cNvSpPr/>
          <p:nvPr/>
        </p:nvSpPr>
        <p:spPr>
          <a:xfrm>
            <a:off x="7781925" y="3533775"/>
            <a:ext cx="114300" cy="114300"/>
          </a:xfrm>
          <a:prstGeom prst="ellipse">
            <a:avLst/>
          </a:prstGeom>
          <a:solidFill>
            <a:srgbClr val="0E4D64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dsl:kt-a1"/>
          <p:cNvCxnSpPr/>
          <p:nvPr/>
        </p:nvCxnSpPr>
        <p:spPr>
          <a:xfrm>
            <a:off x="7839075" y="3590925"/>
            <a:ext cx="168896" cy="181119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sl:kt-m2"/>
          <p:cNvSpPr/>
          <p:nvPr/>
        </p:nvSpPr>
        <p:spPr>
          <a:xfrm>
            <a:off x="8705850" y="4781550"/>
            <a:ext cx="114300" cy="114300"/>
          </a:xfrm>
          <a:prstGeom prst="ellipse">
            <a:avLst/>
          </a:prstGeom>
          <a:solidFill>
            <a:srgbClr val="0E4D64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dsl:kt-a2"/>
          <p:cNvCxnSpPr/>
          <p:nvPr/>
        </p:nvCxnSpPr>
        <p:spPr>
          <a:xfrm flipH="1">
            <a:off x="8745724" y="4838700"/>
            <a:ext cx="17276" cy="247046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sl:kt-m3"/>
          <p:cNvSpPr/>
          <p:nvPr/>
        </p:nvSpPr>
        <p:spPr>
          <a:xfrm>
            <a:off x="9629775" y="2981325"/>
            <a:ext cx="114300" cy="114300"/>
          </a:xfrm>
          <a:prstGeom prst="ellipse">
            <a:avLst/>
          </a:prstGeom>
          <a:solidFill>
            <a:srgbClr val="0E4D64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dsl:kt-a3"/>
          <p:cNvCxnSpPr/>
          <p:nvPr/>
        </p:nvCxnSpPr>
        <p:spPr>
          <a:xfrm flipH="1">
            <a:off x="9494464" y="3038475"/>
            <a:ext cx="192461" cy="155851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sl:kt-m4"/>
          <p:cNvSpPr/>
          <p:nvPr/>
        </p:nvSpPr>
        <p:spPr>
          <a:xfrm>
            <a:off x="10553700" y="4229100"/>
            <a:ext cx="114300" cy="114300"/>
          </a:xfrm>
          <a:prstGeom prst="ellipse">
            <a:avLst/>
          </a:prstGeom>
          <a:solidFill>
            <a:srgbClr val="0E4D64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dsl:kt-a4"/>
          <p:cNvCxnSpPr/>
          <p:nvPr/>
        </p:nvCxnSpPr>
        <p:spPr>
          <a:xfrm>
            <a:off x="10365610" y="4251783"/>
            <a:ext cx="245240" cy="34467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sl:kt-m5"/>
          <p:cNvSpPr/>
          <p:nvPr/>
        </p:nvSpPr>
        <p:spPr>
          <a:xfrm>
            <a:off x="7286625" y="2428875"/>
            <a:ext cx="114300" cy="114300"/>
          </a:xfrm>
          <a:prstGeom prst="ellipse">
            <a:avLst/>
          </a:prstGeom>
          <a:solidFill>
            <a:srgbClr val="0E4D64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dsl:kt-a5"/>
          <p:cNvCxnSpPr/>
          <p:nvPr/>
        </p:nvCxnSpPr>
        <p:spPr>
          <a:xfrm>
            <a:off x="7201728" y="2283161"/>
            <a:ext cx="142047" cy="202864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dsl:kt-m6"/>
          <p:cNvSpPr/>
          <p:nvPr/>
        </p:nvSpPr>
        <p:spPr>
          <a:xfrm>
            <a:off x="8210550" y="3676650"/>
            <a:ext cx="114300" cy="114300"/>
          </a:xfrm>
          <a:prstGeom prst="ellipse">
            <a:avLst/>
          </a:prstGeom>
          <a:solidFill>
            <a:srgbClr val="0E4D64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dsl:kt-a6"/>
          <p:cNvCxnSpPr/>
          <p:nvPr/>
        </p:nvCxnSpPr>
        <p:spPr>
          <a:xfrm flipH="1">
            <a:off x="8267700" y="3491561"/>
            <a:ext cx="51489" cy="242239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dsl:kt-m7"/>
          <p:cNvSpPr/>
          <p:nvPr/>
        </p:nvSpPr>
        <p:spPr>
          <a:xfrm>
            <a:off x="9134475" y="4924425"/>
            <a:ext cx="114300" cy="114300"/>
          </a:xfrm>
          <a:prstGeom prst="ellipse">
            <a:avLst/>
          </a:prstGeom>
          <a:solidFill>
            <a:srgbClr val="0E4D64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dsl:kt-a7"/>
          <p:cNvCxnSpPr/>
          <p:nvPr/>
        </p:nvCxnSpPr>
        <p:spPr>
          <a:xfrm flipH="1">
            <a:off x="9191625" y="4854025"/>
            <a:ext cx="212277" cy="127550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dsl:kt-m8"/>
          <p:cNvSpPr/>
          <p:nvPr/>
        </p:nvSpPr>
        <p:spPr>
          <a:xfrm>
            <a:off x="10058400" y="3124200"/>
            <a:ext cx="114300" cy="114300"/>
          </a:xfrm>
          <a:prstGeom prst="ellipse">
            <a:avLst/>
          </a:prstGeom>
          <a:solidFill>
            <a:srgbClr val="0E4D64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dsl:kt-a8"/>
          <p:cNvCxnSpPr/>
          <p:nvPr/>
        </p:nvCxnSpPr>
        <p:spPr>
          <a:xfrm>
            <a:off x="10115550" y="3181350"/>
            <a:ext cx="238056" cy="68261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dsl:kt-m9"/>
          <p:cNvSpPr/>
          <p:nvPr/>
        </p:nvSpPr>
        <p:spPr>
          <a:xfrm>
            <a:off x="10982325" y="4371975"/>
            <a:ext cx="114300" cy="114300"/>
          </a:xfrm>
          <a:prstGeom prst="ellipse">
            <a:avLst/>
          </a:prstGeom>
          <a:solidFill>
            <a:srgbClr val="0E4D64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dsl:kt-a9"/>
          <p:cNvCxnSpPr/>
          <p:nvPr/>
        </p:nvCxnSpPr>
        <p:spPr>
          <a:xfrm>
            <a:off x="11039475" y="4429125"/>
            <a:ext cx="112430" cy="220657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sl:kt-m10"/>
          <p:cNvSpPr/>
          <p:nvPr/>
        </p:nvSpPr>
        <p:spPr>
          <a:xfrm>
            <a:off x="7715250" y="2571750"/>
            <a:ext cx="114300" cy="114300"/>
          </a:xfrm>
          <a:prstGeom prst="ellipse">
            <a:avLst/>
          </a:prstGeom>
          <a:solidFill>
            <a:srgbClr val="0E4D64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dsl:kt-a10"/>
          <p:cNvCxnSpPr/>
          <p:nvPr/>
        </p:nvCxnSpPr>
        <p:spPr>
          <a:xfrm flipH="1">
            <a:off x="7687698" y="2628900"/>
            <a:ext cx="84702" cy="232714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dsl:kt-m11"/>
          <p:cNvSpPr/>
          <p:nvPr/>
        </p:nvSpPr>
        <p:spPr>
          <a:xfrm>
            <a:off x="8639175" y="3819525"/>
            <a:ext cx="114300" cy="114300"/>
          </a:xfrm>
          <a:prstGeom prst="ellipse">
            <a:avLst/>
          </a:prstGeom>
          <a:solidFill>
            <a:srgbClr val="0E4D64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dsl:kt-a11"/>
          <p:cNvCxnSpPr/>
          <p:nvPr/>
        </p:nvCxnSpPr>
        <p:spPr>
          <a:xfrm flipH="1">
            <a:off x="8468361" y="3876675"/>
            <a:ext cx="227964" cy="96764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dsl:kt-m12"/>
          <p:cNvSpPr/>
          <p:nvPr/>
        </p:nvSpPr>
        <p:spPr>
          <a:xfrm>
            <a:off x="9563100" y="5067300"/>
            <a:ext cx="114300" cy="114300"/>
          </a:xfrm>
          <a:prstGeom prst="ellipse">
            <a:avLst/>
          </a:prstGeom>
          <a:solidFill>
            <a:srgbClr val="0E4D64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dsl:kt-a12"/>
          <p:cNvCxnSpPr/>
          <p:nvPr/>
        </p:nvCxnSpPr>
        <p:spPr>
          <a:xfrm>
            <a:off x="9394010" y="5023721"/>
            <a:ext cx="226240" cy="100729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dsl:kt-m13"/>
          <p:cNvSpPr/>
          <p:nvPr/>
        </p:nvSpPr>
        <p:spPr>
          <a:xfrm>
            <a:off x="10487025" y="3267075"/>
            <a:ext cx="114300" cy="114300"/>
          </a:xfrm>
          <a:prstGeom prst="ellipse">
            <a:avLst/>
          </a:prstGeom>
          <a:solidFill>
            <a:srgbClr val="0E4D64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dsl:kt-a13"/>
          <p:cNvCxnSpPr/>
          <p:nvPr/>
        </p:nvCxnSpPr>
        <p:spPr>
          <a:xfrm>
            <a:off x="10463548" y="3090067"/>
            <a:ext cx="80627" cy="234158"/>
          </a:xfrm>
          <a:prstGeom prst="straightConnector1">
            <a:avLst/>
          </a:prstGeom>
          <a:ln w="19050">
            <a:solidFill>
              <a:srgbClr val="5C7A84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dsl:kt-box"/>
          <p:cNvSpPr/>
          <p:nvPr/>
        </p:nvSpPr>
        <p:spPr>
          <a:xfrm>
            <a:off x="6667500" y="2095500"/>
            <a:ext cx="4572000" cy="3429000"/>
          </a:xfrm>
          <a:prstGeom prst="rect">
            <a:avLst/>
          </a:prstGeom>
          <a:noFill/>
          <a:ln w="38100">
            <a:solidFill>
              <a:srgbClr val="1C2B33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sl:kt-cap|s=$small"/>
          <p:cNvSpPr txBox="1"/>
          <p:nvPr/>
        </p:nvSpPr>
        <p:spPr>
          <a:xfrm>
            <a:off x="6286500" y="561975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Random motion &amp; elastic collisions with walls 分子无规则运动并与器壁弹性碰撞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15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Pressure from Molecular Motion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压强的微观推导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15 Ideal Gases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07 / 15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5334000" cy="19716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One molecule hits a wall: momentum change per collision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m</m:t>
                </m:r>
                <m:sSub>
                  <m:sSub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x</m:t>
                    </m:r>
                  </m:sub>
                </m:sSub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单次碰撞动量改变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Collision rate with that wall: </a:t>
            </a:r>
            <a14:m>
              <m:oMath>
                <m:f>
                  <m:f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sSub>
                      <m:sSubPr>
                        <m:ctrlP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</m:num>
                  <m:den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L</m:t>
                    </m:r>
                  </m:den>
                </m:f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往返时间 2L/vₓ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Force = rate of change of momentum; average over N molecules with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⟨</m:t>
                </m:r>
                <m:sSup>
                  <m:s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c</m:t>
                    </m:r>
                  </m:e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⟩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3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⟨</m:t>
                </m:r>
                <m:sSubSup>
                  <m:sSub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Sup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x</m:t>
                    </m:r>
                  </m:sub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bSup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⟩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（三个方向均等）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Result 结论: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</m:t>
                    </m:r>
                  </m:den>
                </m:f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⟨</m:t>
                </m:r>
                <m:sSup>
                  <m:s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c</m:t>
                    </m:r>
                  </m:e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⟩</m:t>
                </m:r>
              </m:oMath>
            </a14:m>
          </a:p>
        </p:txBody>
      </p:sp>
      <p:sp>
        <p:nvSpPr>
          <p:cNvPr id="10" name="dsl:dv-strip"/>
          <p:cNvSpPr/>
          <p:nvPr/>
        </p:nvSpPr>
        <p:spPr>
          <a:xfrm>
            <a:off x="609600" y="5334000"/>
            <a:ext cx="10972800" cy="8382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dv-f1"/>
          <p:cNvSpPr txBox="1"/>
          <p:nvPr/>
        </p:nvSpPr>
        <p:spPr>
          <a:xfrm>
            <a:off x="857250" y="5334000"/>
            <a:ext cx="5334000" cy="8382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3</m:t>
                    </m:r>
                  </m:den>
                </m:f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ρ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⟨</m:t>
                </m:r>
                <m:sSup>
                  <m:sSup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c</m:t>
                    </m:r>
                  </m:e>
                  <m:sup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⟩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3</m:t>
                    </m:r>
                  </m:den>
                </m:f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m</m:t>
                    </m:r>
                  </m:num>
                  <m:den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V</m:t>
                    </m:r>
                  </m:den>
                </m:f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⟨</m:t>
                </m:r>
                <m:sSup>
                  <m:sSup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c</m:t>
                    </m:r>
                  </m:e>
                  <m:sup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⟩</m:t>
                </m:r>
              </m:oMath>
            </a14:m>
          </a:p>
        </p:txBody>
      </p:sp>
      <p:sp>
        <p:nvSpPr>
          <p:cNvPr id="12" name="dsl:dv-n1|s=$small"/>
          <p:cNvSpPr txBox="1"/>
          <p:nvPr/>
        </p:nvSpPr>
        <p:spPr>
          <a:xfrm>
            <a:off x="6667500" y="5334000"/>
            <a:ext cx="4762500" cy="838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ρ = Nm/V 气体密度 · 〈c²〉 mean-square speed 方均速率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15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Mean Kinetic Energy &amp; r.m.s. Speed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平均动能与方均根速率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15 Ideal Gases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08 / 15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10972800" cy="2571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Combine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</m:t>
                    </m:r>
                  </m:den>
                </m:f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⟨</m:t>
                </m:r>
                <m:sSup>
                  <m:sSup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c</m:t>
                    </m:r>
                  </m:e>
                  <m: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⟩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with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k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联立两式</a:t>
            </a:r>
          </a:p>
        </p:txBody>
      </p:sp>
      <p:sp>
        <p:nvSpPr>
          <p:cNvPr id="10" name="dsl:b1-bg"/>
          <p:cNvSpPr/>
          <p:nvPr/>
        </p:nvSpPr>
        <p:spPr>
          <a:xfrm>
            <a:off x="609600" y="2238375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1-fx"/>
          <p:cNvSpPr txBox="1"/>
          <p:nvPr/>
        </p:nvSpPr>
        <p:spPr>
          <a:xfrm>
            <a:off x="838200" y="2238375"/>
            <a:ext cx="52578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⟨</m:t>
                </m:r>
                <m:sSup>
                  <m:sSup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c</m:t>
                    </m:r>
                  </m:e>
                  <m:sup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⟩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3</m:t>
                    </m:r>
                  </m:num>
                  <m:den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k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</a:p>
        </p:txBody>
      </p:sp>
      <p:sp>
        <p:nvSpPr>
          <p:cNvPr id="12" name="dsl:b1-nt|s=$small"/>
          <p:cNvSpPr txBox="1"/>
          <p:nvPr/>
        </p:nvSpPr>
        <p:spPr>
          <a:xfrm>
            <a:off x="6638925" y="2238375"/>
            <a:ext cx="4791075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average KE per molecule 单分子平均动能</a:t>
            </a:r>
          </a:p>
        </p:txBody>
      </p:sp>
      <p:sp>
        <p:nvSpPr>
          <p:cNvPr id="13" name="dsl:b2"/>
          <p:cNvSpPr txBox="1"/>
          <p:nvPr/>
        </p:nvSpPr>
        <p:spPr>
          <a:xfrm>
            <a:off x="609600" y="3019425"/>
            <a:ext cx="10972800" cy="1228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Temperature is a measure of the mean kinetic energy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of molecules 温度是分子平均动能的量度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Root-mean-square speed 方均根速率: </a:t>
            </a:r>
            <a14:m>
              <m:oMath>
                <m:sSub>
                  <m:sSub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c</m:t>
                    </m:r>
                  </m:e>
                  <m:sub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s</m:t>
                    </m:r>
                  </m:sub>
                </m:sSub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ad>
                  <m:radPr>
                    <m:degHide m:val="1"/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radPr>
                  <m:deg/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⟨</m:t>
                    </m:r>
                    <m:sSup>
                      <m:sSupPr>
                        <m:ctrlP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⟩</m:t>
                    </m:r>
                  </m:e>
                </m:rad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ad>
                  <m:radPr>
                    <m:degHide m:val="1"/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radPr>
                  <m:deg/>
                  <m:e>
                    <m:f>
                      <m:fPr>
                        <m:ctrlP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num>
                      <m:den>
                        <m: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den>
                    </m:f>
                  </m:e>
                </m:rad>
              </m:oMath>
            </a14:m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For one mole: total KE </a:t>
            </a:r>
            <a14:m>
              <m:oMath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</m:t>
                    </m:r>
                  </m:num>
                  <m:den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R</m:t>
                </m:r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每摩尔总动能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Ideal gas internal energy = kinetic energy only (no intermolecular PE) 理想气体内能仅有动能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15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 15A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15 Ideal Gases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09 / 15</a:t>
            </a:r>
          </a:p>
        </p:txBody>
      </p:sp>
      <p:sp>
        <p:nvSpPr>
          <p:cNvPr id="9" name="dsl:ex-tag|s=$badge"/>
          <p:cNvSpPr txBox="1"/>
          <p:nvPr/>
        </p:nvSpPr>
        <p:spPr>
          <a:xfrm>
            <a:off x="609600" y="1752600"/>
            <a:ext cx="4572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15A</a:t>
            </a:r>
          </a:p>
        </p:txBody>
      </p:sp>
      <p:sp>
        <p:nvSpPr>
          <p:cNvPr id="10" name="dsl:ex-qbg"/>
          <p:cNvSpPr/>
          <p:nvPr/>
        </p:nvSpPr>
        <p:spPr>
          <a:xfrm>
            <a:off x="609600" y="2076450"/>
            <a:ext cx="4381500" cy="19526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ex-q"/>
          <p:cNvSpPr txBox="1"/>
          <p:nvPr/>
        </p:nvSpPr>
        <p:spPr>
          <a:xfrm>
            <a:off x="800100" y="2209800"/>
            <a:ext cx="4000500" cy="16859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The molar mass of neon is 20.0 g. Calculate the number of atoms in a 2.5 g sample.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A cylinder contains </a:t>
            </a:r>
            <a14:m>
              <m:oMath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1.51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24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oxygen molecules. The mass of 1 mol of oxygen atoms is 16.0 g. Determine (a) the amount in mol; (b) the mass of oxygen.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50" noProof="1">
                <a:solidFill>
                  <a:srgbClr val="5C7A84"/>
                </a:solidFill>
                <a:latin typeface="MiSans"/>
                <a:ea typeface="MiSans"/>
              </a:rPr>
              <a:t>注意区分"原子"与"分子"的摩尔质量（O₂ 要 ×2）。</a:t>
            </a:r>
          </a:p>
        </p:txBody>
      </p:sp>
      <p:sp>
        <p:nvSpPr>
          <p:cNvPr id="12" name="dsl:ex-sol|s=$badge"/>
          <p:cNvSpPr txBox="1"/>
          <p:nvPr/>
        </p:nvSpPr>
        <p:spPr>
          <a:xfrm>
            <a:off x="5372100" y="1752600"/>
            <a:ext cx="6210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SOLUTION 解答</a:t>
            </a:r>
          </a:p>
        </p:txBody>
      </p:sp>
      <p:sp>
        <p:nvSpPr>
          <p:cNvPr id="13" name="dsl:ex-steps"/>
          <p:cNvSpPr txBox="1"/>
          <p:nvPr/>
        </p:nvSpPr>
        <p:spPr>
          <a:xfrm>
            <a:off x="5372100" y="2076450"/>
            <a:ext cx="6210300" cy="12573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20.0 g contains </a:t>
            </a:r>
            <a14:m>
              <m:oMath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N</m:t>
                    </m:r>
                  </m:e>
                  <m:sub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A</m:t>
                    </m:r>
                  </m:sub>
                </m:sSub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atoms ⇒ 2.5 g contains </a:t>
            </a:r>
            <a14:m>
              <m:oMath>
                <m:f>
                  <m:f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2.5</m:t>
                    </m:r>
                  </m:num>
                  <m:den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20.0</m:t>
                    </m:r>
                  </m:den>
                </m:f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6.02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23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atoms.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(a)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N</m:t>
                    </m:r>
                  </m:num>
                  <m:den>
                    <m:sSub>
                      <m:sSubPr>
                        <m:ctrlPr>
                          <a:rPr lang="en-US" i="1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i="1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den>
                </m:f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1.51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</m:num>
                  <m:den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6.02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</m:den>
                </m:f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2.51</m:t>
                </m:r>
                <m:r>
                  <m:t> 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mol</m:t>
                </m:r>
              </m:oMath>
            </a14:m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3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(b) Oxygen molecules are O₂: molar mass </a:t>
            </a:r>
            <a14:m>
              <m:oMath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16.0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32.0</m:t>
                </m:r>
                <m:r>
                  <m:t> 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g mol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; mass </a:t>
            </a:r>
            <a14:m>
              <m:oMath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2.51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32.0</m:t>
                </m:r>
              </m:oMath>
            </a14:m>
          </a:p>
        </p:txBody>
      </p:sp>
      <p:sp>
        <p:nvSpPr>
          <p:cNvPr id="14" name="dsl:ex-abg"/>
          <p:cNvSpPr/>
          <p:nvPr/>
        </p:nvSpPr>
        <p:spPr>
          <a:xfrm>
            <a:off x="5372100" y="3486150"/>
            <a:ext cx="6210300" cy="5143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ex-abar"/>
          <p:cNvSpPr/>
          <p:nvPr/>
        </p:nvSpPr>
        <p:spPr>
          <a:xfrm>
            <a:off x="5372100" y="3486150"/>
            <a:ext cx="38100" cy="5143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ex-ans"/>
          <p:cNvSpPr txBox="1"/>
          <p:nvPr/>
        </p:nvSpPr>
        <p:spPr>
          <a:xfrm>
            <a:off x="5562600" y="3486150"/>
            <a:ext cx="5867400" cy="5143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75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75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1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7.53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22</m:t>
                    </m:r>
                  </m:sup>
                </m:sSup>
              </m:oMath>
            </a14:m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 atoms　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2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 (a) 2.51 mol (b) 80.3 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15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 15B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15 Ideal Gases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10 / 15</a:t>
            </a:r>
          </a:p>
        </p:txBody>
      </p:sp>
      <p:sp>
        <p:nvSpPr>
          <p:cNvPr id="9" name="dsl:ex-tag|s=$badge"/>
          <p:cNvSpPr txBox="1"/>
          <p:nvPr/>
        </p:nvSpPr>
        <p:spPr>
          <a:xfrm>
            <a:off x="609600" y="1752600"/>
            <a:ext cx="4572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15B</a:t>
            </a:r>
          </a:p>
        </p:txBody>
      </p:sp>
      <p:sp>
        <p:nvSpPr>
          <p:cNvPr id="10" name="dsl:ex-qbg"/>
          <p:cNvSpPr/>
          <p:nvPr/>
        </p:nvSpPr>
        <p:spPr>
          <a:xfrm>
            <a:off x="609600" y="2076450"/>
            <a:ext cx="4381500" cy="23812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ex-q"/>
          <p:cNvSpPr txBox="1"/>
          <p:nvPr/>
        </p:nvSpPr>
        <p:spPr>
          <a:xfrm>
            <a:off x="800100" y="2209800"/>
            <a:ext cx="4000500" cy="21145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Calculate the volume occupied by 1 mole of air at s.t.p. (273 K, </a:t>
            </a:r>
            <a14:m>
              <m:oMath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1.01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5</m:t>
                    </m:r>
                  </m:sup>
                </m:sSup>
                <m:r>
                  <m:t> 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Pa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;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R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8.31</m:t>
                </m:r>
                <m:r>
                  <m:t> 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J K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mol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).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A syringe contains </a:t>
            </a:r>
            <a14:m>
              <m:oMath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25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6</m:t>
                    </m:r>
                  </m:sup>
                </m:sSup>
                <m:r>
                  <m:t> 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of helium at 20 °C and </a:t>
            </a:r>
            <a14:m>
              <m:oMath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5.0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4</m:t>
                    </m:r>
                  </m:sup>
                </m:sSup>
                <m:r>
                  <m:t> 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Pa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 The temperature rises to 400 °C and the pressure to </a:t>
            </a:r>
            <a14:m>
              <m:oMath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2.4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5</m:t>
                    </m:r>
                  </m:sup>
                </m:sSup>
                <m:r>
                  <m:t> 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Pa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 Find the new volume.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50" noProof="1">
                <a:solidFill>
                  <a:srgbClr val="5C7A84"/>
                </a:solidFill>
                <a:latin typeface="MiSans"/>
                <a:ea typeface="MiSans"/>
              </a:rPr>
              <a:t>摩尔体积 ≈22.4 dm³ 值得记住；两状态题先把温度换成 K。</a:t>
            </a:r>
          </a:p>
        </p:txBody>
      </p:sp>
      <p:sp>
        <p:nvSpPr>
          <p:cNvPr id="12" name="dsl:ex-sol|s=$badge"/>
          <p:cNvSpPr txBox="1"/>
          <p:nvPr/>
        </p:nvSpPr>
        <p:spPr>
          <a:xfrm>
            <a:off x="5372100" y="1752600"/>
            <a:ext cx="6210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SOLUTION 解答</a:t>
            </a:r>
          </a:p>
        </p:txBody>
      </p:sp>
      <p:sp>
        <p:nvSpPr>
          <p:cNvPr id="13" name="dsl:ex-steps"/>
          <p:cNvSpPr txBox="1"/>
          <p:nvPr/>
        </p:nvSpPr>
        <p:spPr>
          <a:xfrm>
            <a:off x="5372100" y="2076450"/>
            <a:ext cx="6210300" cy="1047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T</m:t>
                    </m:r>
                  </m:num>
                  <m:den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p</m:t>
                    </m:r>
                  </m:den>
                </m:f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8.31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273</m:t>
                    </m:r>
                  </m:num>
                  <m:den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1.01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den>
                </m:f>
              </m:oMath>
            </a14:m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Convert temperatures: </a:t>
            </a:r>
            <a14:m>
              <m:oMath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T</m:t>
                    </m:r>
                  </m:e>
                  <m:sub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293</m:t>
                </m:r>
                <m:r>
                  <m:t> 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K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, </a:t>
            </a:r>
            <a14:m>
              <m:oMath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T</m:t>
                    </m:r>
                  </m:e>
                  <m:sub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673</m:t>
                </m:r>
                <m:r>
                  <m:t> 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K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3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Two-state equation: </a:t>
            </a:r>
            <a14:m>
              <m:oMath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sSub>
                      <m:sSubPr>
                        <m:ctrlPr>
                          <a:rPr lang="en-US" i="1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num>
                  <m:den>
                    <m:sSub>
                      <m:sSubPr>
                        <m:ctrlPr>
                          <a:rPr lang="en-US" i="1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den>
                </m:f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5.0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673</m:t>
                    </m:r>
                  </m:num>
                  <m:den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2.4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293</m:t>
                    </m:r>
                  </m:den>
                </m:f>
              </m:oMath>
            </a14:m>
          </a:p>
        </p:txBody>
      </p:sp>
      <p:sp>
        <p:nvSpPr>
          <p:cNvPr id="14" name="dsl:ex-abg"/>
          <p:cNvSpPr/>
          <p:nvPr/>
        </p:nvSpPr>
        <p:spPr>
          <a:xfrm>
            <a:off x="5372100" y="3276600"/>
            <a:ext cx="6210300" cy="5143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ex-abar"/>
          <p:cNvSpPr/>
          <p:nvPr/>
        </p:nvSpPr>
        <p:spPr>
          <a:xfrm>
            <a:off x="5372100" y="3276600"/>
            <a:ext cx="38100" cy="5143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ex-ans"/>
          <p:cNvSpPr txBox="1"/>
          <p:nvPr/>
        </p:nvSpPr>
        <p:spPr>
          <a:xfrm>
            <a:off x="5562600" y="3276600"/>
            <a:ext cx="5867400" cy="5143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75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75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1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i="1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0.0225</m:t>
                </m:r>
                <m:r>
                  <m:t> </m:t>
                </m:r>
                <m:sSup>
                  <m:sSupPr>
                    <m:ctrlPr>
                      <a:rPr lang="en-US" i="1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p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3</m:t>
                    </m:r>
                  </m:sup>
                </m:sSup>
              </m:oMath>
            </a14:m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 (22.4 dm³)　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2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 </a:t>
            </a:r>
            <a14:m>
              <m:oMath>
                <m:sSub>
                  <m:sSubPr>
                    <m:ctrlPr>
                      <a:rPr lang="en-US" i="1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1.2</m:t>
                </m:r>
                <m:r>
                  <a:rPr lang="en-US" sz="1275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5</m:t>
                    </m:r>
                  </m:sup>
                </m:sSup>
                <m:r>
                  <m:t> </m:t>
                </m:r>
                <m:sSup>
                  <m:sSupPr>
                    <m:ctrlPr>
                      <a:rPr lang="en-US" i="1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p>
                    <m:r>
                      <a:rPr lang="en-US" sz="1275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3</m:t>
                    </m:r>
                  </m:sup>
                </m:sSup>
              </m:oMath>
            </a14:m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15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 15C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15 Ideal Gases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11 / 15</a:t>
            </a:r>
          </a:p>
        </p:txBody>
      </p:sp>
      <p:sp>
        <p:nvSpPr>
          <p:cNvPr id="9" name="dsl:ex-tag|s=$badge"/>
          <p:cNvSpPr txBox="1"/>
          <p:nvPr/>
        </p:nvSpPr>
        <p:spPr>
          <a:xfrm>
            <a:off x="609600" y="1752600"/>
            <a:ext cx="4572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15C</a:t>
            </a:r>
          </a:p>
        </p:txBody>
      </p:sp>
      <p:sp>
        <p:nvSpPr>
          <p:cNvPr id="10" name="dsl:ex-qbg"/>
          <p:cNvSpPr/>
          <p:nvPr/>
        </p:nvSpPr>
        <p:spPr>
          <a:xfrm>
            <a:off x="609600" y="2076450"/>
            <a:ext cx="4381500" cy="185737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ex-q"/>
          <p:cNvSpPr txBox="1"/>
          <p:nvPr/>
        </p:nvSpPr>
        <p:spPr>
          <a:xfrm>
            <a:off x="800100" y="2209800"/>
            <a:ext cx="4000500" cy="15906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The speeds of seven molecules are numerically 2, 4, 6, 8, 10, 12 and 14 units. Determine: (a) the mean speed 〈c〉; (b) the mean speed squared 〈c〉²; (c) the mean-square speed 〈c²〉; (d) the r.m.s. speed.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50" noProof="1">
                <a:solidFill>
                  <a:srgbClr val="5C7A84"/>
                </a:solidFill>
                <a:latin typeface="MiSans"/>
                <a:ea typeface="MiSans"/>
              </a:rPr>
              <a:t>经典易混点：〈c〉² ≠ 〈c²〉，注意"先平均还是先平方"。</a:t>
            </a:r>
          </a:p>
        </p:txBody>
      </p:sp>
      <p:sp>
        <p:nvSpPr>
          <p:cNvPr id="12" name="dsl:ex-sol|s=$badge"/>
          <p:cNvSpPr txBox="1"/>
          <p:nvPr/>
        </p:nvSpPr>
        <p:spPr>
          <a:xfrm>
            <a:off x="5372100" y="1752600"/>
            <a:ext cx="6210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SOLUTION 解答</a:t>
            </a:r>
          </a:p>
        </p:txBody>
      </p:sp>
      <p:sp>
        <p:nvSpPr>
          <p:cNvPr id="13" name="dsl:ex-steps"/>
          <p:cNvSpPr txBox="1"/>
          <p:nvPr/>
        </p:nvSpPr>
        <p:spPr>
          <a:xfrm>
            <a:off x="5372100" y="2076450"/>
            <a:ext cx="62103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(a)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⟨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⟩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14</m:t>
                    </m:r>
                  </m:num>
                  <m:den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7</m:t>
                    </m:r>
                  </m:den>
                </m:f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8.0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units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(b)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⟨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⟩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8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64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units²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3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(c)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⟨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c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⟩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196</m:t>
                    </m:r>
                  </m:num>
                  <m:den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7</m:t>
                    </m:r>
                  </m:den>
                </m:f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560</m:t>
                    </m:r>
                  </m:num>
                  <m:den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7</m:t>
                    </m:r>
                  </m:den>
                </m:f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80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units²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4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(d) </a:t>
            </a:r>
            <a14:m>
              <m:oMath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c</m:t>
                    </m:r>
                  </m:e>
                  <m:sub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s</m:t>
                    </m:r>
                  </m:sub>
                </m:sSub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ad>
                  <m:radPr>
                    <m:degHide m:val="1"/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radPr>
                  <m:deg/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80</m:t>
                    </m:r>
                  </m:e>
                </m:rad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8.9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units</a:t>
            </a:r>
          </a:p>
        </p:txBody>
      </p:sp>
      <p:sp>
        <p:nvSpPr>
          <p:cNvPr id="14" name="dsl:ex-abg"/>
          <p:cNvSpPr/>
          <p:nvPr/>
        </p:nvSpPr>
        <p:spPr>
          <a:xfrm>
            <a:off x="5372100" y="3371850"/>
            <a:ext cx="6210300" cy="5143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ex-abar"/>
          <p:cNvSpPr/>
          <p:nvPr/>
        </p:nvSpPr>
        <p:spPr>
          <a:xfrm>
            <a:off x="5372100" y="3371850"/>
            <a:ext cx="38100" cy="5143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ex-ans"/>
          <p:cNvSpPr txBox="1"/>
          <p:nvPr/>
        </p:nvSpPr>
        <p:spPr>
          <a:xfrm>
            <a:off x="5562600" y="3371850"/>
            <a:ext cx="5867400" cy="5143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75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75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〈c〉 = 8.0 · 〈c〉² = 64 · 〈c²〉 = 80 · rms = 8.9 units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15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Examples 15D &amp; 15E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15 Ideal Gases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12 / 15</a:t>
            </a:r>
          </a:p>
        </p:txBody>
      </p:sp>
      <p:sp>
        <p:nvSpPr>
          <p:cNvPr id="9" name="dsl:te0-tag|s=$badge"/>
          <p:cNvSpPr txBox="1"/>
          <p:nvPr/>
        </p:nvSpPr>
        <p:spPr>
          <a:xfrm>
            <a:off x="609600" y="1733550"/>
            <a:ext cx="5334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15D</a:t>
            </a:r>
          </a:p>
        </p:txBody>
      </p:sp>
      <p:sp>
        <p:nvSpPr>
          <p:cNvPr id="10" name="dsl:te0-qbg"/>
          <p:cNvSpPr/>
          <p:nvPr/>
        </p:nvSpPr>
        <p:spPr>
          <a:xfrm>
            <a:off x="609600" y="2038350"/>
            <a:ext cx="5334000" cy="6191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te0-q"/>
          <p:cNvSpPr txBox="1"/>
          <p:nvPr/>
        </p:nvSpPr>
        <p:spPr>
          <a:xfrm>
            <a:off x="762000" y="2152650"/>
            <a:ext cx="5029200" cy="3905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Calculate the total kinetic energy of the molecules in one mole of an ideal gas at 273 K. (</a:t>
            </a:r>
            <a14:m>
              <m:oMath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R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8.31</m:t>
                </m:r>
                <m:r>
                  <m:t> </m:t>
                </m:r>
                <m:sSup>
                  <m:sSup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J K</m:t>
                    </m:r>
                  </m:e>
                  <m:sup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  <m:sSup>
                  <m:sSup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mol</m:t>
                    </m:r>
                  </m:e>
                  <m:sup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)</a:t>
            </a:r>
          </a:p>
        </p:txBody>
      </p:sp>
      <p:sp>
        <p:nvSpPr>
          <p:cNvPr id="12" name="dsl:te0-st"/>
          <p:cNvSpPr txBox="1"/>
          <p:nvPr/>
        </p:nvSpPr>
        <p:spPr>
          <a:xfrm>
            <a:off x="609600" y="2790825"/>
            <a:ext cx="5334000" cy="466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1.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Per molecule: </a:t>
            </a:r>
            <a14:m>
              <m:oMath>
                <m:f>
                  <m:f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</m:t>
                    </m:r>
                  </m:num>
                  <m:den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k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; per mole: </a:t>
            </a:r>
            <a14:m>
              <m:oMath>
                <m:f>
                  <m:f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</m:t>
                    </m:r>
                  </m:num>
                  <m:den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sSub>
                  <m:sSub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N</m:t>
                    </m:r>
                  </m:e>
                  <m:sub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A</m:t>
                    </m:r>
                  </m:sub>
                </m:sSub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k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</m:t>
                    </m:r>
                  </m:num>
                  <m:den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R</m:t>
                </m:r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2.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</m:t>
                    </m:r>
                  </m:num>
                  <m:den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8.31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273</m:t>
                </m:r>
              </m:oMath>
            </a14:m>
          </a:p>
        </p:txBody>
      </p:sp>
      <p:sp>
        <p:nvSpPr>
          <p:cNvPr id="13" name="dsl:te0-abg"/>
          <p:cNvSpPr/>
          <p:nvPr/>
        </p:nvSpPr>
        <p:spPr>
          <a:xfrm>
            <a:off x="609600" y="3371850"/>
            <a:ext cx="5334000" cy="4381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te0-abar"/>
          <p:cNvSpPr/>
          <p:nvPr/>
        </p:nvSpPr>
        <p:spPr>
          <a:xfrm>
            <a:off x="609600" y="3371850"/>
            <a:ext cx="38100" cy="4381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te0-ans"/>
          <p:cNvSpPr txBox="1"/>
          <p:nvPr/>
        </p:nvSpPr>
        <p:spPr>
          <a:xfrm>
            <a:off x="781050" y="3371850"/>
            <a:ext cx="5029200" cy="4381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14:m>
              <m:oMath>
                <m:r>
                  <a:rPr lang="en-US" i="1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≈</m:t>
                </m:r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3.4</m:t>
                </m:r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3</m:t>
                    </m:r>
                  </m:sup>
                </m:sSup>
                <m:r>
                  <m:t> </m:t>
                </m:r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J</m:t>
                </m:r>
              </m:oMath>
            </a14:m>
          </a:p>
        </p:txBody>
      </p:sp>
      <p:sp>
        <p:nvSpPr>
          <p:cNvPr id="16" name="dsl:te1-tag|s=$badge"/>
          <p:cNvSpPr txBox="1"/>
          <p:nvPr/>
        </p:nvSpPr>
        <p:spPr>
          <a:xfrm>
            <a:off x="6248400" y="1733550"/>
            <a:ext cx="5334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15E</a:t>
            </a:r>
          </a:p>
        </p:txBody>
      </p:sp>
      <p:sp>
        <p:nvSpPr>
          <p:cNvPr id="17" name="dsl:te1-qbg"/>
          <p:cNvSpPr/>
          <p:nvPr/>
        </p:nvSpPr>
        <p:spPr>
          <a:xfrm>
            <a:off x="6248400" y="2038350"/>
            <a:ext cx="5334000" cy="6191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te1-q"/>
          <p:cNvSpPr txBox="1"/>
          <p:nvPr/>
        </p:nvSpPr>
        <p:spPr>
          <a:xfrm>
            <a:off x="6400800" y="2152650"/>
            <a:ext cx="5029200" cy="3905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The mass of a nitrogen molecule is </a:t>
            </a:r>
            <a14:m>
              <m:oMath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4.6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26</m:t>
                    </m:r>
                  </m:sup>
                </m:sSup>
                <m:r>
                  <m:t> 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kg</m:t>
                </m:r>
              </m:oMath>
            </a14:m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. Determine the r.m.s. speed of nitrogen molecules at 27 °C.</a:t>
            </a:r>
          </a:p>
        </p:txBody>
      </p:sp>
      <p:sp>
        <p:nvSpPr>
          <p:cNvPr id="19" name="dsl:te1-st"/>
          <p:cNvSpPr txBox="1"/>
          <p:nvPr/>
        </p:nvSpPr>
        <p:spPr>
          <a:xfrm>
            <a:off x="6248400" y="2790825"/>
            <a:ext cx="5334000" cy="466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1.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14:m>
              <m:oMath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300</m:t>
                </m:r>
                <m:r>
                  <m:t> 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K</m:t>
                </m:r>
              </m:oMath>
            </a14:m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; </a:t>
            </a:r>
            <a14:m>
              <m:oMath>
                <m:sSub>
                  <m:sSub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c</m:t>
                    </m:r>
                  </m:e>
                  <m:sub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s</m:t>
                    </m:r>
                  </m:sub>
                </m:sSub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ad>
                  <m:radPr>
                    <m:degHide m:val="1"/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radPr>
                  <m:deg/>
                  <m:e>
                    <m:f>
                      <m:fPr>
                        <m:ctrlP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num>
                      <m:den>
                        <m: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den>
                    </m:f>
                  </m:e>
                </m:rad>
              </m:oMath>
            </a14:m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2.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14:m>
              <m:oMath>
                <m:sSub>
                  <m:sSubPr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c</m:t>
                    </m:r>
                  </m:e>
                  <m:sub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s</m:t>
                    </m:r>
                  </m:sub>
                </m:sSub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ad>
                  <m:radPr>
                    <m:degHide m:val="1"/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radPr>
                  <m:deg/>
                  <m:e>
                    <m:f>
                      <m:fPr>
                        <m:ctrlP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1.38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i="1" sz="1125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25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125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25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p>
                        </m:sSup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300</m:t>
                        </m:r>
                      </m:num>
                      <m:den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4.6</m:t>
                        </m:r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i="1" sz="1125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25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125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25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26</m:t>
                            </m:r>
                          </m:sup>
                        </m:sSup>
                      </m:den>
                    </m:f>
                  </m:e>
                </m:rad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ad>
                  <m:radPr>
                    <m:degHide m:val="1"/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radPr>
                  <m:deg/>
                  <m:e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2.7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125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e>
                </m:rad>
              </m:oMath>
            </a14:m>
          </a:p>
        </p:txBody>
      </p:sp>
      <p:sp>
        <p:nvSpPr>
          <p:cNvPr id="20" name="dsl:te1-abg"/>
          <p:cNvSpPr/>
          <p:nvPr/>
        </p:nvSpPr>
        <p:spPr>
          <a:xfrm>
            <a:off x="6248400" y="3371850"/>
            <a:ext cx="5334000" cy="4381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te1-abar"/>
          <p:cNvSpPr/>
          <p:nvPr/>
        </p:nvSpPr>
        <p:spPr>
          <a:xfrm>
            <a:off x="6248400" y="3371850"/>
            <a:ext cx="38100" cy="4381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te1-ans"/>
          <p:cNvSpPr txBox="1"/>
          <p:nvPr/>
        </p:nvSpPr>
        <p:spPr>
          <a:xfrm>
            <a:off x="6419850" y="3371850"/>
            <a:ext cx="5029200" cy="4381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14:m>
              <m:oMath>
                <m:sSub>
                  <m:sSubPr>
                    <m:ctrlPr>
                      <a:rPr lang="en-US" i="1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c</m:t>
                    </m:r>
                  </m:e>
                  <m:sub>
                    <m:r>
                      <a:rPr lang="en-US" i="1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i="1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i="1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s</m:t>
                    </m:r>
                  </m:sub>
                </m:sSub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≈</m:t>
                </m:r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5.2</m:t>
                </m:r>
                <m:r>
                  <a:rPr lang="en-US" sz="1200">
                    <a:solidFill>
                      <a:srgbClr val="D97D29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m:t> </m:t>
                </m:r>
                <m:sSup>
                  <m:sSupPr>
                    <m:ctrlPr>
                      <a:rPr lang="en-US" i="1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m s</m:t>
                    </m:r>
                  </m:e>
                  <m:sup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D97D29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15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Class Practice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随堂练习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15 Ideal Gases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13 / 15</a:t>
            </a:r>
          </a:p>
        </p:txBody>
      </p:sp>
      <p:sp>
        <p:nvSpPr>
          <p:cNvPr id="9" name="dsl:pq0-bg"/>
          <p:cNvSpPr/>
          <p:nvPr/>
        </p:nvSpPr>
        <p:spPr>
          <a:xfrm>
            <a:off x="609600" y="179070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pq0-num"/>
          <p:cNvSpPr/>
          <p:nvPr/>
        </p:nvSpPr>
        <p:spPr>
          <a:xfrm>
            <a:off x="609600" y="179070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pq0-n"/>
          <p:cNvSpPr txBox="1"/>
          <p:nvPr/>
        </p:nvSpPr>
        <p:spPr>
          <a:xfrm>
            <a:off x="609600" y="179070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Q1</a:t>
            </a:r>
          </a:p>
        </p:txBody>
      </p:sp>
      <p:sp>
        <p:nvSpPr>
          <p:cNvPr id="12" name="dsl:pq0-t"/>
          <p:cNvSpPr txBox="1"/>
          <p:nvPr/>
        </p:nvSpPr>
        <p:spPr>
          <a:xfrm>
            <a:off x="1409700" y="188595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The mass of 1 mol of nitrogen atoms is 14.0 g. Determine (a) the mass of one nitrogen atom in kg; (b) the number of nitrogen molecules (N₂) in a cylinder containing 290 g of nitrogen.</a:t>
            </a:r>
          </a:p>
        </p:txBody>
      </p:sp>
      <p:sp>
        <p:nvSpPr>
          <p:cNvPr id="13" name="dsl:pq1-bg"/>
          <p:cNvSpPr/>
          <p:nvPr/>
        </p:nvSpPr>
        <p:spPr>
          <a:xfrm>
            <a:off x="609600" y="253365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pq1-num"/>
          <p:cNvSpPr/>
          <p:nvPr/>
        </p:nvSpPr>
        <p:spPr>
          <a:xfrm>
            <a:off x="609600" y="253365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pq1-n"/>
          <p:cNvSpPr txBox="1"/>
          <p:nvPr/>
        </p:nvSpPr>
        <p:spPr>
          <a:xfrm>
            <a:off x="609600" y="253365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Q2</a:t>
            </a:r>
          </a:p>
        </p:txBody>
      </p:sp>
      <p:sp>
        <p:nvSpPr>
          <p:cNvPr id="16" name="dsl:pq1-t"/>
          <p:cNvSpPr txBox="1"/>
          <p:nvPr/>
        </p:nvSpPr>
        <p:spPr>
          <a:xfrm>
            <a:off x="1409700" y="262890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A fixed mass of gas is at 27 °C and pressure </a:t>
            </a:r>
            <a14:m>
              <m:oMath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1.0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5</m:t>
                    </m:r>
                  </m:sup>
                </m:sSup>
                <m:r>
                  <m:t> 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Pa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 It is heated at constant volume to 127 °C. Calculate the new pressure. 等容升温求压强。</a:t>
            </a:r>
          </a:p>
        </p:txBody>
      </p:sp>
      <p:sp>
        <p:nvSpPr>
          <p:cNvPr id="17" name="dsl:pq2-bg"/>
          <p:cNvSpPr/>
          <p:nvPr/>
        </p:nvSpPr>
        <p:spPr>
          <a:xfrm>
            <a:off x="609600" y="327660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pq2-num"/>
          <p:cNvSpPr/>
          <p:nvPr/>
        </p:nvSpPr>
        <p:spPr>
          <a:xfrm>
            <a:off x="609600" y="327660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pq2-n"/>
          <p:cNvSpPr txBox="1"/>
          <p:nvPr/>
        </p:nvSpPr>
        <p:spPr>
          <a:xfrm>
            <a:off x="609600" y="327660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Q3</a:t>
            </a:r>
          </a:p>
        </p:txBody>
      </p:sp>
      <p:sp>
        <p:nvSpPr>
          <p:cNvPr id="20" name="dsl:pq2-t"/>
          <p:cNvSpPr txBox="1"/>
          <p:nvPr/>
        </p:nvSpPr>
        <p:spPr>
          <a:xfrm>
            <a:off x="1409700" y="337185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Determine (a) the average kinetic energy of a molecule in an ideal gas at 260 °C; (b) the r.m.s. speed of neon-20 molecules at 50 °C (mass of one molecule </a:t>
            </a:r>
            <a14:m>
              <m:oMath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3.3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26</m:t>
                    </m:r>
                  </m:sup>
                </m:sSup>
                <m:r>
                  <m:t> 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kg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).</a:t>
            </a:r>
          </a:p>
        </p:txBody>
      </p:sp>
      <p:sp>
        <p:nvSpPr>
          <p:cNvPr id="21" name="dsl:pq-ans"/>
          <p:cNvSpPr txBox="1"/>
          <p:nvPr/>
        </p:nvSpPr>
        <p:spPr>
          <a:xfrm>
            <a:off x="609600" y="6096000"/>
            <a:ext cx="10972800" cy="285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975" noProof="1">
                <a:solidFill>
                  <a:srgbClr val="5C7A84"/>
                </a:solidFill>
                <a:latin typeface="MiSans"/>
                <a:ea typeface="MiSans"/>
              </a:rPr>
              <a:t>Answers</a:t>
            </a:r>
            <a:r>
              <a:rPr sz="975" noProof="1">
                <a:solidFill>
                  <a:srgbClr val="5C7A84"/>
                </a:solidFill>
                <a:latin typeface="MiSans"/>
                <a:ea typeface="MiSans"/>
              </a:rPr>
              <a:t>　Q1 (a) </a:t>
            </a:r>
            <a14:m>
              <m:oMath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2.3</m:t>
                </m:r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26</m:t>
                    </m:r>
                  </m:sup>
                </m:sSup>
                <m:r>
                  <m:t> </m:t>
                </m:r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kg</m:t>
                </m:r>
              </m:oMath>
            </a14:m>
            <a:r>
              <a:rPr sz="975" noProof="1">
                <a:solidFill>
                  <a:srgbClr val="5C7A84"/>
                </a:solidFill>
                <a:latin typeface="MiSans"/>
                <a:ea typeface="MiSans"/>
              </a:rPr>
              <a:t> (b) </a:t>
            </a:r>
            <a14:m>
              <m:oMath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6.2</m:t>
                </m:r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24</m:t>
                    </m:r>
                  </m:sup>
                </m:sSup>
              </m:oMath>
            </a14:m>
            <a:r>
              <a:rPr sz="975" noProof="1">
                <a:solidFill>
                  <a:srgbClr val="5C7A84"/>
                </a:solidFill>
                <a:latin typeface="MiSans"/>
                <a:ea typeface="MiSans"/>
              </a:rPr>
              <a:t>　Q2 </a:t>
            </a:r>
            <a14:m>
              <m:oMath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1.3</m:t>
                </m:r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5</m:t>
                    </m:r>
                  </m:sup>
                </m:sSup>
                <m:r>
                  <m:t> </m:t>
                </m:r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Pa</m:t>
                </m:r>
              </m:oMath>
            </a14:m>
            <a:r>
              <a:rPr sz="975" noProof="1">
                <a:solidFill>
                  <a:srgbClr val="5C7A84"/>
                </a:solidFill>
                <a:latin typeface="MiSans"/>
                <a:ea typeface="MiSans"/>
              </a:rPr>
              <a:t>　Q3 (a) </a:t>
            </a:r>
            <a14:m>
              <m:oMath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1.1</m:t>
                </m:r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20</m:t>
                    </m:r>
                  </m:sup>
                </m:sSup>
                <m:r>
                  <m:t> </m:t>
                </m:r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J</m:t>
                </m:r>
              </m:oMath>
            </a14:m>
            <a:r>
              <a:rPr sz="975" noProof="1">
                <a:solidFill>
                  <a:srgbClr val="5C7A84"/>
                </a:solidFill>
                <a:latin typeface="MiSans"/>
                <a:ea typeface="MiSans"/>
              </a:rPr>
              <a:t> (b) </a:t>
            </a:r>
            <a14:m>
              <m:oMath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6.4</m:t>
                </m:r>
                <m:r>
                  <a:rPr lang="en-US" sz="975">
                    <a:solidFill>
                      <a:srgbClr val="5C7A84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m:t> </m:t>
                </m:r>
                <m:sSup>
                  <m:sSupPr>
                    <m:ctrlPr>
                      <a:rPr lang="en-US" i="1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m s</m:t>
                    </m:r>
                  </m:e>
                  <m:sup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975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15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Summary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本章小结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15 Ideal Gases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14 / 15</a:t>
            </a:r>
          </a:p>
        </p:txBody>
      </p:sp>
      <p:sp>
        <p:nvSpPr>
          <p:cNvPr id="9" name="dsl:sm-h1|s=$badge"/>
          <p:cNvSpPr txBox="1"/>
          <p:nvPr/>
        </p:nvSpPr>
        <p:spPr>
          <a:xfrm>
            <a:off x="609600" y="1733550"/>
            <a:ext cx="57150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KEY FORMULAS 核心公式</a:t>
            </a:r>
          </a:p>
        </p:txBody>
      </p:sp>
      <p:sp>
        <p:nvSpPr>
          <p:cNvPr id="10" name="dsl:smf0-bg"/>
          <p:cNvSpPr/>
          <p:nvPr/>
        </p:nvSpPr>
        <p:spPr>
          <a:xfrm>
            <a:off x="609600" y="20574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smf0-f"/>
          <p:cNvSpPr txBox="1"/>
          <p:nvPr/>
        </p:nvSpPr>
        <p:spPr>
          <a:xfrm>
            <a:off x="762000" y="2095500"/>
            <a:ext cx="324802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N</m:t>
                    </m:r>
                  </m:num>
                  <m:den>
                    <m:sSub>
                      <m:sSub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den>
                </m:f>
              </m:oMath>
            </a14:m>
          </a:p>
        </p:txBody>
      </p:sp>
      <p:sp>
        <p:nvSpPr>
          <p:cNvPr id="12" name="dsl:smf0-n"/>
          <p:cNvSpPr txBox="1"/>
          <p:nvPr/>
        </p:nvSpPr>
        <p:spPr>
          <a:xfrm>
            <a:off x="762000" y="23812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mole 摩尔</a:t>
            </a:r>
          </a:p>
        </p:txBody>
      </p:sp>
      <p:sp>
        <p:nvSpPr>
          <p:cNvPr id="13" name="dsl:smf1-bg"/>
          <p:cNvSpPr/>
          <p:nvPr/>
        </p:nvSpPr>
        <p:spPr>
          <a:xfrm>
            <a:off x="4314825" y="20574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smf1-f"/>
          <p:cNvSpPr txBox="1"/>
          <p:nvPr/>
        </p:nvSpPr>
        <p:spPr>
          <a:xfrm>
            <a:off x="4467225" y="2095500"/>
            <a:ext cx="324802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R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</a:p>
        </p:txBody>
      </p:sp>
      <p:sp>
        <p:nvSpPr>
          <p:cNvPr id="15" name="dsl:smf1-n"/>
          <p:cNvSpPr txBox="1"/>
          <p:nvPr/>
        </p:nvSpPr>
        <p:spPr>
          <a:xfrm>
            <a:off x="4467225" y="23812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equation of state</a:t>
            </a:r>
          </a:p>
        </p:txBody>
      </p:sp>
      <p:sp>
        <p:nvSpPr>
          <p:cNvPr id="16" name="dsl:smf2-bg"/>
          <p:cNvSpPr/>
          <p:nvPr/>
        </p:nvSpPr>
        <p:spPr>
          <a:xfrm>
            <a:off x="8020050" y="20574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smf2-f"/>
          <p:cNvSpPr txBox="1"/>
          <p:nvPr/>
        </p:nvSpPr>
        <p:spPr>
          <a:xfrm>
            <a:off x="8172450" y="2095500"/>
            <a:ext cx="324802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k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</a:p>
        </p:txBody>
      </p:sp>
      <p:sp>
        <p:nvSpPr>
          <p:cNvPr id="18" name="dsl:smf2-n"/>
          <p:cNvSpPr txBox="1"/>
          <p:nvPr/>
        </p:nvSpPr>
        <p:spPr>
          <a:xfrm>
            <a:off x="8172450" y="23812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molecular form</a:t>
            </a:r>
          </a:p>
        </p:txBody>
      </p:sp>
      <p:sp>
        <p:nvSpPr>
          <p:cNvPr id="19" name="dsl:smf3-bg"/>
          <p:cNvSpPr/>
          <p:nvPr/>
        </p:nvSpPr>
        <p:spPr>
          <a:xfrm>
            <a:off x="609600" y="27813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smf3-f"/>
          <p:cNvSpPr txBox="1"/>
          <p:nvPr/>
        </p:nvSpPr>
        <p:spPr>
          <a:xfrm>
            <a:off x="762000" y="2819400"/>
            <a:ext cx="324802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k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R</m:t>
                    </m:r>
                  </m:num>
                  <m:den>
                    <m:sSub>
                      <m:sSub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den>
                </m:f>
              </m:oMath>
            </a14:m>
          </a:p>
        </p:txBody>
      </p:sp>
      <p:sp>
        <p:nvSpPr>
          <p:cNvPr id="21" name="dsl:smf3-n"/>
          <p:cNvSpPr txBox="1"/>
          <p:nvPr/>
        </p:nvSpPr>
        <p:spPr>
          <a:xfrm>
            <a:off x="762000" y="31051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Boltzmann constant</a:t>
            </a:r>
          </a:p>
        </p:txBody>
      </p:sp>
      <p:sp>
        <p:nvSpPr>
          <p:cNvPr id="22" name="dsl:smf4-bg"/>
          <p:cNvSpPr/>
          <p:nvPr/>
        </p:nvSpPr>
        <p:spPr>
          <a:xfrm>
            <a:off x="4314825" y="27813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smf4-f"/>
          <p:cNvSpPr txBox="1"/>
          <p:nvPr/>
        </p:nvSpPr>
        <p:spPr>
          <a:xfrm>
            <a:off x="4467225" y="2819400"/>
            <a:ext cx="324802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3</m:t>
                    </m:r>
                  </m:den>
                </m:f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ρ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⟨</m:t>
                </m:r>
                <m:sSup>
                  <m:sSup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c</m:t>
                    </m:r>
                  </m:e>
                  <m:sup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⟩</m:t>
                </m:r>
              </m:oMath>
            </a14:m>
          </a:p>
        </p:txBody>
      </p:sp>
      <p:sp>
        <p:nvSpPr>
          <p:cNvPr id="24" name="dsl:smf4-n"/>
          <p:cNvSpPr txBox="1"/>
          <p:nvPr/>
        </p:nvSpPr>
        <p:spPr>
          <a:xfrm>
            <a:off x="4467225" y="31051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kinetic theory 压强公式</a:t>
            </a:r>
          </a:p>
        </p:txBody>
      </p:sp>
      <p:sp>
        <p:nvSpPr>
          <p:cNvPr id="25" name="dsl:smf5-bg"/>
          <p:cNvSpPr/>
          <p:nvPr/>
        </p:nvSpPr>
        <p:spPr>
          <a:xfrm>
            <a:off x="8020050" y="27813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l:smf5-f"/>
          <p:cNvSpPr txBox="1"/>
          <p:nvPr/>
        </p:nvSpPr>
        <p:spPr>
          <a:xfrm>
            <a:off x="8172450" y="2819400"/>
            <a:ext cx="324802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⟨</m:t>
                </m:r>
                <m:sSup>
                  <m:sSup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c</m:t>
                    </m:r>
                  </m:e>
                  <m:sup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⟩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3</m:t>
                    </m:r>
                  </m:num>
                  <m:den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k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</a:p>
        </p:txBody>
      </p:sp>
      <p:sp>
        <p:nvSpPr>
          <p:cNvPr id="27" name="dsl:smf5-n"/>
          <p:cNvSpPr txBox="1"/>
          <p:nvPr/>
        </p:nvSpPr>
        <p:spPr>
          <a:xfrm>
            <a:off x="8172450" y="31051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mean KE 平均动能</a:t>
            </a:r>
          </a:p>
        </p:txBody>
      </p:sp>
      <p:sp>
        <p:nvSpPr>
          <p:cNvPr id="28" name="dsl:smf6-bg"/>
          <p:cNvSpPr/>
          <p:nvPr/>
        </p:nvSpPr>
        <p:spPr>
          <a:xfrm>
            <a:off x="609600" y="35052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sl:smf6-f"/>
          <p:cNvSpPr txBox="1"/>
          <p:nvPr/>
        </p:nvSpPr>
        <p:spPr>
          <a:xfrm>
            <a:off x="762000" y="3543300"/>
            <a:ext cx="324802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sSub>
                  <m:sSub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c</m:t>
                    </m:r>
                  </m:e>
                  <m:sub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s</m:t>
                    </m:r>
                  </m:sub>
                </m:sSub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ad>
                  <m:radPr>
                    <m:degHide m:val="1"/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radPr>
                  <m:deg/>
                  <m:e>
                    <m:f>
                      <m:f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num>
                      <m:den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den>
                    </m:f>
                  </m:e>
                </m:rad>
              </m:oMath>
            </a14:m>
          </a:p>
        </p:txBody>
      </p:sp>
      <p:sp>
        <p:nvSpPr>
          <p:cNvPr id="30" name="dsl:smf6-n"/>
          <p:cNvSpPr txBox="1"/>
          <p:nvPr/>
        </p:nvSpPr>
        <p:spPr>
          <a:xfrm>
            <a:off x="762000" y="38290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r.m.s. speed</a:t>
            </a:r>
          </a:p>
        </p:txBody>
      </p:sp>
      <p:sp>
        <p:nvSpPr>
          <p:cNvPr id="31" name="dsl:smf7-bg"/>
          <p:cNvSpPr/>
          <p:nvPr/>
        </p:nvSpPr>
        <p:spPr>
          <a:xfrm>
            <a:off x="4314825" y="3505200"/>
            <a:ext cx="3552825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sl:smf7-f"/>
          <p:cNvSpPr txBox="1"/>
          <p:nvPr/>
        </p:nvSpPr>
        <p:spPr>
          <a:xfrm>
            <a:off x="4467225" y="3543300"/>
            <a:ext cx="3248025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sSub>
                      <m:sSub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num>
                  <m:den>
                    <m:sSub>
                      <m:sSub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den>
                </m:f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sSub>
                      <m:sSub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num>
                  <m:den>
                    <m:sSub>
                      <m:sSub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den>
                </m:f>
              </m:oMath>
            </a14:m>
          </a:p>
        </p:txBody>
      </p:sp>
      <p:sp>
        <p:nvSpPr>
          <p:cNvPr id="33" name="dsl:smf7-n"/>
          <p:cNvSpPr txBox="1"/>
          <p:nvPr/>
        </p:nvSpPr>
        <p:spPr>
          <a:xfrm>
            <a:off x="4467225" y="3829050"/>
            <a:ext cx="3248025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two states 两状态</a:t>
            </a:r>
          </a:p>
        </p:txBody>
      </p:sp>
      <p:sp>
        <p:nvSpPr>
          <p:cNvPr id="34" name="dsl:sm-h2|s=$badge"/>
          <p:cNvSpPr txBox="1"/>
          <p:nvPr/>
        </p:nvSpPr>
        <p:spPr>
          <a:xfrm>
            <a:off x="609600" y="4324350"/>
            <a:ext cx="57150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KEY IDEAS 核心思想</a:t>
            </a:r>
          </a:p>
        </p:txBody>
      </p:sp>
      <p:sp>
        <p:nvSpPr>
          <p:cNvPr id="35" name="dsl:sm-ideas"/>
          <p:cNvSpPr txBox="1"/>
          <p:nvPr/>
        </p:nvSpPr>
        <p:spPr>
          <a:xfrm>
            <a:off x="609600" y="4629150"/>
            <a:ext cx="10972800" cy="7810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pV ∝ T defines the ideal gas; T must be thermodynamic temperature 温度必须用开尔文。</a:t>
            </a: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Pressure arises from molecular bombardment of the walls 压强来自分子撞壁。</a:t>
            </a: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Temperature measures mean molecular kinetic energy 温度即分子平均动能的量度。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15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Exam Tips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备考提示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15 Ideal Gases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15 / 15</a:t>
            </a:r>
          </a:p>
        </p:txBody>
      </p:sp>
      <p:sp>
        <p:nvSpPr>
          <p:cNvPr id="9" name="dsl:tp0-bg"/>
          <p:cNvSpPr/>
          <p:nvPr/>
        </p:nvSpPr>
        <p:spPr>
          <a:xfrm>
            <a:off x="609600" y="17907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sl:tp0-ic|i=fas:temperature-high" descr="tmp0es_59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240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dsl:tp0-t"/>
          <p:cNvSpPr txBox="1"/>
          <p:nvPr/>
        </p:nvSpPr>
        <p:spPr>
          <a:xfrm>
            <a:off x="1143000" y="18859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Always convert to kelvin first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— the single most common error in this topic. 先把温度换成 K。</a:t>
            </a:r>
          </a:p>
        </p:txBody>
      </p:sp>
      <p:sp>
        <p:nvSpPr>
          <p:cNvPr id="12" name="dsl:tp1-bg"/>
          <p:cNvSpPr/>
          <p:nvPr/>
        </p:nvSpPr>
        <p:spPr>
          <a:xfrm>
            <a:off x="609600" y="2438400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sl:tp1-ic|i=fas:code-branch" descr="tmp0es_59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717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tp1-t"/>
          <p:cNvSpPr txBox="1"/>
          <p:nvPr/>
        </p:nvSpPr>
        <p:spPr>
          <a:xfrm>
            <a:off x="1143000" y="2533650"/>
            <a:ext cx="102108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Choose the right form: moles →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R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; molecules →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k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T</m:t>
                </m:r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 Distinguish n, N, m (mass), m (molecule mass). 分清两套符号。</a:t>
            </a:r>
          </a:p>
        </p:txBody>
      </p:sp>
      <p:sp>
        <p:nvSpPr>
          <p:cNvPr id="15" name="dsl:tp2-bg"/>
          <p:cNvSpPr/>
          <p:nvPr/>
        </p:nvSpPr>
        <p:spPr>
          <a:xfrm>
            <a:off x="609600" y="3162300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sl:tp2-ic|i=fas:list-ol" descr="tmp0es_59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2956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tp2-t"/>
          <p:cNvSpPr txBox="1"/>
          <p:nvPr/>
        </p:nvSpPr>
        <p:spPr>
          <a:xfrm>
            <a:off x="1143000" y="3257550"/>
            <a:ext cx="102108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Derivation marks come in order: momentum change → collision rate → force → pressure. Write each step explicitly. 压强推导按步给分。</a:t>
            </a:r>
          </a:p>
        </p:txBody>
      </p:sp>
      <p:sp>
        <p:nvSpPr>
          <p:cNvPr id="18" name="dsl:tp3-bg"/>
          <p:cNvSpPr/>
          <p:nvPr/>
        </p:nvSpPr>
        <p:spPr>
          <a:xfrm>
            <a:off x="609600" y="3886200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sl:tp3-ic|i=fas:square-root-variable" descr="tmp0es_59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0195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tp3-t"/>
          <p:cNvSpPr txBox="1"/>
          <p:nvPr/>
        </p:nvSpPr>
        <p:spPr>
          <a:xfrm>
            <a:off x="1143000" y="3981450"/>
            <a:ext cx="102108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〈c²〉 is the mean of squares — never </a:t>
            </a:r>
            <a14:m>
              <m:oMath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⟨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⟩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)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. Quote </a:t>
            </a:r>
            <a14:m>
              <m:oMath>
                <m:r>
                  <a:rPr lang="en-US" i="1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k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1.38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23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, </a:t>
            </a:r>
            <a14:m>
              <m:oMath>
                <m:sSub>
                  <m:sSub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N</m:t>
                    </m:r>
                  </m:e>
                  <m:sub>
                    <m: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A</m:t>
                    </m:r>
                  </m:sub>
                </m:sSub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6.02</m:t>
                </m:r>
                <m:r>
                  <a:rPr lang="en-US" sz="120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20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23</m:t>
                    </m:r>
                  </m:sup>
                </m:sSup>
              </m:oMath>
            </a14:m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from the data sheet. 方均≠均方。</a:t>
            </a:r>
          </a:p>
        </p:txBody>
      </p:sp>
      <p:sp>
        <p:nvSpPr>
          <p:cNvPr id="21" name="dsl:tp4-bg"/>
          <p:cNvSpPr/>
          <p:nvPr/>
        </p:nvSpPr>
        <p:spPr>
          <a:xfrm>
            <a:off x="609600" y="46101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dsl:tp4-ic|i=fas:calculator" descr="tmp0es_59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7434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3" name="dsl:tp4-t"/>
          <p:cNvSpPr txBox="1"/>
          <p:nvPr/>
        </p:nvSpPr>
        <p:spPr>
          <a:xfrm>
            <a:off x="1143000" y="47053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Non-SI units (cm³, atm, °C) must be converted before substituting. 代入前统一 SI 单位。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0E4D64"/>
    <Color name="primaryDark" value="#093748"/>
    <Color name="secondary" value="#5C7A84"/>
    <Color name="accent" value="#D97D29"/>
    <Color name="accentSoft" value="#FBEFE1"/>
    <Color name="background" value="#FBFAF7"/>
    <Color name="card" value="#EEF3F3"/>
    <Color name="cardDeep" value="#E2EBEC"/>
    <Color name="line" value="#D5DFE0"/>
    <Color name="text" value="#1C2B33"/>
    <Color name="white" value="#FFFFFF"/>
  </Colors>
  <TextStyles>
    <TextStyle name="badge" font_size="13.0" color="$accent" font_family="QuattrocentoSans, MiSans" letter_spacing="2.0"/>
    <TextStyle name="title" font_size="29.0" color="$primary" font_family="QuattrocentoSans, MiSans"/>
    <TextStyle name="subtitle" font_size="16.0" color="$secondary" font_family="QuattrocentoSans, MiSans"/>
    <TextStyle name="body" font_size="18.0" color="$text" font_family="QuattrocentoSans, MiSans" line_height="1.5"/>
    <TextStyle name="small" font_size="14.0" color="$secondary" font_family="QuattrocentoSans, MiSans" line_height="1.4"/>
    <TextStyle name="formula" font_size="22.0" color="$primary" font_family="QuattrocentoSans, MiSans"/>
  </TextStyles>
  <TableStyles>
    <TableStyle name="default" fontSize="16.0" fontFamily="QuattrocentoSans, MiSans" headerFill="$primary" headerColor="#FFFFFF" headerBold="true" bodyFill="#FFFFFF,#F2F6F6" bodyColor="$text" firstColumnBold="false">
      <Border style="solid" width="1.0" color="$line"/>
    </TableStyle>
  </TableStyles>
</DslMetadata>
</file>

<file path=customXml/itemProps1.xml><?xml version="1.0" encoding="utf-8"?>
<ns0:datastoreItem xmlns:ns0="http://schemas.openxmlformats.org/officeDocument/2006/customXml" ns0:itemID="{27BA9B09-6209-4D83-AC86-B456D94E38A3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