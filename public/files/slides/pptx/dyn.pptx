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</p:sldIdLst>
  <p:sldSz cx="12192000" cy="6858000" type="custom"/>
  <p:notesSz cx="12192000" cy="6858000"/>
  <p:embeddedFontLst>
    <p:embeddedFont>
      <p:font typeface="MiSans" charset="-122" pitchFamily="34"/>
      <p:regular r:id="rId17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font" Target="fonts/font1.fntdata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eft-bar"/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3" name="topic-num"/>
          <p:cNvSpPr txBox="1"/>
          <p:nvPr/>
        </p:nvSpPr>
        <p:spPr>
          <a:xfrm>
            <a:off x="1219200" y="939800"/>
            <a:ext cx="3810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9702 · TOPIC 3</a:t>
            </a:r>
            <a:endParaRPr lang="en-US" sz="1400" noProof="1"/>
          </a:p>
        </p:txBody>
      </p:sp>
      <p:sp>
        <p:nvSpPr>
          <p:cNvPr id="4" name="title-cn"/>
          <p:cNvSpPr txBox="1"/>
          <p:nvPr/>
        </p:nvSpPr>
        <p:spPr>
          <a:xfrm>
            <a:off x="1219200" y="1625600"/>
            <a:ext cx="96520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4600" noProof="1" b="1">
                <a:solidFill>
                  <a:srgbClr val="22303A"/>
                </a:solidFill>
                <a:latin typeface="MiSans"/>
                <a:ea typeface="MiSans"/>
              </a:rPr>
              <a:t>动力学</a:t>
            </a:r>
            <a:endParaRPr lang="en-US" sz="4600" noProof="1"/>
          </a:p>
        </p:txBody>
      </p:sp>
      <p:sp>
        <p:nvSpPr>
          <p:cNvPr id="5" name="title-en"/>
          <p:cNvSpPr txBox="1"/>
          <p:nvPr/>
        </p:nvSpPr>
        <p:spPr>
          <a:xfrm>
            <a:off x="1219200" y="2565400"/>
            <a:ext cx="9652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Dynamics</a:t>
            </a:r>
            <a:endParaRPr lang="en-US" sz="2400" noProof="1"/>
          </a:p>
        </p:txBody>
      </p:sp>
      <p:sp>
        <p:nvSpPr>
          <p:cNvPr id="6" name="cover-rule"/>
          <p:cNvSpPr/>
          <p:nvPr/>
        </p:nvSpPr>
        <p:spPr>
          <a:xfrm>
            <a:off x="1219200" y="3327400"/>
            <a:ext cx="1524000" cy="381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7" name="cover-sub"/>
          <p:cNvSpPr txBox="1"/>
          <p:nvPr/>
        </p:nvSpPr>
        <p:spPr>
          <a:xfrm>
            <a:off x="1219200" y="3632200"/>
            <a:ext cx="88900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AS Level 自学课件 · 中英双语</a:t>
            </a:r>
            <a:endParaRPr lang="en-US" sz="1400" noProof="1"/>
          </a:p>
          <a:p>
            <a:pPr>
              <a:lnSpc>
                <a:spcPct val="170000"/>
              </a:lnSpc>
            </a:pPr>
            <a:r>
              <a:rPr lang="en-US" sz="1400" noProof="1">
                <a:solidFill>
                  <a:srgbClr val="6E6A62"/>
                </a:solidFill>
                <a:latin typeface="MiSans"/>
                <a:ea typeface="MiSans"/>
              </a:rPr>
              <a:t>依据 CAIE 考纲 · 参考 PMT Education 笔记与 Cambridge 官方教材（Crundell, 3rd edition）</a:t>
            </a:r>
            <a:endParaRPr lang="en-US" sz="1400" noProof="1"/>
          </a:p>
        </p:txBody>
      </p:sp>
      <p:sp>
        <p:nvSpPr>
          <p:cNvPr id="8" name="formula-strip"/>
          <p:cNvSpPr txBox="1"/>
          <p:nvPr/>
        </p:nvSpPr>
        <p:spPr>
          <a:xfrm>
            <a:off x="1219200" y="5130800"/>
            <a:ext cx="97536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>
                <a:solidFill>
                  <a:srgbClr val="22303A"/>
                </a:solidFill>
                <a:latin typeface="MiSans"/>
                <a:ea typeface="MiSans"/>
              </a:rPr>
              <a:t>F = ma  ·  p = mv  ·  W = mg  ·  p前 = p后</a:t>
            </a:r>
            <a:endParaRPr lang="en-US" sz="1500" noProof="1"/>
          </a:p>
        </p:txBody>
      </p:sp>
      <p:sp>
        <p:nvSpPr>
          <p:cNvPr id="9" name="formula-strip-label"/>
          <p:cNvSpPr txBox="1"/>
          <p:nvPr/>
        </p:nvSpPr>
        <p:spPr>
          <a:xfrm>
            <a:off x="1219200" y="5537200"/>
            <a:ext cx="762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力、动量与守恒 —— 从“运动”走向“为什么运动”</a:t>
            </a:r>
            <a:endParaRPr lang="en-US" sz="11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CIE A-LEVEL PHYSICS · TOPIC 3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本章学完后，你能做到什么？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Learning route — three stops from Newton's laws to collisions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pine"/>
          <p:cNvSpPr/>
          <p:nvPr/>
        </p:nvSpPr>
        <p:spPr>
          <a:xfrm>
            <a:off x="1117600" y="2159000"/>
            <a:ext cx="25400" cy="2794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n1"/>
          <p:cNvSpPr txBox="1"/>
          <p:nvPr/>
        </p:nvSpPr>
        <p:spPr>
          <a:xfrm>
            <a:off x="762000" y="18796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3.1</a:t>
            </a:r>
            <a:endParaRPr lang="en-US" sz="2400" noProof="1"/>
          </a:p>
        </p:txBody>
      </p:sp>
      <p:sp>
        <p:nvSpPr>
          <p:cNvPr id="8" name="s1"/>
          <p:cNvSpPr txBox="1"/>
          <p:nvPr/>
        </p:nvSpPr>
        <p:spPr>
          <a:xfrm>
            <a:off x="1625600" y="1905000"/>
            <a:ext cx="9652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动量与牛顿定律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三定律的准确表述；F = ma 与 F = Δ(mv)/Δt；质量是抵抗加速度的属性；W = mg。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Newton's laws · momentum p = mv · force as rate of change of momentum · weight</a:t>
            </a:r>
            <a:endParaRPr lang="en-US" sz="1350" noProof="1"/>
          </a:p>
        </p:txBody>
      </p:sp>
      <p:sp>
        <p:nvSpPr>
          <p:cNvPr id="9" name="n2"/>
          <p:cNvSpPr txBox="1"/>
          <p:nvPr/>
        </p:nvSpPr>
        <p:spPr>
          <a:xfrm>
            <a:off x="762000" y="29464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3.2</a:t>
            </a:r>
            <a:endParaRPr lang="en-US" sz="2400" noProof="1"/>
          </a:p>
        </p:txBody>
      </p:sp>
      <p:sp>
        <p:nvSpPr>
          <p:cNvPr id="10" name="s2"/>
          <p:cNvSpPr txBox="1"/>
          <p:nvPr/>
        </p:nvSpPr>
        <p:spPr>
          <a:xfrm>
            <a:off x="1625600" y="2971800"/>
            <a:ext cx="9652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非匀速运动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空气阻力随速度增大 → 加速度减小 → 收尾速度；阻力对抛体轨迹的影响。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Terminal velocity in three stages · drag on projectile paths</a:t>
            </a:r>
            <a:endParaRPr lang="en-US" sz="1350" noProof="1"/>
          </a:p>
        </p:txBody>
      </p:sp>
      <p:sp>
        <p:nvSpPr>
          <p:cNvPr id="11" name="n3"/>
          <p:cNvSpPr txBox="1"/>
          <p:nvPr/>
        </p:nvSpPr>
        <p:spPr>
          <a:xfrm>
            <a:off x="762000" y="4013200"/>
            <a:ext cx="7620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400" noProof="1" b="1">
                <a:solidFill>
                  <a:srgbClr val="0E5A55"/>
                </a:solidFill>
                <a:latin typeface="MiSans"/>
                <a:ea typeface="MiSans"/>
              </a:rPr>
              <a:t>3.3</a:t>
            </a:r>
            <a:endParaRPr lang="en-US" sz="2400" noProof="1"/>
          </a:p>
        </p:txBody>
      </p:sp>
      <p:sp>
        <p:nvSpPr>
          <p:cNvPr id="12" name="s3"/>
          <p:cNvSpPr txBox="1"/>
          <p:nvPr/>
        </p:nvSpPr>
        <p:spPr>
          <a:xfrm>
            <a:off x="1625600" y="4038600"/>
            <a:ext cx="9652000" cy="812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动量守恒与碰撞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守恒的前提与三步解题法；弹性 vs 非弹性碰撞；吸能区的能量转化。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Conservation of momentum · elastic vs inelastic collisions</a:t>
            </a:r>
            <a:endParaRPr lang="en-US" sz="1350" noProof="1"/>
          </a:p>
        </p:txBody>
      </p:sp>
      <p:sp>
        <p:nvSpPr>
          <p:cNvPr id="13" name="exit-box"/>
          <p:cNvSpPr/>
          <p:nvPr/>
        </p:nvSpPr>
        <p:spPr>
          <a:xfrm>
            <a:off x="762000" y="5334000"/>
            <a:ext cx="10668000" cy="838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4" name="exit-text"/>
          <p:cNvSpPr txBox="1"/>
          <p:nvPr/>
        </p:nvSpPr>
        <p:spPr>
          <a:xfrm>
            <a:off x="965200" y="5435600"/>
            <a:ext cx="10261600" cy="635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出口能力 Exit capability：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能用牛顿定律解释运动变化；能用三步法解释收尾速度；遇到碰撞题会先写"动量守恒（无外力）"再列式求解，并能判断碰撞是否弹性。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02</a:t>
            </a:r>
            <a:endParaRPr lang="en-US" sz="10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3.1 · NEWTON'S LAWS OF MOTION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牛顿三定律：力是改变运动状态的原因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Three statements you must be able to write verbatim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l1-badge"/>
          <p:cNvSpPr/>
          <p:nvPr/>
        </p:nvSpPr>
        <p:spPr>
          <a:xfrm>
            <a:off x="762000" y="1651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l1-num"/>
          <p:cNvSpPr txBox="1"/>
          <p:nvPr/>
        </p:nvSpPr>
        <p:spPr>
          <a:xfrm>
            <a:off x="762000" y="1651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MiSans"/>
                <a:ea typeface="MiSans"/>
              </a:rPr>
              <a:t>Ⅰ</a:t>
            </a:r>
            <a:endParaRPr lang="en-US" sz="2000" noProof="1"/>
          </a:p>
        </p:txBody>
      </p:sp>
      <p:sp>
        <p:nvSpPr>
          <p:cNvPr id="8" name="l1-body"/>
          <p:cNvSpPr txBox="1"/>
          <p:nvPr/>
        </p:nvSpPr>
        <p:spPr>
          <a:xfrm>
            <a:off x="1549400" y="1625600"/>
            <a:ext cx="9880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第一定律（惯性定律）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物体保持静止或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匀速直线运动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，直到受到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合外力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为止。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An object remains at rest or at constant velocity until it experiences a resultant force.</a:t>
            </a:r>
            <a:endParaRPr lang="en-US" sz="1300" noProof="1"/>
          </a:p>
        </p:txBody>
      </p:sp>
      <p:sp>
        <p:nvSpPr>
          <p:cNvPr id="9" name="l1-line"/>
          <p:cNvSpPr/>
          <p:nvPr/>
        </p:nvSpPr>
        <p:spPr>
          <a:xfrm>
            <a:off x="1549400" y="2489200"/>
            <a:ext cx="98806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0" name="l2-badge"/>
          <p:cNvSpPr/>
          <p:nvPr/>
        </p:nvSpPr>
        <p:spPr>
          <a:xfrm>
            <a:off x="762000" y="2667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1" name="l2-num"/>
          <p:cNvSpPr txBox="1"/>
          <p:nvPr/>
        </p:nvSpPr>
        <p:spPr>
          <a:xfrm>
            <a:off x="762000" y="2667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MiSans"/>
                <a:ea typeface="MiSans"/>
              </a:rPr>
              <a:t>Ⅱ</a:t>
            </a:r>
            <a:endParaRPr lang="en-US" sz="2000" noProof="1"/>
          </a:p>
        </p:txBody>
      </p:sp>
      <p:sp>
        <p:nvSpPr>
          <p:cNvPr id="12" name="l2-body"/>
          <p:cNvSpPr txBox="1"/>
          <p:nvPr/>
        </p:nvSpPr>
        <p:spPr>
          <a:xfrm>
            <a:off x="1549400" y="2641600"/>
            <a:ext cx="9880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第二定律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加速度与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合外力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成正比：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F = ma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。合外力与加速度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方向始终相同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Acceleration is proportional to the resultant force — and always in its direction.</a:t>
            </a:r>
            <a:endParaRPr lang="en-US" sz="1300" noProof="1"/>
          </a:p>
        </p:txBody>
      </p:sp>
      <p:sp>
        <p:nvSpPr>
          <p:cNvPr id="13" name="l2-line"/>
          <p:cNvSpPr/>
          <p:nvPr/>
        </p:nvSpPr>
        <p:spPr>
          <a:xfrm>
            <a:off x="1549400" y="3505200"/>
            <a:ext cx="98806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4" name="l3-badge"/>
          <p:cNvSpPr/>
          <p:nvPr/>
        </p:nvSpPr>
        <p:spPr>
          <a:xfrm>
            <a:off x="762000" y="3683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5" name="l3-num"/>
          <p:cNvSpPr txBox="1"/>
          <p:nvPr/>
        </p:nvSpPr>
        <p:spPr>
          <a:xfrm>
            <a:off x="762000" y="3683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2000" noProof="1" b="1">
                <a:solidFill>
                  <a:srgbClr val="FFFFFF"/>
                </a:solidFill>
                <a:latin typeface="MiSans"/>
                <a:ea typeface="MiSans"/>
              </a:rPr>
              <a:t>Ⅲ</a:t>
            </a:r>
            <a:endParaRPr lang="en-US" sz="2000" noProof="1"/>
          </a:p>
        </p:txBody>
      </p:sp>
      <p:sp>
        <p:nvSpPr>
          <p:cNvPr id="16" name="l3-body"/>
          <p:cNvSpPr txBox="1"/>
          <p:nvPr/>
        </p:nvSpPr>
        <p:spPr>
          <a:xfrm>
            <a:off x="1549400" y="3657600"/>
            <a:ext cx="98806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第三定律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　物体每受到一个力，必施加一个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大小相等、方向相反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的反作用力。</a:t>
            </a:r>
            <a:endParaRPr lang="en-US" sz="1300" noProof="1"/>
          </a:p>
          <a:p>
            <a:pPr>
              <a:lnSpc>
                <a:spcPct val="15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For each force on an object, it exerts an equal and opposite force.</a:t>
            </a:r>
            <a:endParaRPr lang="en-US" sz="1300" noProof="1"/>
          </a:p>
        </p:txBody>
      </p:sp>
      <p:sp>
        <p:nvSpPr>
          <p:cNvPr id="17" name="warn-box"/>
          <p:cNvSpPr/>
          <p:nvPr/>
        </p:nvSpPr>
        <p:spPr>
          <a:xfrm>
            <a:off x="762000" y="4724400"/>
            <a:ext cx="10668000" cy="1473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8" name="warn-head"/>
          <p:cNvSpPr txBox="1"/>
          <p:nvPr/>
        </p:nvSpPr>
        <p:spPr>
          <a:xfrm>
            <a:off x="965200" y="48768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考场三大辨析点</a:t>
            </a:r>
            <a:endParaRPr lang="en-US" sz="1500" noProof="1"/>
          </a:p>
        </p:txBody>
      </p:sp>
      <p:sp>
        <p:nvSpPr>
          <p:cNvPr id="19" name="warn-body"/>
          <p:cNvSpPr txBox="1"/>
          <p:nvPr/>
        </p:nvSpPr>
        <p:spPr>
          <a:xfrm>
            <a:off x="965200" y="5207000"/>
            <a:ext cx="10261600" cy="914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第一定律的 constant velocity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包含静止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（v = 0 的特例）；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第二定律的 F 是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合外力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（resultant force），不是某一个力；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③ 第三定律的一对力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作用在不同物体上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，绝不抵消——能抵消的是同一物体上的平衡力。</a:t>
            </a:r>
            <a:endParaRPr lang="en-US" sz="125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03</a:t>
            </a:r>
            <a:endParaRPr lang="en-US" sz="10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3.1 · MASS AND F = ma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质量是“抵抗加速度”的属性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Same force, bigger mass, smaller acceleration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def-body"/>
          <p:cNvSpPr txBox="1"/>
          <p:nvPr/>
        </p:nvSpPr>
        <p:spPr>
          <a:xfrm>
            <a:off x="762000" y="1676400"/>
            <a:ext cx="6096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由牛顿第二定律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a = F / m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：同样的合外力 F，质量 m 越大，加速度 a 越小。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所以说质量量度的是物体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抵抗加速度的能力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（resistance to acceleration）——也就是惯性的大小。</a:t>
            </a:r>
            <a:endParaRPr lang="en-US" sz="1350" noProof="1"/>
          </a:p>
        </p:txBody>
      </p:sp>
      <p:sp>
        <p:nvSpPr>
          <p:cNvPr id="7" name="eg-head"/>
          <p:cNvSpPr txBox="1"/>
          <p:nvPr/>
        </p:nvSpPr>
        <p:spPr>
          <a:xfrm>
            <a:off x="762000" y="30988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同受 10 N 合外力的两个物体</a:t>
            </a:r>
            <a:endParaRPr lang="en-US" sz="1500" noProof="1"/>
          </a:p>
        </p:txBody>
      </p:sp>
      <p:sp>
        <p:nvSpPr>
          <p:cNvPr id="8" name="bar1-label"/>
          <p:cNvSpPr txBox="1"/>
          <p:nvPr/>
        </p:nvSpPr>
        <p:spPr>
          <a:xfrm>
            <a:off x="762000" y="35560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物体 1　m = 1 kg</a:t>
            </a:r>
            <a:endParaRPr lang="en-US" sz="1300" noProof="1"/>
          </a:p>
        </p:txBody>
      </p:sp>
      <p:sp>
        <p:nvSpPr>
          <p:cNvPr id="9" name="bar1"/>
          <p:cNvSpPr/>
          <p:nvPr/>
        </p:nvSpPr>
        <p:spPr>
          <a:xfrm>
            <a:off x="2794000" y="3556000"/>
            <a:ext cx="3810000" cy="2286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bar1-val"/>
          <p:cNvSpPr txBox="1"/>
          <p:nvPr/>
        </p:nvSpPr>
        <p:spPr>
          <a:xfrm>
            <a:off x="6731000" y="35560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a = 10 m s⁻²</a:t>
            </a:r>
            <a:endParaRPr lang="en-US" sz="1300" noProof="1"/>
          </a:p>
        </p:txBody>
      </p:sp>
      <p:sp>
        <p:nvSpPr>
          <p:cNvPr id="11" name="bar2-label"/>
          <p:cNvSpPr txBox="1"/>
          <p:nvPr/>
        </p:nvSpPr>
        <p:spPr>
          <a:xfrm>
            <a:off x="762000" y="4013200"/>
            <a:ext cx="1905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物体 2　m = 10 kg</a:t>
            </a:r>
            <a:endParaRPr lang="en-US" sz="1300" noProof="1"/>
          </a:p>
        </p:txBody>
      </p:sp>
      <p:sp>
        <p:nvSpPr>
          <p:cNvPr id="12" name="bar2"/>
          <p:cNvSpPr/>
          <p:nvPr/>
        </p:nvSpPr>
        <p:spPr>
          <a:xfrm>
            <a:off x="2794000" y="4013200"/>
            <a:ext cx="381000" cy="22860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13" name="bar2-val"/>
          <p:cNvSpPr txBox="1"/>
          <p:nvPr/>
        </p:nvSpPr>
        <p:spPr>
          <a:xfrm>
            <a:off x="3302000" y="4013200"/>
            <a:ext cx="2286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C96F16"/>
                </a:solidFill>
                <a:latin typeface="MiSans"/>
                <a:ea typeface="MiSans"/>
              </a:rPr>
              <a:t>a = 1 m s⁻²</a:t>
            </a:r>
            <a:endParaRPr lang="en-US" sz="1300" noProof="1"/>
          </a:p>
        </p:txBody>
      </p:sp>
      <p:sp>
        <p:nvSpPr>
          <p:cNvPr id="14" name="bar-note"/>
          <p:cNvSpPr txBox="1"/>
          <p:nvPr/>
        </p:nvSpPr>
        <p:spPr>
          <a:xfrm>
            <a:off x="762000" y="4445000"/>
            <a:ext cx="6096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质量变为 10 倍，加速度只剩 1/10 ——</a:t>
            </a:r>
            <a:endParaRPr lang="en-US" sz="1100" noProof="1"/>
          </a:p>
          <a:p>
            <a:pPr>
              <a:lnSpc>
                <a:spcPct val="15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a 与 m 成反比（F 不变时）。</a:t>
            </a:r>
            <a:endParaRPr lang="en-US" sz="1100" noProof="1"/>
          </a:p>
        </p:txBody>
      </p:sp>
      <p:sp>
        <p:nvSpPr>
          <p:cNvPr id="15" name="key-box"/>
          <p:cNvSpPr/>
          <p:nvPr/>
        </p:nvSpPr>
        <p:spPr>
          <a:xfrm>
            <a:off x="762000" y="5334000"/>
            <a:ext cx="10668000" cy="863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key-text"/>
          <p:cNvSpPr txBox="1"/>
          <p:nvPr/>
        </p:nvSpPr>
        <p:spPr>
          <a:xfrm>
            <a:off x="965200" y="54356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考点：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“为什么质量大的物体更难加速？”—— 标准答案必须引用牛顿第二定律：</a:t>
            </a:r>
            <a:endParaRPr lang="en-US" sz="1300" noProof="1"/>
          </a:p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F 一定时 a = F/m，m 越大 a 越小；质量是物体抵抗加速度（改变运动状态）能力的量度。</a:t>
            </a:r>
            <a:endParaRPr lang="en-US" sz="130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04</a:t>
            </a:r>
            <a:endParaRPr lang="en-US" sz="10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3.1 · MOMENTUM AND FORCE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动量 p = mv，力是动量的变化率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Force = rate of change of momentum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p-def-box"/>
          <p:cNvSpPr/>
          <p:nvPr/>
        </p:nvSpPr>
        <p:spPr>
          <a:xfrm>
            <a:off x="762000" y="1676400"/>
            <a:ext cx="5207000" cy="1397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p-def"/>
          <p:cNvSpPr txBox="1"/>
          <p:nvPr/>
        </p:nvSpPr>
        <p:spPr>
          <a:xfrm>
            <a:off x="1016000" y="1828800"/>
            <a:ext cx="4699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线动量 linear momentum</a:t>
            </a:r>
            <a:endParaRPr lang="en-US" sz="1350" noProof="1"/>
          </a:p>
          <a:p>
            <a:pPr algn="ctr">
              <a:lnSpc>
                <a:spcPct val="160000"/>
              </a:lnSpc>
            </a:pPr>
            <a:r>
              <a:rPr lang="en-US" sz="1900" noProof="1" b="1">
                <a:solidFill>
                  <a:srgbClr val="22303A"/>
                </a:solidFill>
                <a:latin typeface="MiSans"/>
                <a:ea typeface="MiSans"/>
              </a:rPr>
              <a:t>p = mv</a:t>
            </a:r>
            <a:endParaRPr lang="en-US" sz="1350" noProof="1"/>
          </a:p>
          <a:p>
            <a:pPr algn="ctr">
              <a:lnSpc>
                <a:spcPct val="16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质量 × 速度　单位 kg m s</a:t>
            </a:r>
            <a:r>
              <a:rPr lang="en-US" sz="1150" noProof="1" baseline="30000">
                <a:solidFill>
                  <a:srgbClr val="6E6A62"/>
                </a:solidFill>
                <a:latin typeface="MiSans"/>
                <a:ea typeface="MiSans"/>
              </a:rPr>
              <a:t>−1</a:t>
            </a: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　矢量</a:t>
            </a:r>
            <a:endParaRPr lang="en-US" sz="1350" noProof="1"/>
          </a:p>
        </p:txBody>
      </p:sp>
      <p:sp>
        <p:nvSpPr>
          <p:cNvPr id="8" name="f-def-box"/>
          <p:cNvSpPr/>
          <p:nvPr/>
        </p:nvSpPr>
        <p:spPr>
          <a:xfrm>
            <a:off x="6223000" y="1676400"/>
            <a:ext cx="5207000" cy="1397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9" name="f-def"/>
          <p:cNvSpPr txBox="1"/>
          <p:nvPr/>
        </p:nvSpPr>
        <p:spPr>
          <a:xfrm>
            <a:off x="6477000" y="1828800"/>
            <a:ext cx="4699000" cy="1092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力的本质</a:t>
            </a:r>
            <a:endParaRPr lang="en-US" sz="1350" noProof="1"/>
          </a:p>
          <a:p>
            <a:pPr algn="ctr">
              <a:lnSpc>
                <a:spcPct val="160000"/>
              </a:lnSpc>
            </a:pPr>
            <a:r>
              <a:rPr lang="en-US" sz="1900" noProof="1" b="1">
                <a:solidFill>
                  <a:srgbClr val="22303A"/>
                </a:solidFill>
                <a:latin typeface="MiSans"/>
                <a:ea typeface="MiSans"/>
              </a:rPr>
              <a:t>F = Δ(mv) / Δt</a:t>
            </a:r>
            <a:endParaRPr lang="en-US" sz="1350" noProof="1"/>
          </a:p>
          <a:p>
            <a:pPr algn="ctr">
              <a:lnSpc>
                <a:spcPct val="16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力 = 动量的变化率 rate of change of momentum</a:t>
            </a:r>
            <a:endParaRPr lang="en-US" sz="1350" noProof="1"/>
          </a:p>
        </p:txBody>
      </p:sp>
      <p:sp>
        <p:nvSpPr>
          <p:cNvPr id="10" name="derive-head"/>
          <p:cNvSpPr txBox="1"/>
          <p:nvPr/>
        </p:nvSpPr>
        <p:spPr>
          <a:xfrm>
            <a:off x="762000" y="33782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两种形式怎么互相推导？</a:t>
            </a:r>
            <a:endParaRPr lang="en-US" sz="1500" noProof="1"/>
          </a:p>
        </p:txBody>
      </p:sp>
      <p:sp>
        <p:nvSpPr>
          <p:cNvPr id="11" name="derive-body"/>
          <p:cNvSpPr txBox="1"/>
          <p:nvPr/>
        </p:nvSpPr>
        <p:spPr>
          <a:xfrm>
            <a:off x="762000" y="3759200"/>
            <a:ext cx="10668000" cy="965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牛顿第二定律：F = ma。把加速度写成速度变化率 a = Δv/Δt，代入：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F = m·(Δv/Δt) = 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Δ(mv)/Δt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（质量不变时两者等价）</a:t>
            </a:r>
            <a:endParaRPr lang="en-US" sz="1350" noProof="1"/>
          </a:p>
          <a:p>
            <a:pPr>
              <a:lnSpc>
                <a:spcPct val="155000"/>
              </a:lnSpc>
              <a:spcBef>
                <a:spcPts val="400"/>
              </a:spcBef>
            </a:pP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反过来，知道动量变化和时间，就能求平均力——碰撞、冲击问题全靠它。</a:t>
            </a:r>
            <a:endParaRPr lang="en-US" sz="1350" noProof="1"/>
          </a:p>
        </p:txBody>
      </p:sp>
      <p:sp>
        <p:nvSpPr>
          <p:cNvPr id="12" name="eg-box"/>
          <p:cNvSpPr/>
          <p:nvPr/>
        </p:nvSpPr>
        <p:spPr>
          <a:xfrm>
            <a:off x="762000" y="4927600"/>
            <a:ext cx="10668000" cy="1270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eg-head"/>
          <p:cNvSpPr txBox="1"/>
          <p:nvPr/>
        </p:nvSpPr>
        <p:spPr>
          <a:xfrm>
            <a:off x="965200" y="50546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直觉检验：同样的 Δp，时间越短力越大</a:t>
            </a:r>
            <a:endParaRPr lang="en-US" sz="1500" noProof="1"/>
          </a:p>
        </p:txBody>
      </p:sp>
      <p:sp>
        <p:nvSpPr>
          <p:cNvPr id="14" name="eg-body"/>
          <p:cNvSpPr txBox="1"/>
          <p:nvPr/>
        </p:nvSpPr>
        <p:spPr>
          <a:xfrm>
            <a:off x="965200" y="5384800"/>
            <a:ext cx="10261600" cy="71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接球时手会顺势后缩——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延长 Δt，减小 F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，手就不疼；汽车吸能区（crumple zone）同理：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把碰撞时间拉长，乘客受到的冲击力就变小。这解释了为什么“软着陆”更安全。</a:t>
            </a:r>
            <a:endParaRPr lang="en-US" sz="1250" noProof="1"/>
          </a:p>
        </p:txBody>
      </p:sp>
      <p:sp>
        <p:nvSpPr>
          <p:cNvPr id="15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6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17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05</a:t>
            </a:r>
            <a:endParaRPr lang="en-US" sz="10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3.1 · WEIGHT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重量是力，质量是属性——别再混用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W = mg · weight varies with g, mass does not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cmp-table"/>
          <p:cNvGraphicFramePr>
            <a:graphicFrameLocks noGrp="1"/>
          </p:cNvGraphicFramePr>
          <p:nvPr/>
        </p:nvGraphicFramePr>
        <p:xfrm>
          <a:off x="762000" y="1651000"/>
          <a:ext cx="10668000" cy="2184400"/>
        </p:xfrm>
        <a:graphic>
          <a:graphicData uri="http://schemas.openxmlformats.org/drawingml/2006/table">
            <a:tbl>
              <a:tblPr/>
              <a:tblGrid>
                <a:gridCol w="2346960"/>
                <a:gridCol w="4160520"/>
                <a:gridCol w="4160520"/>
              </a:tblGrid>
              <a:tr h="436880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质量 mass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重量 weight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5897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本质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物体的固有属性，抵抗加速度的能力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物体受到的引力（gravitational force）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567944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单位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kg（SI 基本单位）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N（力的单位，导出单位）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  <a:tr h="58978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随地点变吗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不变：地球、月球上都一样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变：W = mg，g 不同则 W 不同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w-box"/>
          <p:cNvSpPr/>
          <p:nvPr/>
        </p:nvSpPr>
        <p:spPr>
          <a:xfrm>
            <a:off x="762000" y="4089400"/>
            <a:ext cx="5207000" cy="1143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8" name="w-text"/>
          <p:cNvSpPr txBox="1"/>
          <p:nvPr/>
        </p:nvSpPr>
        <p:spPr>
          <a:xfrm>
            <a:off x="1016000" y="4216400"/>
            <a:ext cx="4699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60000"/>
              </a:lnSpc>
            </a:pPr>
            <a:r>
              <a:rPr lang="en-US" sz="1900" noProof="1" b="1">
                <a:solidFill>
                  <a:srgbClr val="22303A"/>
                </a:solidFill>
                <a:latin typeface="MiSans"/>
                <a:ea typeface="MiSans"/>
              </a:rPr>
              <a:t>W = mg</a:t>
            </a:r>
            <a:endParaRPr lang="en-US" sz="1350" noProof="1"/>
          </a:p>
          <a:p>
            <a:pPr algn="ctr">
              <a:lnSpc>
                <a:spcPct val="16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地球上的重量 = 质量 × g（9.81 m s</a:t>
            </a:r>
            <a:r>
              <a:rPr lang="en-US" sz="1150" noProof="1" baseline="30000">
                <a:solidFill>
                  <a:srgbClr val="6E6A62"/>
                </a:solidFill>
                <a:latin typeface="MiSans"/>
                <a:ea typeface="MiSans"/>
              </a:rPr>
              <a:t>−2</a:t>
            </a: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）</a:t>
            </a:r>
            <a:endParaRPr lang="en-US" sz="1350" noProof="1"/>
          </a:p>
        </p:txBody>
      </p:sp>
      <p:sp>
        <p:nvSpPr>
          <p:cNvPr id="9" name="eg-body"/>
          <p:cNvSpPr txBox="1"/>
          <p:nvPr/>
        </p:nvSpPr>
        <p:spPr>
          <a:xfrm>
            <a:off x="6477000" y="4089400"/>
            <a:ext cx="4953000" cy="1143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算一算：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质量 70 kg 的人，</a:t>
            </a:r>
            <a:endParaRPr lang="en-US" sz="1300" noProof="1"/>
          </a:p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地球上的重量 = 70 × 9.81 ≈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687 N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；</a:t>
            </a:r>
            <a:endParaRPr lang="en-US" sz="1300" noProof="1"/>
          </a:p>
          <a:p>
            <a:pPr algn="l"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到月球（g ≈ 1.6）重量 ≈ 112 N，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质量仍是 70 kg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10" name="warn-box"/>
          <p:cNvSpPr/>
          <p:nvPr/>
        </p:nvSpPr>
        <p:spPr>
          <a:xfrm>
            <a:off x="762000" y="55372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1" name="warn-text"/>
          <p:cNvSpPr txBox="1"/>
          <p:nvPr/>
        </p:nvSpPr>
        <p:spPr>
          <a:xfrm>
            <a:off x="965200" y="5626100"/>
            <a:ext cx="10261600" cy="482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考场口语陷阱：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“我重 70 kg”是错的——kg 是质量单位；重量必须以牛顿为单位。写作答案时 weight 一定要带 N，并写出 W = mg 的来源。</a:t>
            </a:r>
            <a:endParaRPr lang="en-US" sz="1250" noProof="1"/>
          </a:p>
        </p:txBody>
      </p:sp>
      <p:sp>
        <p:nvSpPr>
          <p:cNvPr id="12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3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14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06</a:t>
            </a:r>
            <a:endParaRPr lang="en-US" sz="10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3.2 · NON-UNIFORM MOTION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收尾速度：下落物体的三段故事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Terminal velocity — how drag rewrites free fall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st1-head"/>
          <p:cNvSpPr txBox="1"/>
          <p:nvPr/>
        </p:nvSpPr>
        <p:spPr>
          <a:xfrm>
            <a:off x="762000" y="16510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阶段 ①　刚释放：重量 &gt; 阻力</a:t>
            </a:r>
            <a:endParaRPr lang="en-US" sz="1400" noProof="1"/>
          </a:p>
        </p:txBody>
      </p:sp>
      <p:sp>
        <p:nvSpPr>
          <p:cNvPr id="7" name="st1-body"/>
          <p:cNvSpPr txBox="1"/>
          <p:nvPr/>
        </p:nvSpPr>
        <p:spPr>
          <a:xfrm>
            <a:off x="762000" y="1981200"/>
            <a:ext cx="546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重量向下、空气阻力向上；重量更大 → 存在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向下的合外力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→ 向下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加速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（牛顿第二定律）。</a:t>
            </a:r>
            <a:endParaRPr lang="en-US" sz="1250" noProof="1"/>
          </a:p>
        </p:txBody>
      </p:sp>
      <p:sp>
        <p:nvSpPr>
          <p:cNvPr id="8" name="st2-head"/>
          <p:cNvSpPr txBox="1"/>
          <p:nvPr/>
        </p:nvSpPr>
        <p:spPr>
          <a:xfrm>
            <a:off x="762000" y="28702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阶段 ②　速度增大：阻力跟着增大</a:t>
            </a:r>
            <a:endParaRPr lang="en-US" sz="1400" noProof="1"/>
          </a:p>
        </p:txBody>
      </p:sp>
      <p:sp>
        <p:nvSpPr>
          <p:cNvPr id="9" name="st2-body"/>
          <p:cNvSpPr txBox="1"/>
          <p:nvPr/>
        </p:nvSpPr>
        <p:spPr>
          <a:xfrm>
            <a:off x="762000" y="3200400"/>
            <a:ext cx="546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阻力随速度增大 → 合外力与加速度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逐渐减小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——还在加速，但加得越来越慢。</a:t>
            </a:r>
            <a:endParaRPr lang="en-US" sz="1250" noProof="1"/>
          </a:p>
        </p:txBody>
      </p:sp>
      <p:sp>
        <p:nvSpPr>
          <p:cNvPr id="10" name="st3-head"/>
          <p:cNvSpPr txBox="1"/>
          <p:nvPr/>
        </p:nvSpPr>
        <p:spPr>
          <a:xfrm>
            <a:off x="762000" y="4089400"/>
            <a:ext cx="5461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阶段 ③　阻力 = 重量：匀速</a:t>
            </a:r>
            <a:endParaRPr lang="en-US" sz="1400" noProof="1"/>
          </a:p>
        </p:txBody>
      </p:sp>
      <p:sp>
        <p:nvSpPr>
          <p:cNvPr id="11" name="st3-body"/>
          <p:cNvSpPr txBox="1"/>
          <p:nvPr/>
        </p:nvSpPr>
        <p:spPr>
          <a:xfrm>
            <a:off x="762000" y="4419600"/>
            <a:ext cx="5461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两力相等 → 合外力为零 → 以恒定速度下落：这就是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收尾速度 terminal velocity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</p:txBody>
      </p:sp>
      <p:sp>
        <p:nvSpPr>
          <p:cNvPr id="12" name="ans-box"/>
          <p:cNvSpPr/>
          <p:nvPr/>
        </p:nvSpPr>
        <p:spPr>
          <a:xfrm>
            <a:off x="762000" y="5334000"/>
            <a:ext cx="5461000" cy="863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3" name="ans-text"/>
          <p:cNvSpPr txBox="1"/>
          <p:nvPr/>
        </p:nvSpPr>
        <p:spPr>
          <a:xfrm>
            <a:off x="939800" y="5422900"/>
            <a:ext cx="51054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答题模板（解释题）：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阻力随速度增大 → 合外力（加速度）减小 → 阻力等于重量、合外力为零 → 速度恒定。</a:t>
            </a:r>
            <a:endParaRPr lang="en-US" sz="1200" noProof="1"/>
          </a:p>
        </p:txBody>
      </p:sp>
      <p:sp>
        <p:nvSpPr>
          <p:cNvPr id="14" name="axis-y"/>
          <p:cNvSpPr/>
          <p:nvPr>
            <p:extLst>
              <p:ext uri="{F5677B7D-0D2A-4D9B-9A5C-6D8D7D0E5A5D}">
                <pptd:line encoding="base64url">eyJ2aWV3Qm94IjpbNCwyNDBdLCJwb2ludHMiOiIyLDI0MCAyLDAiLCJjdXJ2ZSI6InNoYXJwIn0</pptd:line>
              </p:ext>
            </p:extLst>
          </p:nvPr>
        </p:nvSpPr>
        <p:spPr>
          <a:xfrm>
            <a:off x="6959600" y="1651000"/>
            <a:ext cx="50800" cy="3048000"/>
          </a:xfrm>
          <a:custGeom>
            <a:avLst/>
            <a:gdLst/>
            <a:ahLst/>
            <a:cxnLst/>
            <a:rect l="l" t="t" r="r" b="b"/>
            <a:pathLst>
              <a:path w="4" h="240">
                <a:moveTo>
                  <a:pt x="2" y="240"/>
                </a:moveTo>
                <a:lnTo>
                  <a:pt x="2" y="0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5" name="axis-x"/>
          <p:cNvSpPr/>
          <p:nvPr>
            <p:extLst>
              <p:ext uri="{F5677B7D-0D2A-4D9B-9A5C-6D8D7D0E5A5D}">
                <pptd:line encoding="base64url">eyJ2aWV3Qm94IjpbMzIwLDRdLCJwb2ludHMiOiIwLDIgMzIwLDIiLCJjdXJ2ZSI6InNoYXJwIn0</pptd:line>
              </p:ext>
            </p:extLst>
          </p:nvPr>
        </p:nvSpPr>
        <p:spPr>
          <a:xfrm>
            <a:off x="6959600" y="4648200"/>
            <a:ext cx="4064000" cy="50800"/>
          </a:xfrm>
          <a:custGeom>
            <a:avLst/>
            <a:gdLst/>
            <a:ahLst/>
            <a:cxnLst/>
            <a:rect l="l" t="t" r="r" b="b"/>
            <a:pathLst>
              <a:path w="320" h="4">
                <a:moveTo>
                  <a:pt x="0" y="2"/>
                </a:moveTo>
                <a:lnTo>
                  <a:pt x="320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6" name="lb-v"/>
          <p:cNvSpPr txBox="1"/>
          <p:nvPr/>
        </p:nvSpPr>
        <p:spPr>
          <a:xfrm>
            <a:off x="6502400" y="1651000"/>
            <a:ext cx="4064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v</a:t>
            </a:r>
            <a:endParaRPr lang="en-US" sz="1300" noProof="1"/>
          </a:p>
        </p:txBody>
      </p:sp>
      <p:sp>
        <p:nvSpPr>
          <p:cNvPr id="17" name="lb-t"/>
          <p:cNvSpPr txBox="1"/>
          <p:nvPr/>
        </p:nvSpPr>
        <p:spPr>
          <a:xfrm>
            <a:off x="10972800" y="4749800"/>
            <a:ext cx="381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t</a:t>
            </a:r>
            <a:endParaRPr lang="en-US" sz="1300" noProof="1"/>
          </a:p>
        </p:txBody>
      </p:sp>
      <p:sp>
        <p:nvSpPr>
          <p:cNvPr id="18" name="vt-curve"/>
          <p:cNvSpPr/>
          <p:nvPr>
            <p:extLst>
              <p:ext uri="{F5677B7D-0D2A-4D9B-9A5C-6D8D7D0E5A5D}">
                <pptd:line encoding="base64url">eyJ2aWV3Qm94IjpbMzAwLDE4MF0sInBvaW50cyI6IjAsMTgwIDkwLDYwIDE5MCwxNCAzMDAsNCIsImN1cnZlIjoic21vb3RoIn0</pptd:line>
              </p:ext>
            </p:extLst>
          </p:nvPr>
        </p:nvSpPr>
        <p:spPr>
          <a:xfrm>
            <a:off x="6985000" y="2362200"/>
            <a:ext cx="3810000" cy="2286000"/>
          </a:xfrm>
          <a:custGeom>
            <a:avLst/>
            <a:gdLst/>
            <a:ahLst/>
            <a:cxnLst/>
            <a:rect l="l" t="t" r="r" b="b"/>
            <a:pathLst>
              <a:path w="300" h="180">
                <a:moveTo>
                  <a:pt x="0" y="180"/>
                </a:moveTo>
                <a:cubicBezTo>
                  <a:pt x="90" y="60"/>
                  <a:pt x="190" y="14"/>
                  <a:pt x="300" y="4"/>
                </a:cubicBezTo>
              </a:path>
            </a:pathLst>
          </a:custGeom>
          <a:noFill/>
          <a:ln w="38100" cap="rnd">
            <a:solidFill>
              <a:srgbClr val="0E5A55"/>
            </a:solidFill>
            <a:round/>
          </a:ln>
        </p:spPr>
      </p:sp>
      <p:sp>
        <p:nvSpPr>
          <p:cNvPr id="19" name="term-dash"/>
          <p:cNvSpPr/>
          <p:nvPr>
            <p:extLst>
              <p:ext uri="{F5677B7D-0D2A-4D9B-9A5C-6D8D7D0E5A5D}">
                <pptd:line encoding="base64url">eyJ2aWV3Qm94IjpbMzAwLDRdLCJwb2ludHMiOiIwLDIgMzAwLDIiLCJjdXJ2ZSI6InNoYXJwIn0</pptd:line>
              </p:ext>
            </p:extLst>
          </p:nvPr>
        </p:nvSpPr>
        <p:spPr>
          <a:xfrm>
            <a:off x="6985000" y="2387600"/>
            <a:ext cx="3810000" cy="50800"/>
          </a:xfrm>
          <a:custGeom>
            <a:avLst/>
            <a:gdLst/>
            <a:ahLst/>
            <a:cxnLst/>
            <a:rect l="l" t="t" r="r" b="b"/>
            <a:pathLst>
              <a:path w="300" h="4">
                <a:moveTo>
                  <a:pt x="0" y="2"/>
                </a:moveTo>
                <a:lnTo>
                  <a:pt x="300" y="2"/>
                </a:lnTo>
              </a:path>
            </a:pathLst>
          </a:custGeom>
          <a:noFill/>
          <a:ln w="19050">
            <a:solidFill>
              <a:srgbClr val="C96F16"/>
            </a:solidFill>
            <a:prstDash val="dash"/>
          </a:ln>
        </p:spPr>
      </p:sp>
      <p:sp>
        <p:nvSpPr>
          <p:cNvPr id="20" name="lb-term"/>
          <p:cNvSpPr txBox="1"/>
          <p:nvPr/>
        </p:nvSpPr>
        <p:spPr>
          <a:xfrm>
            <a:off x="8128000" y="2057400"/>
            <a:ext cx="2794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C96F16"/>
                </a:solidFill>
                <a:latin typeface="MiSans"/>
                <a:ea typeface="MiSans"/>
              </a:rPr>
              <a:t>terminal velocity 收尾速度</a:t>
            </a:r>
            <a:endParaRPr lang="en-US" sz="1200" noProof="1"/>
          </a:p>
        </p:txBody>
      </p:sp>
      <p:sp>
        <p:nvSpPr>
          <p:cNvPr id="21" name="lb-slope"/>
          <p:cNvSpPr txBox="1"/>
          <p:nvPr/>
        </p:nvSpPr>
        <p:spPr>
          <a:xfrm>
            <a:off x="7366000" y="3810000"/>
            <a:ext cx="2794000" cy="2286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斜率（加速度）逐渐减小</a:t>
            </a:r>
            <a:endParaRPr lang="en-US" sz="1150" noProof="1"/>
          </a:p>
        </p:txBody>
      </p:sp>
      <p:sp>
        <p:nvSpPr>
          <p:cNvPr id="22" name="graph-caption"/>
          <p:cNvSpPr txBox="1"/>
          <p:nvPr/>
        </p:nvSpPr>
        <p:spPr>
          <a:xfrm>
            <a:off x="6731000" y="5334000"/>
            <a:ext cx="4318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有空气阻力时的 v-t 图：斜率渐小，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最终趋于水平虚线 = 收尾速度</a:t>
            </a:r>
            <a:endParaRPr lang="en-US" sz="1100" noProof="1"/>
          </a:p>
        </p:txBody>
      </p:sp>
      <p:sp>
        <p:nvSpPr>
          <p:cNvPr id="23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07</a:t>
            </a:r>
            <a:endParaRPr lang="en-US" sz="10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3.2 · DRAG ON PROJECTILES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有空气阻力，抛物线就不再对称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Drag shrinks both components of the motion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ground"/>
          <p:cNvSpPr/>
          <p:nvPr>
            <p:extLst>
              <p:ext uri="{F5677B7D-0D2A-4D9B-9A5C-6D8D7D0E5A5D}">
                <pptd:line encoding="base64url">eyJ2aWV3Qm94IjpbNTIwLDRdLCJwb2ludHMiOiIwLDIgNTIwLDIiLCJjdXJ2ZSI6InNoYXJwIn0</pptd:line>
              </p:ext>
            </p:extLst>
          </p:nvPr>
        </p:nvSpPr>
        <p:spPr>
          <a:xfrm>
            <a:off x="1016000" y="4826000"/>
            <a:ext cx="6604000" cy="50800"/>
          </a:xfrm>
          <a:custGeom>
            <a:avLst/>
            <a:gdLst/>
            <a:ahLst/>
            <a:cxnLst/>
            <a:rect l="l" t="t" r="r" b="b"/>
            <a:pathLst>
              <a:path w="520" h="4">
                <a:moveTo>
                  <a:pt x="0" y="2"/>
                </a:moveTo>
                <a:lnTo>
                  <a:pt x="520" y="2"/>
                </a:lnTo>
              </a:path>
            </a:pathLst>
          </a:custGeom>
          <a:noFill/>
          <a:ln w="25400">
            <a:solidFill>
              <a:srgbClr val="22303A"/>
            </a:solidFill>
          </a:ln>
        </p:spPr>
      </p:sp>
      <p:sp>
        <p:nvSpPr>
          <p:cNvPr id="7" name="ideal-curve"/>
          <p:cNvSpPr/>
          <p:nvPr>
            <p:extLst>
              <p:ext uri="{F5677B7D-0D2A-4D9B-9A5C-6D8D7D0E5A5D}">
                <pptd:line encoding="base64url">eyJ2aWV3Qm94IjpbNDQwLDIxMF0sInBvaW50cyI6IjAsMjEwIDE1MCw0MCAzMDAsNDAgNDQwLDIxMCIsImN1cnZlIjoic21vb3RoIn0</pptd:line>
              </p:ext>
            </p:extLst>
          </p:nvPr>
        </p:nvSpPr>
        <p:spPr>
          <a:xfrm>
            <a:off x="1270000" y="2159000"/>
            <a:ext cx="5588000" cy="2667000"/>
          </a:xfrm>
          <a:custGeom>
            <a:avLst/>
            <a:gdLst/>
            <a:ahLst/>
            <a:cxnLst/>
            <a:rect l="l" t="t" r="r" b="b"/>
            <a:pathLst>
              <a:path w="440" h="210">
                <a:moveTo>
                  <a:pt x="0" y="210"/>
                </a:moveTo>
                <a:cubicBezTo>
                  <a:pt x="150" y="40"/>
                  <a:pt x="300" y="40"/>
                  <a:pt x="440" y="210"/>
                </a:cubicBezTo>
              </a:path>
            </a:pathLst>
          </a:custGeom>
          <a:noFill/>
          <a:ln w="31750" cap="rnd">
            <a:solidFill>
              <a:srgbClr val="6E6A62"/>
            </a:solidFill>
            <a:prstDash val="dash"/>
            <a:round/>
          </a:ln>
        </p:spPr>
      </p:sp>
      <p:sp>
        <p:nvSpPr>
          <p:cNvPr id="8" name="drag-curve"/>
          <p:cNvSpPr/>
          <p:nvPr>
            <p:extLst>
              <p:ext uri="{F5677B7D-0D2A-4D9B-9A5C-6D8D7D0E5A5D}">
                <pptd:line encoding="base64url">eyJ2aWV3Qm94IjpbMzMwLDE3MF0sInBvaW50cyI6IjAsMTcwIDExMCwzMCAyMTAsNDAgMzMwLDE3MCIsImN1cnZlIjoic21vb3RoIn0</pptd:line>
              </p:ext>
            </p:extLst>
          </p:nvPr>
        </p:nvSpPr>
        <p:spPr>
          <a:xfrm>
            <a:off x="1270000" y="2667000"/>
            <a:ext cx="4191000" cy="2159000"/>
          </a:xfrm>
          <a:custGeom>
            <a:avLst/>
            <a:gdLst/>
            <a:ahLst/>
            <a:cxnLst/>
            <a:rect l="l" t="t" r="r" b="b"/>
            <a:pathLst>
              <a:path w="330" h="170">
                <a:moveTo>
                  <a:pt x="0" y="170"/>
                </a:moveTo>
                <a:cubicBezTo>
                  <a:pt x="110" y="30"/>
                  <a:pt x="210" y="40"/>
                  <a:pt x="330" y="170"/>
                </a:cubicBezTo>
              </a:path>
            </a:pathLst>
          </a:custGeom>
          <a:noFill/>
          <a:ln w="38100" cap="rnd">
            <a:solidFill>
              <a:srgbClr val="0E5A55"/>
            </a:solidFill>
            <a:round/>
          </a:ln>
        </p:spPr>
      </p:sp>
      <p:sp>
        <p:nvSpPr>
          <p:cNvPr id="9" name="lb-ideal"/>
          <p:cNvSpPr txBox="1"/>
          <p:nvPr/>
        </p:nvSpPr>
        <p:spPr>
          <a:xfrm>
            <a:off x="5461000" y="1905000"/>
            <a:ext cx="2159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6E6A62"/>
                </a:solidFill>
                <a:latin typeface="MiSans"/>
                <a:ea typeface="MiSans"/>
              </a:rPr>
              <a:t>无阻力（理想抛物线）</a:t>
            </a:r>
            <a:endParaRPr lang="en-US" sz="1200" noProof="1"/>
          </a:p>
        </p:txBody>
      </p:sp>
      <p:sp>
        <p:nvSpPr>
          <p:cNvPr id="10" name="lb-drag"/>
          <p:cNvSpPr txBox="1"/>
          <p:nvPr/>
        </p:nvSpPr>
        <p:spPr>
          <a:xfrm>
            <a:off x="3048000" y="2489200"/>
            <a:ext cx="1905000" cy="254000"/>
          </a:xfrm>
          <a:prstGeom prst="rect">
            <a:avLst/>
          </a:prstGeom>
          <a:solidFill>
            <a:srgbClr val="FAF8F4"/>
          </a:solidFill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0E5A55"/>
                </a:solidFill>
                <a:latin typeface="MiSans"/>
                <a:ea typeface="MiSans"/>
              </a:rPr>
              <a:t>有空气阻力</a:t>
            </a:r>
            <a:endParaRPr lang="en-US" sz="1200" noProof="1"/>
          </a:p>
        </p:txBody>
      </p:sp>
      <p:sp>
        <p:nvSpPr>
          <p:cNvPr id="11" name="launch-dot"/>
          <p:cNvSpPr/>
          <p:nvPr/>
        </p:nvSpPr>
        <p:spPr>
          <a:xfrm>
            <a:off x="1193800" y="4749800"/>
            <a:ext cx="152400" cy="152400"/>
          </a:xfrm>
          <a:prstGeom prst="ellipse">
            <a:avLst/>
          </a:prstGeom>
          <a:solidFill>
            <a:srgbClr val="22303A"/>
          </a:solidFill>
          <a:ln>
            <a:noFill/>
          </a:ln>
        </p:spPr>
      </p:sp>
      <p:sp>
        <p:nvSpPr>
          <p:cNvPr id="12" name="concl-head"/>
          <p:cNvSpPr txBox="1"/>
          <p:nvPr/>
        </p:nvSpPr>
        <p:spPr>
          <a:xfrm>
            <a:off x="8128000" y="17780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阻力带来的三个变化</a:t>
            </a:r>
            <a:endParaRPr lang="en-US" sz="1500" noProof="1"/>
          </a:p>
        </p:txBody>
      </p:sp>
      <p:sp>
        <p:nvSpPr>
          <p:cNvPr id="13" name="concl-body"/>
          <p:cNvSpPr txBox="1"/>
          <p:nvPr/>
        </p:nvSpPr>
        <p:spPr>
          <a:xfrm>
            <a:off x="8128000" y="2184400"/>
            <a:ext cx="33020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更早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到达最大高度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最大高度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更低</a:t>
            </a:r>
            <a:endParaRPr lang="en-US" sz="1300" noProof="1"/>
          </a:p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水平与竖直方向的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射程都变短</a:t>
            </a:r>
            <a:endParaRPr lang="en-US" sz="1300" noProof="1"/>
          </a:p>
        </p:txBody>
      </p:sp>
      <p:sp>
        <p:nvSpPr>
          <p:cNvPr id="14" name="why-head"/>
          <p:cNvSpPr txBox="1"/>
          <p:nvPr/>
        </p:nvSpPr>
        <p:spPr>
          <a:xfrm>
            <a:off x="8128000" y="3937000"/>
            <a:ext cx="330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为什么不对称？</a:t>
            </a:r>
            <a:endParaRPr lang="en-US" sz="1500" noProof="1"/>
          </a:p>
        </p:txBody>
      </p:sp>
      <p:sp>
        <p:nvSpPr>
          <p:cNvPr id="15" name="why-body"/>
          <p:cNvSpPr txBox="1"/>
          <p:nvPr/>
        </p:nvSpPr>
        <p:spPr>
          <a:xfrm>
            <a:off x="8128000" y="4292600"/>
            <a:ext cx="3302000" cy="1270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阻力同时作用于两个分量：水平速度也在减小，所以后半程比前半程更陡——落点比理想抛物线更近、更“扎”。</a:t>
            </a:r>
            <a:endParaRPr lang="en-US" sz="1250" noProof="1"/>
          </a:p>
        </p:txBody>
      </p:sp>
      <p:sp>
        <p:nvSpPr>
          <p:cNvPr id="16" name="caption"/>
          <p:cNvSpPr txBox="1"/>
          <p:nvPr/>
        </p:nvSpPr>
        <p:spPr>
          <a:xfrm>
            <a:off x="1016000" y="5130800"/>
            <a:ext cx="6604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虚线：理想抛物线（水平分量恒定，轨迹对称）</a:t>
            </a:r>
            <a:endParaRPr lang="en-US" sz="1100" noProof="1"/>
          </a:p>
          <a:p>
            <a:pPr algn="ctr">
              <a:lnSpc>
                <a:spcPct val="140000"/>
              </a:lnSpc>
            </a:pPr>
            <a:r>
              <a:rPr lang="en-US" sz="1100" noProof="1">
                <a:solidFill>
                  <a:srgbClr val="6E6A62"/>
                </a:solidFill>
                <a:latin typeface="MiSans"/>
                <a:ea typeface="MiSans"/>
              </a:rPr>
              <a:t>实线：有空气阻力（两个分量都衰减，轨迹不对称）</a:t>
            </a:r>
            <a:endParaRPr lang="en-US" sz="110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08</a:t>
            </a:r>
            <a:endParaRPr lang="en-US" sz="1000" noProof="1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3.3 · CONSERVATION OF MOMENTUM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动量守恒：无外力，总动量不变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Momentum before = momentum after, when no external forces act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prin-box"/>
          <p:cNvSpPr/>
          <p:nvPr/>
        </p:nvSpPr>
        <p:spPr>
          <a:xfrm>
            <a:off x="762000" y="1676400"/>
            <a:ext cx="10668000" cy="990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prin-text"/>
          <p:cNvSpPr txBox="1"/>
          <p:nvPr/>
        </p:nvSpPr>
        <p:spPr>
          <a:xfrm>
            <a:off x="1016000" y="1803400"/>
            <a:ext cx="10160000" cy="73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动量守恒原理：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只要</a:t>
            </a: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没有外力作用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（no external forces act），任何相互作用中</a:t>
            </a:r>
            <a:endParaRPr lang="en-US" sz="1400" noProof="1"/>
          </a:p>
          <a:p>
            <a:pPr algn="l">
              <a:lnSpc>
                <a:spcPct val="160000"/>
              </a:lnSpc>
            </a:pPr>
            <a:r>
              <a:rPr lang="en-US" sz="1400" noProof="1" b="1">
                <a:solidFill>
                  <a:srgbClr val="22303A"/>
                </a:solidFill>
                <a:latin typeface="MiSans"/>
                <a:ea typeface="MiSans"/>
              </a:rPr>
              <a:t>作用前的总动量 = 作用后的总动量</a:t>
            </a:r>
            <a:r>
              <a:rPr lang="en-US" sz="14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400" noProof="1"/>
          </a:p>
        </p:txBody>
      </p:sp>
      <p:sp>
        <p:nvSpPr>
          <p:cNvPr id="8" name="step-head"/>
          <p:cNvSpPr txBox="1"/>
          <p:nvPr/>
        </p:nvSpPr>
        <p:spPr>
          <a:xfrm>
            <a:off x="762000" y="29718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碰撞题三步法（固定流程）</a:t>
            </a:r>
            <a:endParaRPr lang="en-US" sz="1500" noProof="1"/>
          </a:p>
        </p:txBody>
      </p:sp>
      <p:sp>
        <p:nvSpPr>
          <p:cNvPr id="9" name="s1-badge"/>
          <p:cNvSpPr/>
          <p:nvPr/>
        </p:nvSpPr>
        <p:spPr>
          <a:xfrm>
            <a:off x="762000" y="3403600"/>
            <a:ext cx="457200" cy="4572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s1-num"/>
          <p:cNvSpPr txBox="1"/>
          <p:nvPr/>
        </p:nvSpPr>
        <p:spPr>
          <a:xfrm>
            <a:off x="762000" y="340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1</a:t>
            </a:r>
            <a:endParaRPr lang="en-US" sz="1600" noProof="1"/>
          </a:p>
        </p:txBody>
      </p:sp>
      <p:sp>
        <p:nvSpPr>
          <p:cNvPr id="11" name="s1-body"/>
          <p:cNvSpPr txBox="1"/>
          <p:nvPr/>
        </p:nvSpPr>
        <p:spPr>
          <a:xfrm>
            <a:off x="1422400" y="3403600"/>
            <a:ext cx="1000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分别计算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碰前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各物体的动量 p = mv，带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方向正负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求和（规定正方向）。</a:t>
            </a:r>
            <a:endParaRPr lang="en-US" sz="1300" noProof="1"/>
          </a:p>
        </p:txBody>
      </p:sp>
      <p:sp>
        <p:nvSpPr>
          <p:cNvPr id="12" name="s2-badge"/>
          <p:cNvSpPr/>
          <p:nvPr/>
        </p:nvSpPr>
        <p:spPr>
          <a:xfrm>
            <a:off x="762000" y="4038600"/>
            <a:ext cx="457200" cy="4572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s2-num"/>
          <p:cNvSpPr txBox="1"/>
          <p:nvPr/>
        </p:nvSpPr>
        <p:spPr>
          <a:xfrm>
            <a:off x="762000" y="4038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2</a:t>
            </a:r>
            <a:endParaRPr lang="en-US" sz="1600" noProof="1"/>
          </a:p>
        </p:txBody>
      </p:sp>
      <p:sp>
        <p:nvSpPr>
          <p:cNvPr id="14" name="s2-body"/>
          <p:cNvSpPr txBox="1"/>
          <p:nvPr/>
        </p:nvSpPr>
        <p:spPr>
          <a:xfrm>
            <a:off x="1422400" y="4038600"/>
            <a:ext cx="1000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写下守恒等式：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碰后总动量 = 碰前总动量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（先口头声明"无外力，动量守恒"）。</a:t>
            </a:r>
            <a:endParaRPr lang="en-US" sz="1300" noProof="1"/>
          </a:p>
        </p:txBody>
      </p:sp>
      <p:sp>
        <p:nvSpPr>
          <p:cNvPr id="15" name="s3-badge"/>
          <p:cNvSpPr/>
          <p:nvPr/>
        </p:nvSpPr>
        <p:spPr>
          <a:xfrm>
            <a:off x="762000" y="4673600"/>
            <a:ext cx="457200" cy="4572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6" name="s3-num"/>
          <p:cNvSpPr txBox="1"/>
          <p:nvPr/>
        </p:nvSpPr>
        <p:spPr>
          <a:xfrm>
            <a:off x="762000" y="4673600"/>
            <a:ext cx="4572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600" noProof="1" b="1">
                <a:solidFill>
                  <a:srgbClr val="FFFFFF"/>
                </a:solidFill>
                <a:latin typeface="MiSans"/>
                <a:ea typeface="MiSans"/>
              </a:rPr>
              <a:t>3</a:t>
            </a:r>
            <a:endParaRPr lang="en-US" sz="1600" noProof="1"/>
          </a:p>
        </p:txBody>
      </p:sp>
      <p:sp>
        <p:nvSpPr>
          <p:cNvPr id="17" name="s3-body"/>
          <p:cNvSpPr txBox="1"/>
          <p:nvPr/>
        </p:nvSpPr>
        <p:spPr>
          <a:xfrm>
            <a:off x="1422400" y="4673600"/>
            <a:ext cx="100076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4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解出未知量，检查符号：负号意味着方向与规定正方向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相反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</p:txBody>
      </p:sp>
      <p:sp>
        <p:nvSpPr>
          <p:cNvPr id="18" name="key-box"/>
          <p:cNvSpPr/>
          <p:nvPr/>
        </p:nvSpPr>
        <p:spPr>
          <a:xfrm>
            <a:off x="762000" y="5435600"/>
            <a:ext cx="10668000" cy="762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9" name="key-text"/>
          <p:cNvSpPr txBox="1"/>
          <p:nvPr/>
        </p:nvSpPr>
        <p:spPr>
          <a:xfrm>
            <a:off x="965200" y="5524500"/>
            <a:ext cx="10261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250" noProof="1" b="1">
                <a:solidFill>
                  <a:srgbClr val="C96F16"/>
                </a:solidFill>
                <a:latin typeface="MiSans"/>
                <a:ea typeface="MiSans"/>
              </a:rPr>
              <a:t>关键词翻译：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“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join together / stick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连在一起”→ 碰后质量相加、共用一个速度；“stationary 静止”→ u = 0；“rebound 反弹”→ 碰后速度取负号。</a:t>
            </a:r>
            <a:endParaRPr lang="en-US" sz="1250" noProof="1"/>
          </a:p>
        </p:txBody>
      </p:sp>
      <p:sp>
        <p:nvSpPr>
          <p:cNvPr id="20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1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22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09</a:t>
            </a:r>
            <a:endParaRPr lang="en-US" sz="1000" noProof="1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3.3 · WORKED EXAMPLE 例题演示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完整示范：汽车撞上静止卡车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Conservation of momentum in a joined collision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given-box"/>
          <p:cNvSpPr/>
          <p:nvPr/>
        </p:nvSpPr>
        <p:spPr>
          <a:xfrm>
            <a:off x="762000" y="1651000"/>
            <a:ext cx="10668000" cy="660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7" name="given-text"/>
          <p:cNvSpPr txBox="1"/>
          <p:nvPr/>
        </p:nvSpPr>
        <p:spPr>
          <a:xfrm>
            <a:off x="965200" y="1752600"/>
            <a:ext cx="102616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0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题目：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500 kg 的汽车以 4 m s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撞上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静止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的 1500 kg 卡车，两车</a:t>
            </a: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连在一起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以速度 V 前进。求 V。</a:t>
            </a:r>
            <a:endParaRPr lang="en-US" sz="1350" noProof="1"/>
          </a:p>
        </p:txBody>
      </p:sp>
      <p:sp>
        <p:nvSpPr>
          <p:cNvPr id="8" name="car-box"/>
          <p:cNvSpPr/>
          <p:nvPr/>
        </p:nvSpPr>
        <p:spPr>
          <a:xfrm>
            <a:off x="1524000" y="2743200"/>
            <a:ext cx="1143000" cy="508000"/>
          </a:xfrm>
          <a:prstGeom prst="rect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9" name="car-label"/>
          <p:cNvSpPr txBox="1"/>
          <p:nvPr/>
        </p:nvSpPr>
        <p:spPr>
          <a:xfrm>
            <a:off x="1524000" y="2743200"/>
            <a:ext cx="11430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500 kg</a:t>
            </a:r>
            <a:endParaRPr lang="en-US" sz="1200" noProof="1"/>
          </a:p>
        </p:txBody>
      </p:sp>
      <p:sp>
        <p:nvSpPr>
          <p:cNvPr id="10" name="car-arrow"/>
          <p:cNvSpPr/>
          <p:nvPr>
            <p:extLst>
              <p:ext uri="{F5677B7D-0D2A-4D9B-9A5C-6D8D7D0E5A5D}">
                <pptd:line encoding="base64url">eyJ2aWV3Qm94IjpbNzAsNF0sInBvaW50cyI6IjAsMiA3MCwyIiwiY3VydmUiOiJzaGFycCJ9</pptd:line>
              </p:ext>
            </p:extLst>
          </p:nvPr>
        </p:nvSpPr>
        <p:spPr>
          <a:xfrm>
            <a:off x="2743200" y="2971800"/>
            <a:ext cx="889000" cy="50800"/>
          </a:xfrm>
          <a:custGeom>
            <a:avLst/>
            <a:gdLst/>
            <a:ahLst/>
            <a:cxnLst/>
            <a:rect l="l" t="t" r="r" b="b"/>
            <a:pathLst>
              <a:path w="70" h="4">
                <a:moveTo>
                  <a:pt x="0" y="2"/>
                </a:moveTo>
                <a:lnTo>
                  <a:pt x="70" y="2"/>
                </a:lnTo>
              </a:path>
            </a:pathLst>
          </a:custGeom>
          <a:noFill/>
          <a:ln w="31750">
            <a:solidFill>
              <a:srgbClr val="22303A"/>
            </a:solidFill>
            <a:tailEnd type="arrow"/>
          </a:ln>
        </p:spPr>
      </p:sp>
      <p:sp>
        <p:nvSpPr>
          <p:cNvPr id="11" name="car-v"/>
          <p:cNvSpPr txBox="1"/>
          <p:nvPr/>
        </p:nvSpPr>
        <p:spPr>
          <a:xfrm>
            <a:off x="2743200" y="2641600"/>
            <a:ext cx="1016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4 m s⁻¹</a:t>
            </a:r>
            <a:endParaRPr lang="en-US" sz="1200" noProof="1"/>
          </a:p>
        </p:txBody>
      </p:sp>
      <p:sp>
        <p:nvSpPr>
          <p:cNvPr id="12" name="truck-box"/>
          <p:cNvSpPr/>
          <p:nvPr/>
        </p:nvSpPr>
        <p:spPr>
          <a:xfrm>
            <a:off x="4064000" y="2667000"/>
            <a:ext cx="1651000" cy="584200"/>
          </a:xfrm>
          <a:prstGeom prst="rect">
            <a:avLst/>
          </a:prstGeom>
          <a:solidFill>
            <a:srgbClr val="6E6A62"/>
          </a:solidFill>
          <a:ln>
            <a:noFill/>
          </a:ln>
        </p:spPr>
      </p:sp>
      <p:sp>
        <p:nvSpPr>
          <p:cNvPr id="13" name="truck-label"/>
          <p:cNvSpPr txBox="1"/>
          <p:nvPr/>
        </p:nvSpPr>
        <p:spPr>
          <a:xfrm>
            <a:off x="4064000" y="2667000"/>
            <a:ext cx="1651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1500 kg 静止</a:t>
            </a:r>
            <a:endParaRPr lang="en-US" sz="1200" noProof="1"/>
          </a:p>
        </p:txBody>
      </p:sp>
      <p:sp>
        <p:nvSpPr>
          <p:cNvPr id="14" name="after-label"/>
          <p:cNvSpPr txBox="1"/>
          <p:nvPr/>
        </p:nvSpPr>
        <p:spPr>
          <a:xfrm>
            <a:off x="6350000" y="2870200"/>
            <a:ext cx="4826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→ 碰后：2000 kg 整体以 V 前进</a:t>
            </a:r>
            <a:endParaRPr lang="en-US" sz="1300" noProof="1"/>
          </a:p>
        </p:txBody>
      </p:sp>
      <p:sp>
        <p:nvSpPr>
          <p:cNvPr id="15" name="st1-badge"/>
          <p:cNvSpPr txBox="1"/>
          <p:nvPr/>
        </p:nvSpPr>
        <p:spPr>
          <a:xfrm>
            <a:off x="762000" y="37592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1 步</a:t>
            </a:r>
            <a:endParaRPr lang="en-US" sz="1300" noProof="1"/>
          </a:p>
        </p:txBody>
      </p:sp>
      <p:sp>
        <p:nvSpPr>
          <p:cNvPr id="16" name="st1-body"/>
          <p:cNvSpPr txBox="1"/>
          <p:nvPr/>
        </p:nvSpPr>
        <p:spPr>
          <a:xfrm>
            <a:off x="1905000" y="3733800"/>
            <a:ext cx="952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碰前总动量：p = 500 × 4 + 1500 × 0 =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2000 kg m s</a:t>
            </a:r>
            <a:r>
              <a:rPr lang="en-US" sz="1300" noProof="1" b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endParaRPr lang="en-US" sz="1300" noProof="1"/>
          </a:p>
        </p:txBody>
      </p:sp>
      <p:sp>
        <p:nvSpPr>
          <p:cNvPr id="17" name="st2-badge"/>
          <p:cNvSpPr txBox="1"/>
          <p:nvPr/>
        </p:nvSpPr>
        <p:spPr>
          <a:xfrm>
            <a:off x="762000" y="43942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2 步</a:t>
            </a:r>
            <a:endParaRPr lang="en-US" sz="1300" noProof="1"/>
          </a:p>
        </p:txBody>
      </p:sp>
      <p:sp>
        <p:nvSpPr>
          <p:cNvPr id="18" name="st2-body"/>
          <p:cNvSpPr txBox="1"/>
          <p:nvPr/>
        </p:nvSpPr>
        <p:spPr>
          <a:xfrm>
            <a:off x="1905000" y="4368800"/>
            <a:ext cx="95250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声明原理 + 列守恒式：无外力，动量守恒 → 2000 = (500 + 1500) × V</a:t>
            </a:r>
            <a:endParaRPr lang="en-US" sz="1300" noProof="1"/>
          </a:p>
        </p:txBody>
      </p:sp>
      <p:sp>
        <p:nvSpPr>
          <p:cNvPr id="19" name="st3-badge"/>
          <p:cNvSpPr txBox="1"/>
          <p:nvPr/>
        </p:nvSpPr>
        <p:spPr>
          <a:xfrm>
            <a:off x="762000" y="5029200"/>
            <a:ext cx="1143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第 3 步</a:t>
            </a:r>
            <a:endParaRPr lang="en-US" sz="1300" noProof="1"/>
          </a:p>
        </p:txBody>
      </p:sp>
      <p:sp>
        <p:nvSpPr>
          <p:cNvPr id="20" name="st3-body"/>
          <p:cNvSpPr txBox="1"/>
          <p:nvPr/>
        </p:nvSpPr>
        <p:spPr>
          <a:xfrm>
            <a:off x="1905000" y="5003800"/>
            <a:ext cx="9525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解得：V = 2000 / 2000 = 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1 m s</a:t>
            </a:r>
            <a:r>
              <a:rPr lang="en-US" sz="1300" noProof="1" b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（方向与汽车原运动方向相同）</a:t>
            </a:r>
            <a:endParaRPr lang="en-US" sz="1300" noProof="1"/>
          </a:p>
        </p:txBody>
      </p:sp>
      <p:sp>
        <p:nvSpPr>
          <p:cNvPr id="21" name="ans-rule"/>
          <p:cNvSpPr/>
          <p:nvPr/>
        </p:nvSpPr>
        <p:spPr>
          <a:xfrm>
            <a:off x="762000" y="5562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2" name="ans"/>
          <p:cNvSpPr txBox="1"/>
          <p:nvPr/>
        </p:nvSpPr>
        <p:spPr>
          <a:xfrm>
            <a:off x="762000" y="57150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700" noProof="1" b="1">
                <a:solidFill>
                  <a:srgbClr val="0E5A55"/>
                </a:solidFill>
                <a:latin typeface="MiSans"/>
                <a:ea typeface="MiSans"/>
              </a:rPr>
              <a:t>答案：V = 1 m s⁻¹</a:t>
            </a:r>
            <a:endParaRPr lang="en-US" sz="1700" noProof="1"/>
          </a:p>
        </p:txBody>
      </p:sp>
      <p:sp>
        <p:nvSpPr>
          <p:cNvPr id="23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4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25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10</a:t>
            </a:r>
            <a:endParaRPr lang="en-US" sz="1000" noProof="1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3.3 · ELASTIC VS INELASTIC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弹性还是非弹性？看动能守不守恒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Momentum always conserved — kinetic energy only sometimes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graphicFrame>
        <p:nvGraphicFramePr>
          <p:cNvPr id="6" name="cmp-table"/>
          <p:cNvGraphicFramePr>
            <a:graphicFrameLocks noGrp="1"/>
          </p:cNvGraphicFramePr>
          <p:nvPr/>
        </p:nvGraphicFramePr>
        <p:xfrm>
          <a:off x="762000" y="1651000"/>
          <a:ext cx="10668000" cy="1625600"/>
        </p:xfrm>
        <a:graphic>
          <a:graphicData uri="http://schemas.openxmlformats.org/drawingml/2006/table">
            <a:tbl>
              <a:tblPr/>
              <a:tblGrid>
                <a:gridCol w="2560320"/>
                <a:gridCol w="4053840"/>
                <a:gridCol w="4053840"/>
              </a:tblGrid>
              <a:tr h="422656">
                <a:tc>
                  <a:txBody>
                    <a:bodyPr wrap="square" rtlCol="0" anchor="ctr"/>
                    <a:lstStyle/>
                    <a:p>
                      <a:pPr algn="l"/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弹性碰撞 elastic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 b="1">
                          <a:solidFill>
                            <a:srgbClr val="FFFFFF"/>
                          </a:solidFill>
                          <a:latin typeface="Times New Roman"/>
                          <a:ea typeface="Times New Roman"/>
                        </a:rPr>
                        <a:t>非弹性碰撞 inelastic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E5A55"/>
                    </a:solidFill>
                  </a:tcPr>
                </a:tc>
              </a:tr>
              <a:tr h="6014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动量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守恒 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守恒 ✓（无外力时永远守恒）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60147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动能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守恒 ✓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250" noProof="1">
                          <a:solidFill>
                            <a:srgbClr val="22303A"/>
                          </a:solidFill>
                          <a:latin typeface="Times New Roman"/>
                          <a:ea typeface="Times New Roman"/>
                        </a:rPr>
                        <a:t>不守恒 ✗ → 转化为热、声、势能等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FE9DF"/>
                    </a:solidFill>
                  </a:tcPr>
                </a:tc>
              </a:tr>
            </a:tbl>
          </a:graphicData>
        </a:graphic>
      </p:graphicFrame>
      <p:sp>
        <p:nvSpPr>
          <p:cNvPr id="7" name="pe-head"/>
          <p:cNvSpPr txBox="1"/>
          <p:nvPr/>
        </p:nvSpPr>
        <p:spPr>
          <a:xfrm>
            <a:off x="762000" y="35306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完全弹性碰撞的“相对速度法则”</a:t>
            </a:r>
            <a:endParaRPr lang="en-US" sz="1500" noProof="1"/>
          </a:p>
        </p:txBody>
      </p:sp>
      <p:sp>
        <p:nvSpPr>
          <p:cNvPr id="8" name="pe-body"/>
          <p:cNvSpPr txBox="1"/>
          <p:nvPr/>
        </p:nvSpPr>
        <p:spPr>
          <a:xfrm>
            <a:off x="762000" y="3886200"/>
            <a:ext cx="5842000" cy="1397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碰前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相对接近速度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 = 碰后</a:t>
            </a: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相对分离速度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300" noProof="1"/>
          </a:p>
          <a:p>
            <a:pPr>
              <a:lnSpc>
                <a:spcPct val="155000"/>
              </a:lnSpc>
              <a:spcBef>
                <a:spcPts val="600"/>
              </a:spcBef>
            </a:pPr>
            <a:r>
              <a:rPr lang="en-US" sz="1300" noProof="1" b="1">
                <a:solidFill>
                  <a:srgbClr val="22303A"/>
                </a:solidFill>
                <a:latin typeface="MiSans"/>
                <a:ea typeface="MiSans"/>
              </a:rPr>
              <a:t>例：</a:t>
            </a: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等质量两钢球，一动（v）一静。碰撞后动球停下，静球以 v 离开——正好等于相对接近速度。</a:t>
            </a:r>
            <a:endParaRPr lang="en-US" sz="1300" noProof="1"/>
          </a:p>
        </p:txBody>
      </p:sp>
      <p:sp>
        <p:nvSpPr>
          <p:cNvPr id="9" name="real-head"/>
          <p:cNvSpPr txBox="1"/>
          <p:nvPr/>
        </p:nvSpPr>
        <p:spPr>
          <a:xfrm>
            <a:off x="762000" y="5384800"/>
            <a:ext cx="5842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现实碰撞几乎都是非弹性</a:t>
            </a:r>
            <a:endParaRPr lang="en-US" sz="1500" noProof="1"/>
          </a:p>
        </p:txBody>
      </p:sp>
      <p:sp>
        <p:nvSpPr>
          <p:cNvPr id="10" name="real-body"/>
          <p:cNvSpPr txBox="1"/>
          <p:nvPr/>
        </p:nvSpPr>
        <p:spPr>
          <a:xfrm>
            <a:off x="762000" y="5740400"/>
            <a:ext cx="5842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车撞车：动能经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吸能区 crumple zones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 形变 → 弹性势能 + 热能 + 声能。</a:t>
            </a:r>
            <a:endParaRPr lang="en-US" sz="1250" noProof="1"/>
          </a:p>
        </p:txBody>
      </p:sp>
      <p:sp>
        <p:nvSpPr>
          <p:cNvPr id="11" name="sb-title"/>
          <p:cNvSpPr txBox="1"/>
          <p:nvPr/>
        </p:nvSpPr>
        <p:spPr>
          <a:xfrm>
            <a:off x="7112000" y="1778000"/>
            <a:ext cx="431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等质量钢球碰撞（完全弹性）</a:t>
            </a:r>
            <a:endParaRPr lang="en-US" sz="1250" noProof="1"/>
          </a:p>
        </p:txBody>
      </p:sp>
      <p:sp>
        <p:nvSpPr>
          <p:cNvPr id="12" name="sb-before"/>
          <p:cNvSpPr txBox="1"/>
          <p:nvPr/>
        </p:nvSpPr>
        <p:spPr>
          <a:xfrm>
            <a:off x="7112000" y="2159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碰前 before</a:t>
            </a:r>
            <a:endParaRPr lang="en-US" sz="1150" noProof="1"/>
          </a:p>
        </p:txBody>
      </p:sp>
      <p:sp>
        <p:nvSpPr>
          <p:cNvPr id="13" name="ball-a1"/>
          <p:cNvSpPr/>
          <p:nvPr/>
        </p:nvSpPr>
        <p:spPr>
          <a:xfrm>
            <a:off x="7366000" y="2489200"/>
            <a:ext cx="330200" cy="3302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4" name="ball-a1-v"/>
          <p:cNvSpPr/>
          <p:nvPr>
            <p:extLst>
              <p:ext uri="{F5677B7D-0D2A-4D9B-9A5C-6D8D7D0E5A5D}">
                <pptd:line encoding="base64url">eyJ2aWV3Qm94IjpbNTYsNF0sInBvaW50cyI6IjAsMiA1NiwyIiwiY3VydmUiOiJzaGFycCJ9</pptd:line>
              </p:ext>
            </p:extLst>
          </p:nvPr>
        </p:nvSpPr>
        <p:spPr>
          <a:xfrm>
            <a:off x="7772400" y="2616200"/>
            <a:ext cx="711200" cy="50800"/>
          </a:xfrm>
          <a:custGeom>
            <a:avLst/>
            <a:gdLst/>
            <a:ahLst/>
            <a:cxnLst/>
            <a:rect l="l" t="t" r="r" b="b"/>
            <a:pathLst>
              <a:path w="56" h="4">
                <a:moveTo>
                  <a:pt x="0" y="2"/>
                </a:moveTo>
                <a:lnTo>
                  <a:pt x="56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15" name="ball-a1-vl"/>
          <p:cNvSpPr txBox="1"/>
          <p:nvPr/>
        </p:nvSpPr>
        <p:spPr>
          <a:xfrm>
            <a:off x="7874000" y="2311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22303A"/>
                </a:solidFill>
                <a:latin typeface="MiSans"/>
                <a:ea typeface="MiSans"/>
              </a:rPr>
              <a:t>v</a:t>
            </a:r>
            <a:endParaRPr lang="en-US" sz="1150" noProof="1"/>
          </a:p>
        </p:txBody>
      </p:sp>
      <p:sp>
        <p:nvSpPr>
          <p:cNvPr id="16" name="ball-b1"/>
          <p:cNvSpPr/>
          <p:nvPr/>
        </p:nvSpPr>
        <p:spPr>
          <a:xfrm>
            <a:off x="9144000" y="2489200"/>
            <a:ext cx="330200" cy="330200"/>
          </a:xfrm>
          <a:prstGeom prst="ellipse">
            <a:avLst/>
          </a:prstGeom>
          <a:solidFill>
            <a:srgbClr val="6E6A62"/>
          </a:solidFill>
          <a:ln>
            <a:noFill/>
          </a:ln>
        </p:spPr>
      </p:sp>
      <p:sp>
        <p:nvSpPr>
          <p:cNvPr id="17" name="ball-b1-l"/>
          <p:cNvSpPr txBox="1"/>
          <p:nvPr/>
        </p:nvSpPr>
        <p:spPr>
          <a:xfrm>
            <a:off x="9550400" y="2565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静止</a:t>
            </a:r>
            <a:endParaRPr lang="en-US" sz="1150" noProof="1"/>
          </a:p>
        </p:txBody>
      </p:sp>
      <p:sp>
        <p:nvSpPr>
          <p:cNvPr id="18" name="sb-after"/>
          <p:cNvSpPr txBox="1"/>
          <p:nvPr/>
        </p:nvSpPr>
        <p:spPr>
          <a:xfrm>
            <a:off x="7112000" y="31750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碰后 after</a:t>
            </a:r>
            <a:endParaRPr lang="en-US" sz="1150" noProof="1"/>
          </a:p>
        </p:txBody>
      </p:sp>
      <p:sp>
        <p:nvSpPr>
          <p:cNvPr id="19" name="ball-a2"/>
          <p:cNvSpPr/>
          <p:nvPr/>
        </p:nvSpPr>
        <p:spPr>
          <a:xfrm>
            <a:off x="7366000" y="3505200"/>
            <a:ext cx="330200" cy="3302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20" name="ball-a2-l"/>
          <p:cNvSpPr txBox="1"/>
          <p:nvPr/>
        </p:nvSpPr>
        <p:spPr>
          <a:xfrm>
            <a:off x="7772400" y="3581400"/>
            <a:ext cx="762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停下</a:t>
            </a:r>
            <a:endParaRPr lang="en-US" sz="1150" noProof="1"/>
          </a:p>
        </p:txBody>
      </p:sp>
      <p:sp>
        <p:nvSpPr>
          <p:cNvPr id="21" name="ball-b2"/>
          <p:cNvSpPr/>
          <p:nvPr/>
        </p:nvSpPr>
        <p:spPr>
          <a:xfrm>
            <a:off x="9144000" y="3505200"/>
            <a:ext cx="330200" cy="330200"/>
          </a:xfrm>
          <a:prstGeom prst="ellipse">
            <a:avLst/>
          </a:prstGeom>
          <a:solidFill>
            <a:srgbClr val="6E6A62"/>
          </a:solidFill>
          <a:ln>
            <a:noFill/>
          </a:ln>
        </p:spPr>
      </p:sp>
      <p:sp>
        <p:nvSpPr>
          <p:cNvPr id="22" name="ball-b2-v"/>
          <p:cNvSpPr/>
          <p:nvPr>
            <p:extLst>
              <p:ext uri="{F5677B7D-0D2A-4D9B-9A5C-6D8D7D0E5A5D}">
                <pptd:line encoding="base64url">eyJ2aWV3Qm94IjpbNTYsNF0sInBvaW50cyI6IjAsMiA1NiwyIiwiY3VydmUiOiJzaGFycCJ9</pptd:line>
              </p:ext>
            </p:extLst>
          </p:nvPr>
        </p:nvSpPr>
        <p:spPr>
          <a:xfrm>
            <a:off x="9550400" y="3632200"/>
            <a:ext cx="711200" cy="50800"/>
          </a:xfrm>
          <a:custGeom>
            <a:avLst/>
            <a:gdLst/>
            <a:ahLst/>
            <a:cxnLst/>
            <a:rect l="l" t="t" r="r" b="b"/>
            <a:pathLst>
              <a:path w="56" h="4">
                <a:moveTo>
                  <a:pt x="0" y="2"/>
                </a:moveTo>
                <a:lnTo>
                  <a:pt x="56" y="2"/>
                </a:lnTo>
              </a:path>
            </a:pathLst>
          </a:custGeom>
          <a:noFill/>
          <a:ln w="25400">
            <a:solidFill>
              <a:srgbClr val="22303A"/>
            </a:solidFill>
            <a:tailEnd type="arrow"/>
          </a:ln>
        </p:spPr>
      </p:sp>
      <p:sp>
        <p:nvSpPr>
          <p:cNvPr id="23" name="ball-b2-vl"/>
          <p:cNvSpPr txBox="1"/>
          <p:nvPr/>
        </p:nvSpPr>
        <p:spPr>
          <a:xfrm>
            <a:off x="9677400" y="33274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50" noProof="1">
                <a:solidFill>
                  <a:srgbClr val="22303A"/>
                </a:solidFill>
                <a:latin typeface="MiSans"/>
                <a:ea typeface="MiSans"/>
              </a:rPr>
              <a:t>v</a:t>
            </a:r>
            <a:endParaRPr lang="en-US" sz="1150" noProof="1"/>
          </a:p>
        </p:txBody>
      </p:sp>
      <p:sp>
        <p:nvSpPr>
          <p:cNvPr id="24" name="judge-box"/>
          <p:cNvSpPr/>
          <p:nvPr/>
        </p:nvSpPr>
        <p:spPr>
          <a:xfrm>
            <a:off x="7112000" y="4191000"/>
            <a:ext cx="4318000" cy="14986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25" name="judge-head"/>
          <p:cNvSpPr txBox="1"/>
          <p:nvPr/>
        </p:nvSpPr>
        <p:spPr>
          <a:xfrm>
            <a:off x="7315200" y="4318000"/>
            <a:ext cx="39116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0E5A55"/>
                </a:solidFill>
                <a:latin typeface="MiSans"/>
                <a:ea typeface="MiSans"/>
              </a:rPr>
              <a:t>判断碰撞类型的方法</a:t>
            </a:r>
            <a:endParaRPr lang="en-US" sz="1300" noProof="1"/>
          </a:p>
        </p:txBody>
      </p:sp>
      <p:sp>
        <p:nvSpPr>
          <p:cNvPr id="26" name="judge-body"/>
          <p:cNvSpPr txBox="1"/>
          <p:nvPr/>
        </p:nvSpPr>
        <p:spPr>
          <a:xfrm>
            <a:off x="7315200" y="4622800"/>
            <a:ext cx="3911600" cy="939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分别计算碰前、碰后的</a:t>
            </a:r>
            <a:r>
              <a:rPr lang="en-US" sz="1200" noProof="1" b="1">
                <a:solidFill>
                  <a:srgbClr val="22303A"/>
                </a:solidFill>
                <a:latin typeface="MiSans"/>
                <a:ea typeface="MiSans"/>
              </a:rPr>
              <a:t>总动能</a:t>
            </a: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 ½mv²：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22303A"/>
                </a:solidFill>
                <a:latin typeface="MiSans"/>
                <a:ea typeface="MiSans"/>
              </a:rPr>
              <a:t>相等 → 弹性；减少 → 非弹性。</a:t>
            </a:r>
            <a:endParaRPr lang="en-US" sz="1200" noProof="1"/>
          </a:p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C96F16"/>
                </a:solidFill>
                <a:latin typeface="MiSans"/>
                <a:ea typeface="MiSans"/>
              </a:rPr>
              <a:t>注意：动量守恒不能用来区分——两种碰撞动量都守恒！</a:t>
            </a:r>
            <a:endParaRPr lang="en-US" sz="1200" noProof="1"/>
          </a:p>
        </p:txBody>
      </p:sp>
      <p:sp>
        <p:nvSpPr>
          <p:cNvPr id="2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2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2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11</a:t>
            </a:r>
            <a:endParaRPr lang="en-US" sz="1000" noProof="1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PRACTICE · 课堂练习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动手试一试：三道题覆盖本章三大考点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Newton's laws · terminal velocity · conservation of momentum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q1-badge"/>
          <p:cNvSpPr/>
          <p:nvPr/>
        </p:nvSpPr>
        <p:spPr>
          <a:xfrm>
            <a:off x="762000" y="16764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7" name="q1-num"/>
          <p:cNvSpPr txBox="1"/>
          <p:nvPr/>
        </p:nvSpPr>
        <p:spPr>
          <a:xfrm>
            <a:off x="762000" y="16764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Q1</a:t>
            </a:r>
            <a:endParaRPr lang="en-US" sz="1800" noProof="1"/>
          </a:p>
        </p:txBody>
      </p:sp>
      <p:sp>
        <p:nvSpPr>
          <p:cNvPr id="8" name="q1-body"/>
          <p:cNvSpPr txBox="1"/>
          <p:nvPr/>
        </p:nvSpPr>
        <p:spPr>
          <a:xfrm>
            <a:off x="1549400" y="16764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【牛顿定律】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宇航员在空间站“失重”漂浮。他说：“我没有重量，所以我没有质量。”指出这句话的两处错误，并用正确的物理语言纠正。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Identify the two misconceptions about mass and weight.</a:t>
            </a:r>
            <a:endParaRPr lang="en-US" sz="1350" noProof="1"/>
          </a:p>
        </p:txBody>
      </p:sp>
      <p:sp>
        <p:nvSpPr>
          <p:cNvPr id="9" name="q2-badge"/>
          <p:cNvSpPr/>
          <p:nvPr/>
        </p:nvSpPr>
        <p:spPr>
          <a:xfrm>
            <a:off x="762000" y="27432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0" name="q2-num"/>
          <p:cNvSpPr txBox="1"/>
          <p:nvPr/>
        </p:nvSpPr>
        <p:spPr>
          <a:xfrm>
            <a:off x="762000" y="27432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Q2</a:t>
            </a:r>
            <a:endParaRPr lang="en-US" sz="1800" noProof="1"/>
          </a:p>
        </p:txBody>
      </p:sp>
      <p:sp>
        <p:nvSpPr>
          <p:cNvPr id="11" name="q2-body"/>
          <p:cNvSpPr txBox="1"/>
          <p:nvPr/>
        </p:nvSpPr>
        <p:spPr>
          <a:xfrm>
            <a:off x="1549400" y="27432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【收尾速度】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跳伞员从飞机跳下后，先做加速运动，后做匀速运动。用“受力 → 合外力 → 加速度”的逻辑链解释这两个阶段（不少于三句话）。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Explain both stages using the force → resultant force → acceleration chain.</a:t>
            </a:r>
            <a:endParaRPr lang="en-US" sz="1350" noProof="1"/>
          </a:p>
        </p:txBody>
      </p:sp>
      <p:sp>
        <p:nvSpPr>
          <p:cNvPr id="12" name="q3-badge"/>
          <p:cNvSpPr/>
          <p:nvPr/>
        </p:nvSpPr>
        <p:spPr>
          <a:xfrm>
            <a:off x="762000" y="3810000"/>
            <a:ext cx="558800" cy="558800"/>
          </a:xfrm>
          <a:prstGeom prst="ellipse">
            <a:avLst/>
          </a:prstGeom>
          <a:solidFill>
            <a:srgbClr val="0E5A55"/>
          </a:solidFill>
          <a:ln>
            <a:noFill/>
          </a:ln>
        </p:spPr>
      </p:sp>
      <p:sp>
        <p:nvSpPr>
          <p:cNvPr id="13" name="q3-num"/>
          <p:cNvSpPr txBox="1"/>
          <p:nvPr/>
        </p:nvSpPr>
        <p:spPr>
          <a:xfrm>
            <a:off x="762000" y="3810000"/>
            <a:ext cx="5588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800" noProof="1" b="1">
                <a:solidFill>
                  <a:srgbClr val="FFFFFF"/>
                </a:solidFill>
                <a:latin typeface="MiSans"/>
                <a:ea typeface="MiSans"/>
              </a:rPr>
              <a:t>Q3</a:t>
            </a:r>
            <a:endParaRPr lang="en-US" sz="1800" noProof="1"/>
          </a:p>
        </p:txBody>
      </p:sp>
      <p:sp>
        <p:nvSpPr>
          <p:cNvPr id="14" name="q3-body"/>
          <p:cNvSpPr txBox="1"/>
          <p:nvPr/>
        </p:nvSpPr>
        <p:spPr>
          <a:xfrm>
            <a:off x="1549400" y="3810000"/>
            <a:ext cx="9880600" cy="838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350" noProof="1" b="1">
                <a:solidFill>
                  <a:srgbClr val="22303A"/>
                </a:solidFill>
                <a:latin typeface="MiSans"/>
                <a:ea typeface="MiSans"/>
              </a:rPr>
              <a:t>【动量守恒】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2 kg 的滑块以 3 m s</a:t>
            </a:r>
            <a:r>
              <a:rPr lang="en-US" sz="1350" noProof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 撞上静止的 4 kg 滑块，两滑块粘在一起。求共同速度，并计算碰前、碰后的总动能，判断这次碰撞是否弹性。</a:t>
            </a:r>
            <a:endParaRPr lang="en-US" sz="1350" noProof="1"/>
          </a:p>
          <a:p>
            <a:pPr>
              <a:lnSpc>
                <a:spcPct val="155000"/>
              </a:lnSpc>
            </a:pPr>
            <a:r>
              <a:rPr lang="en-US" sz="1150" noProof="1">
                <a:solidFill>
                  <a:srgbClr val="6E6A62"/>
                </a:solidFill>
                <a:latin typeface="MiSans"/>
                <a:ea typeface="MiSans"/>
              </a:rPr>
              <a:t>Find the common velocity, then compare kinetic energies to classify the collision.</a:t>
            </a:r>
            <a:endParaRPr lang="en-US" sz="1350" noProof="1"/>
          </a:p>
        </p:txBody>
      </p:sp>
      <p:sp>
        <p:nvSpPr>
          <p:cNvPr id="15" name="crit-box"/>
          <p:cNvSpPr/>
          <p:nvPr/>
        </p:nvSpPr>
        <p:spPr>
          <a:xfrm>
            <a:off x="762000" y="5029200"/>
            <a:ext cx="10668000" cy="11684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crit-head"/>
          <p:cNvSpPr txBox="1"/>
          <p:nvPr/>
        </p:nvSpPr>
        <p:spPr>
          <a:xfrm>
            <a:off x="965200" y="5156200"/>
            <a:ext cx="5080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完成标准 Completion criteria</a:t>
            </a:r>
            <a:endParaRPr lang="en-US" sz="1500" noProof="1"/>
          </a:p>
        </p:txBody>
      </p:sp>
      <p:sp>
        <p:nvSpPr>
          <p:cNvPr id="17" name="crit-body"/>
          <p:cNvSpPr txBox="1"/>
          <p:nvPr/>
        </p:nvSpPr>
        <p:spPr>
          <a:xfrm>
            <a:off x="965200" y="5461000"/>
            <a:ext cx="102616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Q1 指出“失重≠无重量、无重量≠无质量”；② Q2 答案包含“阻力随速度增大”“合外力减小”“阻力=重量时匀速”三个得分点；③ Q3 先声明动量守恒，动能各算一次再比较。</a:t>
            </a:r>
            <a:endParaRPr lang="en-US" sz="1250" noProof="1"/>
          </a:p>
          <a:p>
            <a:pPr>
              <a:lnSpc>
                <a:spcPct val="155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全部完成后，翻到下一页对答案。</a:t>
            </a:r>
            <a:endParaRPr lang="en-US" sz="1250" noProof="1"/>
          </a:p>
        </p:txBody>
      </p:sp>
      <p:sp>
        <p:nvSpPr>
          <p:cNvPr id="18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9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20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12</a:t>
            </a:r>
            <a:endParaRPr lang="en-US" sz="1000" noProof="1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FEEDBACK · 参考答案与解析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对答案：每一步为什么这样做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Answers with reasons — check your working, not just the number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C96F16"/>
          </a:solidFill>
          <a:ln>
            <a:noFill/>
          </a:ln>
        </p:spPr>
      </p:sp>
      <p:sp>
        <p:nvSpPr>
          <p:cNvPr id="6" name="a1-head"/>
          <p:cNvSpPr txBox="1"/>
          <p:nvPr/>
        </p:nvSpPr>
        <p:spPr>
          <a:xfrm>
            <a:off x="762000" y="16256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Q1　两处错误：失重 ≠ 没有重量；没有重量 ≠ 没有质量</a:t>
            </a:r>
            <a:endParaRPr lang="en-US" sz="1400" noProof="1"/>
          </a:p>
        </p:txBody>
      </p:sp>
      <p:sp>
        <p:nvSpPr>
          <p:cNvPr id="7" name="a1-body"/>
          <p:cNvSpPr txBox="1"/>
          <p:nvPr/>
        </p:nvSpPr>
        <p:spPr>
          <a:xfrm>
            <a:off x="762000" y="1930400"/>
            <a:ext cx="10668000" cy="889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① 空间站里仍有引力，重量 W = mg 依然存在——“失重”只是 support force（支持力）为零的表象；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② 质量是物体固有属性、抵抗加速度的能力，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与位置无关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，绝不会“没有”。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正确说法：我的质量不变，仍受重力（有重量），只是处于自由落体状态。</a:t>
            </a:r>
            <a:endParaRPr lang="en-US" sz="1250" noProof="1"/>
          </a:p>
        </p:txBody>
      </p:sp>
      <p:sp>
        <p:nvSpPr>
          <p:cNvPr id="8" name="a1-line"/>
          <p:cNvSpPr/>
          <p:nvPr/>
        </p:nvSpPr>
        <p:spPr>
          <a:xfrm>
            <a:off x="762000" y="2895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9" name="a2-head"/>
          <p:cNvSpPr txBox="1"/>
          <p:nvPr/>
        </p:nvSpPr>
        <p:spPr>
          <a:xfrm>
            <a:off x="762000" y="30480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Q2　加速阶段与匀速阶段的受力链</a:t>
            </a:r>
            <a:endParaRPr lang="en-US" sz="1400" noProof="1"/>
          </a:p>
        </p:txBody>
      </p:sp>
      <p:sp>
        <p:nvSpPr>
          <p:cNvPr id="10" name="a2-body"/>
          <p:cNvSpPr txBox="1"/>
          <p:nvPr/>
        </p:nvSpPr>
        <p:spPr>
          <a:xfrm>
            <a:off x="762000" y="3352800"/>
            <a:ext cx="10668000" cy="1066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加速阶段：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重量（向下）大于空气阻力（向上）→ 合外力向下 → 由牛顿第二定律，向下加速。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过渡：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速度增大 → 空气阻力随之增大 → 合外力与加速度逐渐减小。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匀速阶段：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阻力增大到等于重量 → 合外力为零 → 速度恒定，达到收尾速度。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C96F16"/>
                </a:solidFill>
                <a:latin typeface="MiSans"/>
                <a:ea typeface="MiSans"/>
              </a:rPr>
              <a:t>三个得分点缺一不可：阻力随速度增大 / 合外力减小 / 两力相等时匀速。</a:t>
            </a:r>
            <a:endParaRPr lang="en-US" sz="1250" noProof="1"/>
          </a:p>
        </p:txBody>
      </p:sp>
      <p:sp>
        <p:nvSpPr>
          <p:cNvPr id="11" name="a2-line"/>
          <p:cNvSpPr/>
          <p:nvPr/>
        </p:nvSpPr>
        <p:spPr>
          <a:xfrm>
            <a:off x="762000" y="44958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2" name="a3-head"/>
          <p:cNvSpPr txBox="1"/>
          <p:nvPr/>
        </p:nvSpPr>
        <p:spPr>
          <a:xfrm>
            <a:off x="762000" y="4648200"/>
            <a:ext cx="10668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E5A55"/>
                </a:solidFill>
                <a:latin typeface="MiSans"/>
                <a:ea typeface="MiSans"/>
              </a:rPr>
              <a:t>Q3　V = 1 m s⁻¹，非弹性碰撞</a:t>
            </a:r>
            <a:endParaRPr lang="en-US" sz="1400" noProof="1"/>
          </a:p>
        </p:txBody>
      </p:sp>
      <p:sp>
        <p:nvSpPr>
          <p:cNvPr id="13" name="a3-body"/>
          <p:cNvSpPr txBox="1"/>
          <p:nvPr/>
        </p:nvSpPr>
        <p:spPr>
          <a:xfrm>
            <a:off x="762000" y="4953000"/>
            <a:ext cx="10668000" cy="787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动量守恒：2 × 3 + 4 × 0 = (2 + 4) V → V = 6/6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1 m s</a:t>
            </a:r>
            <a:r>
              <a:rPr lang="en-US" sz="1250" noProof="1" b="1" baseline="30000">
                <a:solidFill>
                  <a:srgbClr val="22303A"/>
                </a:solidFill>
                <a:latin typeface="MiSans"/>
                <a:ea typeface="MiSans"/>
              </a:rPr>
              <a:t>−1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</a:t>
            </a:r>
            <a:endParaRPr lang="en-US" sz="1250" noProof="1"/>
          </a:p>
          <a:p>
            <a:pPr>
              <a:lnSpc>
                <a:spcPct val="150000"/>
              </a:lnSpc>
            </a:pP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动能：碰前 ½×2×3²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9 J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；碰后 ½×6×1² =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3 J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。动能减少（9 → 3）→ </a:t>
            </a: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非弹性碰撞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，损失的 6 J 转化为热、声等。</a:t>
            </a:r>
            <a:endParaRPr lang="en-US" sz="1250" noProof="1"/>
          </a:p>
        </p:txBody>
      </p:sp>
      <p:sp>
        <p:nvSpPr>
          <p:cNvPr id="14" name="check-box"/>
          <p:cNvSpPr/>
          <p:nvPr/>
        </p:nvSpPr>
        <p:spPr>
          <a:xfrm>
            <a:off x="762000" y="5816600"/>
            <a:ext cx="10668000" cy="4572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5" name="check-text"/>
          <p:cNvSpPr txBox="1"/>
          <p:nvPr/>
        </p:nvSpPr>
        <p:spPr>
          <a:xfrm>
            <a:off x="965200" y="5880100"/>
            <a:ext cx="10261600" cy="330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自查口令：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质量和重量分清了吗？受力链说全了吗？碰撞题先声明守恒、再算动能判断类型了吗？</a:t>
            </a:r>
            <a:endParaRPr lang="en-US" sz="1250" noProof="1"/>
          </a:p>
        </p:txBody>
      </p:sp>
      <p:sp>
        <p:nvSpPr>
          <p:cNvPr id="16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7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18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13</a:t>
            </a:r>
            <a:endParaRPr lang="en-US" sz="1000" noProof="1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A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762000" y="330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E5A55"/>
                </a:solidFill>
                <a:latin typeface="MiSans"/>
                <a:ea typeface="MiSans"/>
              </a:rPr>
              <a:t>SUMMARY · 本章小结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762000" y="584200"/>
            <a:ext cx="10668000" cy="457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600" noProof="1" b="1">
                <a:solidFill>
                  <a:srgbClr val="22303A"/>
                </a:solidFill>
                <a:latin typeface="MiSans"/>
                <a:ea typeface="MiSans"/>
              </a:rPr>
              <a:t>离开本章前，请带走这六件事</a:t>
            </a:r>
            <a:endParaRPr lang="en-US" sz="2600" noProof="1"/>
          </a:p>
        </p:txBody>
      </p:sp>
      <p:sp>
        <p:nvSpPr>
          <p:cNvPr id="4" name="title-en"/>
          <p:cNvSpPr txBox="1"/>
          <p:nvPr/>
        </p:nvSpPr>
        <p:spPr>
          <a:xfrm>
            <a:off x="762000" y="1066800"/>
            <a:ext cx="10668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>
                <a:solidFill>
                  <a:srgbClr val="6E6A62"/>
                </a:solidFill>
                <a:latin typeface="MiSans"/>
                <a:ea typeface="MiSans"/>
              </a:rPr>
              <a:t>Topic 3 checklist — the language of force and momentum</a:t>
            </a:r>
            <a:endParaRPr lang="en-US" sz="1300" noProof="1"/>
          </a:p>
        </p:txBody>
      </p:sp>
      <p:sp>
        <p:nvSpPr>
          <p:cNvPr id="5" name="rule-top"/>
          <p:cNvSpPr/>
          <p:nvPr/>
        </p:nvSpPr>
        <p:spPr>
          <a:xfrm>
            <a:off x="762000" y="1422400"/>
            <a:ext cx="10668000" cy="1905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6" name="c1"/>
          <p:cNvSpPr txBox="1"/>
          <p:nvPr/>
        </p:nvSpPr>
        <p:spPr>
          <a:xfrm>
            <a:off x="762000" y="1651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①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牛顿三定律会背会写：惯性定律、F = ma（合外力与加速度同向）、作用力与反作用力（作用在不同物体）。</a:t>
            </a:r>
            <a:endParaRPr lang="en-US" sz="1350" noProof="1"/>
          </a:p>
        </p:txBody>
      </p:sp>
      <p:sp>
        <p:nvSpPr>
          <p:cNvPr id="7" name="c2"/>
          <p:cNvSpPr txBox="1"/>
          <p:nvPr/>
        </p:nvSpPr>
        <p:spPr>
          <a:xfrm>
            <a:off x="762000" y="21082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②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质量 = 抵抗加速度的属性；重量 W = mg 是力、随 g 变，质量不变。</a:t>
            </a:r>
            <a:endParaRPr lang="en-US" sz="1350" noProof="1"/>
          </a:p>
        </p:txBody>
      </p:sp>
      <p:sp>
        <p:nvSpPr>
          <p:cNvPr id="8" name="c3"/>
          <p:cNvSpPr txBox="1"/>
          <p:nvPr/>
        </p:nvSpPr>
        <p:spPr>
          <a:xfrm>
            <a:off x="762000" y="25654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③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p = mv 是矢量；F = Δ(mv)/Δt——力是动量的变化率；延长时间可减小冲击力。</a:t>
            </a:r>
            <a:endParaRPr lang="en-US" sz="1350" noProof="1"/>
          </a:p>
        </p:txBody>
      </p:sp>
      <p:sp>
        <p:nvSpPr>
          <p:cNvPr id="9" name="c4"/>
          <p:cNvSpPr txBox="1"/>
          <p:nvPr/>
        </p:nvSpPr>
        <p:spPr>
          <a:xfrm>
            <a:off x="762000" y="30226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④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收尾速度三段论：阻力随速度增大 → 加速度减小 → 阻力 = 重量时匀速；v-t 曲线斜率渐平。</a:t>
            </a:r>
            <a:endParaRPr lang="en-US" sz="1350" noProof="1"/>
          </a:p>
        </p:txBody>
      </p:sp>
      <p:sp>
        <p:nvSpPr>
          <p:cNvPr id="10" name="c5"/>
          <p:cNvSpPr txBox="1"/>
          <p:nvPr/>
        </p:nvSpPr>
        <p:spPr>
          <a:xfrm>
            <a:off x="762000" y="34798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⑤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动量守恒前提"无外力"；碰撞三步法；"连在一起"= 质量相加；反弹取负号。</a:t>
            </a:r>
            <a:endParaRPr lang="en-US" sz="1350" noProof="1"/>
          </a:p>
        </p:txBody>
      </p:sp>
      <p:sp>
        <p:nvSpPr>
          <p:cNvPr id="11" name="c6"/>
          <p:cNvSpPr txBox="1"/>
          <p:nvPr/>
        </p:nvSpPr>
        <p:spPr>
          <a:xfrm>
            <a:off x="762000" y="3937000"/>
            <a:ext cx="10668000" cy="38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50" noProof="1" b="1">
                <a:solidFill>
                  <a:srgbClr val="0E5A55"/>
                </a:solidFill>
                <a:latin typeface="MiSans"/>
                <a:ea typeface="MiSans"/>
              </a:rPr>
              <a:t>⑥</a:t>
            </a:r>
            <a:r>
              <a:rPr lang="en-US" sz="1350" noProof="1">
                <a:solidFill>
                  <a:srgbClr val="22303A"/>
                </a:solidFill>
                <a:latin typeface="MiSans"/>
                <a:ea typeface="MiSans"/>
              </a:rPr>
              <a:t>　弹性碰撞动能也守恒（相对接近速度 = 相对分离速度）；非弹性只有动量守恒，动能转热/声/势能。</a:t>
            </a:r>
            <a:endParaRPr lang="en-US" sz="1350" noProof="1"/>
          </a:p>
        </p:txBody>
      </p:sp>
      <p:sp>
        <p:nvSpPr>
          <p:cNvPr id="12" name="res-rule"/>
          <p:cNvSpPr/>
          <p:nvPr/>
        </p:nvSpPr>
        <p:spPr>
          <a:xfrm>
            <a:off x="762000" y="45212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3" name="res-head"/>
          <p:cNvSpPr txBox="1"/>
          <p:nvPr/>
        </p:nvSpPr>
        <p:spPr>
          <a:xfrm>
            <a:off x="762000" y="4724400"/>
            <a:ext cx="10668000" cy="304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500" noProof="1" b="1">
                <a:solidFill>
                  <a:srgbClr val="0E5A55"/>
                </a:solidFill>
                <a:latin typeface="MiSans"/>
                <a:ea typeface="MiSans"/>
              </a:rPr>
              <a:t>配套学习资源</a:t>
            </a:r>
            <a:endParaRPr lang="en-US" sz="1500" noProof="1"/>
          </a:p>
        </p:txBody>
      </p:sp>
      <p:sp>
        <p:nvSpPr>
          <p:cNvPr id="14" name="res-body"/>
          <p:cNvSpPr txBox="1"/>
          <p:nvPr/>
        </p:nvSpPr>
        <p:spPr>
          <a:xfrm>
            <a:off x="762000" y="5105400"/>
            <a:ext cx="106680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22303A"/>
                </a:solidFill>
                <a:latin typeface="MiSans"/>
                <a:ea typeface="MiSans"/>
              </a:rPr>
              <a:t>· 《中英对照笔记》：本课件全部内容的双语详版，含完整推导与例题，适合课后精读与考前背诵（中英结合笔记 文件夹）。</a:t>
            </a:r>
            <a:endParaRPr lang="en-US" sz="1300" noProof="1"/>
          </a:p>
        </p:txBody>
      </p:sp>
      <p:sp>
        <p:nvSpPr>
          <p:cNvPr id="15" name="next-box"/>
          <p:cNvSpPr/>
          <p:nvPr/>
        </p:nvSpPr>
        <p:spPr>
          <a:xfrm>
            <a:off x="762000" y="5842000"/>
            <a:ext cx="10668000" cy="508000"/>
          </a:xfrm>
          <a:prstGeom prst="rect">
            <a:avLst/>
          </a:prstGeom>
          <a:solidFill>
            <a:srgbClr val="EFE9DF"/>
          </a:solidFill>
          <a:ln>
            <a:noFill/>
          </a:ln>
        </p:spPr>
      </p:sp>
      <p:sp>
        <p:nvSpPr>
          <p:cNvPr id="16" name="next-text"/>
          <p:cNvSpPr txBox="1"/>
          <p:nvPr/>
        </p:nvSpPr>
        <p:spPr>
          <a:xfrm>
            <a:off x="965200" y="5918200"/>
            <a:ext cx="10261600" cy="355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l">
              <a:lnSpc>
                <a:spcPct val="120000"/>
              </a:lnSpc>
            </a:pPr>
            <a:r>
              <a:rPr lang="en-US" sz="1250" noProof="1" b="1">
                <a:solidFill>
                  <a:srgbClr val="22303A"/>
                </a:solidFill>
                <a:latin typeface="MiSans"/>
                <a:ea typeface="MiSans"/>
              </a:rPr>
              <a:t>下一章预告 Next：</a:t>
            </a:r>
            <a:r>
              <a:rPr lang="en-US" sz="1250" noProof="1">
                <a:solidFill>
                  <a:srgbClr val="22303A"/>
                </a:solidFill>
                <a:latin typeface="MiSans"/>
                <a:ea typeface="MiSans"/>
              </a:rPr>
              <a:t>Topic 4 Forces, Density and Pressure 力、密度与压强 —— 力的平衡、力矩与流体中的压强。</a:t>
            </a:r>
            <a:endParaRPr lang="en-US" sz="1250" noProof="1"/>
          </a:p>
        </p:txBody>
      </p:sp>
      <p:sp>
        <p:nvSpPr>
          <p:cNvPr id="17" name="footer-rule"/>
          <p:cNvSpPr/>
          <p:nvPr/>
        </p:nvSpPr>
        <p:spPr>
          <a:xfrm>
            <a:off x="762000" y="6451600"/>
            <a:ext cx="10668000" cy="12700"/>
          </a:xfrm>
          <a:prstGeom prst="rect">
            <a:avLst/>
          </a:prstGeom>
          <a:solidFill>
            <a:srgbClr val="D8D2C8"/>
          </a:solidFill>
          <a:ln>
            <a:noFill/>
          </a:ln>
        </p:spPr>
      </p:sp>
      <p:sp>
        <p:nvSpPr>
          <p:cNvPr id="18" name="footer-left"/>
          <p:cNvSpPr txBox="1"/>
          <p:nvPr/>
        </p:nvSpPr>
        <p:spPr>
          <a:xfrm>
            <a:off x="762000" y="6553200"/>
            <a:ext cx="508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CIE A-Level Physics 9702 · Topic 3 动力学</a:t>
            </a:r>
            <a:endParaRPr lang="en-US" sz="1000" noProof="1"/>
          </a:p>
        </p:txBody>
      </p:sp>
      <p:sp>
        <p:nvSpPr>
          <p:cNvPr id="19" name="page-num"/>
          <p:cNvSpPr txBox="1"/>
          <p:nvPr/>
        </p:nvSpPr>
        <p:spPr>
          <a:xfrm>
            <a:off x="10922000" y="6553200"/>
            <a:ext cx="508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20000"/>
              </a:lnSpc>
            </a:pPr>
            <a:r>
              <a:rPr lang="en-US" sz="1000" noProof="1">
                <a:solidFill>
                  <a:srgbClr val="6E6A62"/>
                </a:solidFill>
                <a:latin typeface="MiSans"/>
                <a:ea typeface="MiSans"/>
              </a:rPr>
              <a:t>14</a:t>
            </a:r>
            <a:endParaRPr lang="en-US" sz="10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Slides>14</Slides>
</Properties>
</file>

<file path=docProps/core.xml><?xml version="1.0" encoding="utf-8"?>
<cp:coreProperties xmlns:dc="http://purl.org/dc/elements/1.1/" xmlns:cp="http://schemas.openxmlformats.org/package/2006/metadata/core-properties">
  <dc:title>Topic 3 Dynamics 动力学 · CIE A-Level Physics 9702</dc:title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/>
  </property>
</Properties>
</file>