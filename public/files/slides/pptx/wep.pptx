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3" name="topic-num"/>
          <p:cNvSpPr txBox="1"/>
          <p:nvPr/>
        </p:nvSpPr>
        <p:spPr>
          <a:xfrm>
            <a:off x="1219200" y="939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9702 · TOPIC 5</a:t>
            </a:r>
            <a:endParaRPr lang="en-US" sz="1400" noProof="1"/>
          </a:p>
        </p:txBody>
      </p:sp>
      <p:sp>
        <p:nvSpPr>
          <p:cNvPr id="4" name="title-cn"/>
          <p:cNvSpPr txBox="1"/>
          <p:nvPr/>
        </p:nvSpPr>
        <p:spPr>
          <a:xfrm>
            <a:off x="1219200" y="1625600"/>
            <a:ext cx="965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 b="1">
                <a:solidFill>
                  <a:srgbClr val="22303A"/>
                </a:solidFill>
                <a:latin typeface="MiSans"/>
                <a:ea typeface="MiSans"/>
              </a:rPr>
              <a:t>功、能量与功率</a:t>
            </a:r>
            <a:endParaRPr lang="en-US" sz="4600" noProof="1"/>
          </a:p>
        </p:txBody>
      </p:sp>
      <p:sp>
        <p:nvSpPr>
          <p:cNvPr id="5" name="title-en"/>
          <p:cNvSpPr txBox="1"/>
          <p:nvPr/>
        </p:nvSpPr>
        <p:spPr>
          <a:xfrm>
            <a:off x="1219200" y="25654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Work, Energy and Power</a:t>
            </a:r>
            <a:endParaRPr lang="en-US" sz="2400" noProof="1"/>
          </a:p>
        </p:txBody>
      </p:sp>
      <p:sp>
        <p:nvSpPr>
          <p:cNvPr id="6" name="cover-rule"/>
          <p:cNvSpPr/>
          <p:nvPr/>
        </p:nvSpPr>
        <p:spPr>
          <a:xfrm>
            <a:off x="1219200" y="3327400"/>
            <a:ext cx="1524000" cy="381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7" name="cover-sub"/>
          <p:cNvSpPr txBox="1"/>
          <p:nvPr/>
        </p:nvSpPr>
        <p:spPr>
          <a:xfrm>
            <a:off x="1219200" y="36322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AS Level 自学课件 · 中英双语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依据 CAIE 考纲 · 参考 PMT Education 笔记与 Cambridge 官方教材（Crundell, 3rd edition）</a:t>
            </a:r>
            <a:endParaRPr lang="en-US" sz="1400" noProof="1"/>
          </a:p>
        </p:txBody>
      </p:sp>
      <p:sp>
        <p:nvSpPr>
          <p:cNvPr id="8" name="formula-strip"/>
          <p:cNvSpPr txBox="1"/>
          <p:nvPr/>
        </p:nvSpPr>
        <p:spPr>
          <a:xfrm>
            <a:off x="1219200" y="5130800"/>
            <a:ext cx="9753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W = Fs cos θ  ·  P = W/t = Fv  ·  E_k = ½mv²  ·  ΔE_p = mgΔh</a:t>
            </a:r>
            <a:endParaRPr lang="en-US" sz="1500" noProof="1"/>
          </a:p>
        </p:txBody>
      </p:sp>
      <p:sp>
        <p:nvSpPr>
          <p:cNvPr id="9" name="formula-strip-label"/>
          <p:cNvSpPr txBox="1"/>
          <p:nvPr/>
        </p:nvSpPr>
        <p:spPr>
          <a:xfrm>
            <a:off x="1219200" y="5537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四大核心公式 —— 力与能量两条主线在此汇合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TOPIC 5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本章学完后，你能做到什么？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Learning route — four stops from work done to energy conservation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pine"/>
          <p:cNvSpPr/>
          <p:nvPr/>
        </p:nvSpPr>
        <p:spPr>
          <a:xfrm>
            <a:off x="1117600" y="2032000"/>
            <a:ext cx="25400" cy="3556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n1"/>
          <p:cNvSpPr txBox="1"/>
          <p:nvPr/>
        </p:nvSpPr>
        <p:spPr>
          <a:xfrm>
            <a:off x="762000" y="1752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endParaRPr lang="en-US" sz="2400" noProof="1"/>
          </a:p>
        </p:txBody>
      </p:sp>
      <p:sp>
        <p:nvSpPr>
          <p:cNvPr id="8" name="s1"/>
          <p:cNvSpPr txBox="1"/>
          <p:nvPr/>
        </p:nvSpPr>
        <p:spPr>
          <a:xfrm>
            <a:off x="1625600" y="1778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功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W = Fs cos θ——θ 是力与运动方向的夹角，垂直于运动方向的力不做功；气体做功 W = pΔV。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Work done by a force · work done on a gas at constant pressure</a:t>
            </a:r>
            <a:endParaRPr lang="en-US" sz="1350" noProof="1"/>
          </a:p>
        </p:txBody>
      </p:sp>
      <p:sp>
        <p:nvSpPr>
          <p:cNvPr id="9" name="n2"/>
          <p:cNvSpPr txBox="1"/>
          <p:nvPr/>
        </p:nvSpPr>
        <p:spPr>
          <a:xfrm>
            <a:off x="762000" y="2641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endParaRPr lang="en-US" sz="2400" noProof="1"/>
          </a:p>
        </p:txBody>
      </p:sp>
      <p:sp>
        <p:nvSpPr>
          <p:cNvPr id="10" name="s2"/>
          <p:cNvSpPr txBox="1"/>
          <p:nvPr/>
        </p:nvSpPr>
        <p:spPr>
          <a:xfrm>
            <a:off x="1625600" y="2667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能量守恒与效率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能量不生不灭只转化；效率 = 有用输出/输入，永远小于 100%。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Conservation of energy · efficiency and where the losses go</a:t>
            </a:r>
            <a:endParaRPr lang="en-US" sz="1350" noProof="1"/>
          </a:p>
        </p:txBody>
      </p:sp>
      <p:sp>
        <p:nvSpPr>
          <p:cNvPr id="11" name="n3"/>
          <p:cNvSpPr txBox="1"/>
          <p:nvPr/>
        </p:nvSpPr>
        <p:spPr>
          <a:xfrm>
            <a:off x="762000" y="3530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endParaRPr lang="en-US" sz="2400" noProof="1"/>
          </a:p>
        </p:txBody>
      </p:sp>
      <p:sp>
        <p:nvSpPr>
          <p:cNvPr id="12" name="s3"/>
          <p:cNvSpPr txBox="1"/>
          <p:nvPr/>
        </p:nvSpPr>
        <p:spPr>
          <a:xfrm>
            <a:off x="1625600" y="3556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功率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P = W/t = Fv——匀速运动的题眼是"牵引力 = 阻力"，再用 P = Fv。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Power as rate of energy transfer · P = Fv for vehicles</a:t>
            </a:r>
            <a:endParaRPr lang="en-US" sz="1350" noProof="1"/>
          </a:p>
        </p:txBody>
      </p:sp>
      <p:sp>
        <p:nvSpPr>
          <p:cNvPr id="13" name="n4"/>
          <p:cNvSpPr txBox="1"/>
          <p:nvPr/>
        </p:nvSpPr>
        <p:spPr>
          <a:xfrm>
            <a:off x="762000" y="4419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endParaRPr lang="en-US" sz="2400" noProof="1"/>
          </a:p>
        </p:txBody>
      </p:sp>
      <p:sp>
        <p:nvSpPr>
          <p:cNvPr id="14" name="s4"/>
          <p:cNvSpPr txBox="1"/>
          <p:nvPr/>
        </p:nvSpPr>
        <p:spPr>
          <a:xfrm>
            <a:off x="1625600" y="4445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动能与重力势能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推导 E_k = ½mv² 与 ΔE_p = mgΔh，用能量守恒解摆锤类综合题。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Deriving both energy equations · equating ΔE_k and ΔE_p</a:t>
            </a:r>
            <a:endParaRPr lang="en-US" sz="1350" noProof="1"/>
          </a:p>
        </p:txBody>
      </p:sp>
      <p:sp>
        <p:nvSpPr>
          <p:cNvPr id="15" name="exit-box"/>
          <p:cNvSpPr/>
          <p:nvPr/>
        </p:nvSpPr>
        <p:spPr>
          <a:xfrm>
            <a:off x="762000" y="54864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exit-text"/>
          <p:cNvSpPr txBox="1"/>
          <p:nvPr/>
        </p:nvSpPr>
        <p:spPr>
          <a:xfrm>
            <a:off x="965200" y="5588000"/>
            <a:ext cx="10261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出口能力 Exit capability：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能判断一个力是否做功并算 W = Fs cos θ；能四步推导两个能量公式；匀速题条件反射写"牵引力 = 阻力"后用 P = Fv；无阻力题敢令 ΔE_k = ΔE_p。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5 功、能量与功率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5.1 · WORK DONE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功 = 力 × 距离 × cos θ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θ is the angle between the force and the direction of motion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-box"/>
          <p:cNvSpPr/>
          <p:nvPr/>
        </p:nvSpPr>
        <p:spPr>
          <a:xfrm>
            <a:off x="762000" y="1676400"/>
            <a:ext cx="59690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def-text"/>
          <p:cNvSpPr txBox="1"/>
          <p:nvPr/>
        </p:nvSpPr>
        <p:spPr>
          <a:xfrm>
            <a:off x="965200" y="1803400"/>
            <a:ext cx="55626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W = Fs cos θ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单位 J（1 J = 1 N·m）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θ 是力的方向与运动方向之间的夹角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——不是与水平面的夹角，读图先找运动方向。</a:t>
            </a:r>
            <a:endParaRPr lang="en-US" sz="1350" noProof="1"/>
          </a:p>
        </p:txBody>
      </p:sp>
      <p:sp>
        <p:nvSpPr>
          <p:cNvPr id="8" name="h1"/>
          <p:cNvSpPr txBox="1"/>
          <p:nvPr/>
        </p:nvSpPr>
        <p:spPr>
          <a:xfrm>
            <a:off x="762000" y="3098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两种极限情况</a:t>
            </a:r>
            <a:endParaRPr lang="en-US" sz="1500" noProof="1"/>
          </a:p>
        </p:txBody>
      </p:sp>
      <p:sp>
        <p:nvSpPr>
          <p:cNvPr id="9" name="b1"/>
          <p:cNvSpPr txBox="1"/>
          <p:nvPr/>
        </p:nvSpPr>
        <p:spPr>
          <a:xfrm>
            <a:off x="762000" y="3454400"/>
            <a:ext cx="5969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力与运动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同向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：θ = 0，cos θ = 1 → W = Fs（最大）。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力与运动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垂直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：θ = 90°，cos θ = 0 →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不做功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——向心力、提书包水平走路的拉力都是例子。</a:t>
            </a:r>
            <a:endParaRPr lang="en-US" sz="1350" noProof="1"/>
          </a:p>
        </p:txBody>
      </p:sp>
      <p:sp>
        <p:nvSpPr>
          <p:cNvPr id="10" name="warn-box"/>
          <p:cNvSpPr/>
          <p:nvPr/>
        </p:nvSpPr>
        <p:spPr>
          <a:xfrm>
            <a:off x="762000" y="4648200"/>
            <a:ext cx="59690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warn-body"/>
          <p:cNvSpPr txBox="1"/>
          <p:nvPr/>
        </p:nvSpPr>
        <p:spPr>
          <a:xfrm>
            <a:off x="965200" y="4775200"/>
            <a:ext cx="5562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CIE 常故意给一个"与竖直方向的夹角"，需要先换算成与运动方向的夹角再取 cos。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规范做法：画出运动方向 → 标出 θ → 再代公式。</a:t>
            </a:r>
            <a:endParaRPr lang="en-US" sz="1250" noProof="1"/>
          </a:p>
        </p:txBody>
      </p:sp>
      <p:sp>
        <p:nvSpPr>
          <p:cNvPr id="12" name="ground"/>
          <p:cNvSpPr/>
          <p:nvPr>
            <p:extLst>
              <p:ext uri="{F5677B7D-0D2A-4D9B-9A5C-6D8D7D0E5A5D}">
                <pptd:line encoding="base64url">eyJ2aWV3Qm94IjpbMzEwLDRdLCJwb2ludHMiOiIwLDIgMzEwLDIiLCJjdXJ2ZSI6InNoYXJwIn0</pptd:line>
              </p:ext>
            </p:extLst>
          </p:nvPr>
        </p:nvSpPr>
        <p:spPr>
          <a:xfrm>
            <a:off x="7493000" y="4191000"/>
            <a:ext cx="3937000" cy="50800"/>
          </a:xfrm>
          <a:custGeom>
            <a:avLst/>
            <a:gdLst/>
            <a:ahLst/>
            <a:cxnLst/>
            <a:rect l="l" t="t" r="r" b="b"/>
            <a:pathLst>
              <a:path w="310" h="4">
                <a:moveTo>
                  <a:pt x="0" y="2"/>
                </a:moveTo>
                <a:lnTo>
                  <a:pt x="310" y="2"/>
                </a:lnTo>
              </a:path>
            </a:pathLst>
          </a:custGeom>
          <a:noFill/>
          <a:ln w="25400">
            <a:solidFill>
              <a:srgbClr val="6E6A62"/>
            </a:solidFill>
          </a:ln>
        </p:spPr>
      </p:sp>
      <p:sp>
        <p:nvSpPr>
          <p:cNvPr id="13" name="block"/>
          <p:cNvSpPr/>
          <p:nvPr/>
        </p:nvSpPr>
        <p:spPr>
          <a:xfrm>
            <a:off x="8382000" y="3505200"/>
            <a:ext cx="1143000" cy="685800"/>
          </a:xfrm>
          <a:prstGeom prst="rect">
            <a:avLst/>
          </a:prstGeom>
          <a:solidFill>
            <a:srgbClr val="EFE9DF"/>
          </a:solidFill>
          <a:ln w="25400">
            <a:solidFill>
              <a:srgbClr val="0E5A55"/>
            </a:solidFill>
          </a:ln>
        </p:spPr>
      </p:sp>
      <p:sp>
        <p:nvSpPr>
          <p:cNvPr id="14" name="f-arrow"/>
          <p:cNvSpPr/>
          <p:nvPr>
            <p:extLst>
              <p:ext uri="{F5677B7D-0D2A-4D9B-9A5C-6D8D7D0E5A5D}">
                <pptd:line encoding="base64url">eyJ2aWV3Qm94IjpbMTEwLDYwXSwicG9pbnRzIjoiMCw2MCAxMTAsMCIsImN1cnZlIjoic2hhcnAifQ</pptd:line>
              </p:ext>
            </p:extLst>
          </p:nvPr>
        </p:nvSpPr>
        <p:spPr>
          <a:xfrm>
            <a:off x="9525000" y="2794000"/>
            <a:ext cx="1397000" cy="762000"/>
          </a:xfrm>
          <a:custGeom>
            <a:avLst/>
            <a:gdLst/>
            <a:ahLst/>
            <a:cxnLst/>
            <a:rect l="l" t="t" r="r" b="b"/>
            <a:pathLst>
              <a:path w="110" h="60">
                <a:moveTo>
                  <a:pt x="0" y="60"/>
                </a:moveTo>
                <a:lnTo>
                  <a:pt x="110" y="0"/>
                </a:lnTo>
              </a:path>
            </a:pathLst>
          </a:custGeom>
          <a:noFill/>
          <a:ln w="38100">
            <a:solidFill>
              <a:srgbClr val="C96F16"/>
            </a:solidFill>
            <a:tailEnd type="arrow"/>
          </a:ln>
        </p:spPr>
      </p:sp>
      <p:sp>
        <p:nvSpPr>
          <p:cNvPr id="15" name="f-label"/>
          <p:cNvSpPr txBox="1"/>
          <p:nvPr/>
        </p:nvSpPr>
        <p:spPr>
          <a:xfrm>
            <a:off x="10947400" y="25908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C96F16"/>
                </a:solidFill>
                <a:latin typeface="MiSans"/>
                <a:ea typeface="MiSans"/>
              </a:rPr>
              <a:t>F</a:t>
            </a:r>
            <a:endParaRPr lang="en-US" sz="1400" noProof="1"/>
          </a:p>
        </p:txBody>
      </p:sp>
      <p:sp>
        <p:nvSpPr>
          <p:cNvPr id="16" name="dash-line"/>
          <p:cNvSpPr/>
          <p:nvPr>
            <p:extLst>
              <p:ext uri="{F5677B7D-0D2A-4D9B-9A5C-6D8D7D0E5A5D}">
                <pptd:line encoding="base64url">eyJ2aWV3Qm94IjpbMTMwLDRdLCJwb2ludHMiOiIwLDIgMTMwLDIiLCJjdXJ2ZSI6InNoYXJwIn0</pptd:line>
              </p:ext>
            </p:extLst>
          </p:nvPr>
        </p:nvSpPr>
        <p:spPr>
          <a:xfrm>
            <a:off x="9525000" y="3530600"/>
            <a:ext cx="1651000" cy="50800"/>
          </a:xfrm>
          <a:custGeom>
            <a:avLst/>
            <a:gdLst/>
            <a:ahLst/>
            <a:cxnLst/>
            <a:rect l="l" t="t" r="r" b="b"/>
            <a:pathLst>
              <a:path w="130" h="4">
                <a:moveTo>
                  <a:pt x="0" y="2"/>
                </a:moveTo>
                <a:lnTo>
                  <a:pt x="130" y="2"/>
                </a:lnTo>
              </a:path>
            </a:pathLst>
          </a:custGeom>
          <a:noFill/>
          <a:ln w="19050">
            <a:solidFill>
              <a:srgbClr val="0E5A55"/>
            </a:solidFill>
            <a:prstDash val="dash"/>
          </a:ln>
        </p:spPr>
      </p:sp>
      <p:sp>
        <p:nvSpPr>
          <p:cNvPr id="17" name="theta-label"/>
          <p:cNvSpPr txBox="1"/>
          <p:nvPr/>
        </p:nvSpPr>
        <p:spPr>
          <a:xfrm>
            <a:off x="10109200" y="3276600"/>
            <a:ext cx="508000" cy="254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θ</a:t>
            </a:r>
            <a:endParaRPr lang="en-US" sz="1300" noProof="1"/>
          </a:p>
        </p:txBody>
      </p:sp>
      <p:sp>
        <p:nvSpPr>
          <p:cNvPr id="18" name="motion-arrow"/>
          <p:cNvSpPr/>
          <p:nvPr>
            <p:extLst>
              <p:ext uri="{F5677B7D-0D2A-4D9B-9A5C-6D8D7D0E5A5D}">
                <pptd:line encoding="base64url">eyJ2aWV3Qm94IjpbMTIwLDRdLCJwb2ludHMiOiIwLDIgMTIwLDIiLCJjdXJ2ZSI6InNoYXJwIn0</pptd:line>
              </p:ext>
            </p:extLst>
          </p:nvPr>
        </p:nvSpPr>
        <p:spPr>
          <a:xfrm>
            <a:off x="7747000" y="4648200"/>
            <a:ext cx="1524000" cy="50800"/>
          </a:xfrm>
          <a:custGeom>
            <a:avLst/>
            <a:gdLst/>
            <a:ahLst/>
            <a:cxnLst/>
            <a:rect l="l" t="t" r="r" b="b"/>
            <a:pathLst>
              <a:path w="120" h="4">
                <a:moveTo>
                  <a:pt x="0" y="2"/>
                </a:moveTo>
                <a:lnTo>
                  <a:pt x="120" y="2"/>
                </a:lnTo>
              </a:path>
            </a:pathLst>
          </a:custGeom>
          <a:noFill/>
          <a:ln w="31750">
            <a:solidFill>
              <a:srgbClr val="22303A"/>
            </a:solidFill>
            <a:tailEnd type="arrow"/>
          </a:ln>
        </p:spPr>
      </p:sp>
      <p:sp>
        <p:nvSpPr>
          <p:cNvPr id="19" name="motion-label"/>
          <p:cNvSpPr txBox="1"/>
          <p:nvPr/>
        </p:nvSpPr>
        <p:spPr>
          <a:xfrm>
            <a:off x="7874000" y="4800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运动方向 s</a:t>
            </a:r>
            <a:endParaRPr lang="en-US" sz="1250" noProof="1"/>
          </a:p>
        </p:txBody>
      </p:sp>
      <p:sp>
        <p:nvSpPr>
          <p:cNvPr id="20" name="dia-caption"/>
          <p:cNvSpPr txBox="1"/>
          <p:nvPr/>
        </p:nvSpPr>
        <p:spPr>
          <a:xfrm>
            <a:off x="7366000" y="5334000"/>
            <a:ext cx="419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θ 夹在力 F 与运动方向（虚线）之间；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只有 F cos θ 这个分量在做功。</a:t>
            </a:r>
            <a:endParaRPr lang="en-US" sz="1100" noProof="1"/>
          </a:p>
        </p:txBody>
      </p:sp>
      <p:sp>
        <p:nvSpPr>
          <p:cNvPr id="21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2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5 功、能量与功率</a:t>
            </a:r>
            <a:endParaRPr lang="en-US" sz="1000" noProof="1"/>
          </a:p>
        </p:txBody>
      </p:sp>
      <p:sp>
        <p:nvSpPr>
          <p:cNvPr id="23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5.1 · GAS WORK AND EFFICIENCY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气体做功与效率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W = pΔV · efficiency is never 100 percent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gas-box"/>
          <p:cNvSpPr/>
          <p:nvPr/>
        </p:nvSpPr>
        <p:spPr>
          <a:xfrm>
            <a:off x="762000" y="1676400"/>
            <a:ext cx="5143500" cy="1651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gas-head"/>
          <p:cNvSpPr txBox="1"/>
          <p:nvPr/>
        </p:nvSpPr>
        <p:spPr>
          <a:xfrm>
            <a:off x="965200" y="1803400"/>
            <a:ext cx="47371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气体做功 Work on a gas</a:t>
            </a:r>
            <a:endParaRPr lang="en-US" sz="1500" noProof="1"/>
          </a:p>
        </p:txBody>
      </p:sp>
      <p:sp>
        <p:nvSpPr>
          <p:cNvPr id="8" name="gas-body"/>
          <p:cNvSpPr txBox="1"/>
          <p:nvPr/>
        </p:nvSpPr>
        <p:spPr>
          <a:xfrm>
            <a:off x="965200" y="2184400"/>
            <a:ext cx="47371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恒压下改变气体体积：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W = pΔV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p 为压强，ΔV 为体积变化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体积增大 → 气体对外做功；通常由热能传递引起。</a:t>
            </a:r>
            <a:endParaRPr lang="en-US" sz="1300" noProof="1"/>
          </a:p>
        </p:txBody>
      </p:sp>
      <p:sp>
        <p:nvSpPr>
          <p:cNvPr id="9" name="eff-box"/>
          <p:cNvSpPr/>
          <p:nvPr/>
        </p:nvSpPr>
        <p:spPr>
          <a:xfrm>
            <a:off x="6286500" y="1676400"/>
            <a:ext cx="5143500" cy="1651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0" name="eff-head"/>
          <p:cNvSpPr txBox="1"/>
          <p:nvPr/>
        </p:nvSpPr>
        <p:spPr>
          <a:xfrm>
            <a:off x="6489700" y="1803400"/>
            <a:ext cx="47371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效率 Efficiency</a:t>
            </a:r>
            <a:endParaRPr lang="en-US" sz="1500" noProof="1"/>
          </a:p>
        </p:txBody>
      </p:sp>
      <p:sp>
        <p:nvSpPr>
          <p:cNvPr id="11" name="eff-body"/>
          <p:cNvSpPr txBox="1"/>
          <p:nvPr/>
        </p:nvSpPr>
        <p:spPr>
          <a:xfrm>
            <a:off x="6489700" y="2184400"/>
            <a:ext cx="47371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效率 = 有用输出功率 ÷ 输入功率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× 100 得百分比；用能量代替功率同样成立。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useful output power / input power</a:t>
            </a:r>
            <a:endParaRPr lang="en-US" sz="1300" noProof="1"/>
          </a:p>
        </p:txBody>
      </p:sp>
      <p:sp>
        <p:nvSpPr>
          <p:cNvPr id="12" name="h2"/>
          <p:cNvSpPr txBox="1"/>
          <p:nvPr/>
        </p:nvSpPr>
        <p:spPr>
          <a:xfrm>
            <a:off x="762000" y="36576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为什么效率永远小于 100%？</a:t>
            </a:r>
            <a:endParaRPr lang="en-US" sz="1500" noProof="1"/>
          </a:p>
        </p:txBody>
      </p:sp>
      <p:sp>
        <p:nvSpPr>
          <p:cNvPr id="13" name="b2"/>
          <p:cNvSpPr txBox="1"/>
          <p:nvPr/>
        </p:nvSpPr>
        <p:spPr>
          <a:xfrm>
            <a:off x="762000" y="4038600"/>
            <a:ext cx="10668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输入系统的能量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总是大于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有用输出能量——部件接触处的摩擦会把动能转化为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内能（thermal）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与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声能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，这些都是不想要的耗散。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简答题标准答法：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Energy is dissipated as thermal energy and sound due to friction.</a:t>
            </a:r>
            <a:endParaRPr lang="en-US" sz="1350" noProof="1"/>
          </a:p>
        </p:txBody>
      </p:sp>
      <p:sp>
        <p:nvSpPr>
          <p:cNvPr id="14" name="warn-box"/>
          <p:cNvSpPr/>
          <p:nvPr/>
        </p:nvSpPr>
        <p:spPr>
          <a:xfrm>
            <a:off x="762000" y="5080000"/>
            <a:ext cx="10668000" cy="914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warn-body"/>
          <p:cNvSpPr txBox="1"/>
          <p:nvPr/>
        </p:nvSpPr>
        <p:spPr>
          <a:xfrm>
            <a:off x="965200" y="5207000"/>
            <a:ext cx="1026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百分比形式别忘了 ×100；② "useful" 是有用输出——水泵抽水，有用功是增加的重力势能，不是电机消耗的全部电能；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③ 效率可以写成功率之比，也可以写成能量之比，题目给什么用什么。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5 功、能量与功率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5.1 · CONSERVATION OF ENERGY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能量守恒：不生不灭，只转化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Total energy in = total energy out — for a closed system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-box"/>
          <p:cNvSpPr/>
          <p:nvPr/>
        </p:nvSpPr>
        <p:spPr>
          <a:xfrm>
            <a:off x="762000" y="1676400"/>
            <a:ext cx="5969000" cy="1117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def-text"/>
          <p:cNvSpPr txBox="1"/>
          <p:nvPr/>
        </p:nvSpPr>
        <p:spPr>
          <a:xfrm>
            <a:off x="965200" y="1803400"/>
            <a:ext cx="5562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能量不能被创造或消灭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，只能从一种形式转化为另一种形式。封闭系统总能量不变：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Total energy in = Total energy out</a:t>
            </a:r>
            <a:endParaRPr lang="en-US" sz="1350" noProof="1"/>
          </a:p>
        </p:txBody>
      </p:sp>
      <p:sp>
        <p:nvSpPr>
          <p:cNvPr id="8" name="h1"/>
          <p:cNvSpPr txBox="1"/>
          <p:nvPr/>
        </p:nvSpPr>
        <p:spPr>
          <a:xfrm>
            <a:off x="762000" y="30480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竖直上抛的能量转化链</a:t>
            </a:r>
            <a:endParaRPr lang="en-US" sz="1500" noProof="1"/>
          </a:p>
        </p:txBody>
      </p:sp>
      <p:sp>
        <p:nvSpPr>
          <p:cNvPr id="9" name="b1"/>
          <p:cNvSpPr txBox="1"/>
          <p:nvPr/>
        </p:nvSpPr>
        <p:spPr>
          <a:xfrm>
            <a:off x="762000" y="34036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① 抛出：手给小球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动能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→ 上升；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② 上升：动能 →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重力势能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，速度减小；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③ 最高点：动能全部转化，小球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瞬时静止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④ 下落：重力势能 → 动能。</a:t>
            </a:r>
            <a:endParaRPr lang="en-US" sz="1350" noProof="1"/>
          </a:p>
        </p:txBody>
      </p:sp>
      <p:sp>
        <p:nvSpPr>
          <p:cNvPr id="10" name="warn-box"/>
          <p:cNvSpPr/>
          <p:nvPr/>
        </p:nvSpPr>
        <p:spPr>
          <a:xfrm>
            <a:off x="762000" y="4876800"/>
            <a:ext cx="5969000" cy="990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warn-body"/>
          <p:cNvSpPr txBox="1"/>
          <p:nvPr/>
        </p:nvSpPr>
        <p:spPr>
          <a:xfrm>
            <a:off x="965200" y="4978400"/>
            <a:ext cx="5562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简答题高频：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有空气阻力时，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初动能 ≠ 最高点势能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——一部分能量克服阻力做功，以热的形式散失给环境。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题目说 "ignore air resistance" 才能令两者相等。</a:t>
            </a:r>
            <a:endParaRPr lang="en-US" sz="1250" noProof="1"/>
          </a:p>
        </p:txBody>
      </p:sp>
      <p:sp>
        <p:nvSpPr>
          <p:cNvPr id="12" name="traj"/>
          <p:cNvSpPr/>
          <p:nvPr>
            <p:extLst>
              <p:ext uri="{F5677B7D-0D2A-4D9B-9A5C-6D8D7D0E5A5D}">
                <pptd:line encoding="base64url">eyJ2aWV3Qm94IjpbMjYwLDE2MF0sInBvaW50cyI6IjAsMTYwIDY1LDMwIDEzMCwwIDE5NSwzMCAyNjAsMTYwIiwiY3VydmUiOiJzbW9vdGgifQ</pptd:line>
              </p:ext>
            </p:extLst>
          </p:nvPr>
        </p:nvSpPr>
        <p:spPr>
          <a:xfrm>
            <a:off x="7874000" y="2540000"/>
            <a:ext cx="3302000" cy="2032000"/>
          </a:xfrm>
          <a:custGeom>
            <a:avLst/>
            <a:gdLst/>
            <a:ahLst/>
            <a:cxnLst/>
            <a:rect l="l" t="t" r="r" b="b"/>
            <a:pathLst>
              <a:path w="260" h="160">
                <a:moveTo>
                  <a:pt x="0" y="160"/>
                </a:moveTo>
                <a:cubicBezTo>
                  <a:pt x="22" y="117"/>
                  <a:pt x="43" y="86"/>
                  <a:pt x="65" y="65"/>
                </a:cubicBezTo>
                <a:cubicBezTo>
                  <a:pt x="87" y="45"/>
                  <a:pt x="108" y="35"/>
                  <a:pt x="130" y="35"/>
                </a:cubicBezTo>
                <a:cubicBezTo>
                  <a:pt x="152" y="35"/>
                  <a:pt x="173" y="45"/>
                  <a:pt x="195" y="65"/>
                </a:cubicBezTo>
                <a:cubicBezTo>
                  <a:pt x="217" y="86"/>
                  <a:pt x="238" y="117"/>
                  <a:pt x="260" y="160"/>
                </a:cubicBezTo>
              </a:path>
            </a:pathLst>
          </a:custGeom>
          <a:noFill/>
          <a:ln w="25400" cap="rnd">
            <a:solidFill>
              <a:srgbClr val="0E5A55"/>
            </a:solidFill>
            <a:prstDash val="dash"/>
            <a:round/>
          </a:ln>
        </p:spPr>
      </p:sp>
      <p:sp>
        <p:nvSpPr>
          <p:cNvPr id="13" name="ball1"/>
          <p:cNvSpPr/>
          <p:nvPr/>
        </p:nvSpPr>
        <p:spPr>
          <a:xfrm>
            <a:off x="7772400" y="4470400"/>
            <a:ext cx="203200" cy="2032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4" name="ball2"/>
          <p:cNvSpPr/>
          <p:nvPr/>
        </p:nvSpPr>
        <p:spPr>
          <a:xfrm>
            <a:off x="9423400" y="2463800"/>
            <a:ext cx="203200" cy="2032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5" name="ball3"/>
          <p:cNvSpPr/>
          <p:nvPr/>
        </p:nvSpPr>
        <p:spPr>
          <a:xfrm>
            <a:off x="11074400" y="4470400"/>
            <a:ext cx="203200" cy="2032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6" name="lb-ek1"/>
          <p:cNvSpPr txBox="1"/>
          <p:nvPr/>
        </p:nvSpPr>
        <p:spPr>
          <a:xfrm>
            <a:off x="7366000" y="48260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E_k 最大</a:t>
            </a:r>
            <a:endParaRPr lang="en-US" sz="1200" noProof="1"/>
          </a:p>
        </p:txBody>
      </p:sp>
      <p:sp>
        <p:nvSpPr>
          <p:cNvPr id="17" name="lb-ep"/>
          <p:cNvSpPr txBox="1"/>
          <p:nvPr/>
        </p:nvSpPr>
        <p:spPr>
          <a:xfrm>
            <a:off x="9042400" y="21844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0E5A55"/>
                </a:solidFill>
                <a:latin typeface="MiSans"/>
                <a:ea typeface="MiSans"/>
              </a:rPr>
              <a:t>E_p 最大 · v = 0</a:t>
            </a:r>
            <a:endParaRPr lang="en-US" sz="1200" noProof="1"/>
          </a:p>
        </p:txBody>
      </p:sp>
      <p:sp>
        <p:nvSpPr>
          <p:cNvPr id="18" name="lb-ek2"/>
          <p:cNvSpPr txBox="1"/>
          <p:nvPr/>
        </p:nvSpPr>
        <p:spPr>
          <a:xfrm>
            <a:off x="10160000" y="48260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E_k 恢复</a:t>
            </a:r>
            <a:endParaRPr lang="en-US" sz="1200" noProof="1"/>
          </a:p>
        </p:txBody>
      </p:sp>
      <p:sp>
        <p:nvSpPr>
          <p:cNvPr id="19" name="dia-caption"/>
          <p:cNvSpPr txBox="1"/>
          <p:nvPr/>
        </p:nvSpPr>
        <p:spPr>
          <a:xfrm>
            <a:off x="7493000" y="53340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上升段：E_k → E_p；下降段：E_p → E_k。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（无阻力时总能量处处相等）</a:t>
            </a:r>
            <a:endParaRPr lang="en-US" sz="110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5 功、能量与功率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5.1 · POWER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功率：能量转移的快慢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P = W/t = Fv — rate of energy transfer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定义 Definition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969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功率 P = 能量转移的速率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（单位时间转移的能量）。单位：瓦特（W），1 W = 1 J/s。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由于功是能量转移的量度：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做功的速率 = 能量转移的速率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</p:txBody>
      </p:sp>
      <p:sp>
        <p:nvSpPr>
          <p:cNvPr id="8" name="chain-box"/>
          <p:cNvSpPr/>
          <p:nvPr/>
        </p:nvSpPr>
        <p:spPr>
          <a:xfrm>
            <a:off x="762000" y="3048000"/>
            <a:ext cx="5969000" cy="838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9" name="chain-text"/>
          <p:cNvSpPr txBox="1"/>
          <p:nvPr/>
        </p:nvSpPr>
        <p:spPr>
          <a:xfrm>
            <a:off x="965200" y="3175000"/>
            <a:ext cx="5562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P = ΔW/Δt = F·Δs/Δt = Fv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（因为 v = Δs/Δt）</a:t>
            </a:r>
            <a:endParaRPr lang="en-US" sz="1400" noProof="1"/>
          </a:p>
        </p:txBody>
      </p:sp>
      <p:sp>
        <p:nvSpPr>
          <p:cNvPr id="10" name="h2"/>
          <p:cNvSpPr txBox="1"/>
          <p:nvPr/>
        </p:nvSpPr>
        <p:spPr>
          <a:xfrm>
            <a:off x="762000" y="41402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两个形式怎么选？</a:t>
            </a:r>
            <a:endParaRPr lang="en-US" sz="1500" noProof="1"/>
          </a:p>
        </p:txBody>
      </p:sp>
      <p:sp>
        <p:nvSpPr>
          <p:cNvPr id="11" name="b2"/>
          <p:cNvSpPr txBox="1"/>
          <p:nvPr/>
        </p:nvSpPr>
        <p:spPr>
          <a:xfrm>
            <a:off x="762000" y="4495800"/>
            <a:ext cx="5969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P = W/t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：已知一段时间内的总功或总能量（电器、烧水、加速过程）。配合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E = P × Δt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反求能量。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P = Fv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：已知力与速度——交通工具类题目首选。</a:t>
            </a:r>
            <a:endParaRPr lang="en-US" sz="1350" noProof="1"/>
          </a:p>
        </p:txBody>
      </p:sp>
      <p:sp>
        <p:nvSpPr>
          <p:cNvPr id="12" name="axis-box"/>
          <p:cNvSpPr/>
          <p:nvPr/>
        </p:nvSpPr>
        <p:spPr>
          <a:xfrm>
            <a:off x="7366000" y="1905000"/>
            <a:ext cx="4064000" cy="3175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ex-head"/>
          <p:cNvSpPr txBox="1"/>
          <p:nvPr/>
        </p:nvSpPr>
        <p:spPr>
          <a:xfrm>
            <a:off x="7620000" y="20828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快算两例</a:t>
            </a:r>
            <a:endParaRPr lang="en-US" sz="1500" noProof="1"/>
          </a:p>
        </p:txBody>
      </p:sp>
      <p:sp>
        <p:nvSpPr>
          <p:cNvPr id="14" name="ex1"/>
          <p:cNvSpPr txBox="1"/>
          <p:nvPr/>
        </p:nvSpPr>
        <p:spPr>
          <a:xfrm>
            <a:off x="7620000" y="2489200"/>
            <a:ext cx="3556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电水壶：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烧水需 163800 J，P = 1200 W。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t = W/P = 163800 / 1200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136.5 s</a:t>
            </a:r>
            <a:endParaRPr lang="en-US" sz="1250" noProof="1"/>
          </a:p>
        </p:txBody>
      </p:sp>
      <p:sp>
        <p:nvSpPr>
          <p:cNvPr id="15" name="ex2"/>
          <p:cNvSpPr txBox="1"/>
          <p:nvPr/>
        </p:nvSpPr>
        <p:spPr>
          <a:xfrm>
            <a:off x="7620000" y="3632200"/>
            <a:ext cx="3556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踢球：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0.6 kg 球从静止到 12 m/s，用时 0.2 s。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E_k = ½ × 0.6 × 12² = 43.2 J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P = 43.2 / 0.2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216 W</a:t>
            </a:r>
            <a:endParaRPr lang="en-US" sz="1250" noProof="1"/>
          </a:p>
        </p:txBody>
      </p:sp>
      <p:sp>
        <p:nvSpPr>
          <p:cNvPr id="16" name="dia-caption"/>
          <p:cNvSpPr txBox="1"/>
          <p:nvPr/>
        </p:nvSpPr>
        <p:spPr>
          <a:xfrm>
            <a:off x="7366000" y="53340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平均功率的思路：先算"转了多少能量"，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再除以"花了多少时间"。</a:t>
            </a:r>
            <a:endParaRPr lang="en-US" sz="110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5 功、能量与功率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5.1 · WORKED EXAMPLE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例题演示：匀速汽车的功率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Constant velocity is the key phrase — resultant force is zero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-box"/>
          <p:cNvSpPr/>
          <p:nvPr/>
        </p:nvSpPr>
        <p:spPr>
          <a:xfrm>
            <a:off x="762000" y="1676400"/>
            <a:ext cx="6604000" cy="838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q-text"/>
          <p:cNvSpPr txBox="1"/>
          <p:nvPr/>
        </p:nvSpPr>
        <p:spPr>
          <a:xfrm>
            <a:off x="965200" y="1778000"/>
            <a:ext cx="6197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例题（PMT）：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汽车在平直公路上以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15 m/s 匀速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行驶，克服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200 N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摩擦力。求汽车产生的功率。</a:t>
            </a:r>
            <a:endParaRPr lang="en-US" sz="1300" noProof="1"/>
          </a:p>
        </p:txBody>
      </p:sp>
      <p:sp>
        <p:nvSpPr>
          <p:cNvPr id="8" name="s1-head"/>
          <p:cNvSpPr txBox="1"/>
          <p:nvPr/>
        </p:nvSpPr>
        <p:spPr>
          <a:xfrm>
            <a:off x="762000" y="27686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第一步：读懂"匀速"</a:t>
            </a:r>
            <a:endParaRPr lang="en-US" sz="1500" noProof="1"/>
          </a:p>
        </p:txBody>
      </p:sp>
      <p:sp>
        <p:nvSpPr>
          <p:cNvPr id="9" name="s1-body"/>
          <p:cNvSpPr txBox="1"/>
          <p:nvPr/>
        </p:nvSpPr>
        <p:spPr>
          <a:xfrm>
            <a:off x="762000" y="3124200"/>
            <a:ext cx="660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constant velocity → 由牛顿第一定律，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合力为零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→ 牵引力 = 阻力 = 200 N。这一步不写，后面全错。</a:t>
            </a:r>
            <a:endParaRPr lang="en-US" sz="1350" noProof="1"/>
          </a:p>
        </p:txBody>
      </p:sp>
      <p:sp>
        <p:nvSpPr>
          <p:cNvPr id="10" name="s2-head"/>
          <p:cNvSpPr txBox="1"/>
          <p:nvPr/>
        </p:nvSpPr>
        <p:spPr>
          <a:xfrm>
            <a:off x="762000" y="40640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第二步：P = Fv</a:t>
            </a:r>
            <a:endParaRPr lang="en-US" sz="1500" noProof="1"/>
          </a:p>
        </p:txBody>
      </p:sp>
      <p:sp>
        <p:nvSpPr>
          <p:cNvPr id="11" name="s2-body"/>
          <p:cNvSpPr txBox="1"/>
          <p:nvPr/>
        </p:nvSpPr>
        <p:spPr>
          <a:xfrm>
            <a:off x="762000" y="4419600"/>
            <a:ext cx="6604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P = Fv = 200 × 15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3000 W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（= 3 kW）</a:t>
            </a:r>
            <a:endParaRPr lang="en-US" sz="1350" noProof="1"/>
          </a:p>
        </p:txBody>
      </p:sp>
      <p:sp>
        <p:nvSpPr>
          <p:cNvPr id="12" name="tip-box"/>
          <p:cNvSpPr/>
          <p:nvPr/>
        </p:nvSpPr>
        <p:spPr>
          <a:xfrm>
            <a:off x="762000" y="5257800"/>
            <a:ext cx="6604000" cy="736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tip-body"/>
          <p:cNvSpPr txBox="1"/>
          <p:nvPr/>
        </p:nvSpPr>
        <p:spPr>
          <a:xfrm>
            <a:off x="965200" y="5359400"/>
            <a:ext cx="619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题眼：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看到 constant velocity / constant speed，立刻写"牵引力 = 阻力"——这是 3、4、5 章的综合考点。</a:t>
            </a:r>
            <a:endParaRPr lang="en-US" sz="1250" noProof="1"/>
          </a:p>
        </p:txBody>
      </p:sp>
      <p:sp>
        <p:nvSpPr>
          <p:cNvPr id="14" name="road"/>
          <p:cNvSpPr/>
          <p:nvPr>
            <p:extLst>
              <p:ext uri="{F5677B7D-0D2A-4D9B-9A5C-6D8D7D0E5A5D}">
                <pptd:line encoding="base64url">eyJ2aWV3Qm94IjpbMjcwLDRdLCJwb2ludHMiOiIwLDIgMjcwLDIiLCJjdXJ2ZSI6InNoYXJwIn0</pptd:line>
              </p:ext>
            </p:extLst>
          </p:nvPr>
        </p:nvSpPr>
        <p:spPr>
          <a:xfrm>
            <a:off x="8128000" y="4191000"/>
            <a:ext cx="3429000" cy="50800"/>
          </a:xfrm>
          <a:custGeom>
            <a:avLst/>
            <a:gdLst/>
            <a:ahLst/>
            <a:cxnLst/>
            <a:rect l="l" t="t" r="r" b="b"/>
            <a:pathLst>
              <a:path w="270" h="4">
                <a:moveTo>
                  <a:pt x="0" y="2"/>
                </a:moveTo>
                <a:lnTo>
                  <a:pt x="270" y="2"/>
                </a:lnTo>
              </a:path>
            </a:pathLst>
          </a:custGeom>
          <a:noFill/>
          <a:ln w="25400">
            <a:solidFill>
              <a:srgbClr val="6E6A62"/>
            </a:solidFill>
          </a:ln>
        </p:spPr>
      </p:sp>
      <p:sp>
        <p:nvSpPr>
          <p:cNvPr id="15" name="car"/>
          <p:cNvSpPr/>
          <p:nvPr/>
        </p:nvSpPr>
        <p:spPr>
          <a:xfrm>
            <a:off x="9144000" y="3556000"/>
            <a:ext cx="1397000" cy="584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6" name="car-label"/>
          <p:cNvSpPr txBox="1"/>
          <p:nvPr/>
        </p:nvSpPr>
        <p:spPr>
          <a:xfrm>
            <a:off x="9144000" y="36830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car</a:t>
            </a:r>
            <a:endParaRPr lang="en-US" sz="1300" noProof="1"/>
          </a:p>
        </p:txBody>
      </p:sp>
      <p:sp>
        <p:nvSpPr>
          <p:cNvPr id="17" name="v-arrow"/>
          <p:cNvSpPr/>
          <p:nvPr>
            <p:extLst>
              <p:ext uri="{F5677B7D-0D2A-4D9B-9A5C-6D8D7D0E5A5D}">
                <pptd:line encoding="base64url">eyJ2aWV3Qm94IjpbODAsNF0sInBvaW50cyI6IjAsMiA4MCwyIiwiY3VydmUiOiJzaGFycCJ9</pptd:line>
              </p:ext>
            </p:extLst>
          </p:nvPr>
        </p:nvSpPr>
        <p:spPr>
          <a:xfrm>
            <a:off x="10541000" y="37592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80" h="4">
                <a:moveTo>
                  <a:pt x="0" y="2"/>
                </a:moveTo>
                <a:lnTo>
                  <a:pt x="80" y="2"/>
                </a:lnTo>
              </a:path>
            </a:pathLst>
          </a:custGeom>
          <a:noFill/>
          <a:ln w="38100">
            <a:solidFill>
              <a:srgbClr val="22303A"/>
            </a:solidFill>
            <a:tailEnd type="arrow"/>
          </a:ln>
        </p:spPr>
      </p:sp>
      <p:sp>
        <p:nvSpPr>
          <p:cNvPr id="18" name="v-label"/>
          <p:cNvSpPr txBox="1"/>
          <p:nvPr/>
        </p:nvSpPr>
        <p:spPr>
          <a:xfrm>
            <a:off x="10617200" y="34290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v = 15 m/s</a:t>
            </a:r>
            <a:endParaRPr lang="en-US" sz="1250" noProof="1"/>
          </a:p>
        </p:txBody>
      </p:sp>
      <p:sp>
        <p:nvSpPr>
          <p:cNvPr id="19" name="f-drive"/>
          <p:cNvSpPr/>
          <p:nvPr>
            <p:extLst>
              <p:ext uri="{F5677B7D-0D2A-4D9B-9A5C-6D8D7D0E5A5D}">
                <pptd:line encoding="base64url">eyJ2aWV3Qm94IjpbNzAsNF0sInBvaW50cyI6IjAsMiA3MCwyIiwiY3VydmUiOiJzaGFycCJ9</pptd:line>
              </p:ext>
            </p:extLst>
          </p:nvPr>
        </p:nvSpPr>
        <p:spPr>
          <a:xfrm>
            <a:off x="10541000" y="4013200"/>
            <a:ext cx="889000" cy="50800"/>
          </a:xfrm>
          <a:custGeom>
            <a:avLst/>
            <a:gdLst/>
            <a:ahLst/>
            <a:cxnLst/>
            <a:rect l="l" t="t" r="r" b="b"/>
            <a:pathLst>
              <a:path w="70" h="4">
                <a:moveTo>
                  <a:pt x="0" y="2"/>
                </a:moveTo>
                <a:lnTo>
                  <a:pt x="70" y="2"/>
                </a:lnTo>
              </a:path>
            </a:pathLst>
          </a:custGeom>
          <a:noFill/>
          <a:ln w="31750">
            <a:solidFill>
              <a:srgbClr val="0E5A55"/>
            </a:solidFill>
            <a:tailEnd type="arrow"/>
          </a:ln>
        </p:spPr>
      </p:sp>
      <p:sp>
        <p:nvSpPr>
          <p:cNvPr id="20" name="f-drive-label"/>
          <p:cNvSpPr txBox="1"/>
          <p:nvPr/>
        </p:nvSpPr>
        <p:spPr>
          <a:xfrm>
            <a:off x="10642600" y="4114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0E5A55"/>
                </a:solidFill>
                <a:latin typeface="MiSans"/>
                <a:ea typeface="MiSans"/>
              </a:rPr>
              <a:t>牵引力 200 N</a:t>
            </a:r>
            <a:endParaRPr lang="en-US" sz="1150" noProof="1"/>
          </a:p>
        </p:txBody>
      </p:sp>
      <p:sp>
        <p:nvSpPr>
          <p:cNvPr id="21" name="f-drag"/>
          <p:cNvSpPr/>
          <p:nvPr>
            <p:extLst>
              <p:ext uri="{F5677B7D-0D2A-4D9B-9A5C-6D8D7D0E5A5D}">
                <pptd:line encoding="base64url">eyJ2aWV3Qm94IjpbNzAsNF0sInBvaW50cyI6IjcwLDIgMCwyIiwiY3VydmUiOiJzaGFycCJ9</pptd:line>
              </p:ext>
            </p:extLst>
          </p:nvPr>
        </p:nvSpPr>
        <p:spPr>
          <a:xfrm>
            <a:off x="8255000" y="4013200"/>
            <a:ext cx="889000" cy="50800"/>
          </a:xfrm>
          <a:custGeom>
            <a:avLst/>
            <a:gdLst/>
            <a:ahLst/>
            <a:cxnLst/>
            <a:rect l="l" t="t" r="r" b="b"/>
            <a:pathLst>
              <a:path w="70" h="4">
                <a:moveTo>
                  <a:pt x="70" y="2"/>
                </a:moveTo>
                <a:lnTo>
                  <a:pt x="0" y="2"/>
                </a:lnTo>
              </a:path>
            </a:pathLst>
          </a:custGeom>
          <a:noFill/>
          <a:ln w="31750">
            <a:solidFill>
              <a:srgbClr val="C96F16"/>
            </a:solidFill>
            <a:tailEnd type="arrow"/>
          </a:ln>
        </p:spPr>
      </p:sp>
      <p:sp>
        <p:nvSpPr>
          <p:cNvPr id="22" name="f-drag-label"/>
          <p:cNvSpPr txBox="1"/>
          <p:nvPr/>
        </p:nvSpPr>
        <p:spPr>
          <a:xfrm>
            <a:off x="7569200" y="4114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C96F16"/>
                </a:solidFill>
                <a:latin typeface="MiSans"/>
                <a:ea typeface="MiSans"/>
              </a:rPr>
              <a:t>摩擦力 200 N</a:t>
            </a:r>
            <a:endParaRPr lang="en-US" sz="1150" noProof="1"/>
          </a:p>
        </p:txBody>
      </p:sp>
      <p:sp>
        <p:nvSpPr>
          <p:cNvPr id="23" name="dia-caption"/>
          <p:cNvSpPr txBox="1"/>
          <p:nvPr/>
        </p:nvSpPr>
        <p:spPr>
          <a:xfrm>
            <a:off x="7874000" y="48260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匀速 → 两力等大反向，合力为零；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引擎的功全部用来克服摩擦。</a:t>
            </a:r>
            <a:endParaRPr lang="en-US" sz="1100" noProof="1"/>
          </a:p>
        </p:txBody>
      </p:sp>
      <p:sp>
        <p:nvSpPr>
          <p:cNvPr id="2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5 功、能量与功率</a:t>
            </a:r>
            <a:endParaRPr lang="en-US" sz="1000" noProof="1"/>
          </a:p>
        </p:txBody>
      </p:sp>
      <p:sp>
        <p:nvSpPr>
          <p:cNvPr id="2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5.2 · KINETIC ENERGY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动能 E_k = ½mv² 从哪里来？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Deriving it from suvat plus Newton's second law — four steps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1-badge"/>
          <p:cNvSpPr/>
          <p:nvPr/>
        </p:nvSpPr>
        <p:spPr>
          <a:xfrm>
            <a:off x="762000" y="17526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s1-num"/>
          <p:cNvSpPr txBox="1"/>
          <p:nvPr/>
        </p:nvSpPr>
        <p:spPr>
          <a:xfrm>
            <a:off x="762000" y="17526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1500" noProof="1"/>
          </a:p>
        </p:txBody>
      </p:sp>
      <p:sp>
        <p:nvSpPr>
          <p:cNvPr id="8" name="s1-body"/>
          <p:cNvSpPr txBox="1"/>
          <p:nvPr/>
        </p:nvSpPr>
        <p:spPr>
          <a:xfrm>
            <a:off x="1397000" y="1752600"/>
            <a:ext cx="939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匀加速公式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物体从静止匀加速到 v，由 v² = u² + 2as（u = 0）：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v² = 2as　→　a = v²/2s</a:t>
            </a:r>
            <a:endParaRPr lang="en-US" sz="1300" noProof="1"/>
          </a:p>
        </p:txBody>
      </p:sp>
      <p:sp>
        <p:nvSpPr>
          <p:cNvPr id="9" name="s2-badge"/>
          <p:cNvSpPr/>
          <p:nvPr/>
        </p:nvSpPr>
        <p:spPr>
          <a:xfrm>
            <a:off x="762000" y="26670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0" name="s2-num"/>
          <p:cNvSpPr txBox="1"/>
          <p:nvPr/>
        </p:nvSpPr>
        <p:spPr>
          <a:xfrm>
            <a:off x="762000" y="26670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1500" noProof="1"/>
          </a:p>
        </p:txBody>
      </p:sp>
      <p:sp>
        <p:nvSpPr>
          <p:cNvPr id="11" name="s2-body"/>
          <p:cNvSpPr txBox="1"/>
          <p:nvPr/>
        </p:nvSpPr>
        <p:spPr>
          <a:xfrm>
            <a:off x="1397000" y="2667000"/>
            <a:ext cx="939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两边乘质量 m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，左边正是 ma：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ma = mv²/2s</a:t>
            </a:r>
            <a:endParaRPr lang="en-US" sz="1300" noProof="1"/>
          </a:p>
        </p:txBody>
      </p:sp>
      <p:sp>
        <p:nvSpPr>
          <p:cNvPr id="12" name="s3-badge"/>
          <p:cNvSpPr/>
          <p:nvPr/>
        </p:nvSpPr>
        <p:spPr>
          <a:xfrm>
            <a:off x="762000" y="35814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3" name="s3-num"/>
          <p:cNvSpPr txBox="1"/>
          <p:nvPr/>
        </p:nvSpPr>
        <p:spPr>
          <a:xfrm>
            <a:off x="762000" y="35814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lang="en-US" sz="1500" noProof="1"/>
          </a:p>
        </p:txBody>
      </p:sp>
      <p:sp>
        <p:nvSpPr>
          <p:cNvPr id="14" name="s3-body"/>
          <p:cNvSpPr txBox="1"/>
          <p:nvPr/>
        </p:nvSpPr>
        <p:spPr>
          <a:xfrm>
            <a:off x="1397000" y="3581400"/>
            <a:ext cx="939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代入牛顿第二定律 F = ma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：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F = mv²/2s</a:t>
            </a:r>
            <a:endParaRPr lang="en-US" sz="1300" noProof="1"/>
          </a:p>
        </p:txBody>
      </p:sp>
      <p:sp>
        <p:nvSpPr>
          <p:cNvPr id="15" name="s4-badge"/>
          <p:cNvSpPr/>
          <p:nvPr/>
        </p:nvSpPr>
        <p:spPr>
          <a:xfrm>
            <a:off x="762000" y="44958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6" name="s4-num"/>
          <p:cNvSpPr txBox="1"/>
          <p:nvPr/>
        </p:nvSpPr>
        <p:spPr>
          <a:xfrm>
            <a:off x="762000" y="44958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4</a:t>
            </a:r>
            <a:endParaRPr lang="en-US" sz="1500" noProof="1"/>
          </a:p>
        </p:txBody>
      </p:sp>
      <p:sp>
        <p:nvSpPr>
          <p:cNvPr id="17" name="s4-body"/>
          <p:cNvSpPr txBox="1"/>
          <p:nvPr/>
        </p:nvSpPr>
        <p:spPr>
          <a:xfrm>
            <a:off x="1397000" y="4495800"/>
            <a:ext cx="939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两边乘距离 s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（功 = 力 × 距离），左边就是功，也就是物体获得的动能：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W = Fs = ½mv² = E_k</a:t>
            </a:r>
            <a:endParaRPr lang="en-US" sz="1300" noProof="1"/>
          </a:p>
        </p:txBody>
      </p:sp>
      <p:sp>
        <p:nvSpPr>
          <p:cNvPr id="18" name="result-box"/>
          <p:cNvSpPr/>
          <p:nvPr/>
        </p:nvSpPr>
        <p:spPr>
          <a:xfrm>
            <a:off x="762000" y="54356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9" name="result-text"/>
          <p:cNvSpPr txBox="1"/>
          <p:nvPr/>
        </p:nvSpPr>
        <p:spPr>
          <a:xfrm>
            <a:off x="965200" y="5537200"/>
            <a:ext cx="10261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逻辑链：</a:t>
            </a: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v² = 2as → 乘 m → 换 F → 乘 s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四步把"运动学"翻译成"能量"，考试可能要求完整写出。</a:t>
            </a:r>
            <a:endParaRPr lang="en-US" sz="135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5 功、能量与功率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5.2 · GRAVITATIONAL POTENTIAL ENERGY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重力势能 ΔE_p = mgΔh：Δh 是竖直高度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Valid near the Earth's surface where g is uniform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两步推导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① 匀速提升物体，所需的力 = 重量：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F = mg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② 功 = 力 × 距离：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W = mgΔh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，这正是重力势能的增加量：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ΔE_p = mgΔh</a:t>
            </a:r>
            <a:endParaRPr lang="en-US" sz="1350" noProof="1"/>
          </a:p>
        </p:txBody>
      </p:sp>
      <p:sp>
        <p:nvSpPr>
          <p:cNvPr id="8" name="h2"/>
          <p:cNvSpPr txBox="1"/>
          <p:nvPr/>
        </p:nvSpPr>
        <p:spPr>
          <a:xfrm>
            <a:off x="762000" y="32766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三个关键认识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762000" y="3632200"/>
            <a:ext cx="5969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Δh 是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竖直方向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的高度变化——斜面、圆弧问题要用三角函数换算；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施力方向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不必竖直向上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，只看高度变化；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公式只在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地面附近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成立（g 可视为均匀）。</a:t>
            </a:r>
            <a:endParaRPr lang="en-US" sz="1350" noProof="1"/>
          </a:p>
        </p:txBody>
      </p:sp>
      <p:sp>
        <p:nvSpPr>
          <p:cNvPr id="10" name="warn-box"/>
          <p:cNvSpPr/>
          <p:nvPr/>
        </p:nvSpPr>
        <p:spPr>
          <a:xfrm>
            <a:off x="762000" y="5207000"/>
            <a:ext cx="5969000" cy="787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warn-body"/>
          <p:cNvSpPr txBox="1"/>
          <p:nvPr/>
        </p:nvSpPr>
        <p:spPr>
          <a:xfrm>
            <a:off x="965200" y="5308600"/>
            <a:ext cx="5562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沿斜面推高物体时，把斜面长度当 Δh 是典型错误——必须用斜面长度 × sin θ 求竖直高度。</a:t>
            </a:r>
            <a:endParaRPr lang="en-US" sz="1250" noProof="1"/>
          </a:p>
        </p:txBody>
      </p:sp>
      <p:sp>
        <p:nvSpPr>
          <p:cNvPr id="12" name="slope"/>
          <p:cNvSpPr/>
          <p:nvPr>
            <p:extLst>
              <p:ext uri="{F5677B7D-0D2A-4D9B-9A5C-6D8D7D0E5A5D}">
                <pptd:line encoding="base64url">eyJ2aWV3Qm94IjpbMjQwLDE2MF0sInBvaW50cyI6IjAsMTYwIDI0MCwwIiwiY3VydmUiOiJzaGFycCJ9</pptd:line>
              </p:ext>
            </p:extLst>
          </p:nvPr>
        </p:nvSpPr>
        <p:spPr>
          <a:xfrm>
            <a:off x="7874000" y="2794000"/>
            <a:ext cx="3048000" cy="2032000"/>
          </a:xfrm>
          <a:custGeom>
            <a:avLst/>
            <a:gdLst/>
            <a:ahLst/>
            <a:cxnLst/>
            <a:rect l="l" t="t" r="r" b="b"/>
            <a:pathLst>
              <a:path w="240" h="160">
                <a:moveTo>
                  <a:pt x="0" y="160"/>
                </a:moveTo>
                <a:lnTo>
                  <a:pt x="240" y="0"/>
                </a:lnTo>
              </a:path>
            </a:pathLst>
          </a:custGeom>
          <a:noFill/>
          <a:ln w="31750">
            <a:solidFill>
              <a:srgbClr val="22303A"/>
            </a:solidFill>
          </a:ln>
        </p:spPr>
      </p:sp>
      <p:sp>
        <p:nvSpPr>
          <p:cNvPr id="13" name="base"/>
          <p:cNvSpPr/>
          <p:nvPr>
            <p:extLst>
              <p:ext uri="{F5677B7D-0D2A-4D9B-9A5C-6D8D7D0E5A5D}">
                <pptd:line encoding="base64url">eyJ2aWV3Qm94IjpbMjQwLDRdLCJwb2ludHMiOiIwLDIgMjQwLDIiLCJjdXJ2ZSI6InNoYXJwIn0</pptd:line>
              </p:ext>
            </p:extLst>
          </p:nvPr>
        </p:nvSpPr>
        <p:spPr>
          <a:xfrm>
            <a:off x="7874000" y="4800600"/>
            <a:ext cx="3048000" cy="50800"/>
          </a:xfrm>
          <a:custGeom>
            <a:avLst/>
            <a:gdLst/>
            <a:ahLst/>
            <a:cxnLst/>
            <a:rect l="l" t="t" r="r" b="b"/>
            <a:pathLst>
              <a:path w="240" h="4">
                <a:moveTo>
                  <a:pt x="0" y="2"/>
                </a:moveTo>
                <a:lnTo>
                  <a:pt x="240" y="2"/>
                </a:lnTo>
              </a:path>
            </a:pathLst>
          </a:custGeom>
          <a:noFill/>
          <a:ln w="25400">
            <a:solidFill>
              <a:srgbClr val="6E6A62"/>
            </a:solidFill>
          </a:ln>
        </p:spPr>
      </p:sp>
      <p:sp>
        <p:nvSpPr>
          <p:cNvPr id="14" name="h-line"/>
          <p:cNvSpPr/>
          <p:nvPr>
            <p:extLst>
              <p:ext uri="{F5677B7D-0D2A-4D9B-9A5C-6D8D7D0E5A5D}">
                <pptd:line encoding="base64url">eyJ2aWV3Qm94IjpbNCwxNTJdLCJwb2ludHMiOiIyLDAgMiwxNTIiLCJjdXJ2ZSI6InNoYXJwIn0</pptd:line>
              </p:ext>
            </p:extLst>
          </p:nvPr>
        </p:nvSpPr>
        <p:spPr>
          <a:xfrm>
            <a:off x="10871200" y="2844800"/>
            <a:ext cx="50800" cy="1930400"/>
          </a:xfrm>
          <a:custGeom>
            <a:avLst/>
            <a:gdLst/>
            <a:ahLst/>
            <a:cxnLst/>
            <a:rect l="l" t="t" r="r" b="b"/>
            <a:pathLst>
              <a:path w="4" h="152">
                <a:moveTo>
                  <a:pt x="2" y="0"/>
                </a:moveTo>
                <a:lnTo>
                  <a:pt x="2" y="152"/>
                </a:lnTo>
              </a:path>
            </a:pathLst>
          </a:custGeom>
          <a:noFill/>
          <a:ln w="19050">
            <a:solidFill>
              <a:srgbClr val="0E5A55"/>
            </a:solidFill>
            <a:prstDash val="dash"/>
          </a:ln>
        </p:spPr>
      </p:sp>
      <p:sp>
        <p:nvSpPr>
          <p:cNvPr id="15" name="top-line"/>
          <p:cNvSpPr/>
          <p:nvPr>
            <p:extLst>
              <p:ext uri="{F5677B7D-0D2A-4D9B-9A5C-6D8D7D0E5A5D}">
                <pptd:line encoding="base64url">eyJ2aWV3Qm94IjpbMTAsNF0sInBvaW50cyI6IjAsMiAxMCwyIiwiY3VydmUiOiJzaGFycCJ9</pptd:line>
              </p:ext>
            </p:extLst>
          </p:nvPr>
        </p:nvSpPr>
        <p:spPr>
          <a:xfrm>
            <a:off x="10871200" y="2819400"/>
            <a:ext cx="127000" cy="50800"/>
          </a:xfrm>
          <a:custGeom>
            <a:avLst/>
            <a:gdLst/>
            <a:ahLst/>
            <a:cxnLst/>
            <a:rect l="l" t="t" r="r" b="b"/>
            <a:pathLst>
              <a:path w="10" h="4">
                <a:moveTo>
                  <a:pt x="0" y="2"/>
                </a:moveTo>
                <a:lnTo>
                  <a:pt x="10" y="2"/>
                </a:lnTo>
              </a:path>
            </a:pathLst>
          </a:custGeom>
          <a:noFill/>
          <a:ln w="19050">
            <a:solidFill>
              <a:srgbClr val="0E5A55"/>
            </a:solidFill>
            <a:prstDash val="dash"/>
          </a:ln>
        </p:spPr>
      </p:sp>
      <p:sp>
        <p:nvSpPr>
          <p:cNvPr id="16" name="dh-label"/>
          <p:cNvSpPr txBox="1"/>
          <p:nvPr/>
        </p:nvSpPr>
        <p:spPr>
          <a:xfrm>
            <a:off x="11023600" y="36576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Δh</a:t>
            </a:r>
            <a:endParaRPr lang="en-US" sz="1300" noProof="1"/>
          </a:p>
        </p:txBody>
      </p:sp>
      <p:sp>
        <p:nvSpPr>
          <p:cNvPr id="17" name="box"/>
          <p:cNvSpPr/>
          <p:nvPr/>
        </p:nvSpPr>
        <p:spPr>
          <a:xfrm>
            <a:off x="9398000" y="3327400"/>
            <a:ext cx="508000" cy="381000"/>
          </a:xfrm>
          <a:prstGeom prst="rect">
            <a:avLst/>
          </a:prstGeom>
          <a:solidFill>
            <a:srgbClr val="EFE9DF"/>
          </a:solidFill>
          <a:ln w="25400">
            <a:solidFill>
              <a:srgbClr val="C96F16"/>
            </a:solidFill>
          </a:ln>
        </p:spPr>
      </p:sp>
      <p:sp>
        <p:nvSpPr>
          <p:cNvPr id="18" name="s-label"/>
          <p:cNvSpPr txBox="1"/>
          <p:nvPr/>
        </p:nvSpPr>
        <p:spPr>
          <a:xfrm>
            <a:off x="8382000" y="3937000"/>
            <a:ext cx="1651000" cy="254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沿斜面距离 s</a:t>
            </a:r>
            <a:endParaRPr lang="en-US" sz="1200" noProof="1"/>
          </a:p>
        </p:txBody>
      </p:sp>
      <p:sp>
        <p:nvSpPr>
          <p:cNvPr id="19" name="theta2-label"/>
          <p:cNvSpPr txBox="1"/>
          <p:nvPr/>
        </p:nvSpPr>
        <p:spPr>
          <a:xfrm>
            <a:off x="8382000" y="45720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θ</a:t>
            </a:r>
            <a:endParaRPr lang="en-US" sz="1250" noProof="1"/>
          </a:p>
        </p:txBody>
      </p:sp>
      <p:sp>
        <p:nvSpPr>
          <p:cNvPr id="20" name="dia-caption"/>
          <p:cNvSpPr txBox="1"/>
          <p:nvPr/>
        </p:nvSpPr>
        <p:spPr>
          <a:xfrm>
            <a:off x="7493000" y="5334000"/>
            <a:ext cx="419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沿斜面推上 s 的距离，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竖直高度只增加 Δh = s sin θ。</a:t>
            </a:r>
            <a:endParaRPr lang="en-US" sz="1100" noProof="1"/>
          </a:p>
        </p:txBody>
      </p:sp>
      <p:sp>
        <p:nvSpPr>
          <p:cNvPr id="21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2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5 功、能量与功率</a:t>
            </a:r>
            <a:endParaRPr lang="en-US" sz="1000" noProof="1"/>
          </a:p>
        </p:txBody>
      </p:sp>
      <p:sp>
        <p:nvSpPr>
          <p:cNvPr id="23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5.2 · WORKED EXAMPLE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例题演示：单摆的最大速度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Equating ΔE_p and ΔE_k — notice that mass cancels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-box"/>
          <p:cNvSpPr/>
          <p:nvPr/>
        </p:nvSpPr>
        <p:spPr>
          <a:xfrm>
            <a:off x="762000" y="1676400"/>
            <a:ext cx="6604000" cy="990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q-text"/>
          <p:cNvSpPr txBox="1"/>
          <p:nvPr/>
        </p:nvSpPr>
        <p:spPr>
          <a:xfrm>
            <a:off x="965200" y="1778000"/>
            <a:ext cx="6197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例题（PMT）：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质量 500 g 的单摆，最大摆幅处比平衡位置高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10 cm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。忽略空气阻力，求摆动中的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最大速度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A 500 g pendulum rises 10 cm at maximum amplitude. Find its maximum speed.</a:t>
            </a:r>
            <a:endParaRPr lang="en-US" sz="1300" noProof="1"/>
          </a:p>
        </p:txBody>
      </p:sp>
      <p:sp>
        <p:nvSpPr>
          <p:cNvPr id="8" name="s1-head"/>
          <p:cNvSpPr txBox="1"/>
          <p:nvPr/>
        </p:nvSpPr>
        <p:spPr>
          <a:xfrm>
            <a:off x="762000" y="29210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第一步：最大势能（摆幅处）</a:t>
            </a:r>
            <a:endParaRPr lang="en-US" sz="1500" noProof="1"/>
          </a:p>
        </p:txBody>
      </p:sp>
      <p:sp>
        <p:nvSpPr>
          <p:cNvPr id="9" name="s1-body"/>
          <p:cNvSpPr txBox="1"/>
          <p:nvPr/>
        </p:nvSpPr>
        <p:spPr>
          <a:xfrm>
            <a:off x="762000" y="3276600"/>
            <a:ext cx="6604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ΔE_p = mgΔh = 0.5 × 9.81 × 0.1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0.4905 J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（注意单位换算：g → kg，cm → m）</a:t>
            </a:r>
            <a:endParaRPr lang="en-US" sz="1350" noProof="1"/>
          </a:p>
        </p:txBody>
      </p:sp>
      <p:sp>
        <p:nvSpPr>
          <p:cNvPr id="10" name="s2-head"/>
          <p:cNvSpPr txBox="1"/>
          <p:nvPr/>
        </p:nvSpPr>
        <p:spPr>
          <a:xfrm>
            <a:off x="762000" y="40132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第二步：最低点全部转化为动能</a:t>
            </a:r>
            <a:endParaRPr lang="en-US" sz="1500" noProof="1"/>
          </a:p>
        </p:txBody>
      </p:sp>
      <p:sp>
        <p:nvSpPr>
          <p:cNvPr id="11" name="s2-body"/>
          <p:cNvSpPr txBox="1"/>
          <p:nvPr/>
        </p:nvSpPr>
        <p:spPr>
          <a:xfrm>
            <a:off x="762000" y="4368800"/>
            <a:ext cx="660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½ × 0.5 × v² = 0.4905 → v² = 1.962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v = 1.4 m/s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（最低点速度最大）</a:t>
            </a:r>
            <a:endParaRPr lang="en-US" sz="1350" noProof="1"/>
          </a:p>
        </p:txBody>
      </p:sp>
      <p:sp>
        <p:nvSpPr>
          <p:cNvPr id="12" name="tip-box"/>
          <p:cNvSpPr/>
          <p:nvPr/>
        </p:nvSpPr>
        <p:spPr>
          <a:xfrm>
            <a:off x="762000" y="5384800"/>
            <a:ext cx="6604000" cy="736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tip-body"/>
          <p:cNvSpPr txBox="1"/>
          <p:nvPr/>
        </p:nvSpPr>
        <p:spPr>
          <a:xfrm>
            <a:off x="965200" y="5486400"/>
            <a:ext cx="6197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洞察：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令 ½mv² = mgΔh 时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m 两边约掉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——v = √(2gΔh)，答案与质量无关。算出带 m 的答案说明绕远了。</a:t>
            </a:r>
            <a:endParaRPr lang="en-US" sz="1250" noProof="1"/>
          </a:p>
        </p:txBody>
      </p:sp>
      <p:sp>
        <p:nvSpPr>
          <p:cNvPr id="14" name="pivot-dot"/>
          <p:cNvSpPr/>
          <p:nvPr/>
        </p:nvSpPr>
        <p:spPr>
          <a:xfrm>
            <a:off x="9588500" y="1905000"/>
            <a:ext cx="127000" cy="127000"/>
          </a:xfrm>
          <a:prstGeom prst="ellipse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5" name="string1"/>
          <p:cNvSpPr/>
          <p:nvPr>
            <p:extLst>
              <p:ext uri="{F5677B7D-0D2A-4D9B-9A5C-6D8D7D0E5A5D}">
                <pptd:line encoding="base64url">eyJ2aWV3Qm94IjpbMTAyLDE5NF0sInBvaW50cyI6IjEwMCwwIDAsMTk0IiwiY3VydmUiOiJzaGFycCJ9</pptd:line>
              </p:ext>
            </p:extLst>
          </p:nvPr>
        </p:nvSpPr>
        <p:spPr>
          <a:xfrm>
            <a:off x="8382000" y="1981200"/>
            <a:ext cx="1295400" cy="2463800"/>
          </a:xfrm>
          <a:custGeom>
            <a:avLst/>
            <a:gdLst/>
            <a:ahLst/>
            <a:cxnLst/>
            <a:rect l="l" t="t" r="r" b="b"/>
            <a:pathLst>
              <a:path w="102" h="194">
                <a:moveTo>
                  <a:pt x="100" y="0"/>
                </a:moveTo>
                <a:lnTo>
                  <a:pt x="0" y="194"/>
                </a:lnTo>
              </a:path>
            </a:pathLst>
          </a:custGeom>
          <a:noFill/>
          <a:ln w="19050">
            <a:solidFill>
              <a:srgbClr val="6E6A62"/>
            </a:solidFill>
          </a:ln>
        </p:spPr>
      </p:sp>
      <p:sp>
        <p:nvSpPr>
          <p:cNvPr id="16" name="string2"/>
          <p:cNvSpPr/>
          <p:nvPr>
            <p:extLst>
              <p:ext uri="{F5677B7D-0D2A-4D9B-9A5C-6D8D7D0E5A5D}">
                <pptd:line encoding="base64url">eyJ2aWV3Qm94IjpbNCwyMDBdLCJwb2ludHMiOiIyLDAgMiwyMDAiLCJjdXJ2ZSI6InNoYXJwIn0</pptd:line>
              </p:ext>
            </p:extLst>
          </p:nvPr>
        </p:nvSpPr>
        <p:spPr>
          <a:xfrm>
            <a:off x="9626600" y="1981200"/>
            <a:ext cx="50800" cy="2540000"/>
          </a:xfrm>
          <a:custGeom>
            <a:avLst/>
            <a:gdLst/>
            <a:ahLst/>
            <a:cxnLst/>
            <a:rect l="l" t="t" r="r" b="b"/>
            <a:pathLst>
              <a:path w="4" h="200">
                <a:moveTo>
                  <a:pt x="2" y="0"/>
                </a:moveTo>
                <a:lnTo>
                  <a:pt x="2" y="200"/>
                </a:lnTo>
              </a:path>
            </a:pathLst>
          </a:custGeom>
          <a:noFill/>
          <a:ln w="19050">
            <a:solidFill>
              <a:srgbClr val="6E6A62"/>
            </a:solidFill>
            <a:prstDash val="dash"/>
          </a:ln>
        </p:spPr>
      </p:sp>
      <p:sp>
        <p:nvSpPr>
          <p:cNvPr id="17" name="bob1"/>
          <p:cNvSpPr/>
          <p:nvPr/>
        </p:nvSpPr>
        <p:spPr>
          <a:xfrm>
            <a:off x="8229600" y="4368800"/>
            <a:ext cx="279400" cy="2794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8" name="bob2"/>
          <p:cNvSpPr/>
          <p:nvPr/>
        </p:nvSpPr>
        <p:spPr>
          <a:xfrm>
            <a:off x="9512300" y="4445000"/>
            <a:ext cx="279400" cy="2794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9" name="h-mark"/>
          <p:cNvSpPr/>
          <p:nvPr>
            <p:extLst>
              <p:ext uri="{F5677B7D-0D2A-4D9B-9A5C-6D8D7D0E5A5D}">
                <pptd:line encoding="base64url">eyJ2aWV3Qm94IjpbODgsNF0sInBvaW50cyI6IjAsMiA4OCwyIiwiY3VydmUiOiJzaGFycCJ9</pptd:line>
              </p:ext>
            </p:extLst>
          </p:nvPr>
        </p:nvSpPr>
        <p:spPr>
          <a:xfrm>
            <a:off x="8382000" y="4470400"/>
            <a:ext cx="1117600" cy="50800"/>
          </a:xfrm>
          <a:custGeom>
            <a:avLst/>
            <a:gdLst/>
            <a:ahLst/>
            <a:cxnLst/>
            <a:rect l="l" t="t" r="r" b="b"/>
            <a:pathLst>
              <a:path w="88" h="4">
                <a:moveTo>
                  <a:pt x="0" y="2"/>
                </a:moveTo>
                <a:lnTo>
                  <a:pt x="88" y="2"/>
                </a:lnTo>
              </a:path>
            </a:pathLst>
          </a:custGeom>
          <a:noFill/>
          <a:ln w="19050">
            <a:solidFill>
              <a:srgbClr val="0E5A55"/>
            </a:solidFill>
            <a:prstDash val="dash"/>
          </a:ln>
        </p:spPr>
      </p:sp>
      <p:sp>
        <p:nvSpPr>
          <p:cNvPr id="20" name="h-brace"/>
          <p:cNvSpPr/>
          <p:nvPr>
            <p:extLst>
              <p:ext uri="{F5677B7D-0D2A-4D9B-9A5C-6D8D7D0E5A5D}">
                <pptd:line encoding="base64url">eyJ2aWV3Qm94IjpbNCwyMF0sInBvaW50cyI6IjIsMCAyLDIwIiwiY3VydmUiOiJzaGFycCJ9</pptd:line>
              </p:ext>
            </p:extLst>
          </p:nvPr>
        </p:nvSpPr>
        <p:spPr>
          <a:xfrm>
            <a:off x="8382000" y="4495800"/>
            <a:ext cx="50800" cy="254000"/>
          </a:xfrm>
          <a:custGeom>
            <a:avLst/>
            <a:gdLst/>
            <a:ahLst/>
            <a:cxnLst/>
            <a:rect l="l" t="t" r="r" b="b"/>
            <a:pathLst>
              <a:path w="4" h="20">
                <a:moveTo>
                  <a:pt x="2" y="0"/>
                </a:moveTo>
                <a:lnTo>
                  <a:pt x="2" y="20"/>
                </a:lnTo>
              </a:path>
            </a:pathLst>
          </a:custGeom>
          <a:noFill/>
          <a:ln w="19050">
            <a:solidFill>
              <a:srgbClr val="0E5A55"/>
            </a:solidFill>
            <a:prstDash val="dash"/>
          </a:ln>
        </p:spPr>
      </p:sp>
      <p:sp>
        <p:nvSpPr>
          <p:cNvPr id="21" name="h-label"/>
          <p:cNvSpPr txBox="1"/>
          <p:nvPr/>
        </p:nvSpPr>
        <p:spPr>
          <a:xfrm>
            <a:off x="8534400" y="47498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5A55"/>
                </a:solidFill>
                <a:latin typeface="MiSans"/>
                <a:ea typeface="MiSans"/>
              </a:rPr>
              <a:t>Δh = 10 cm</a:t>
            </a:r>
            <a:endParaRPr lang="en-US" sz="1200" noProof="1"/>
          </a:p>
        </p:txBody>
      </p:sp>
      <p:sp>
        <p:nvSpPr>
          <p:cNvPr id="22" name="amp-label"/>
          <p:cNvSpPr txBox="1"/>
          <p:nvPr/>
        </p:nvSpPr>
        <p:spPr>
          <a:xfrm>
            <a:off x="7620000" y="4191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C96F16"/>
                </a:solidFill>
                <a:latin typeface="MiSans"/>
                <a:ea typeface="MiSans"/>
              </a:rPr>
              <a:t>摆幅处 v=0</a:t>
            </a:r>
            <a:endParaRPr lang="en-US" sz="1150" noProof="1"/>
          </a:p>
        </p:txBody>
      </p:sp>
      <p:sp>
        <p:nvSpPr>
          <p:cNvPr id="23" name="low-label"/>
          <p:cNvSpPr txBox="1"/>
          <p:nvPr/>
        </p:nvSpPr>
        <p:spPr>
          <a:xfrm>
            <a:off x="9398000" y="4978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0E5A55"/>
                </a:solidFill>
                <a:latin typeface="MiSans"/>
                <a:ea typeface="MiSans"/>
              </a:rPr>
              <a:t>最低点 v 最大</a:t>
            </a:r>
            <a:endParaRPr lang="en-US" sz="1150" noProof="1"/>
          </a:p>
        </p:txBody>
      </p:sp>
      <p:sp>
        <p:nvSpPr>
          <p:cNvPr id="24" name="dia-caption"/>
          <p:cNvSpPr txBox="1"/>
          <p:nvPr/>
        </p:nvSpPr>
        <p:spPr>
          <a:xfrm>
            <a:off x="7747000" y="53848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摆幅处：全是势能；最低点：全是动能。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无阻力 → 两者相等。</a:t>
            </a:r>
            <a:endParaRPr lang="en-US" sz="1100" noProof="1"/>
          </a:p>
        </p:txBody>
      </p:sp>
      <p:sp>
        <p:nvSpPr>
          <p:cNvPr id="2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5 功、能量与功率</a:t>
            </a:r>
            <a:endParaRPr lang="en-US" sz="1000" noProof="1"/>
          </a:p>
        </p:txBody>
      </p:sp>
      <p:sp>
        <p:nvSpPr>
          <p:cNvPr id="2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5.2 · ENERGY WITH RESISTIVE FORCES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有阻力时，给能量记一笔账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Initial KE = GPE gained + work done against friction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能量守恒的"记账法"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969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能量守恒从来没失效——有阻力时，只是多了一笔"支出"：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初动能 = 增加的势能 + 克服阻力做的功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E_k(初) = ΔE_p + W_阻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，其中 W_阻 = 阻力 × 沿运动方向的距离。</a:t>
            </a:r>
            <a:endParaRPr lang="en-US" sz="1350" noProof="1"/>
          </a:p>
        </p:txBody>
      </p:sp>
      <p:sp>
        <p:nvSpPr>
          <p:cNvPr id="8" name="h2"/>
          <p:cNvSpPr txBox="1"/>
          <p:nvPr/>
        </p:nvSpPr>
        <p:spPr>
          <a:xfrm>
            <a:off x="762000" y="36322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规范列账步骤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762000" y="39878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① 找初、末两个状态，写出各自的 E_k 与 E_p；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② 判断有无阻力：无阻力 → ΔE_k = ΔE_p；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③ 有阻力 → 等式右边加上 W_阻 项；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④ 解未知量（常是阻力、距离或速度）。</a:t>
            </a:r>
            <a:endParaRPr lang="en-US" sz="1350" noProof="1"/>
          </a:p>
        </p:txBody>
      </p:sp>
      <p:sp>
        <p:nvSpPr>
          <p:cNvPr id="10" name="warn-box"/>
          <p:cNvSpPr/>
          <p:nvPr/>
        </p:nvSpPr>
        <p:spPr>
          <a:xfrm>
            <a:off x="762000" y="5638800"/>
            <a:ext cx="5969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warn-body"/>
          <p:cNvSpPr txBox="1"/>
          <p:nvPr/>
        </p:nvSpPr>
        <p:spPr>
          <a:xfrm>
            <a:off x="965200" y="5715000"/>
            <a:ext cx="5562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W_阻 用阻力 ×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斜面长度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，不是竖直高度。</a:t>
            </a:r>
            <a:endParaRPr lang="en-US" sz="1250" noProof="1"/>
          </a:p>
        </p:txBody>
      </p:sp>
      <p:sp>
        <p:nvSpPr>
          <p:cNvPr id="12" name="bar-in-label"/>
          <p:cNvSpPr txBox="1"/>
          <p:nvPr/>
        </p:nvSpPr>
        <p:spPr>
          <a:xfrm>
            <a:off x="7874000" y="19050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初动能 E_k = 100 J</a:t>
            </a:r>
            <a:endParaRPr lang="en-US" sz="1250" noProof="1"/>
          </a:p>
        </p:txBody>
      </p:sp>
      <p:sp>
        <p:nvSpPr>
          <p:cNvPr id="13" name="bar-in"/>
          <p:cNvSpPr/>
          <p:nvPr/>
        </p:nvSpPr>
        <p:spPr>
          <a:xfrm>
            <a:off x="8128000" y="2235200"/>
            <a:ext cx="3048000" cy="4318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4" name="bar-in-text"/>
          <p:cNvSpPr txBox="1"/>
          <p:nvPr/>
        </p:nvSpPr>
        <p:spPr>
          <a:xfrm>
            <a:off x="8128000" y="22987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100 J</a:t>
            </a:r>
            <a:endParaRPr lang="en-US" sz="1200" noProof="1"/>
          </a:p>
        </p:txBody>
      </p:sp>
      <p:sp>
        <p:nvSpPr>
          <p:cNvPr id="15" name="eq-label"/>
          <p:cNvSpPr txBox="1"/>
          <p:nvPr/>
        </p:nvSpPr>
        <p:spPr>
          <a:xfrm>
            <a:off x="7874000" y="28194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22303A"/>
                </a:solidFill>
                <a:latin typeface="MiSans"/>
                <a:ea typeface="MiSans"/>
              </a:rPr>
              <a:t>=</a:t>
            </a:r>
            <a:endParaRPr lang="en-US" sz="1600" noProof="1"/>
          </a:p>
        </p:txBody>
      </p:sp>
      <p:sp>
        <p:nvSpPr>
          <p:cNvPr id="16" name="bar-ep"/>
          <p:cNvSpPr/>
          <p:nvPr/>
        </p:nvSpPr>
        <p:spPr>
          <a:xfrm>
            <a:off x="8128000" y="3200400"/>
            <a:ext cx="2133600" cy="4318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7" name="bar-ep-text"/>
          <p:cNvSpPr txBox="1"/>
          <p:nvPr/>
        </p:nvSpPr>
        <p:spPr>
          <a:xfrm>
            <a:off x="8128000" y="32639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ΔE_p = 70 J</a:t>
            </a:r>
            <a:endParaRPr lang="en-US" sz="1200" noProof="1"/>
          </a:p>
        </p:txBody>
      </p:sp>
      <p:sp>
        <p:nvSpPr>
          <p:cNvPr id="18" name="bar-w"/>
          <p:cNvSpPr/>
          <p:nvPr/>
        </p:nvSpPr>
        <p:spPr>
          <a:xfrm>
            <a:off x="10363200" y="3200400"/>
            <a:ext cx="812800" cy="431800"/>
          </a:xfrm>
          <a:prstGeom prst="rect">
            <a:avLst/>
          </a:prstGeom>
          <a:solidFill>
            <a:srgbClr val="6E6A62"/>
          </a:solidFill>
          <a:ln>
            <a:noFill/>
          </a:ln>
        </p:spPr>
      </p:sp>
      <p:sp>
        <p:nvSpPr>
          <p:cNvPr id="19" name="bar-w-text"/>
          <p:cNvSpPr txBox="1"/>
          <p:nvPr/>
        </p:nvSpPr>
        <p:spPr>
          <a:xfrm>
            <a:off x="10363200" y="3263900"/>
            <a:ext cx="812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30 J</a:t>
            </a:r>
            <a:endParaRPr lang="en-US" sz="1200" noProof="1"/>
          </a:p>
        </p:txBody>
      </p:sp>
      <p:sp>
        <p:nvSpPr>
          <p:cNvPr id="20" name="bar-out-label"/>
          <p:cNvSpPr txBox="1"/>
          <p:nvPr/>
        </p:nvSpPr>
        <p:spPr>
          <a:xfrm>
            <a:off x="7874000" y="37592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势能 + 克服阻力做功（热）</a:t>
            </a:r>
            <a:endParaRPr lang="en-US" sz="1250" noProof="1"/>
          </a:p>
        </p:txBody>
      </p:sp>
      <p:sp>
        <p:nvSpPr>
          <p:cNvPr id="21" name="dia-caption"/>
          <p:cNvSpPr txBox="1"/>
          <p:nvPr/>
        </p:nvSpPr>
        <p:spPr>
          <a:xfrm>
            <a:off x="7747000" y="4445000"/>
            <a:ext cx="381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上抛小球：若初动能 100 J，升到最高时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势能 70 J，则 30 J 通过克服空气阻力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转化为热散失——总账仍是平的。</a:t>
            </a:r>
            <a:endParaRPr lang="en-US" sz="1100" noProof="1"/>
          </a:p>
        </p:txBody>
      </p:sp>
      <p:sp>
        <p:nvSpPr>
          <p:cNvPr id="22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3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5 功、能量与功率</a:t>
            </a:r>
            <a:endParaRPr lang="en-US" sz="1000" noProof="1"/>
          </a:p>
        </p:txBody>
      </p:sp>
      <p:sp>
        <p:nvSpPr>
          <p:cNvPr id="24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PRACTICE · 课堂练习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动手试一试：三道题覆盖本章三大考点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Work done at an angle, power of a crane, and energy conservation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1-badge"/>
          <p:cNvSpPr/>
          <p:nvPr/>
        </p:nvSpPr>
        <p:spPr>
          <a:xfrm>
            <a:off x="762000" y="16764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q1-num"/>
          <p:cNvSpPr txBox="1"/>
          <p:nvPr/>
        </p:nvSpPr>
        <p:spPr>
          <a:xfrm>
            <a:off x="762000" y="16764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Q1</a:t>
            </a:r>
            <a:endParaRPr lang="en-US" sz="1800" noProof="1"/>
          </a:p>
        </p:txBody>
      </p:sp>
      <p:sp>
        <p:nvSpPr>
          <p:cNvPr id="8" name="q1-body"/>
          <p:cNvSpPr txBox="1"/>
          <p:nvPr/>
        </p:nvSpPr>
        <p:spPr>
          <a:xfrm>
            <a:off x="1549400" y="16764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【功】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用 50 N 的力拉箱子，拉力方向与水平成 30° 角，箱子沿水平面前进 20 m。求拉力所做的功。（cos 30° = 0.866）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Identify θ first — it is measured from the direction of motion.</a:t>
            </a:r>
            <a:endParaRPr lang="en-US" sz="1350" noProof="1"/>
          </a:p>
        </p:txBody>
      </p:sp>
      <p:sp>
        <p:nvSpPr>
          <p:cNvPr id="9" name="q2-badge"/>
          <p:cNvSpPr/>
          <p:nvPr/>
        </p:nvSpPr>
        <p:spPr>
          <a:xfrm>
            <a:off x="762000" y="27432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0" name="q2-num"/>
          <p:cNvSpPr txBox="1"/>
          <p:nvPr/>
        </p:nvSpPr>
        <p:spPr>
          <a:xfrm>
            <a:off x="762000" y="2743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Q2</a:t>
            </a:r>
            <a:endParaRPr lang="en-US" sz="1800" noProof="1"/>
          </a:p>
        </p:txBody>
      </p:sp>
      <p:sp>
        <p:nvSpPr>
          <p:cNvPr id="11" name="q2-body"/>
          <p:cNvSpPr txBox="1"/>
          <p:nvPr/>
        </p:nvSpPr>
        <p:spPr>
          <a:xfrm>
            <a:off x="1549400" y="27432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【功率】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起重机在 8.0 s 内把 800 kg 的货物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匀速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提升 15 m。求起重机的有用输出功率。若其实际输入功率为 2.5 × 10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4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W，效率是多少？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Constant speed — what force must the crane exert? Then efficiency = useful output / input.</a:t>
            </a:r>
            <a:endParaRPr lang="en-US" sz="1350" noProof="1"/>
          </a:p>
        </p:txBody>
      </p:sp>
      <p:sp>
        <p:nvSpPr>
          <p:cNvPr id="12" name="q3-badge"/>
          <p:cNvSpPr/>
          <p:nvPr/>
        </p:nvSpPr>
        <p:spPr>
          <a:xfrm>
            <a:off x="762000" y="38100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3" name="q3-num"/>
          <p:cNvSpPr txBox="1"/>
          <p:nvPr/>
        </p:nvSpPr>
        <p:spPr>
          <a:xfrm>
            <a:off x="762000" y="38100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Q3</a:t>
            </a:r>
            <a:endParaRPr lang="en-US" sz="1800" noProof="1"/>
          </a:p>
        </p:txBody>
      </p:sp>
      <p:sp>
        <p:nvSpPr>
          <p:cNvPr id="14" name="q3-body"/>
          <p:cNvSpPr txBox="1"/>
          <p:nvPr/>
        </p:nvSpPr>
        <p:spPr>
          <a:xfrm>
            <a:off x="1549400" y="38100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【能量守恒】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0.20 kg 的小球从 5.0 m 高处由静止释放。(a) 忽略空气阻力，求落地速度；(b) 若实际落地速度只有 9.0 m/s，求下落过程中克服空气阻力所做的功。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Part (b): balance the energy account — where did the missing joules go?</a:t>
            </a:r>
            <a:endParaRPr lang="en-US" sz="1350" noProof="1"/>
          </a:p>
        </p:txBody>
      </p:sp>
      <p:sp>
        <p:nvSpPr>
          <p:cNvPr id="15" name="crit-box"/>
          <p:cNvSpPr/>
          <p:nvPr/>
        </p:nvSpPr>
        <p:spPr>
          <a:xfrm>
            <a:off x="762000" y="5029200"/>
            <a:ext cx="106680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crit-head"/>
          <p:cNvSpPr txBox="1"/>
          <p:nvPr/>
        </p:nvSpPr>
        <p:spPr>
          <a:xfrm>
            <a:off x="965200" y="5156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完成标准 Completion criteria</a:t>
            </a:r>
            <a:endParaRPr lang="en-US" sz="1500" noProof="1"/>
          </a:p>
        </p:txBody>
      </p:sp>
      <p:sp>
        <p:nvSpPr>
          <p:cNvPr id="17" name="crit-body"/>
          <p:cNvSpPr txBox="1"/>
          <p:nvPr/>
        </p:nvSpPr>
        <p:spPr>
          <a:xfrm>
            <a:off x="965200" y="5461000"/>
            <a:ext cx="10261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Q1 写明 θ 是力与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运动方向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的夹角；② Q2 先由"匀速"写出提升力 = mg，效率要 ×100；③ Q3 (b) 用能量记账：mgΔh = ½mv² + W_阻。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全部完成后，翻到下一页对答案。</a:t>
            </a:r>
            <a:endParaRPr lang="en-US" sz="1250" noProof="1"/>
          </a:p>
        </p:txBody>
      </p:sp>
      <p:sp>
        <p:nvSpPr>
          <p:cNvPr id="18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5 功、能量与功率</a:t>
            </a:r>
            <a:endParaRPr lang="en-US" sz="10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FEEDBACK · 参考答案与解析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对答案：每一步为什么这样做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Answers with reasons — check your working, not just the number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6" name="a1-head"/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Q1　W = 866 J</a:t>
            </a:r>
            <a:endParaRPr lang="en-US" sz="1400" noProof="1"/>
          </a:p>
        </p:txBody>
      </p:sp>
      <p:sp>
        <p:nvSpPr>
          <p:cNvPr id="7" name="a1-body"/>
          <p:cNvSpPr txBox="1"/>
          <p:nvPr/>
        </p:nvSpPr>
        <p:spPr>
          <a:xfrm>
            <a:off x="762000" y="1930400"/>
            <a:ext cx="10668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运动方向水平，θ = 30°。W = Fs cos θ = 50 × 20 × 0.866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866 J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错因排查：用成 sin 30°（把 θ 当成与竖直方向的夹角）；或直接 50 × 20 = 1000 J 忘记分解。</a:t>
            </a:r>
            <a:endParaRPr lang="en-US" sz="1250" noProof="1"/>
          </a:p>
        </p:txBody>
      </p:sp>
      <p:sp>
        <p:nvSpPr>
          <p:cNvPr id="8" name="a1-line"/>
          <p:cNvSpPr/>
          <p:nvPr/>
        </p:nvSpPr>
        <p:spPr>
          <a:xfrm>
            <a:off x="762000" y="28448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9" name="a2-head"/>
          <p:cNvSpPr txBox="1"/>
          <p:nvPr/>
        </p:nvSpPr>
        <p:spPr>
          <a:xfrm>
            <a:off x="762000" y="29972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Q2　P ≈ 1.47 × 10⁴ W　效率 ≈ 59%</a:t>
            </a:r>
            <a:endParaRPr lang="en-US" sz="1400" noProof="1"/>
          </a:p>
        </p:txBody>
      </p:sp>
      <p:sp>
        <p:nvSpPr>
          <p:cNvPr id="10" name="a2-body"/>
          <p:cNvSpPr txBox="1"/>
          <p:nvPr/>
        </p:nvSpPr>
        <p:spPr>
          <a:xfrm>
            <a:off x="762000" y="3302000"/>
            <a:ext cx="1066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匀速 → 提升力 = mg = 800 × 9.81 = 7848 N。W = 7848 × 15 = 1.18 × 10</a:t>
            </a:r>
            <a:r>
              <a:rPr lang="en-US" sz="1250" noProof="1" baseline="30000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J。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P = W/t = 1.18 × 10</a:t>
            </a:r>
            <a:r>
              <a:rPr lang="en-US" sz="1250" noProof="1" baseline="30000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/ 8.0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1.47 × 10</a:t>
            </a:r>
            <a:r>
              <a:rPr lang="en-US" sz="1250" noProof="1" b="1" baseline="30000">
                <a:solidFill>
                  <a:srgbClr val="22303A"/>
                </a:solidFill>
                <a:latin typeface="MiSans"/>
                <a:ea typeface="MiSans"/>
              </a:rPr>
              <a:t>4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 W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。效率 = 1.47 × 10</a:t>
            </a:r>
            <a:r>
              <a:rPr lang="en-US" sz="1250" noProof="1" baseline="30000">
                <a:solidFill>
                  <a:srgbClr val="22303A"/>
                </a:solidFill>
                <a:latin typeface="MiSans"/>
                <a:ea typeface="MiSans"/>
              </a:rPr>
              <a:t>4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/ 2.5 × 10</a:t>
            </a:r>
            <a:r>
              <a:rPr lang="en-US" sz="1250" noProof="1" baseline="30000">
                <a:solidFill>
                  <a:srgbClr val="22303A"/>
                </a:solidFill>
                <a:latin typeface="MiSans"/>
                <a:ea typeface="MiSans"/>
              </a:rPr>
              <a:t>4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× 100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59%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错因排查：用输入功率当输出；效率忘 ×100；g 取 10 造成偏差。</a:t>
            </a:r>
            <a:endParaRPr lang="en-US" sz="1250" noProof="1"/>
          </a:p>
        </p:txBody>
      </p:sp>
      <p:sp>
        <p:nvSpPr>
          <p:cNvPr id="11" name="a2-line"/>
          <p:cNvSpPr/>
          <p:nvPr/>
        </p:nvSpPr>
        <p:spPr>
          <a:xfrm>
            <a:off x="762000" y="44450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a3-head"/>
          <p:cNvSpPr txBox="1"/>
          <p:nvPr/>
        </p:nvSpPr>
        <p:spPr>
          <a:xfrm>
            <a:off x="762000" y="4597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Q3　(a) 9.9 m/s　(b) 1.7 J</a:t>
            </a:r>
            <a:endParaRPr lang="en-US" sz="1400" noProof="1"/>
          </a:p>
        </p:txBody>
      </p:sp>
      <p:sp>
        <p:nvSpPr>
          <p:cNvPr id="13" name="a3-body"/>
          <p:cNvSpPr txBox="1"/>
          <p:nvPr/>
        </p:nvSpPr>
        <p:spPr>
          <a:xfrm>
            <a:off x="762000" y="4902200"/>
            <a:ext cx="1066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(a) mgΔh = ½mv² → v = √(2 × 9.81 × 5.0)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9.9 m/s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（m 约掉，与质量无关）。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(b) 势能 0.20 × 9.81 × 5.0 = 9.81 J；实际动能 ½ × 0.20 × 9.0² = 8.1 J。W_阻 = 9.81 − 8.1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1.7 J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错因排查：(b) 用 9.9 m/s 算动能；或把账记反写成 W_阻 = 动能 − 势能得负数。</a:t>
            </a:r>
            <a:endParaRPr lang="en-US" sz="1250" noProof="1"/>
          </a:p>
        </p:txBody>
      </p:sp>
      <p:sp>
        <p:nvSpPr>
          <p:cNvPr id="1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5 功、能量与功率</a:t>
            </a:r>
            <a:endParaRPr lang="en-US" sz="100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SUMMARY · 本章小结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离开本章前，请带走这五件事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Topic 5 checklist — the energy toolkit you will use until the end of A2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c1"/>
          <p:cNvSpPr txBox="1"/>
          <p:nvPr/>
        </p:nvSpPr>
        <p:spPr>
          <a:xfrm>
            <a:off x="762000" y="16764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W = Fs cos θ，θ 是力与</a:t>
            </a: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运动方向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的夹角；垂直于运动的力不做功；气体做功 W = pΔV。</a:t>
            </a:r>
            <a:endParaRPr lang="en-US" sz="1400" noProof="1"/>
          </a:p>
        </p:txBody>
      </p:sp>
      <p:sp>
        <p:nvSpPr>
          <p:cNvPr id="7" name="c2"/>
          <p:cNvSpPr txBox="1"/>
          <p:nvPr/>
        </p:nvSpPr>
        <p:spPr>
          <a:xfrm>
            <a:off x="762000" y="2133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效率 = 有用输出/输入，永远 &lt; 100%；损失原因答 friction → thermal / sound。</a:t>
            </a:r>
            <a:endParaRPr lang="en-US" sz="1400" noProof="1"/>
          </a:p>
        </p:txBody>
      </p:sp>
      <p:sp>
        <p:nvSpPr>
          <p:cNvPr id="8" name="c3"/>
          <p:cNvSpPr txBox="1"/>
          <p:nvPr/>
        </p:nvSpPr>
        <p:spPr>
          <a:xfrm>
            <a:off x="762000" y="2590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P = W/t = Fv；看到 constant velocity 立刻写"牵引力 = 阻力"；电器问题用 E = Pt。</a:t>
            </a:r>
            <a:endParaRPr lang="en-US" sz="1400" noProof="1"/>
          </a:p>
        </p:txBody>
      </p:sp>
      <p:sp>
        <p:nvSpPr>
          <p:cNvPr id="9" name="c4"/>
          <p:cNvSpPr txBox="1"/>
          <p:nvPr/>
        </p:nvSpPr>
        <p:spPr>
          <a:xfrm>
            <a:off x="762000" y="3048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会推导 E_k = ½mv²（v² = 2as → 乘 m → 换 F → 乘 s）与 ΔE_p = mgΔh（F = mg → W = FΔh）。</a:t>
            </a:r>
            <a:endParaRPr lang="en-US" sz="1400" noProof="1"/>
          </a:p>
        </p:txBody>
      </p:sp>
      <p:sp>
        <p:nvSpPr>
          <p:cNvPr id="10" name="c5"/>
          <p:cNvSpPr txBox="1"/>
          <p:nvPr/>
        </p:nvSpPr>
        <p:spPr>
          <a:xfrm>
            <a:off x="762000" y="3505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⑤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能量记账：无阻力 ΔE_k = ΔE_p；有阻力 E_k(初) = ΔE_p + W_阻；摆锤类问题 m 约掉。</a:t>
            </a:r>
            <a:endParaRPr lang="en-US" sz="1400" noProof="1"/>
          </a:p>
        </p:txBody>
      </p:sp>
      <p:sp>
        <p:nvSpPr>
          <p:cNvPr id="11" name="res-rule"/>
          <p:cNvSpPr/>
          <p:nvPr/>
        </p:nvSpPr>
        <p:spPr>
          <a:xfrm>
            <a:off x="762000" y="41402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res-head"/>
          <p:cNvSpPr txBox="1"/>
          <p:nvPr/>
        </p:nvSpPr>
        <p:spPr>
          <a:xfrm>
            <a:off x="762000" y="4343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配套学习资源</a:t>
            </a:r>
            <a:endParaRPr lang="en-US" sz="1500" noProof="1"/>
          </a:p>
        </p:txBody>
      </p:sp>
      <p:sp>
        <p:nvSpPr>
          <p:cNvPr id="13" name="res-body"/>
          <p:cNvSpPr txBox="1"/>
          <p:nvPr/>
        </p:nvSpPr>
        <p:spPr>
          <a:xfrm>
            <a:off x="762000" y="47244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《中英对照笔记》：本课件全部内容的双语详版，含两个能量公式的完整推导与 PMT 例题详解，适合课后精读与考前背诵（中英结合笔记 文件夹）。</a:t>
            </a:r>
            <a:endParaRPr lang="en-US" sz="1300" noProof="1"/>
          </a:p>
        </p:txBody>
      </p:sp>
      <p:sp>
        <p:nvSpPr>
          <p:cNvPr id="14" name="next-box"/>
          <p:cNvSpPr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next-text"/>
          <p:cNvSpPr txBox="1"/>
          <p:nvPr/>
        </p:nvSpPr>
        <p:spPr>
          <a:xfrm>
            <a:off x="965200" y="5816600"/>
            <a:ext cx="10261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下一章预告 Next：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Topic 6 Deformation of Solids 固体的形变 —— 胡克定律与弹性势能登场，能量工具马上派上用场。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5 功、能量与功率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Topic5_Work_Energy_Power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