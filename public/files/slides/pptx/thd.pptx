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isobaric 等压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circle"/>
            <c:size val="4"/>
            <c:spPr>
              <a:solidFill>
                <a:srgbClr val="FFFFFF"/>
              </a:solidFill>
              <a:ln w="19050">
                <a:solidFill>
                  <a:srgbClr val="0E4D64"/>
                </a:solidFill>
              </a:ln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isothermal 等温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circle"/>
            <c:size val="4"/>
            <c:spPr>
              <a:solidFill>
                <a:srgbClr val="FFFFFF"/>
              </a:solidFill>
              <a:ln w="19050">
                <a:solidFill>
                  <a:srgbClr val="D97D29"/>
                </a:solidFill>
              </a:ln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2.0</c:v>
                </c:pt>
                <c:pt idx="1">
                  <c:v>1.33</c:v>
                </c:pt>
                <c:pt idx="2">
                  <c:v>1.0</c:v>
                </c:pt>
                <c:pt idx="3">
                  <c:v>0.8</c:v>
                </c:pt>
                <c:pt idx="4">
                  <c:v>0.67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V / m³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.5"/>
          <c:min val="0.0"/>
        </c:scaling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p / Pa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sl:dc-w0"/>
          <p:cNvCxnSpPr/>
          <p:nvPr/>
        </p:nvCxnSpPr>
        <p:spPr>
          <a:xfrm>
            <a:off x="7239000" y="2857500"/>
            <a:ext cx="76200" cy="14139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sl:dc-w1"/>
          <p:cNvCxnSpPr/>
          <p:nvPr/>
        </p:nvCxnSpPr>
        <p:spPr>
          <a:xfrm>
            <a:off x="7315200" y="2998891"/>
            <a:ext cx="76200" cy="13260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dc-w2"/>
          <p:cNvCxnSpPr/>
          <p:nvPr/>
        </p:nvCxnSpPr>
        <p:spPr>
          <a:xfrm>
            <a:off x="7391400" y="3131491"/>
            <a:ext cx="76200" cy="1155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sl:dc-w3"/>
          <p:cNvCxnSpPr/>
          <p:nvPr/>
        </p:nvCxnSpPr>
        <p:spPr>
          <a:xfrm>
            <a:off x="7467600" y="3247056"/>
            <a:ext cx="76200" cy="913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dc-w4"/>
          <p:cNvCxnSpPr/>
          <p:nvPr/>
        </p:nvCxnSpPr>
        <p:spPr>
          <a:xfrm>
            <a:off x="7543800" y="3338400"/>
            <a:ext cx="76200" cy="614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sl:dc-w5"/>
          <p:cNvCxnSpPr/>
          <p:nvPr/>
        </p:nvCxnSpPr>
        <p:spPr>
          <a:xfrm>
            <a:off x="7620000" y="3399844"/>
            <a:ext cx="76200" cy="2772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sl:dc-w6"/>
          <p:cNvCxnSpPr/>
          <p:nvPr/>
        </p:nvCxnSpPr>
        <p:spPr>
          <a:xfrm flipH="1">
            <a:off x="7696200" y="3419847"/>
            <a:ext cx="76200" cy="772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sl:dc-w7"/>
          <p:cNvCxnSpPr/>
          <p:nvPr/>
        </p:nvCxnSpPr>
        <p:spPr>
          <a:xfrm flipH="1">
            <a:off x="7772400" y="3377163"/>
            <a:ext cx="76200" cy="4268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sl:dc-w8"/>
          <p:cNvCxnSpPr/>
          <p:nvPr/>
        </p:nvCxnSpPr>
        <p:spPr>
          <a:xfrm flipH="1">
            <a:off x="7848600" y="3302168"/>
            <a:ext cx="76200" cy="7499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dc-w9"/>
          <p:cNvCxnSpPr/>
          <p:nvPr/>
        </p:nvCxnSpPr>
        <p:spPr>
          <a:xfrm flipH="1">
            <a:off x="7924800" y="3199526"/>
            <a:ext cx="76200" cy="10264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dc-w10"/>
          <p:cNvCxnSpPr/>
          <p:nvPr/>
        </p:nvCxnSpPr>
        <p:spPr>
          <a:xfrm flipH="1">
            <a:off x="8001000" y="3075619"/>
            <a:ext cx="76200" cy="12390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sl:dc-w11"/>
          <p:cNvCxnSpPr/>
          <p:nvPr/>
        </p:nvCxnSpPr>
        <p:spPr>
          <a:xfrm flipH="1">
            <a:off x="8077200" y="2938150"/>
            <a:ext cx="76200" cy="13746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sl:dc-w12"/>
          <p:cNvCxnSpPr/>
          <p:nvPr/>
        </p:nvCxnSpPr>
        <p:spPr>
          <a:xfrm flipH="1">
            <a:off x="8153400" y="2795666"/>
            <a:ext cx="76200" cy="14248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sl:dc-w13"/>
          <p:cNvCxnSpPr/>
          <p:nvPr/>
        </p:nvCxnSpPr>
        <p:spPr>
          <a:xfrm flipH="1">
            <a:off x="8229600" y="2657027"/>
            <a:ext cx="76200" cy="13863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dc-w14"/>
          <p:cNvCxnSpPr/>
          <p:nvPr/>
        </p:nvCxnSpPr>
        <p:spPr>
          <a:xfrm flipH="1">
            <a:off x="8305800" y="2530852"/>
            <a:ext cx="76200" cy="12617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dc-w15"/>
          <p:cNvCxnSpPr/>
          <p:nvPr/>
        </p:nvCxnSpPr>
        <p:spPr>
          <a:xfrm flipH="1">
            <a:off x="8382000" y="2424987"/>
            <a:ext cx="76200" cy="1058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dc-w16"/>
          <p:cNvCxnSpPr/>
          <p:nvPr/>
        </p:nvCxnSpPr>
        <p:spPr>
          <a:xfrm flipH="1">
            <a:off x="8458200" y="2346013"/>
            <a:ext cx="76200" cy="7897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dc-w17"/>
          <p:cNvCxnSpPr/>
          <p:nvPr/>
        </p:nvCxnSpPr>
        <p:spPr>
          <a:xfrm flipH="1">
            <a:off x="8534400" y="2298841"/>
            <a:ext cx="76200" cy="4717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dc-w18"/>
          <p:cNvCxnSpPr/>
          <p:nvPr/>
        </p:nvCxnSpPr>
        <p:spPr>
          <a:xfrm flipH="1">
            <a:off x="8610600" y="2286404"/>
            <a:ext cx="76200" cy="1243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dc-w19"/>
          <p:cNvCxnSpPr/>
          <p:nvPr/>
        </p:nvCxnSpPr>
        <p:spPr>
          <a:xfrm>
            <a:off x="8686800" y="2286404"/>
            <a:ext cx="76200" cy="2307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dc-w20"/>
          <p:cNvCxnSpPr/>
          <p:nvPr/>
        </p:nvCxnSpPr>
        <p:spPr>
          <a:xfrm>
            <a:off x="8763000" y="2309474"/>
            <a:ext cx="76200" cy="571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dc-w21"/>
          <p:cNvCxnSpPr/>
          <p:nvPr/>
        </p:nvCxnSpPr>
        <p:spPr>
          <a:xfrm>
            <a:off x="8839200" y="2366618"/>
            <a:ext cx="76200" cy="876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dc-w22"/>
          <p:cNvCxnSpPr/>
          <p:nvPr/>
        </p:nvCxnSpPr>
        <p:spPr>
          <a:xfrm>
            <a:off x="8915400" y="2454283"/>
            <a:ext cx="76200" cy="11273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dc-w23"/>
          <p:cNvCxnSpPr/>
          <p:nvPr/>
        </p:nvCxnSpPr>
        <p:spPr>
          <a:xfrm>
            <a:off x="8991600" y="2567018"/>
            <a:ext cx="76200" cy="13079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dc-w24"/>
          <p:cNvCxnSpPr/>
          <p:nvPr/>
        </p:nvCxnSpPr>
        <p:spPr>
          <a:xfrm>
            <a:off x="9067800" y="2697814"/>
            <a:ext cx="76200" cy="14072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sl:dc-w25"/>
          <p:cNvCxnSpPr/>
          <p:nvPr/>
        </p:nvCxnSpPr>
        <p:spPr>
          <a:xfrm>
            <a:off x="9144000" y="2838538"/>
            <a:ext cx="76200" cy="14190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sl:dc-w26"/>
          <p:cNvCxnSpPr/>
          <p:nvPr/>
        </p:nvCxnSpPr>
        <p:spPr>
          <a:xfrm>
            <a:off x="9220200" y="2980441"/>
            <a:ext cx="76200" cy="13425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sl:dc-w27"/>
          <p:cNvCxnSpPr/>
          <p:nvPr/>
        </p:nvCxnSpPr>
        <p:spPr>
          <a:xfrm>
            <a:off x="9296400" y="3114700"/>
            <a:ext cx="76200" cy="11826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dsl:dc-w28"/>
          <p:cNvCxnSpPr/>
          <p:nvPr/>
        </p:nvCxnSpPr>
        <p:spPr>
          <a:xfrm>
            <a:off x="9372600" y="3232967"/>
            <a:ext cx="76200" cy="9492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dsl:dc-w29"/>
          <p:cNvCxnSpPr/>
          <p:nvPr/>
        </p:nvCxnSpPr>
        <p:spPr>
          <a:xfrm>
            <a:off x="9448800" y="3327890"/>
            <a:ext cx="76200" cy="6567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dsl:dc-w30"/>
          <p:cNvCxnSpPr/>
          <p:nvPr/>
        </p:nvCxnSpPr>
        <p:spPr>
          <a:xfrm>
            <a:off x="9525000" y="3393566"/>
            <a:ext cx="76200" cy="3234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dsl:dc-w31"/>
          <p:cNvCxnSpPr/>
          <p:nvPr/>
        </p:nvCxnSpPr>
        <p:spPr>
          <a:xfrm flipH="1">
            <a:off x="9601200" y="3422918"/>
            <a:ext cx="76200" cy="299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dsl:dc-w32"/>
          <p:cNvCxnSpPr/>
          <p:nvPr/>
        </p:nvCxnSpPr>
        <p:spPr>
          <a:xfrm flipH="1">
            <a:off x="9677400" y="3384768"/>
            <a:ext cx="76200" cy="3815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sl:dc-w33"/>
          <p:cNvCxnSpPr/>
          <p:nvPr/>
        </p:nvCxnSpPr>
        <p:spPr>
          <a:xfrm flipH="1">
            <a:off x="9753600" y="3313835"/>
            <a:ext cx="76200" cy="7093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dsl:dc-w34"/>
          <p:cNvCxnSpPr/>
          <p:nvPr/>
        </p:nvCxnSpPr>
        <p:spPr>
          <a:xfrm flipH="1">
            <a:off x="9829800" y="3214529"/>
            <a:ext cx="76200" cy="9930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dsl:dc-w35"/>
          <p:cNvCxnSpPr/>
          <p:nvPr/>
        </p:nvCxnSpPr>
        <p:spPr>
          <a:xfrm flipH="1">
            <a:off x="9906000" y="3093025"/>
            <a:ext cx="76200" cy="12150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dsl:dc-w36"/>
          <p:cNvCxnSpPr/>
          <p:nvPr/>
        </p:nvCxnSpPr>
        <p:spPr>
          <a:xfrm flipH="1">
            <a:off x="9982200" y="2956877"/>
            <a:ext cx="76200" cy="13614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dsl:dc-w37"/>
          <p:cNvCxnSpPr/>
          <p:nvPr/>
        </p:nvCxnSpPr>
        <p:spPr>
          <a:xfrm flipH="1">
            <a:off x="10058400" y="2814551"/>
            <a:ext cx="76200" cy="14232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dsl:dc-w38"/>
          <p:cNvCxnSpPr/>
          <p:nvPr/>
        </p:nvCxnSpPr>
        <p:spPr>
          <a:xfrm flipH="1">
            <a:off x="10134600" y="2674894"/>
            <a:ext cx="76200" cy="13965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dsl:dc-w39"/>
          <p:cNvCxnSpPr/>
          <p:nvPr/>
        </p:nvCxnSpPr>
        <p:spPr>
          <a:xfrm flipH="1">
            <a:off x="10210800" y="2546591"/>
            <a:ext cx="76200" cy="12830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dsl:dc-w40"/>
          <p:cNvCxnSpPr/>
          <p:nvPr/>
        </p:nvCxnSpPr>
        <p:spPr>
          <a:xfrm flipH="1">
            <a:off x="10287000" y="2437619"/>
            <a:ext cx="76200" cy="10897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dsl:dc-w41"/>
          <p:cNvCxnSpPr/>
          <p:nvPr/>
        </p:nvCxnSpPr>
        <p:spPr>
          <a:xfrm flipH="1">
            <a:off x="10363200" y="2354753"/>
            <a:ext cx="76200" cy="8286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dsl:dc-w42"/>
          <p:cNvCxnSpPr/>
          <p:nvPr/>
        </p:nvCxnSpPr>
        <p:spPr>
          <a:xfrm flipH="1">
            <a:off x="10439400" y="2303146"/>
            <a:ext cx="76200" cy="5160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dsl:dc-w43"/>
          <p:cNvCxnSpPr/>
          <p:nvPr/>
        </p:nvCxnSpPr>
        <p:spPr>
          <a:xfrm flipH="1">
            <a:off x="10515600" y="2286005"/>
            <a:ext cx="76200" cy="1714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dsl:dc-w44"/>
          <p:cNvCxnSpPr/>
          <p:nvPr/>
        </p:nvCxnSpPr>
        <p:spPr>
          <a:xfrm>
            <a:off x="10591800" y="2286005"/>
            <a:ext cx="76200" cy="1839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dsl:dc-w45"/>
          <p:cNvCxnSpPr/>
          <p:nvPr/>
        </p:nvCxnSpPr>
        <p:spPr>
          <a:xfrm>
            <a:off x="10668000" y="2304397"/>
            <a:ext cx="76200" cy="5278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dsl:dc-w46"/>
          <p:cNvCxnSpPr/>
          <p:nvPr/>
        </p:nvCxnSpPr>
        <p:spPr>
          <a:xfrm>
            <a:off x="10744200" y="2357179"/>
            <a:ext cx="76200" cy="8388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dsl:dc-w47"/>
          <p:cNvCxnSpPr/>
          <p:nvPr/>
        </p:nvCxnSpPr>
        <p:spPr>
          <a:xfrm>
            <a:off x="10820400" y="2441067"/>
            <a:ext cx="76200" cy="10978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dsl:dc-w48"/>
          <p:cNvCxnSpPr/>
          <p:nvPr/>
        </p:nvCxnSpPr>
        <p:spPr>
          <a:xfrm>
            <a:off x="10896600" y="2550848"/>
            <a:ext cx="76200" cy="12884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dsl:dc-w49"/>
          <p:cNvCxnSpPr/>
          <p:nvPr/>
        </p:nvCxnSpPr>
        <p:spPr>
          <a:xfrm>
            <a:off x="10972800" y="2679695"/>
            <a:ext cx="76200" cy="13990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dsl:dc-w50"/>
          <p:cNvCxnSpPr/>
          <p:nvPr/>
        </p:nvCxnSpPr>
        <p:spPr>
          <a:xfrm>
            <a:off x="11049000" y="2819597"/>
            <a:ext cx="76200" cy="14225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dsl:dc-w51"/>
          <p:cNvCxnSpPr/>
          <p:nvPr/>
        </p:nvCxnSpPr>
        <p:spPr>
          <a:xfrm>
            <a:off x="11125200" y="2961855"/>
            <a:ext cx="76200" cy="13577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dsl:dc-w52"/>
          <p:cNvCxnSpPr/>
          <p:nvPr/>
        </p:nvCxnSpPr>
        <p:spPr>
          <a:xfrm>
            <a:off x="11201400" y="3097625"/>
            <a:ext cx="76200" cy="12084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dsl:dc-w53"/>
          <p:cNvCxnSpPr/>
          <p:nvPr/>
        </p:nvCxnSpPr>
        <p:spPr>
          <a:xfrm>
            <a:off x="11277600" y="3218465"/>
            <a:ext cx="76200" cy="9839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dsl:dc-w54"/>
          <p:cNvCxnSpPr/>
          <p:nvPr/>
        </p:nvCxnSpPr>
        <p:spPr>
          <a:xfrm>
            <a:off x="11353800" y="3316862"/>
            <a:ext cx="76200" cy="6983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dsl:dc-dot"/>
          <p:cNvSpPr/>
          <p:nvPr/>
        </p:nvSpPr>
        <p:spPr>
          <a:xfrm>
            <a:off x="9620250" y="4476750"/>
            <a:ext cx="133350" cy="13335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16</a:t>
            </a:r>
          </a:p>
        </p:txBody>
      </p:sp>
      <p:sp>
        <p:nvSpPr>
          <p:cNvPr id="59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Thermodynamics</a:t>
            </a:r>
          </a:p>
        </p:txBody>
      </p:sp>
      <p:sp>
        <p:nvSpPr>
          <p:cNvPr id="60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热力学</a:t>
            </a:r>
          </a:p>
        </p:txBody>
      </p:sp>
      <p:cxnSp>
        <p:nvCxnSpPr>
          <p:cNvPr id="61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63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13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16.1 Internal energy 内能</a:t>
            </a:r>
          </a:p>
        </p:txBody>
      </p:sp>
      <p:pic>
        <p:nvPicPr>
          <p:cNvPr id="14" name="dsl:oc0_0|i=fas:square-check" descr="tmpc5eigf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Internal energy is determined by the state of the system 内能由系统状态决定</a:t>
            </a:r>
          </a:p>
        </p:txBody>
      </p:sp>
      <p:pic>
        <p:nvPicPr>
          <p:cNvPr id="16" name="dsl:oc0_1|i=fas:square-check" descr="tmpc5eigf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9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381250"/>
            <a:ext cx="7829550" cy="400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Internal energy = sum of a random distribution of kinetic and potential energies of the molecules 分子动能+势能总和</a:t>
            </a:r>
          </a:p>
        </p:txBody>
      </p:sp>
      <p:pic>
        <p:nvPicPr>
          <p:cNvPr id="18" name="dsl:oc0_2|i=fas:square-check" descr="tmpc5eigf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8860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ot0_2"/>
          <p:cNvSpPr txBox="1"/>
          <p:nvPr/>
        </p:nvSpPr>
        <p:spPr>
          <a:xfrm>
            <a:off x="3752850" y="28575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rise in temperature relates to an increase in internal energy 温度升高⇒内能增加</a:t>
            </a:r>
          </a:p>
        </p:txBody>
      </p:sp>
      <p:sp>
        <p:nvSpPr>
          <p:cNvPr id="20" name="dsl:og1"/>
          <p:cNvSpPr txBox="1"/>
          <p:nvPr/>
        </p:nvSpPr>
        <p:spPr>
          <a:xfrm>
            <a:off x="3467100" y="3276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16.2 The first law of thermodynamics 热力学第一定律</a:t>
            </a:r>
          </a:p>
        </p:txBody>
      </p:sp>
      <p:pic>
        <p:nvPicPr>
          <p:cNvPr id="21" name="dsl:oc1_0|i=fas:square-check" descr="tmpc5eigf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629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ot1_0"/>
          <p:cNvSpPr txBox="1"/>
          <p:nvPr/>
        </p:nvSpPr>
        <p:spPr>
          <a:xfrm>
            <a:off x="3752850" y="3600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Recall and use w = pΔV for work done at constant pressure 定压做功公式</a:t>
            </a:r>
          </a:p>
        </p:txBody>
      </p:sp>
      <p:pic>
        <p:nvPicPr>
          <p:cNvPr id="23" name="dsl:oc1_1|i=fas:square-check" descr="tmpc5eigf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933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ot1_1"/>
          <p:cNvSpPr txBox="1"/>
          <p:nvPr/>
        </p:nvSpPr>
        <p:spPr>
          <a:xfrm>
            <a:off x="3752850" y="39052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Distinguish work done BY the gas and work done ON the gas 区分气体对外/外界对气体做功</a:t>
            </a:r>
          </a:p>
        </p:txBody>
      </p:sp>
      <p:pic>
        <p:nvPicPr>
          <p:cNvPr id="25" name="dsl:oc1_2|i=fas:square-check" descr="tmpc5eigf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2386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ot1_2"/>
          <p:cNvSpPr txBox="1"/>
          <p:nvPr/>
        </p:nvSpPr>
        <p:spPr>
          <a:xfrm>
            <a:off x="3752850" y="42100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Recall and use the first law ΔU = q + w 热力学第一定律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Internal Energy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内能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13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Internal energy U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the sum of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random distribution of kinetic and potential energies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associated with the molecules of a system. It is determined by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state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the system.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系统内分子无规则动能与势能的总和，由系统状态决定。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057525"/>
            <a:ext cx="10972800" cy="147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Rise in temperature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⇒ increase in internal energy 温度升高⇒内能增加（分子平均动能增大）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During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phase change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, temperature is constant: KE unchanged, PE increases 相变时动能不变、势能增大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For an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ideal gas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no intermolecular forces ⇒ no PE ⇒ U = total kinetic energy of molecules 理想气体内能=分子动能总和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U is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state function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depends only on the state, not on how the system got there 内能只取决于状态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 Done by a Gas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气体做功 w = pΔV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13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Gas at pressure p pushes piston of area A out by Δx: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force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; work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推导</a:t>
            </a:r>
          </a:p>
        </p:txBody>
      </p:sp>
      <p:sp>
        <p:nvSpPr>
          <p:cNvPr id="10" name="dsl:b1-bg"/>
          <p:cNvSpPr/>
          <p:nvPr/>
        </p:nvSpPr>
        <p:spPr>
          <a:xfrm>
            <a:off x="609600" y="256222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256222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256222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constant pressure 定压过程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3343275"/>
            <a:ext cx="5334000" cy="1152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Gas expands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(ΔV &gt; 0): work done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BY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the gas 气体对外做功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Gas is compressed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(ΔV 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&lt;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0): work done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ON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the gas 外界对气体做功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Units: p in Pa, V in m³, w in J 统一 SI 单位</a:t>
            </a:r>
          </a:p>
        </p:txBody>
      </p:sp>
      <p:sp>
        <p:nvSpPr>
          <p:cNvPr id="14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d-cyl"/>
          <p:cNvSpPr/>
          <p:nvPr/>
        </p:nvSpPr>
        <p:spPr>
          <a:xfrm>
            <a:off x="6667500" y="2476500"/>
            <a:ext cx="3238500" cy="1524000"/>
          </a:xfrm>
          <a:prstGeom prst="rect">
            <a:avLst/>
          </a:prstGeom>
          <a:noFill/>
          <a:ln w="381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pd-gas"/>
          <p:cNvSpPr/>
          <p:nvPr/>
        </p:nvSpPr>
        <p:spPr>
          <a:xfrm>
            <a:off x="6705600" y="2514600"/>
            <a:ext cx="2286000" cy="14478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pd-gast"/>
          <p:cNvSpPr txBox="1"/>
          <p:nvPr/>
        </p:nvSpPr>
        <p:spPr>
          <a:xfrm>
            <a:off x="6896100" y="3048000"/>
            <a:ext cx="13335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>
                <a:solidFill>
                  <a:srgbClr val="0E4D64"/>
                </a:solidFill>
                <a:latin typeface="MiSans"/>
                <a:ea typeface="MiSans"/>
              </a:rPr>
              <a:t>gas p, V</a:t>
            </a:r>
          </a:p>
        </p:txBody>
      </p:sp>
      <p:sp>
        <p:nvSpPr>
          <p:cNvPr id="18" name="dsl:pd-pis"/>
          <p:cNvSpPr/>
          <p:nvPr/>
        </p:nvSpPr>
        <p:spPr>
          <a:xfrm>
            <a:off x="8991600" y="2476500"/>
            <a:ext cx="247650" cy="1524000"/>
          </a:xfrm>
          <a:prstGeom prst="rect">
            <a:avLst/>
          </a:prstGeom>
          <a:solidFill>
            <a:srgbClr val="5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dsl:pd-mv"/>
          <p:cNvCxnSpPr/>
          <p:nvPr/>
        </p:nvCxnSpPr>
        <p:spPr>
          <a:xfrm>
            <a:off x="9239250" y="3238500"/>
            <a:ext cx="85725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pd-dx"/>
          <p:cNvSpPr txBox="1"/>
          <p:nvPr/>
        </p:nvSpPr>
        <p:spPr>
          <a:xfrm>
            <a:off x="9334500" y="2914650"/>
            <a:ext cx="571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D97D29"/>
                </a:solidFill>
                <a:latin typeface="MiSans"/>
                <a:ea typeface="MiSans"/>
              </a:rPr>
              <a:t>Δx</a:t>
            </a:r>
          </a:p>
        </p:txBody>
      </p:sp>
      <p:cxnSp>
        <p:nvCxnSpPr>
          <p:cNvPr id="21" name="dsl:pd-f"/>
          <p:cNvCxnSpPr/>
          <p:nvPr/>
        </p:nvCxnSpPr>
        <p:spPr>
          <a:xfrm>
            <a:off x="8382000" y="3238500"/>
            <a:ext cx="6096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pd-fl"/>
          <p:cNvSpPr txBox="1"/>
          <p:nvPr/>
        </p:nvSpPr>
        <p:spPr>
          <a:xfrm>
            <a:off x="8248650" y="2914650"/>
            <a:ext cx="571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F = pA</a:t>
            </a:r>
          </a:p>
        </p:txBody>
      </p:sp>
      <p:sp>
        <p:nvSpPr>
          <p:cNvPr id="23" name="dsl:pd-cap|s=$small"/>
          <p:cNvSpPr txBox="1"/>
          <p:nvPr/>
        </p:nvSpPr>
        <p:spPr>
          <a:xfrm>
            <a:off x="6286500" y="447675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Expansion at constant pressure 定压膨胀：气体推动活塞对外做功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 from p–V Diagrams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p–V 图与做功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13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543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Area under a p–V curve = work done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during the change 曲线下面积=做功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Constant pressure: rectangular area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等压：矩形面积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Changing pressure: split the area into thin strips and sum 变压力：分割求和（数值估算）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Isochoric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(ΔV = 0): no area ⇒ no work 等容不做功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 closed cycle: net work = area enclosed by the loop 循环净功=闭合面积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dsl:pv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Area under curve = work done 曲线下面积即功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The First Law of Thermodynamics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热力学第一定律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13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fx"/>
          <p:cNvSpPr txBox="1"/>
          <p:nvPr/>
        </p:nvSpPr>
        <p:spPr>
          <a:xfrm>
            <a:off x="838200" y="180975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w</m:t>
                </m:r>
              </m:oMath>
            </a14:m>
          </a:p>
        </p:txBody>
      </p:sp>
      <p:sp>
        <p:nvSpPr>
          <p:cNvPr id="11" name="dsl:b0-nt|s=$small"/>
          <p:cNvSpPr txBox="1"/>
          <p:nvPr/>
        </p:nvSpPr>
        <p:spPr>
          <a:xfrm>
            <a:off x="3543300" y="180975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能量守恒在热力学中的表达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2590800"/>
            <a:ext cx="5334000" cy="1724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U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increase in internal energy 内能增加量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energy transferred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TO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the system by heating 系统吸热为正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work done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ON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the system 对系统做功为正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It is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law of conservation of energy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applied to thermal systems 本质是能量守恒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fl-sys"/>
          <p:cNvSpPr/>
          <p:nvPr/>
        </p:nvSpPr>
        <p:spPr>
          <a:xfrm>
            <a:off x="7905750" y="2857500"/>
            <a:ext cx="2476500" cy="1428750"/>
          </a:xfrm>
          <a:prstGeom prst="roundRect">
            <a:avLst>
              <a:gd name="adj" fmla="val 12000"/>
            </a:avLst>
          </a:prstGeom>
          <a:solidFill>
            <a:srgbClr val="EEF3F3"/>
          </a:solidFill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fl-syst"/>
          <p:cNvSpPr txBox="1"/>
          <p:nvPr/>
        </p:nvSpPr>
        <p:spPr>
          <a:xfrm>
            <a:off x="7905750" y="3048000"/>
            <a:ext cx="2476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0E4D64"/>
                </a:solidFill>
                <a:latin typeface="MiSans"/>
                <a:ea typeface="MiSans"/>
              </a:rPr>
              <a:t>SYSTEM 系统</a:t>
            </a:r>
          </a:p>
        </p:txBody>
      </p:sp>
      <p:sp>
        <p:nvSpPr>
          <p:cNvPr id="16" name="dsl:fl-du"/>
          <p:cNvSpPr txBox="1"/>
          <p:nvPr/>
        </p:nvSpPr>
        <p:spPr>
          <a:xfrm>
            <a:off x="7905750" y="3524250"/>
            <a:ext cx="2476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1C2B33"/>
                </a:solidFill>
                <a:latin typeface="MiSans"/>
                <a:ea typeface="MiSans"/>
              </a:rPr>
              <a:t>ΔU = q + w</a:t>
            </a:r>
          </a:p>
        </p:txBody>
      </p:sp>
      <p:cxnSp>
        <p:nvCxnSpPr>
          <p:cNvPr id="17" name="dsl:fl-q"/>
          <p:cNvCxnSpPr/>
          <p:nvPr/>
        </p:nvCxnSpPr>
        <p:spPr>
          <a:xfrm>
            <a:off x="7048500" y="2095500"/>
            <a:ext cx="857250" cy="76200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fl-qt"/>
          <p:cNvSpPr txBox="1"/>
          <p:nvPr/>
        </p:nvSpPr>
        <p:spPr>
          <a:xfrm>
            <a:off x="6572250" y="1847850"/>
            <a:ext cx="1333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q heating 吸热</a:t>
            </a:r>
          </a:p>
        </p:txBody>
      </p:sp>
      <p:cxnSp>
        <p:nvCxnSpPr>
          <p:cNvPr id="19" name="dsl:fl-w"/>
          <p:cNvCxnSpPr/>
          <p:nvPr/>
        </p:nvCxnSpPr>
        <p:spPr>
          <a:xfrm flipH="1">
            <a:off x="10382250" y="2095500"/>
            <a:ext cx="857250" cy="762000"/>
          </a:xfrm>
          <a:prstGeom prst="straightConnector1">
            <a:avLst/>
          </a:prstGeom>
          <a:ln w="38100">
            <a:solidFill>
              <a:srgbClr val="0E4D6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fl-wt"/>
          <p:cNvSpPr txBox="1"/>
          <p:nvPr/>
        </p:nvSpPr>
        <p:spPr>
          <a:xfrm>
            <a:off x="10287000" y="1847850"/>
            <a:ext cx="123825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0E4D64"/>
                </a:solidFill>
                <a:latin typeface="MiSans"/>
                <a:ea typeface="MiSans"/>
              </a:rPr>
              <a:t>w work 做功</a:t>
            </a:r>
          </a:p>
        </p:txBody>
      </p:sp>
      <p:sp>
        <p:nvSpPr>
          <p:cNvPr id="21" name="dsl:fl-cap|s=$small"/>
          <p:cNvSpPr txBox="1"/>
          <p:nvPr/>
        </p:nvSpPr>
        <p:spPr>
          <a:xfrm>
            <a:off x="6286500" y="47625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Energy in = increase of internal energy 进入系统的能量=内能增量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Applying the First Law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典型过程分析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13</a:t>
            </a:r>
          </a:p>
        </p:txBody>
      </p:sp>
      <p:graphicFrame>
        <p:nvGraphicFramePr>
          <p:cNvPr id="9" name="dsl:tbl"/>
          <p:cNvGraphicFramePr>
            <a:graphicFrameLocks noGrp="1"/>
          </p:cNvGraphicFramePr>
          <p:nvPr/>
        </p:nvGraphicFramePr>
        <p:xfrm>
          <a:off x="609600" y="1847850"/>
          <a:ext cx="10972799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194560"/>
                <a:gridCol w="1755648"/>
                <a:gridCol w="3072384"/>
                <a:gridCol w="3950207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Process 过程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Condition 条件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Consequence 结论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Physics 物理意义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0E4D64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Isochoric 等容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ΔV = 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w = 0 ⇒ ΔU = q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All heat goes into internal energy 吸热全变内能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Isobaric 等压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p = const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w = pΔV; ΔU = q + w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Heat = ΔU + expansion work 吸热部分对外做功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Isothermal 等温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T = const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ΔU = 0 ⇒ q = −w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Heat in = work out (ideal gas) 吸热全部对外做功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Adiabatic 绝热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q = 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ΔU = w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Work changes internal energy 做功直接改变内能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</a:tbl>
          </a:graphicData>
        </a:graphic>
      </p:graphicFrame>
      <p:sp>
        <p:nvSpPr>
          <p:cNvPr id="10" name="dsl:tbl-notes"/>
          <p:cNvSpPr txBox="1"/>
          <p:nvPr/>
        </p:nvSpPr>
        <p:spPr>
          <a:xfrm>
            <a:off x="609600" y="4705350"/>
            <a:ext cx="109728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Sign convention 符号约定: q &gt; 0 系统吸热；w &gt; 0 对系统做功；ΔU &gt; 0 内能增加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16A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13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16A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4287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162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sample of gas has a volume of 750 cm³. The gas expands at a constant pressure of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1.4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Pa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until its volume is 900 cm³. Calculate the work done by the gas during the expansion.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cm³ → m³ 要 ×10⁻⁶；膨胀即气体对外做功。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838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Convert volumes: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900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750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cm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150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Constant pressure ⇒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1.4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150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06705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06705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06705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21</m:t>
                </m:r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(done by the gas 气体对外做功)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16B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13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16B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2192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250 J of thermal energy is added to a system, and the system does 100 J of work. Find the change in internal energy of the system.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关键是符号：系统对外做功 ⇒ w 取负。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352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First law: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250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(heat supplied to the system 系统吸热).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The system does work ⇒ work done ON the system is negative: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100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4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250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100</m:t>
                </m:r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58140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58140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58140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150</m:t>
                </m:r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（increase 内能增加）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16C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13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16C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85737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590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specific latent heat of vaporisation of a liquid is 2300 J g⁻¹. When 1.0 g of the liquid evaporates, its volume increases by 1600 cm³ against atmospheric pressure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Pa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Determine (a) the work done against the atmosphere; (b) the increase in internal energy.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汽化潜热一部分变为内能，一部分用于对抗大气膨胀做功。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(a)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w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y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1600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160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(b) Heat supplied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2300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2300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First law with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160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(work done by the gas):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4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2300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160</m:t>
                </m:r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37185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37185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37185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(a) 160 J　(b) 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2140</m:t>
                </m:r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13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Air in a tyre occupies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9.0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When the tyre bursts, the air expands to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2.7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against atmospheric pressure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Pa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Calculate the work done against the atmosphere.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gas is compressed so that 500 J of work is done on it, while 200 J of heat escapes to the surroundings. Find the change in internal energy. 压缩+放热求 ΔU。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Explain why ΔU = 0 in any isothermal change of an ideal gas. In such a change, 350 J of heat is added to the system — how much work is done, and by whom? 等温过程分析。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 </a:t>
            </a:r>
            <a14:m>
              <m:oMath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1.8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  <m:r>
                  <m:t> 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Q2 </a:t>
            </a:r>
            <a14:m>
              <m:oMath>
                <m:r>
                  <a:rPr lang="en-US" i="1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300</m:t>
                </m:r>
                <m:r>
                  <m:t> 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Q3 T 不变 ⇒ 分子动能不变 ⇒ ΔU = 0；系统对外做功 350 J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13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∑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k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internal energy 内能</a:t>
            </a:r>
          </a:p>
        </p:txBody>
      </p:sp>
      <p:sp>
        <p:nvSpPr>
          <p:cNvPr id="13" name="dsl:smf1-bg"/>
          <p:cNvSpPr/>
          <p:nvPr/>
        </p:nvSpPr>
        <p:spPr>
          <a:xfrm>
            <a:off x="61722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63246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63246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work at const. p</a:t>
            </a:r>
          </a:p>
        </p:txBody>
      </p:sp>
      <p:sp>
        <p:nvSpPr>
          <p:cNvPr id="16" name="dsl:smf2-bg"/>
          <p:cNvSpPr/>
          <p:nvPr/>
        </p:nvSpPr>
        <p:spPr>
          <a:xfrm>
            <a:off x="6096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7620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w</m:t>
                </m:r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7620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first law 第一定律</a:t>
            </a:r>
          </a:p>
        </p:txBody>
      </p:sp>
      <p:sp>
        <p:nvSpPr>
          <p:cNvPr id="19" name="dsl:smf3-bg"/>
          <p:cNvSpPr/>
          <p:nvPr/>
        </p:nvSpPr>
        <p:spPr>
          <a:xfrm>
            <a:off x="61722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63246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: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;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: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63246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sign convention 符号约定</a:t>
            </a:r>
          </a:p>
        </p:txBody>
      </p:sp>
      <p:sp>
        <p:nvSpPr>
          <p:cNvPr id="22" name="dsl:sm-h2|s=$badge"/>
          <p:cNvSpPr txBox="1"/>
          <p:nvPr/>
        </p:nvSpPr>
        <p:spPr>
          <a:xfrm>
            <a:off x="609600" y="36004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23" name="dsl:sm-ideas"/>
          <p:cNvSpPr txBox="1"/>
          <p:nvPr/>
        </p:nvSpPr>
        <p:spPr>
          <a:xfrm>
            <a:off x="609600" y="3905250"/>
            <a:ext cx="10972800" cy="781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Internal energy depends only on the state of the system 内能是状态量。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Area under a p–V curve gives the work done p–V 面积即功。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Isothermal ideal gas: ΔU = 0; adiabatic: ΔU = w. 两个特例常考。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16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16 Thermodynamics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13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arrows-left-right" descr="tmpmp5exf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Read carefully: "work done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BY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the gas" vs "work done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ON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the gas" — they differ by a sign. 分清对外/对内做功。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4384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calculator" descr="tmpmp5exf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5336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; p in Pa, V in m³ (cm³ ×10⁻⁶). 单位统一。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0861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pen-nib" descr="tmpmp5exf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194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1813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State the sign convention before substituting into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— examiners award a mark for it. 先声明符号约定。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7338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link" descr="tmpmp5exf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671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38290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Expect combined questions with Topic 15: use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to find states, then the first law for energies. 常与理想气体综合出题。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99D4A73B-D30E-47C0-B736-DF1B52DF51D9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