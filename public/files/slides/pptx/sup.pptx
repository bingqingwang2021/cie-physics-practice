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 type="custom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-bar"/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3" name="topic-num"/>
          <p:cNvSpPr txBox="1"/>
          <p:nvPr/>
        </p:nvSpPr>
        <p:spPr>
          <a:xfrm>
            <a:off x="1219200" y="9398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 spc="200" kern="0">
                <a:solidFill>
                  <a:srgbClr val="0E5A55"/>
                </a:solidFill>
                <a:latin typeface="MiSans"/>
                <a:ea typeface="MiSans"/>
              </a:rPr>
              <a:t>CIE A-LEVEL PHYSICS · 9702 · TOPIC 8</a:t>
            </a:r>
            <a:endParaRPr lang="en-US" sz="1400" noProof="1"/>
          </a:p>
        </p:txBody>
      </p:sp>
      <p:sp>
        <p:nvSpPr>
          <p:cNvPr id="4" name="title-cn"/>
          <p:cNvSpPr txBox="1"/>
          <p:nvPr/>
        </p:nvSpPr>
        <p:spPr>
          <a:xfrm>
            <a:off x="1219200" y="1625600"/>
            <a:ext cx="9652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600" noProof="1" b="1">
                <a:solidFill>
                  <a:srgbClr val="22303A"/>
                </a:solidFill>
                <a:latin typeface="MiSans"/>
                <a:ea typeface="MiSans"/>
              </a:rPr>
              <a:t>叠加</a:t>
            </a:r>
            <a:endParaRPr lang="en-US" sz="4600" noProof="1"/>
          </a:p>
        </p:txBody>
      </p:sp>
      <p:sp>
        <p:nvSpPr>
          <p:cNvPr id="5" name="title-en"/>
          <p:cNvSpPr txBox="1"/>
          <p:nvPr/>
        </p:nvSpPr>
        <p:spPr>
          <a:xfrm>
            <a:off x="1219200" y="2565400"/>
            <a:ext cx="965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0E5A55"/>
                </a:solidFill>
                <a:latin typeface="MiSans"/>
                <a:ea typeface="MiSans"/>
              </a:rPr>
              <a:t>Superposition</a:t>
            </a:r>
            <a:endParaRPr lang="en-US" sz="2400" noProof="1"/>
          </a:p>
        </p:txBody>
      </p:sp>
      <p:sp>
        <p:nvSpPr>
          <p:cNvPr id="6" name="cover-rule"/>
          <p:cNvSpPr/>
          <p:nvPr/>
        </p:nvSpPr>
        <p:spPr>
          <a:xfrm>
            <a:off x="1219200" y="3327400"/>
            <a:ext cx="1524000" cy="38100"/>
          </a:xfrm>
          <a:prstGeom prst="rect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7" name="cover-sub"/>
          <p:cNvSpPr txBox="1"/>
          <p:nvPr/>
        </p:nvSpPr>
        <p:spPr>
          <a:xfrm>
            <a:off x="1219200" y="36322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400" noProof="1">
                <a:solidFill>
                  <a:srgbClr val="6E6A62"/>
                </a:solidFill>
                <a:latin typeface="MiSans"/>
                <a:ea typeface="MiSans"/>
              </a:rPr>
              <a:t>AS Level 自学课件 · 中英双语</a:t>
            </a:r>
            <a:endParaRPr lang="en-US" sz="1400" noProof="1"/>
          </a:p>
          <a:p>
            <a:pPr>
              <a:lnSpc>
                <a:spcPct val="170000"/>
              </a:lnSpc>
            </a:pPr>
            <a:r>
              <a:rPr lang="en-US" sz="1400" noProof="1">
                <a:solidFill>
                  <a:srgbClr val="6E6A62"/>
                </a:solidFill>
                <a:latin typeface="MiSans"/>
                <a:ea typeface="MiSans"/>
              </a:rPr>
              <a:t>依据 CAIE 考纲 · 参考 PMT Education 笔记与 Cambridge 官方教材（Crundell, 3rd edition）</a:t>
            </a:r>
            <a:endParaRPr lang="en-US" sz="1400" noProof="1"/>
          </a:p>
        </p:txBody>
      </p:sp>
      <p:sp>
        <p:nvSpPr>
          <p:cNvPr id="8" name="formula-strip"/>
          <p:cNvSpPr txBox="1"/>
          <p:nvPr/>
        </p:nvSpPr>
        <p:spPr>
          <a:xfrm>
            <a:off x="1219200" y="5130800"/>
            <a:ext cx="97536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22303A"/>
                </a:solidFill>
                <a:latin typeface="MiSans"/>
                <a:ea typeface="MiSans"/>
              </a:rPr>
              <a:t>波节间距 λ/2  ·  f₁ = (1/2L)√(T/μ)  ·  λ = ax/D  ·  d sinθ = nλ</a:t>
            </a:r>
            <a:endParaRPr lang="en-US" sz="1500" noProof="1"/>
          </a:p>
        </p:txBody>
      </p:sp>
      <p:sp>
        <p:nvSpPr>
          <p:cNvPr id="9" name="formula-strip-label"/>
          <p:cNvSpPr txBox="1"/>
          <p:nvPr/>
        </p:nvSpPr>
        <p:spPr>
          <a:xfrm>
            <a:off x="1219200" y="5537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驻波 · 双缝 · 光栅 —— 本章的计算核心</a:t>
            </a:r>
            <a:endParaRPr lang="en-US" sz="11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CIE A-LEVEL PHYSICS · TOPIC 8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本章学完后，你能做到什么？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Learning route — four stops from superposition to the grating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spine"/>
          <p:cNvSpPr/>
          <p:nvPr/>
        </p:nvSpPr>
        <p:spPr>
          <a:xfrm>
            <a:off x="1117600" y="2032000"/>
            <a:ext cx="25400" cy="35560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7" name="n1"/>
          <p:cNvSpPr txBox="1"/>
          <p:nvPr/>
        </p:nvSpPr>
        <p:spPr>
          <a:xfrm>
            <a:off x="762000" y="17526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400" noProof="1" b="1">
                <a:solidFill>
                  <a:srgbClr val="0E5A55"/>
                </a:solidFill>
                <a:latin typeface="MiSans"/>
                <a:ea typeface="MiSans"/>
              </a:rPr>
              <a:t>①</a:t>
            </a:r>
            <a:endParaRPr lang="en-US" sz="2400" noProof="1"/>
          </a:p>
        </p:txBody>
      </p:sp>
      <p:sp>
        <p:nvSpPr>
          <p:cNvPr id="8" name="s1"/>
          <p:cNvSpPr txBox="1"/>
          <p:nvPr/>
        </p:nvSpPr>
        <p:spPr>
          <a:xfrm>
            <a:off x="1625600" y="1778000"/>
            <a:ext cx="965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叠加与驻波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叠加原理（矢量和）、相长/相消；驻波的形成条件、波节波腹、基频与谐频 f₁ = (1/2L)√(T/μ)。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Superposition principle · stationary waves · harmonics</a:t>
            </a:r>
            <a:endParaRPr lang="en-US" sz="1350" noProof="1"/>
          </a:p>
        </p:txBody>
      </p:sp>
      <p:sp>
        <p:nvSpPr>
          <p:cNvPr id="9" name="n2"/>
          <p:cNvSpPr txBox="1"/>
          <p:nvPr/>
        </p:nvSpPr>
        <p:spPr>
          <a:xfrm>
            <a:off x="762000" y="26416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400" noProof="1" b="1">
                <a:solidFill>
                  <a:srgbClr val="0E5A55"/>
                </a:solidFill>
                <a:latin typeface="MiSans"/>
                <a:ea typeface="MiSans"/>
              </a:rPr>
              <a:t>②</a:t>
            </a:r>
            <a:endParaRPr lang="en-US" sz="2400" noProof="1"/>
          </a:p>
        </p:txBody>
      </p:sp>
      <p:sp>
        <p:nvSpPr>
          <p:cNvPr id="10" name="s2"/>
          <p:cNvSpPr txBox="1"/>
          <p:nvPr/>
        </p:nvSpPr>
        <p:spPr>
          <a:xfrm>
            <a:off x="1625600" y="2667000"/>
            <a:ext cx="965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衍射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缝宽 ≈ 波长时衍射最明显；单缝图样：中央亮纹双倍宽、强度向外递减。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Diffraction · gap size vs wavelength · single-slit pattern</a:t>
            </a:r>
            <a:endParaRPr lang="en-US" sz="1350" noProof="1"/>
          </a:p>
        </p:txBody>
      </p:sp>
      <p:sp>
        <p:nvSpPr>
          <p:cNvPr id="11" name="n3"/>
          <p:cNvSpPr txBox="1"/>
          <p:nvPr/>
        </p:nvSpPr>
        <p:spPr>
          <a:xfrm>
            <a:off x="762000" y="35306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400" noProof="1" b="1">
                <a:solidFill>
                  <a:srgbClr val="0E5A55"/>
                </a:solidFill>
                <a:latin typeface="MiSans"/>
                <a:ea typeface="MiSans"/>
              </a:rPr>
              <a:t>③</a:t>
            </a:r>
            <a:endParaRPr lang="en-US" sz="2400" noProof="1"/>
          </a:p>
        </p:txBody>
      </p:sp>
      <p:sp>
        <p:nvSpPr>
          <p:cNvPr id="12" name="s3"/>
          <p:cNvSpPr txBox="1"/>
          <p:nvPr/>
        </p:nvSpPr>
        <p:spPr>
          <a:xfrm>
            <a:off x="1625600" y="3556000"/>
            <a:ext cx="965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双缝干涉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相干的定义；亮纹 nλ、暗纹 (n+½)λ；条纹间距 λ = ax/D。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Coherence · Young's double slit · fringe spacing</a:t>
            </a:r>
            <a:endParaRPr lang="en-US" sz="1350" noProof="1"/>
          </a:p>
        </p:txBody>
      </p:sp>
      <p:sp>
        <p:nvSpPr>
          <p:cNvPr id="13" name="n4"/>
          <p:cNvSpPr txBox="1"/>
          <p:nvPr/>
        </p:nvSpPr>
        <p:spPr>
          <a:xfrm>
            <a:off x="762000" y="44196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400" noProof="1" b="1">
                <a:solidFill>
                  <a:srgbClr val="0E5A55"/>
                </a:solidFill>
                <a:latin typeface="MiSans"/>
                <a:ea typeface="MiSans"/>
              </a:rPr>
              <a:t>④</a:t>
            </a:r>
            <a:endParaRPr lang="en-US" sz="2400" noProof="1"/>
          </a:p>
        </p:txBody>
      </p:sp>
      <p:sp>
        <p:nvSpPr>
          <p:cNvPr id="14" name="s4"/>
          <p:cNvSpPr txBox="1"/>
          <p:nvPr/>
        </p:nvSpPr>
        <p:spPr>
          <a:xfrm>
            <a:off x="1625600" y="4445000"/>
            <a:ext cx="965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衍射光栅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d sinθ = nλ 会用也会推导；sinθ ≤ 1 定最高级数；"每毫米 N 缝 → d" 换算。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Grating equation · derivation · maximum order</a:t>
            </a:r>
            <a:endParaRPr lang="en-US" sz="1350" noProof="1"/>
          </a:p>
        </p:txBody>
      </p:sp>
      <p:sp>
        <p:nvSpPr>
          <p:cNvPr id="15" name="exit-box"/>
          <p:cNvSpPr/>
          <p:nvPr/>
        </p:nvSpPr>
        <p:spPr>
          <a:xfrm>
            <a:off x="762000" y="5486400"/>
            <a:ext cx="10668000" cy="6604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6" name="exit-text"/>
          <p:cNvSpPr txBox="1"/>
          <p:nvPr/>
        </p:nvSpPr>
        <p:spPr>
          <a:xfrm>
            <a:off x="965200" y="5588000"/>
            <a:ext cx="10261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出口能力 Exit capability：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默写叠加、相干、驻波的定义；给弦长会算各次谐频；双缝与光栅计算不翻单位的车；能写出光栅方程的推导四步。</a:t>
            </a:r>
            <a:endParaRPr lang="en-US" sz="1250" noProof="1"/>
          </a:p>
        </p:txBody>
      </p:sp>
      <p:sp>
        <p:nvSpPr>
          <p:cNvPr id="17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8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8 叠加</a:t>
            </a:r>
            <a:endParaRPr lang="en-US" sz="1000" noProof="1"/>
          </a:p>
        </p:txBody>
      </p:sp>
      <p:sp>
        <p:nvSpPr>
          <p:cNvPr id="19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02</a:t>
            </a:r>
            <a:endParaRPr lang="en-US" sz="10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8.1 · SUPERPOSITION PRINCIPLE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叠加：位移的矢量和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Constructive when in phase · destructive when in antiphase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c-h"/>
          <p:cNvSpPr txBox="1"/>
          <p:nvPr/>
        </p:nvSpPr>
        <p:spPr>
          <a:xfrm>
            <a:off x="762000" y="16510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相长干涉 Constructive（同相 in phase）</a:t>
            </a:r>
            <a:endParaRPr lang="en-US" sz="1500" noProof="1"/>
          </a:p>
        </p:txBody>
      </p:sp>
      <p:sp>
        <p:nvSpPr>
          <p:cNvPr id="7" name="c-w1"/>
          <p:cNvSpPr/>
          <p:nvPr>
            <p:extLst>
              <p:ext uri="{F5677B7D-0D2A-4D9B-9A5C-6D8D7D0E5A5D}">
                <pptd:line encoding="base64url">eyJ2aWV3Qm94IjpbMjAwLDY1XSwicG9pbnRzIjoiMCwyMCA4LDE0IDE2LDEwIDI0LDggMzIsOSA0MCwxMyA0OCwxOCA1NiwyNCA2NCwyOSA3MiwzMiA4MCwzMSA4OCwyOCA5NiwyMyAxMDQsMTcgMTEyLDEyIDEyMCw5IDEyOCw4IDEzNiwxMSAxNDQsMTYgMTUyLDIyIDE2MCwyNyAxNjgsMzEgMTc2LDMyIDE4NCwzMCAxOTIsMjYgMjAwLDIwIiwiY3VydmUiOiJzaGFycCJ9</pptd:line>
              </p:ext>
            </p:extLst>
          </p:nvPr>
        </p:nvSpPr>
        <p:spPr>
          <a:xfrm>
            <a:off x="1016000" y="2032000"/>
            <a:ext cx="2540000" cy="825500"/>
          </a:xfrm>
          <a:custGeom>
            <a:avLst/>
            <a:gdLst/>
            <a:ahLst/>
            <a:cxnLst/>
            <a:rect l="l" t="t" r="r" b="b"/>
            <a:pathLst>
              <a:path w="200" h="65">
                <a:moveTo>
                  <a:pt x="0" y="20"/>
                </a:moveTo>
                <a:lnTo>
                  <a:pt x="8" y="14"/>
                </a:lnTo>
                <a:lnTo>
                  <a:pt x="16" y="10"/>
                </a:lnTo>
                <a:lnTo>
                  <a:pt x="24" y="8"/>
                </a:lnTo>
                <a:lnTo>
                  <a:pt x="32" y="9"/>
                </a:lnTo>
                <a:lnTo>
                  <a:pt x="40" y="13"/>
                </a:lnTo>
                <a:lnTo>
                  <a:pt x="48" y="18"/>
                </a:lnTo>
                <a:lnTo>
                  <a:pt x="56" y="24"/>
                </a:lnTo>
                <a:lnTo>
                  <a:pt x="64" y="29"/>
                </a:lnTo>
                <a:lnTo>
                  <a:pt x="72" y="32"/>
                </a:lnTo>
                <a:lnTo>
                  <a:pt x="80" y="31"/>
                </a:lnTo>
                <a:lnTo>
                  <a:pt x="88" y="28"/>
                </a:lnTo>
                <a:lnTo>
                  <a:pt x="96" y="23"/>
                </a:lnTo>
                <a:lnTo>
                  <a:pt x="104" y="17"/>
                </a:lnTo>
                <a:lnTo>
                  <a:pt x="112" y="12"/>
                </a:lnTo>
                <a:lnTo>
                  <a:pt x="120" y="9"/>
                </a:lnTo>
                <a:lnTo>
                  <a:pt x="128" y="8"/>
                </a:lnTo>
                <a:lnTo>
                  <a:pt x="136" y="11"/>
                </a:lnTo>
                <a:lnTo>
                  <a:pt x="144" y="16"/>
                </a:lnTo>
                <a:lnTo>
                  <a:pt x="152" y="22"/>
                </a:lnTo>
                <a:lnTo>
                  <a:pt x="160" y="27"/>
                </a:lnTo>
                <a:lnTo>
                  <a:pt x="168" y="31"/>
                </a:lnTo>
                <a:lnTo>
                  <a:pt x="176" y="32"/>
                </a:lnTo>
                <a:lnTo>
                  <a:pt x="184" y="30"/>
                </a:lnTo>
                <a:lnTo>
                  <a:pt x="192" y="26"/>
                </a:lnTo>
                <a:lnTo>
                  <a:pt x="200" y="20"/>
                </a:lnTo>
              </a:path>
            </a:pathLst>
          </a:custGeom>
          <a:noFill/>
          <a:ln w="25400">
            <a:solidFill>
              <a:srgbClr val="0E5A55"/>
            </a:solidFill>
          </a:ln>
        </p:spPr>
      </p:sp>
      <p:sp>
        <p:nvSpPr>
          <p:cNvPr id="8" name="c-w2"/>
          <p:cNvSpPr/>
          <p:nvPr>
            <p:extLst>
              <p:ext uri="{F5677B7D-0D2A-4D9B-9A5C-6D8D7D0E5A5D}">
                <pptd:line encoding="base64url">eyJ2aWV3Qm94IjpbMjAwLDY1XSwicG9pbnRzIjoiMCw0NSA4LDM5IDE2LDM1IDI0LDMzIDMyLDM0IDQwLDM4IDQ4LDQzIDU2LDQ5IDY0LDU0IDcyLDU3IDgwLDU2IDg4LDUzIDk2LDQ4IDEwNCw0MiAxMTIsMzcgMTIwLDM0IDEyOCwzMyAxMzYsMzYgMTQ0LDQxIDE1Miw0NyAxNjAsNTIgMTY4LDU2IDE3Niw1NyAxODQsNTUgMTkyLDUxIDIwMCw0NSIsImN1cnZlIjoic2hhcnAifQ</pptd:line>
              </p:ext>
            </p:extLst>
          </p:nvPr>
        </p:nvSpPr>
        <p:spPr>
          <a:xfrm>
            <a:off x="1016000" y="2032000"/>
            <a:ext cx="2540000" cy="825500"/>
          </a:xfrm>
          <a:custGeom>
            <a:avLst/>
            <a:gdLst/>
            <a:ahLst/>
            <a:cxnLst/>
            <a:rect l="l" t="t" r="r" b="b"/>
            <a:pathLst>
              <a:path w="200" h="65">
                <a:moveTo>
                  <a:pt x="0" y="45"/>
                </a:moveTo>
                <a:lnTo>
                  <a:pt x="8" y="39"/>
                </a:lnTo>
                <a:lnTo>
                  <a:pt x="16" y="35"/>
                </a:lnTo>
                <a:lnTo>
                  <a:pt x="24" y="33"/>
                </a:lnTo>
                <a:lnTo>
                  <a:pt x="32" y="34"/>
                </a:lnTo>
                <a:lnTo>
                  <a:pt x="40" y="38"/>
                </a:lnTo>
                <a:lnTo>
                  <a:pt x="48" y="43"/>
                </a:lnTo>
                <a:lnTo>
                  <a:pt x="56" y="49"/>
                </a:lnTo>
                <a:lnTo>
                  <a:pt x="64" y="54"/>
                </a:lnTo>
                <a:lnTo>
                  <a:pt x="72" y="57"/>
                </a:lnTo>
                <a:lnTo>
                  <a:pt x="80" y="56"/>
                </a:lnTo>
                <a:lnTo>
                  <a:pt x="88" y="53"/>
                </a:lnTo>
                <a:lnTo>
                  <a:pt x="96" y="48"/>
                </a:lnTo>
                <a:lnTo>
                  <a:pt x="104" y="42"/>
                </a:lnTo>
                <a:lnTo>
                  <a:pt x="112" y="37"/>
                </a:lnTo>
                <a:lnTo>
                  <a:pt x="120" y="34"/>
                </a:lnTo>
                <a:lnTo>
                  <a:pt x="128" y="33"/>
                </a:lnTo>
                <a:lnTo>
                  <a:pt x="136" y="36"/>
                </a:lnTo>
                <a:lnTo>
                  <a:pt x="144" y="41"/>
                </a:lnTo>
                <a:lnTo>
                  <a:pt x="152" y="47"/>
                </a:lnTo>
                <a:lnTo>
                  <a:pt x="160" y="52"/>
                </a:lnTo>
                <a:lnTo>
                  <a:pt x="168" y="56"/>
                </a:lnTo>
                <a:lnTo>
                  <a:pt x="176" y="57"/>
                </a:lnTo>
                <a:lnTo>
                  <a:pt x="184" y="55"/>
                </a:lnTo>
                <a:lnTo>
                  <a:pt x="192" y="51"/>
                </a:lnTo>
                <a:lnTo>
                  <a:pt x="200" y="45"/>
                </a:lnTo>
              </a:path>
            </a:pathLst>
          </a:custGeom>
          <a:noFill/>
          <a:ln w="25400">
            <a:solidFill>
              <a:srgbClr val="C96F16"/>
            </a:solidFill>
          </a:ln>
        </p:spPr>
      </p:sp>
      <p:sp>
        <p:nvSpPr>
          <p:cNvPr id="9" name="c-arr"/>
          <p:cNvSpPr/>
          <p:nvPr>
            <p:extLst>
              <p:ext uri="{F5677B7D-0D2A-4D9B-9A5C-6D8D7D0E5A5D}">
                <pptd:line encoding="base64url">eyJ2aWV3Qm94IjpbNCwyNl0sInBvaW50cyI6IjIsMCAyLDI2IiwiY3VydmUiOiJzaGFycCJ9</pptd:line>
              </p:ext>
            </p:extLst>
          </p:nvPr>
        </p:nvSpPr>
        <p:spPr>
          <a:xfrm>
            <a:off x="2260600" y="2946400"/>
            <a:ext cx="50800" cy="330200"/>
          </a:xfrm>
          <a:custGeom>
            <a:avLst/>
            <a:gdLst/>
            <a:ahLst/>
            <a:cxnLst/>
            <a:rect l="l" t="t" r="r" b="b"/>
            <a:pathLst>
              <a:path w="4" h="26">
                <a:moveTo>
                  <a:pt x="2" y="0"/>
                </a:moveTo>
                <a:lnTo>
                  <a:pt x="2" y="26"/>
                </a:lnTo>
              </a:path>
            </a:pathLst>
          </a:custGeom>
          <a:noFill/>
          <a:ln w="19050">
            <a:solidFill>
              <a:srgbClr val="6E6A62"/>
            </a:solidFill>
            <a:tailEnd type="arrow"/>
          </a:ln>
        </p:spPr>
      </p:sp>
      <p:sp>
        <p:nvSpPr>
          <p:cNvPr id="10" name="c-w3"/>
          <p:cNvSpPr/>
          <p:nvPr>
            <p:extLst>
              <p:ext uri="{F5677B7D-0D2A-4D9B-9A5C-6D8D7D0E5A5D}">
                <pptd:line encoding="base64url">eyJ2aWV3Qm94IjpbMjAwLDY0XSwicG9pbnRzIjoiMCwzMiA4LDIwIDE2LDEyIDI0LDggMzIsMTAgNDAsMTggNDgsMjkgNTYsNDEgNjQsNTAgNzIsNTYgODAsNTUgODgsNDggOTYsMzggMTA0LDI2IDExMiwxNiAxMjAsOSAxMjgsOCAxMzYsMTQgMTQ0LDIzIDE1MiwzNSAxNjAsNDYgMTY4LDU0IDE3Niw1NiAxODQsNTIgMTkyLDQ0IDIwMCwzMiIsImN1cnZlIjoic2hhcnAifQ</pptd:line>
              </p:ext>
            </p:extLst>
          </p:nvPr>
        </p:nvSpPr>
        <p:spPr>
          <a:xfrm>
            <a:off x="1016000" y="3352800"/>
            <a:ext cx="2540000" cy="812800"/>
          </a:xfrm>
          <a:custGeom>
            <a:avLst/>
            <a:gdLst/>
            <a:ahLst/>
            <a:cxnLst/>
            <a:rect l="l" t="t" r="r" b="b"/>
            <a:pathLst>
              <a:path w="200" h="64">
                <a:moveTo>
                  <a:pt x="0" y="32"/>
                </a:moveTo>
                <a:lnTo>
                  <a:pt x="8" y="20"/>
                </a:lnTo>
                <a:lnTo>
                  <a:pt x="16" y="12"/>
                </a:lnTo>
                <a:lnTo>
                  <a:pt x="24" y="8"/>
                </a:lnTo>
                <a:lnTo>
                  <a:pt x="32" y="10"/>
                </a:lnTo>
                <a:lnTo>
                  <a:pt x="40" y="18"/>
                </a:lnTo>
                <a:lnTo>
                  <a:pt x="48" y="29"/>
                </a:lnTo>
                <a:lnTo>
                  <a:pt x="56" y="41"/>
                </a:lnTo>
                <a:lnTo>
                  <a:pt x="64" y="50"/>
                </a:lnTo>
                <a:lnTo>
                  <a:pt x="72" y="56"/>
                </a:lnTo>
                <a:lnTo>
                  <a:pt x="80" y="55"/>
                </a:lnTo>
                <a:lnTo>
                  <a:pt x="88" y="48"/>
                </a:lnTo>
                <a:lnTo>
                  <a:pt x="96" y="38"/>
                </a:lnTo>
                <a:lnTo>
                  <a:pt x="104" y="26"/>
                </a:lnTo>
                <a:lnTo>
                  <a:pt x="112" y="16"/>
                </a:lnTo>
                <a:lnTo>
                  <a:pt x="120" y="9"/>
                </a:lnTo>
                <a:lnTo>
                  <a:pt x="128" y="8"/>
                </a:lnTo>
                <a:lnTo>
                  <a:pt x="136" y="14"/>
                </a:lnTo>
                <a:lnTo>
                  <a:pt x="144" y="23"/>
                </a:lnTo>
                <a:lnTo>
                  <a:pt x="152" y="35"/>
                </a:lnTo>
                <a:lnTo>
                  <a:pt x="160" y="46"/>
                </a:lnTo>
                <a:lnTo>
                  <a:pt x="168" y="54"/>
                </a:lnTo>
                <a:lnTo>
                  <a:pt x="176" y="56"/>
                </a:lnTo>
                <a:lnTo>
                  <a:pt x="184" y="52"/>
                </a:lnTo>
                <a:lnTo>
                  <a:pt x="192" y="44"/>
                </a:lnTo>
                <a:lnTo>
                  <a:pt x="200" y="32"/>
                </a:lnTo>
              </a:path>
            </a:pathLst>
          </a:custGeom>
          <a:noFill/>
          <a:ln w="38100">
            <a:solidFill>
              <a:srgbClr val="22303A"/>
            </a:solidFill>
          </a:ln>
        </p:spPr>
      </p:sp>
      <p:sp>
        <p:nvSpPr>
          <p:cNvPr id="11" name="c-cap"/>
          <p:cNvSpPr txBox="1"/>
          <p:nvPr/>
        </p:nvSpPr>
        <p:spPr>
          <a:xfrm>
            <a:off x="1016000" y="4267200"/>
            <a:ext cx="4826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6E6A62"/>
                </a:solidFill>
                <a:latin typeface="MiSans"/>
                <a:ea typeface="MiSans"/>
              </a:rPr>
              <a:t>峰对峰、谷对谷 → 位移相加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6E6A62"/>
                </a:solidFill>
                <a:latin typeface="MiSans"/>
                <a:ea typeface="MiSans"/>
              </a:rPr>
              <a:t>合振幅 = </a:t>
            </a:r>
            <a:r>
              <a:rPr lang="en-US" sz="1200" noProof="1" b="1">
                <a:solidFill>
                  <a:srgbClr val="6E6A62"/>
                </a:solidFill>
                <a:latin typeface="MiSans"/>
                <a:ea typeface="MiSans"/>
              </a:rPr>
              <a:t>2A</a:t>
            </a:r>
            <a:r>
              <a:rPr lang="en-US" sz="1200" noProof="1">
                <a:solidFill>
                  <a:srgbClr val="6E6A62"/>
                </a:solidFill>
                <a:latin typeface="MiSans"/>
                <a:ea typeface="MiSans"/>
              </a:rPr>
              <a:t>（更大）</a:t>
            </a:r>
            <a:endParaRPr lang="en-US" sz="1200" noProof="1"/>
          </a:p>
        </p:txBody>
      </p:sp>
      <p:sp>
        <p:nvSpPr>
          <p:cNvPr id="12" name="d-h"/>
          <p:cNvSpPr txBox="1"/>
          <p:nvPr/>
        </p:nvSpPr>
        <p:spPr>
          <a:xfrm>
            <a:off x="6604000" y="1651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相消干涉 Destructive（反相 antiphase）</a:t>
            </a:r>
            <a:endParaRPr lang="en-US" sz="1500" noProof="1"/>
          </a:p>
        </p:txBody>
      </p:sp>
      <p:sp>
        <p:nvSpPr>
          <p:cNvPr id="13" name="d-w1"/>
          <p:cNvSpPr/>
          <p:nvPr>
            <p:extLst>
              <p:ext uri="{F5677B7D-0D2A-4D9B-9A5C-6D8D7D0E5A5D}">
                <pptd:line encoding="base64url">eyJ2aWV3Qm94IjpbMjAwLDY1XSwicG9pbnRzIjoiMCwyMCA4LDE0IDE2LDEwIDI0LDggMzIsOSA0MCwxMyA0OCwxOCA1NiwyNCA2NCwyOSA3MiwzMiA4MCwzMSA4OCwyOCA5NiwyMyAxMDQsMTcgMTEyLDEyIDEyMCw5IDEyOCw4IDEzNiwxMSAxNDQsMTYgMTUyLDIyIDE2MCwyNyAxNjgsMzEgMTc2LDMyIDE4NCwzMCAxOTIsMjYgMjAwLDIwIiwiY3VydmUiOiJzaGFycCJ9</pptd:line>
              </p:ext>
            </p:extLst>
          </p:nvPr>
        </p:nvSpPr>
        <p:spPr>
          <a:xfrm>
            <a:off x="6858000" y="2032000"/>
            <a:ext cx="2540000" cy="825500"/>
          </a:xfrm>
          <a:custGeom>
            <a:avLst/>
            <a:gdLst/>
            <a:ahLst/>
            <a:cxnLst/>
            <a:rect l="l" t="t" r="r" b="b"/>
            <a:pathLst>
              <a:path w="200" h="65">
                <a:moveTo>
                  <a:pt x="0" y="20"/>
                </a:moveTo>
                <a:lnTo>
                  <a:pt x="8" y="14"/>
                </a:lnTo>
                <a:lnTo>
                  <a:pt x="16" y="10"/>
                </a:lnTo>
                <a:lnTo>
                  <a:pt x="24" y="8"/>
                </a:lnTo>
                <a:lnTo>
                  <a:pt x="32" y="9"/>
                </a:lnTo>
                <a:lnTo>
                  <a:pt x="40" y="13"/>
                </a:lnTo>
                <a:lnTo>
                  <a:pt x="48" y="18"/>
                </a:lnTo>
                <a:lnTo>
                  <a:pt x="56" y="24"/>
                </a:lnTo>
                <a:lnTo>
                  <a:pt x="64" y="29"/>
                </a:lnTo>
                <a:lnTo>
                  <a:pt x="72" y="32"/>
                </a:lnTo>
                <a:lnTo>
                  <a:pt x="80" y="31"/>
                </a:lnTo>
                <a:lnTo>
                  <a:pt x="88" y="28"/>
                </a:lnTo>
                <a:lnTo>
                  <a:pt x="96" y="23"/>
                </a:lnTo>
                <a:lnTo>
                  <a:pt x="104" y="17"/>
                </a:lnTo>
                <a:lnTo>
                  <a:pt x="112" y="12"/>
                </a:lnTo>
                <a:lnTo>
                  <a:pt x="120" y="9"/>
                </a:lnTo>
                <a:lnTo>
                  <a:pt x="128" y="8"/>
                </a:lnTo>
                <a:lnTo>
                  <a:pt x="136" y="11"/>
                </a:lnTo>
                <a:lnTo>
                  <a:pt x="144" y="16"/>
                </a:lnTo>
                <a:lnTo>
                  <a:pt x="152" y="22"/>
                </a:lnTo>
                <a:lnTo>
                  <a:pt x="160" y="27"/>
                </a:lnTo>
                <a:lnTo>
                  <a:pt x="168" y="31"/>
                </a:lnTo>
                <a:lnTo>
                  <a:pt x="176" y="32"/>
                </a:lnTo>
                <a:lnTo>
                  <a:pt x="184" y="30"/>
                </a:lnTo>
                <a:lnTo>
                  <a:pt x="192" y="26"/>
                </a:lnTo>
                <a:lnTo>
                  <a:pt x="200" y="20"/>
                </a:lnTo>
              </a:path>
            </a:pathLst>
          </a:custGeom>
          <a:noFill/>
          <a:ln w="25400">
            <a:solidFill>
              <a:srgbClr val="0E5A55"/>
            </a:solidFill>
          </a:ln>
        </p:spPr>
      </p:sp>
      <p:sp>
        <p:nvSpPr>
          <p:cNvPr id="14" name="d-w2"/>
          <p:cNvSpPr/>
          <p:nvPr>
            <p:extLst>
              <p:ext uri="{F5677B7D-0D2A-4D9B-9A5C-6D8D7D0E5A5D}">
                <pptd:line encoding="base64url">eyJ2aWV3Qm94IjpbMjAwLDY1XSwicG9pbnRzIjoiMCw0NSA4LDUxIDE2LDU1IDI0LDU3IDMyLDU2IDQwLDUyIDQ4LDQ3IDU2LDQxIDY0LDM2IDcyLDMzIDgwLDM0IDg4LDM3IDk2LDQyIDEwNCw0OCAxMTIsNTMgMTIwLDU2IDEyOCw1NyAxMzYsNTQgMTQ0LDQ5IDE1Miw0MyAxNjAsMzggMTY4LDM0IDE3NiwzMyAxODQsMzUgMTkyLDM5IDIwMCw0NSIsImN1cnZlIjoic2hhcnAifQ</pptd:line>
              </p:ext>
            </p:extLst>
          </p:nvPr>
        </p:nvSpPr>
        <p:spPr>
          <a:xfrm>
            <a:off x="6858000" y="2032000"/>
            <a:ext cx="2540000" cy="825500"/>
          </a:xfrm>
          <a:custGeom>
            <a:avLst/>
            <a:gdLst/>
            <a:ahLst/>
            <a:cxnLst/>
            <a:rect l="l" t="t" r="r" b="b"/>
            <a:pathLst>
              <a:path w="200" h="65">
                <a:moveTo>
                  <a:pt x="0" y="45"/>
                </a:moveTo>
                <a:lnTo>
                  <a:pt x="8" y="51"/>
                </a:lnTo>
                <a:lnTo>
                  <a:pt x="16" y="55"/>
                </a:lnTo>
                <a:lnTo>
                  <a:pt x="24" y="57"/>
                </a:lnTo>
                <a:lnTo>
                  <a:pt x="32" y="56"/>
                </a:lnTo>
                <a:lnTo>
                  <a:pt x="40" y="52"/>
                </a:lnTo>
                <a:lnTo>
                  <a:pt x="48" y="47"/>
                </a:lnTo>
                <a:lnTo>
                  <a:pt x="56" y="41"/>
                </a:lnTo>
                <a:lnTo>
                  <a:pt x="64" y="36"/>
                </a:lnTo>
                <a:lnTo>
                  <a:pt x="72" y="33"/>
                </a:lnTo>
                <a:lnTo>
                  <a:pt x="80" y="34"/>
                </a:lnTo>
                <a:lnTo>
                  <a:pt x="88" y="37"/>
                </a:lnTo>
                <a:lnTo>
                  <a:pt x="96" y="42"/>
                </a:lnTo>
                <a:lnTo>
                  <a:pt x="104" y="48"/>
                </a:lnTo>
                <a:lnTo>
                  <a:pt x="112" y="53"/>
                </a:lnTo>
                <a:lnTo>
                  <a:pt x="120" y="56"/>
                </a:lnTo>
                <a:lnTo>
                  <a:pt x="128" y="57"/>
                </a:lnTo>
                <a:lnTo>
                  <a:pt x="136" y="54"/>
                </a:lnTo>
                <a:lnTo>
                  <a:pt x="144" y="49"/>
                </a:lnTo>
                <a:lnTo>
                  <a:pt x="152" y="43"/>
                </a:lnTo>
                <a:lnTo>
                  <a:pt x="160" y="38"/>
                </a:lnTo>
                <a:lnTo>
                  <a:pt x="168" y="34"/>
                </a:lnTo>
                <a:lnTo>
                  <a:pt x="176" y="33"/>
                </a:lnTo>
                <a:lnTo>
                  <a:pt x="184" y="35"/>
                </a:lnTo>
                <a:lnTo>
                  <a:pt x="192" y="39"/>
                </a:lnTo>
                <a:lnTo>
                  <a:pt x="200" y="45"/>
                </a:lnTo>
              </a:path>
            </a:pathLst>
          </a:custGeom>
          <a:noFill/>
          <a:ln w="25400">
            <a:solidFill>
              <a:srgbClr val="C96F16"/>
            </a:solidFill>
          </a:ln>
        </p:spPr>
      </p:sp>
      <p:sp>
        <p:nvSpPr>
          <p:cNvPr id="15" name="d-arr"/>
          <p:cNvSpPr/>
          <p:nvPr>
            <p:extLst>
              <p:ext uri="{F5677B7D-0D2A-4D9B-9A5C-6D8D7D0E5A5D}">
                <pptd:line encoding="base64url">eyJ2aWV3Qm94IjpbNCwyNl0sInBvaW50cyI6IjIsMCAyLDI2IiwiY3VydmUiOiJzaGFycCJ9</pptd:line>
              </p:ext>
            </p:extLst>
          </p:nvPr>
        </p:nvSpPr>
        <p:spPr>
          <a:xfrm>
            <a:off x="8102600" y="2946400"/>
            <a:ext cx="50800" cy="330200"/>
          </a:xfrm>
          <a:custGeom>
            <a:avLst/>
            <a:gdLst/>
            <a:ahLst/>
            <a:cxnLst/>
            <a:rect l="l" t="t" r="r" b="b"/>
            <a:pathLst>
              <a:path w="4" h="26">
                <a:moveTo>
                  <a:pt x="2" y="0"/>
                </a:moveTo>
                <a:lnTo>
                  <a:pt x="2" y="26"/>
                </a:lnTo>
              </a:path>
            </a:pathLst>
          </a:custGeom>
          <a:noFill/>
          <a:ln w="19050">
            <a:solidFill>
              <a:srgbClr val="6E6A62"/>
            </a:solidFill>
            <a:tailEnd type="arrow"/>
          </a:ln>
        </p:spPr>
      </p:sp>
      <p:sp>
        <p:nvSpPr>
          <p:cNvPr id="16" name="d-w3"/>
          <p:cNvSpPr/>
          <p:nvPr>
            <p:extLst>
              <p:ext uri="{F5677B7D-0D2A-4D9B-9A5C-6D8D7D0E5A5D}">
                <pptd:line encoding="base64url">eyJ2aWV3Qm94IjpbMjAwLDY0XSwicG9pbnRzIjoiMCwzMiAyMDAsMzIiLCJjdXJ2ZSI6InNoYXJwIn0</pptd:line>
              </p:ext>
            </p:extLst>
          </p:nvPr>
        </p:nvSpPr>
        <p:spPr>
          <a:xfrm>
            <a:off x="6858000" y="3352800"/>
            <a:ext cx="2540000" cy="812800"/>
          </a:xfrm>
          <a:custGeom>
            <a:avLst/>
            <a:gdLst/>
            <a:ahLst/>
            <a:cxnLst/>
            <a:rect l="l" t="t" r="r" b="b"/>
            <a:pathLst>
              <a:path w="200" h="64">
                <a:moveTo>
                  <a:pt x="0" y="32"/>
                </a:moveTo>
                <a:lnTo>
                  <a:pt x="200" y="32"/>
                </a:lnTo>
              </a:path>
            </a:pathLst>
          </a:custGeom>
          <a:noFill/>
          <a:ln w="38100">
            <a:solidFill>
              <a:srgbClr val="22303A"/>
            </a:solidFill>
          </a:ln>
        </p:spPr>
      </p:sp>
      <p:sp>
        <p:nvSpPr>
          <p:cNvPr id="17" name="d-cap"/>
          <p:cNvSpPr txBox="1"/>
          <p:nvPr/>
        </p:nvSpPr>
        <p:spPr>
          <a:xfrm>
            <a:off x="6858000" y="42672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6E6A62"/>
                </a:solidFill>
                <a:latin typeface="MiSans"/>
                <a:ea typeface="MiSans"/>
              </a:rPr>
              <a:t>峰对谷 → 位移相消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6E6A62"/>
                </a:solidFill>
                <a:latin typeface="MiSans"/>
                <a:ea typeface="MiSans"/>
              </a:rPr>
              <a:t>合振幅 = </a:t>
            </a:r>
            <a:r>
              <a:rPr lang="en-US" sz="1200" noProof="1" b="1">
                <a:solidFill>
                  <a:srgbClr val="6E6A62"/>
                </a:solidFill>
                <a:latin typeface="MiSans"/>
                <a:ea typeface="MiSans"/>
              </a:rPr>
              <a:t>0</a:t>
            </a:r>
            <a:r>
              <a:rPr lang="en-US" sz="1200" noProof="1">
                <a:solidFill>
                  <a:srgbClr val="6E6A62"/>
                </a:solidFill>
                <a:latin typeface="MiSans"/>
                <a:ea typeface="MiSans"/>
              </a:rPr>
              <a:t>（完全抵消）</a:t>
            </a:r>
            <a:endParaRPr lang="en-US" sz="1200" noProof="1"/>
          </a:p>
        </p:txBody>
      </p:sp>
      <p:sp>
        <p:nvSpPr>
          <p:cNvPr id="18" name="def-box"/>
          <p:cNvSpPr/>
          <p:nvPr/>
        </p:nvSpPr>
        <p:spPr>
          <a:xfrm>
            <a:off x="762000" y="4978400"/>
            <a:ext cx="10668000" cy="6604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9" name="def-body"/>
          <p:cNvSpPr txBox="1"/>
          <p:nvPr/>
        </p:nvSpPr>
        <p:spPr>
          <a:xfrm>
            <a:off x="965200" y="5067300"/>
            <a:ext cx="10261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叠加原理 Superposition：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同类型的两列（或多列）波相遇时，合位移 = 各波位移的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矢量和（vector sum）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250" noProof="1"/>
          </a:p>
          <a:p>
            <a:pPr algn="l">
              <a:lnSpc>
                <a:spcPct val="150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易错：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必须写 vector sum——位移有正负方向，只写 "add up" 不给满分。</a:t>
            </a:r>
            <a:endParaRPr lang="en-US" sz="1250" noProof="1"/>
          </a:p>
        </p:txBody>
      </p:sp>
      <p:sp>
        <p:nvSpPr>
          <p:cNvPr id="20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1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8 叠加</a:t>
            </a:r>
            <a:endParaRPr lang="en-US" sz="1000" noProof="1"/>
          </a:p>
        </p:txBody>
      </p:sp>
      <p:sp>
        <p:nvSpPr>
          <p:cNvPr id="22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03</a:t>
            </a:r>
            <a:endParaRPr lang="en-US" sz="10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8.1 · STATIONARY WAVES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驻波：两列行波"对撞"出来的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Nodes, antinodes, and why no energy is transferred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h1"/>
          <p:cNvSpPr txBox="1"/>
          <p:nvPr/>
        </p:nvSpPr>
        <p:spPr>
          <a:xfrm>
            <a:off x="762000" y="1701800"/>
            <a:ext cx="584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形成条件（三个"相同"+ 反向）</a:t>
            </a:r>
            <a:endParaRPr lang="en-US" sz="1500" noProof="1"/>
          </a:p>
        </p:txBody>
      </p:sp>
      <p:sp>
        <p:nvSpPr>
          <p:cNvPr id="7" name="b1"/>
          <p:cNvSpPr txBox="1"/>
          <p:nvPr/>
        </p:nvSpPr>
        <p:spPr>
          <a:xfrm>
            <a:off x="762000" y="2057400"/>
            <a:ext cx="58420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两列行波：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频率、波长、振幅都相同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，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沿相反方向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在同一平面传播 → 叠加成驻波。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驻波不传递能量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（与行波的本质区别）。</a:t>
            </a:r>
            <a:endParaRPr lang="en-US" sz="1350" noProof="1"/>
          </a:p>
        </p:txBody>
      </p:sp>
      <p:sp>
        <p:nvSpPr>
          <p:cNvPr id="8" name="h2"/>
          <p:cNvSpPr txBox="1"/>
          <p:nvPr/>
        </p:nvSpPr>
        <p:spPr>
          <a:xfrm>
            <a:off x="762000" y="3454400"/>
            <a:ext cx="584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波节与波腹</a:t>
            </a:r>
            <a:endParaRPr lang="en-US" sz="1500" noProof="1"/>
          </a:p>
        </p:txBody>
      </p:sp>
      <p:sp>
        <p:nvSpPr>
          <p:cNvPr id="9" name="b2"/>
          <p:cNvSpPr txBox="1"/>
          <p:nvPr/>
        </p:nvSpPr>
        <p:spPr>
          <a:xfrm>
            <a:off x="762000" y="3810000"/>
            <a:ext cx="5842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波腹 antinode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：同相相遇、相长 →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最大位移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处；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波节 node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：反相相遇、相消 →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最小（零）位移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处；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相邻波节（或波腹）间距 = λ/2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350" noProof="1"/>
          </a:p>
        </p:txBody>
      </p:sp>
      <p:sp>
        <p:nvSpPr>
          <p:cNvPr id="10" name="env1"/>
          <p:cNvSpPr/>
          <p:nvPr>
            <p:extLst>
              <p:ext uri="{F5677B7D-0D2A-4D9B-9A5C-6D8D7D0E5A5D}">
                <pptd:line encoding="base64url">eyJ2aWV3Qm94IjpbMzIwLDEyMF0sInBvaW50cyI6IjAsNjAgMTAsNDEgMjAsMjUgMzAsMTQgNDAsMTAgNTAsMTQgNjAsMjUgNzAsNDEgODAsNjAgOTAsNzkgMTAwLDk1IDExMCwxMDYgMTIwLDExMCAxMzAsMTA2IDE0MCw5NSAxNTAsNzkgMTYwLDYwIDE3MCw0MSAxODAsMjUgMTkwLDE0IDIwMCwxMCAyMTAsMTQgMjIwLDI1IDIzMCw0MSAyNDAsNjAgMjUwLDc5IDI2MCw5NSAyNzAsMTA2IDI4MCwxMTAgMjkwLDEwNiAzMDAsOTUgMzEwLDc5IDMyMCw2MCIsImN1cnZlIjoic2hhcnAifQ</pptd:line>
              </p:ext>
            </p:extLst>
          </p:nvPr>
        </p:nvSpPr>
        <p:spPr>
          <a:xfrm>
            <a:off x="7366000" y="2286000"/>
            <a:ext cx="4064000" cy="1524000"/>
          </a:xfrm>
          <a:custGeom>
            <a:avLst/>
            <a:gdLst/>
            <a:ahLst/>
            <a:cxnLst/>
            <a:rect l="l" t="t" r="r" b="b"/>
            <a:pathLst>
              <a:path w="320" h="120">
                <a:moveTo>
                  <a:pt x="0" y="60"/>
                </a:moveTo>
                <a:lnTo>
                  <a:pt x="10" y="41"/>
                </a:lnTo>
                <a:lnTo>
                  <a:pt x="20" y="25"/>
                </a:lnTo>
                <a:lnTo>
                  <a:pt x="30" y="14"/>
                </a:lnTo>
                <a:lnTo>
                  <a:pt x="40" y="10"/>
                </a:lnTo>
                <a:lnTo>
                  <a:pt x="50" y="14"/>
                </a:lnTo>
                <a:lnTo>
                  <a:pt x="60" y="25"/>
                </a:lnTo>
                <a:lnTo>
                  <a:pt x="70" y="41"/>
                </a:lnTo>
                <a:lnTo>
                  <a:pt x="80" y="60"/>
                </a:lnTo>
                <a:lnTo>
                  <a:pt x="90" y="79"/>
                </a:lnTo>
                <a:lnTo>
                  <a:pt x="100" y="95"/>
                </a:lnTo>
                <a:lnTo>
                  <a:pt x="110" y="106"/>
                </a:lnTo>
                <a:lnTo>
                  <a:pt x="120" y="110"/>
                </a:lnTo>
                <a:lnTo>
                  <a:pt x="130" y="106"/>
                </a:lnTo>
                <a:lnTo>
                  <a:pt x="140" y="95"/>
                </a:lnTo>
                <a:lnTo>
                  <a:pt x="150" y="79"/>
                </a:lnTo>
                <a:lnTo>
                  <a:pt x="160" y="60"/>
                </a:lnTo>
                <a:lnTo>
                  <a:pt x="170" y="41"/>
                </a:lnTo>
                <a:lnTo>
                  <a:pt x="180" y="25"/>
                </a:lnTo>
                <a:lnTo>
                  <a:pt x="190" y="14"/>
                </a:lnTo>
                <a:lnTo>
                  <a:pt x="200" y="10"/>
                </a:lnTo>
                <a:lnTo>
                  <a:pt x="210" y="14"/>
                </a:lnTo>
                <a:lnTo>
                  <a:pt x="220" y="25"/>
                </a:lnTo>
                <a:lnTo>
                  <a:pt x="230" y="41"/>
                </a:lnTo>
                <a:lnTo>
                  <a:pt x="240" y="60"/>
                </a:lnTo>
                <a:lnTo>
                  <a:pt x="250" y="79"/>
                </a:lnTo>
                <a:lnTo>
                  <a:pt x="260" y="95"/>
                </a:lnTo>
                <a:lnTo>
                  <a:pt x="270" y="106"/>
                </a:lnTo>
                <a:lnTo>
                  <a:pt x="280" y="110"/>
                </a:lnTo>
                <a:lnTo>
                  <a:pt x="290" y="106"/>
                </a:lnTo>
                <a:lnTo>
                  <a:pt x="300" y="95"/>
                </a:lnTo>
                <a:lnTo>
                  <a:pt x="310" y="79"/>
                </a:lnTo>
                <a:lnTo>
                  <a:pt x="320" y="60"/>
                </a:lnTo>
              </a:path>
            </a:pathLst>
          </a:custGeom>
          <a:noFill/>
          <a:ln w="31750">
            <a:solidFill>
              <a:srgbClr val="0E5A55"/>
            </a:solidFill>
          </a:ln>
        </p:spPr>
      </p:sp>
      <p:sp>
        <p:nvSpPr>
          <p:cNvPr id="11" name="env2"/>
          <p:cNvSpPr/>
          <p:nvPr>
            <p:extLst>
              <p:ext uri="{F5677B7D-0D2A-4D9B-9A5C-6D8D7D0E5A5D}">
                <pptd:line encoding="base64url">eyJ2aWV3Qm94IjpbMzIwLDEyMF0sInBvaW50cyI6IjAsNjAgMTAsNzkgMjAsOTUgMzAsMTA2IDQwLDExMCA1MCwxMDYgNjAsOTUgNzAsNzkgODAsNjAgOTAsNDEgMTAwLDI1IDExMCwxNCAxMjAsMTAgMTMwLDE0IDE0MCwyNSAxNTAsNDEgMTYwLDYwIDE3MCw3OSAxODAsOTUgMTkwLDEwNiAyMDAsMTEwIDIxMCwxMDYgMjIwLDk1IDIzMCw3OSAyNDAsNjAgMjUwLDQxIDI2MCwyNSAyNzAsMTQgMjgwLDEwIDI5MCwxNCAzMDAsMjUgMzEwLDQxIDMyMCw2MCIsImN1cnZlIjoic2hhcnAifQ</pptd:line>
              </p:ext>
            </p:extLst>
          </p:nvPr>
        </p:nvSpPr>
        <p:spPr>
          <a:xfrm>
            <a:off x="7366000" y="2286000"/>
            <a:ext cx="4064000" cy="1524000"/>
          </a:xfrm>
          <a:custGeom>
            <a:avLst/>
            <a:gdLst/>
            <a:ahLst/>
            <a:cxnLst/>
            <a:rect l="l" t="t" r="r" b="b"/>
            <a:pathLst>
              <a:path w="320" h="120">
                <a:moveTo>
                  <a:pt x="0" y="60"/>
                </a:moveTo>
                <a:lnTo>
                  <a:pt x="10" y="79"/>
                </a:lnTo>
                <a:lnTo>
                  <a:pt x="20" y="95"/>
                </a:lnTo>
                <a:lnTo>
                  <a:pt x="30" y="106"/>
                </a:lnTo>
                <a:lnTo>
                  <a:pt x="40" y="110"/>
                </a:lnTo>
                <a:lnTo>
                  <a:pt x="50" y="106"/>
                </a:lnTo>
                <a:lnTo>
                  <a:pt x="60" y="95"/>
                </a:lnTo>
                <a:lnTo>
                  <a:pt x="70" y="79"/>
                </a:lnTo>
                <a:lnTo>
                  <a:pt x="80" y="60"/>
                </a:lnTo>
                <a:lnTo>
                  <a:pt x="90" y="41"/>
                </a:lnTo>
                <a:lnTo>
                  <a:pt x="100" y="25"/>
                </a:lnTo>
                <a:lnTo>
                  <a:pt x="110" y="14"/>
                </a:lnTo>
                <a:lnTo>
                  <a:pt x="120" y="10"/>
                </a:lnTo>
                <a:lnTo>
                  <a:pt x="130" y="14"/>
                </a:lnTo>
                <a:lnTo>
                  <a:pt x="140" y="25"/>
                </a:lnTo>
                <a:lnTo>
                  <a:pt x="150" y="41"/>
                </a:lnTo>
                <a:lnTo>
                  <a:pt x="160" y="60"/>
                </a:lnTo>
                <a:lnTo>
                  <a:pt x="170" y="79"/>
                </a:lnTo>
                <a:lnTo>
                  <a:pt x="180" y="95"/>
                </a:lnTo>
                <a:lnTo>
                  <a:pt x="190" y="106"/>
                </a:lnTo>
                <a:lnTo>
                  <a:pt x="200" y="110"/>
                </a:lnTo>
                <a:lnTo>
                  <a:pt x="210" y="106"/>
                </a:lnTo>
                <a:lnTo>
                  <a:pt x="220" y="95"/>
                </a:lnTo>
                <a:lnTo>
                  <a:pt x="230" y="79"/>
                </a:lnTo>
                <a:lnTo>
                  <a:pt x="240" y="60"/>
                </a:lnTo>
                <a:lnTo>
                  <a:pt x="250" y="41"/>
                </a:lnTo>
                <a:lnTo>
                  <a:pt x="260" y="25"/>
                </a:lnTo>
                <a:lnTo>
                  <a:pt x="270" y="14"/>
                </a:lnTo>
                <a:lnTo>
                  <a:pt x="280" y="10"/>
                </a:lnTo>
                <a:lnTo>
                  <a:pt x="290" y="14"/>
                </a:lnTo>
                <a:lnTo>
                  <a:pt x="300" y="25"/>
                </a:lnTo>
                <a:lnTo>
                  <a:pt x="310" y="41"/>
                </a:lnTo>
                <a:lnTo>
                  <a:pt x="320" y="60"/>
                </a:lnTo>
              </a:path>
            </a:pathLst>
          </a:custGeom>
          <a:noFill/>
          <a:ln w="19050">
            <a:solidFill>
              <a:srgbClr val="6E6A62"/>
            </a:solidFill>
            <a:prstDash val="dash"/>
          </a:ln>
        </p:spPr>
      </p:sp>
      <p:sp>
        <p:nvSpPr>
          <p:cNvPr id="12" name="axis"/>
          <p:cNvSpPr/>
          <p:nvPr>
            <p:extLst>
              <p:ext uri="{F5677B7D-0D2A-4D9B-9A5C-6D8D7D0E5A5D}">
                <pptd:line encoding="base64url">eyJ2aWV3Qm94IjpbMzIwLDRdLCJwb2ludHMiOiIwLDIgMzIwLDIiLCJjdXJ2ZSI6InNoYXJwIn0</pptd:line>
              </p:ext>
            </p:extLst>
          </p:nvPr>
        </p:nvSpPr>
        <p:spPr>
          <a:xfrm>
            <a:off x="7366000" y="3022600"/>
            <a:ext cx="4064000" cy="50800"/>
          </a:xfrm>
          <a:custGeom>
            <a:avLst/>
            <a:gdLst/>
            <a:ahLst/>
            <a:cxnLst/>
            <a:rect l="l" t="t" r="r" b="b"/>
            <a:pathLst>
              <a:path w="320" h="4">
                <a:moveTo>
                  <a:pt x="0" y="2"/>
                </a:moveTo>
                <a:lnTo>
                  <a:pt x="320" y="2"/>
                </a:lnTo>
              </a:path>
            </a:pathLst>
          </a:custGeom>
          <a:noFill/>
          <a:ln w="12700">
            <a:solidFill>
              <a:srgbClr val="D8D2C8"/>
            </a:solidFill>
          </a:ln>
        </p:spPr>
      </p:sp>
      <p:sp>
        <p:nvSpPr>
          <p:cNvPr id="13" name="nd1"/>
          <p:cNvSpPr/>
          <p:nvPr/>
        </p:nvSpPr>
        <p:spPr>
          <a:xfrm>
            <a:off x="7315200" y="2997200"/>
            <a:ext cx="114300" cy="114300"/>
          </a:xfrm>
          <a:prstGeom prst="ellipse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14" name="nd2"/>
          <p:cNvSpPr/>
          <p:nvPr/>
        </p:nvSpPr>
        <p:spPr>
          <a:xfrm>
            <a:off x="8331200" y="2997200"/>
            <a:ext cx="114300" cy="114300"/>
          </a:xfrm>
          <a:prstGeom prst="ellipse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15" name="nd3"/>
          <p:cNvSpPr/>
          <p:nvPr/>
        </p:nvSpPr>
        <p:spPr>
          <a:xfrm>
            <a:off x="9347200" y="2997200"/>
            <a:ext cx="114300" cy="114300"/>
          </a:xfrm>
          <a:prstGeom prst="ellipse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16" name="nd4"/>
          <p:cNvSpPr/>
          <p:nvPr/>
        </p:nvSpPr>
        <p:spPr>
          <a:xfrm>
            <a:off x="10363200" y="2997200"/>
            <a:ext cx="114300" cy="114300"/>
          </a:xfrm>
          <a:prstGeom prst="ellipse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17" name="nd5"/>
          <p:cNvSpPr/>
          <p:nvPr/>
        </p:nvSpPr>
        <p:spPr>
          <a:xfrm>
            <a:off x="11366500" y="2997200"/>
            <a:ext cx="114300" cy="114300"/>
          </a:xfrm>
          <a:prstGeom prst="ellipse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18" name="an-lb"/>
          <p:cNvSpPr txBox="1"/>
          <p:nvPr/>
        </p:nvSpPr>
        <p:spPr>
          <a:xfrm>
            <a:off x="7620000" y="2006600"/>
            <a:ext cx="1397000" cy="2032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 b="1">
                <a:solidFill>
                  <a:srgbClr val="0E5A55"/>
                </a:solidFill>
                <a:latin typeface="MiSans"/>
                <a:ea typeface="MiSans"/>
              </a:rPr>
              <a:t>波腹 antinode</a:t>
            </a:r>
            <a:endParaRPr lang="en-US" sz="1150" noProof="1"/>
          </a:p>
        </p:txBody>
      </p:sp>
      <p:sp>
        <p:nvSpPr>
          <p:cNvPr id="19" name="nd-lb"/>
          <p:cNvSpPr txBox="1"/>
          <p:nvPr/>
        </p:nvSpPr>
        <p:spPr>
          <a:xfrm>
            <a:off x="7747000" y="3200400"/>
            <a:ext cx="1270000" cy="2032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 b="1">
                <a:solidFill>
                  <a:srgbClr val="C96F16"/>
                </a:solidFill>
                <a:latin typeface="MiSans"/>
                <a:ea typeface="MiSans"/>
              </a:rPr>
              <a:t>波节 node</a:t>
            </a:r>
            <a:endParaRPr lang="en-US" sz="1150" noProof="1"/>
          </a:p>
        </p:txBody>
      </p:sp>
      <p:sp>
        <p:nvSpPr>
          <p:cNvPr id="20" name="lam-arr"/>
          <p:cNvSpPr/>
          <p:nvPr>
            <p:extLst>
              <p:ext uri="{F5677B7D-0D2A-4D9B-9A5C-6D8D7D0E5A5D}">
                <pptd:line encoding="base64url">eyJ2aWV3Qm94IjpbODAsNF0sInBvaW50cyI6IjAsMiA4MCwyIiwiY3VydmUiOiJzaGFycCJ9</pptd:line>
              </p:ext>
            </p:extLst>
          </p:nvPr>
        </p:nvSpPr>
        <p:spPr>
          <a:xfrm>
            <a:off x="7366000" y="40132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80" h="4">
                <a:moveTo>
                  <a:pt x="0" y="2"/>
                </a:moveTo>
                <a:lnTo>
                  <a:pt x="80" y="2"/>
                </a:lnTo>
              </a:path>
            </a:pathLst>
          </a:custGeom>
          <a:noFill/>
          <a:ln w="19050">
            <a:solidFill>
              <a:srgbClr val="22303A"/>
            </a:solidFill>
            <a:headEnd type="arrow"/>
            <a:tailEnd type="arrow"/>
          </a:ln>
        </p:spPr>
      </p:sp>
      <p:sp>
        <p:nvSpPr>
          <p:cNvPr id="21" name="lam-lb"/>
          <p:cNvSpPr txBox="1"/>
          <p:nvPr/>
        </p:nvSpPr>
        <p:spPr>
          <a:xfrm>
            <a:off x="7620000" y="41402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22303A"/>
                </a:solidFill>
                <a:latin typeface="MiSans"/>
                <a:ea typeface="MiSans"/>
              </a:rPr>
              <a:t>λ/2</a:t>
            </a:r>
            <a:endParaRPr lang="en-US" sz="1200" noProof="1"/>
          </a:p>
        </p:txBody>
      </p:sp>
      <p:sp>
        <p:nvSpPr>
          <p:cNvPr id="22" name="dia-cap"/>
          <p:cNvSpPr txBox="1"/>
          <p:nvPr/>
        </p:nvSpPr>
        <p:spPr>
          <a:xfrm>
            <a:off x="7366000" y="4445000"/>
            <a:ext cx="4191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实线与虚线 = 两个不同时刻的波形；</a:t>
            </a:r>
            <a:endParaRPr lang="en-US" sz="1100" noProof="1"/>
          </a:p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波节永远不动，波腹振幅最大。</a:t>
            </a:r>
            <a:endParaRPr lang="en-US" sz="1100" noProof="1"/>
          </a:p>
        </p:txBody>
      </p:sp>
      <p:sp>
        <p:nvSpPr>
          <p:cNvPr id="23" name="warn-box"/>
          <p:cNvSpPr/>
          <p:nvPr/>
        </p:nvSpPr>
        <p:spPr>
          <a:xfrm>
            <a:off x="762000" y="5486400"/>
            <a:ext cx="10668000" cy="7112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24" name="warn-body"/>
          <p:cNvSpPr txBox="1"/>
          <p:nvPr/>
        </p:nvSpPr>
        <p:spPr>
          <a:xfrm>
            <a:off x="965200" y="5575300"/>
            <a:ext cx="10261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易错：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① 驻波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不传能量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——简答题必答句；② 相邻波节间距是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λ/2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 不是 λ；③ 形成条件答全：same frequency, wavelength, amplitude + opposite directions。</a:t>
            </a:r>
            <a:endParaRPr lang="en-US" sz="1250" noProof="1"/>
          </a:p>
        </p:txBody>
      </p:sp>
      <p:sp>
        <p:nvSpPr>
          <p:cNvPr id="25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6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8 叠加</a:t>
            </a:r>
            <a:endParaRPr lang="en-US" sz="1000" noProof="1"/>
          </a:p>
        </p:txBody>
      </p:sp>
      <p:sp>
        <p:nvSpPr>
          <p:cNvPr id="27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04</a:t>
            </a:r>
            <a:endParaRPr lang="en-US" sz="10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8.1 · HARMONICS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基频与谐频：弦上会"分段"振动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Fundamental frequency and the harmonic ladder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p1-bar-l"/>
          <p:cNvSpPr/>
          <p:nvPr/>
        </p:nvSpPr>
        <p:spPr>
          <a:xfrm>
            <a:off x="1117600" y="1905000"/>
            <a:ext cx="50800" cy="1143000"/>
          </a:xfrm>
          <a:prstGeom prst="rect">
            <a:avLst/>
          </a:prstGeom>
          <a:solidFill>
            <a:srgbClr val="22303A"/>
          </a:solidFill>
          <a:ln>
            <a:noFill/>
          </a:ln>
        </p:spPr>
      </p:sp>
      <p:sp>
        <p:nvSpPr>
          <p:cNvPr id="7" name="p1-wave"/>
          <p:cNvSpPr/>
          <p:nvPr>
            <p:extLst>
              <p:ext uri="{F5677B7D-0D2A-4D9B-9A5C-6D8D7D0E5A5D}">
                <pptd:line encoding="base64url">eyJ2aWV3Qm94IjpbMTYwLDcwXSwicG9pbnRzIjoiMCwzNSA4LDMxIDE2LDI2IDI0LDIyIDMyLDE5IDQwLDE1IDQ4LDEyIDU2LDEwIDY0LDggNzIsNyA4MCw3IDg4LDcgOTYsOCAxMDQsMTAgMTEyLDEyIDEyMCwxNSAxMjgsMTkgMTM2LDIyIDE0NCwyNiAxNTIsMzEgMTYwLDM1IiwiY3VydmUiOiJzaGFycCJ9</pptd:line>
              </p:ext>
            </p:extLst>
          </p:nvPr>
        </p:nvSpPr>
        <p:spPr>
          <a:xfrm>
            <a:off x="1168400" y="2032000"/>
            <a:ext cx="2032000" cy="889000"/>
          </a:xfrm>
          <a:custGeom>
            <a:avLst/>
            <a:gdLst/>
            <a:ahLst/>
            <a:cxnLst/>
            <a:rect l="l" t="t" r="r" b="b"/>
            <a:pathLst>
              <a:path w="160" h="70">
                <a:moveTo>
                  <a:pt x="0" y="35"/>
                </a:moveTo>
                <a:lnTo>
                  <a:pt x="8" y="31"/>
                </a:lnTo>
                <a:lnTo>
                  <a:pt x="16" y="26"/>
                </a:lnTo>
                <a:lnTo>
                  <a:pt x="24" y="22"/>
                </a:lnTo>
                <a:lnTo>
                  <a:pt x="32" y="19"/>
                </a:lnTo>
                <a:lnTo>
                  <a:pt x="40" y="15"/>
                </a:lnTo>
                <a:lnTo>
                  <a:pt x="48" y="12"/>
                </a:lnTo>
                <a:lnTo>
                  <a:pt x="56" y="10"/>
                </a:lnTo>
                <a:lnTo>
                  <a:pt x="64" y="8"/>
                </a:lnTo>
                <a:lnTo>
                  <a:pt x="72" y="7"/>
                </a:lnTo>
                <a:lnTo>
                  <a:pt x="80" y="7"/>
                </a:lnTo>
                <a:lnTo>
                  <a:pt x="88" y="7"/>
                </a:lnTo>
                <a:lnTo>
                  <a:pt x="96" y="8"/>
                </a:lnTo>
                <a:lnTo>
                  <a:pt x="104" y="10"/>
                </a:lnTo>
                <a:lnTo>
                  <a:pt x="112" y="12"/>
                </a:lnTo>
                <a:lnTo>
                  <a:pt x="120" y="15"/>
                </a:lnTo>
                <a:lnTo>
                  <a:pt x="128" y="19"/>
                </a:lnTo>
                <a:lnTo>
                  <a:pt x="136" y="22"/>
                </a:lnTo>
                <a:lnTo>
                  <a:pt x="144" y="26"/>
                </a:lnTo>
                <a:lnTo>
                  <a:pt x="152" y="31"/>
                </a:lnTo>
                <a:lnTo>
                  <a:pt x="160" y="35"/>
                </a:lnTo>
              </a:path>
            </a:pathLst>
          </a:custGeom>
          <a:noFill/>
          <a:ln w="31750">
            <a:solidFill>
              <a:srgbClr val="0E5A55"/>
            </a:solidFill>
          </a:ln>
        </p:spPr>
      </p:sp>
      <p:sp>
        <p:nvSpPr>
          <p:cNvPr id="8" name="p1-bar-r"/>
          <p:cNvSpPr/>
          <p:nvPr/>
        </p:nvSpPr>
        <p:spPr>
          <a:xfrm>
            <a:off x="3200400" y="1905000"/>
            <a:ext cx="50800" cy="1143000"/>
          </a:xfrm>
          <a:prstGeom prst="rect">
            <a:avLst/>
          </a:prstGeom>
          <a:solidFill>
            <a:srgbClr val="22303A"/>
          </a:solidFill>
          <a:ln>
            <a:noFill/>
          </a:ln>
        </p:spPr>
      </p:sp>
      <p:sp>
        <p:nvSpPr>
          <p:cNvPr id="9" name="p1-lb"/>
          <p:cNvSpPr txBox="1"/>
          <p:nvPr/>
        </p:nvSpPr>
        <p:spPr>
          <a:xfrm>
            <a:off x="1168400" y="3149600"/>
            <a:ext cx="20828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22303A"/>
                </a:solidFill>
                <a:latin typeface="MiSans"/>
                <a:ea typeface="MiSans"/>
              </a:rPr>
              <a:t>第一谐频（基频 f₁）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22303A"/>
                </a:solidFill>
                <a:latin typeface="MiSans"/>
                <a:ea typeface="MiSans"/>
              </a:rPr>
              <a:t>2 波节 + 1 波腹　L = λ/2</a:t>
            </a:r>
            <a:endParaRPr lang="en-US" sz="1200" noProof="1"/>
          </a:p>
        </p:txBody>
      </p:sp>
      <p:sp>
        <p:nvSpPr>
          <p:cNvPr id="10" name="p2-bar-l"/>
          <p:cNvSpPr/>
          <p:nvPr/>
        </p:nvSpPr>
        <p:spPr>
          <a:xfrm>
            <a:off x="4419600" y="1905000"/>
            <a:ext cx="50800" cy="1143000"/>
          </a:xfrm>
          <a:prstGeom prst="rect">
            <a:avLst/>
          </a:prstGeom>
          <a:solidFill>
            <a:srgbClr val="22303A"/>
          </a:solidFill>
          <a:ln>
            <a:noFill/>
          </a:ln>
        </p:spPr>
      </p:sp>
      <p:sp>
        <p:nvSpPr>
          <p:cNvPr id="11" name="p2-wave"/>
          <p:cNvSpPr/>
          <p:nvPr>
            <p:extLst>
              <p:ext uri="{F5677B7D-0D2A-4D9B-9A5C-6D8D7D0E5A5D}">
                <pptd:line encoding="base64url">eyJ2aWV3Qm94IjpbMTYwLDcwXSwicG9pbnRzIjoiMCwzNSA4LDI2IDE2LDE5IDI0LDEyIDMyLDggNDAsNyA0OCw4IDU2LDEyIDY0LDE5IDcyLDI2IDgwLDM1IDg4LDQ0IDk2LDUxIDEwNCw1OCAxMTIsNjIgMTIwLDYzIDEyOCw2MiAxMzYsNTggMTQ0LDUxIDE1Miw0NCAxNjAsMzUiLCJjdXJ2ZSI6InNoYXJwIn0</pptd:line>
              </p:ext>
            </p:extLst>
          </p:nvPr>
        </p:nvSpPr>
        <p:spPr>
          <a:xfrm>
            <a:off x="4470400" y="2032000"/>
            <a:ext cx="2032000" cy="889000"/>
          </a:xfrm>
          <a:custGeom>
            <a:avLst/>
            <a:gdLst/>
            <a:ahLst/>
            <a:cxnLst/>
            <a:rect l="l" t="t" r="r" b="b"/>
            <a:pathLst>
              <a:path w="160" h="70">
                <a:moveTo>
                  <a:pt x="0" y="35"/>
                </a:moveTo>
                <a:lnTo>
                  <a:pt x="8" y="26"/>
                </a:lnTo>
                <a:lnTo>
                  <a:pt x="16" y="19"/>
                </a:lnTo>
                <a:lnTo>
                  <a:pt x="24" y="12"/>
                </a:lnTo>
                <a:lnTo>
                  <a:pt x="32" y="8"/>
                </a:lnTo>
                <a:lnTo>
                  <a:pt x="40" y="7"/>
                </a:lnTo>
                <a:lnTo>
                  <a:pt x="48" y="8"/>
                </a:lnTo>
                <a:lnTo>
                  <a:pt x="56" y="12"/>
                </a:lnTo>
                <a:lnTo>
                  <a:pt x="64" y="19"/>
                </a:lnTo>
                <a:lnTo>
                  <a:pt x="72" y="26"/>
                </a:lnTo>
                <a:lnTo>
                  <a:pt x="80" y="35"/>
                </a:lnTo>
                <a:lnTo>
                  <a:pt x="88" y="44"/>
                </a:lnTo>
                <a:lnTo>
                  <a:pt x="96" y="51"/>
                </a:lnTo>
                <a:lnTo>
                  <a:pt x="104" y="58"/>
                </a:lnTo>
                <a:lnTo>
                  <a:pt x="112" y="62"/>
                </a:lnTo>
                <a:lnTo>
                  <a:pt x="120" y="63"/>
                </a:lnTo>
                <a:lnTo>
                  <a:pt x="128" y="62"/>
                </a:lnTo>
                <a:lnTo>
                  <a:pt x="136" y="58"/>
                </a:lnTo>
                <a:lnTo>
                  <a:pt x="144" y="51"/>
                </a:lnTo>
                <a:lnTo>
                  <a:pt x="152" y="44"/>
                </a:lnTo>
                <a:lnTo>
                  <a:pt x="160" y="35"/>
                </a:lnTo>
              </a:path>
            </a:pathLst>
          </a:custGeom>
          <a:noFill/>
          <a:ln w="31750">
            <a:solidFill>
              <a:srgbClr val="0E5A55"/>
            </a:solidFill>
          </a:ln>
        </p:spPr>
      </p:sp>
      <p:sp>
        <p:nvSpPr>
          <p:cNvPr id="12" name="p2-bar-r"/>
          <p:cNvSpPr/>
          <p:nvPr/>
        </p:nvSpPr>
        <p:spPr>
          <a:xfrm>
            <a:off x="6502400" y="1905000"/>
            <a:ext cx="50800" cy="1143000"/>
          </a:xfrm>
          <a:prstGeom prst="rect">
            <a:avLst/>
          </a:prstGeom>
          <a:solidFill>
            <a:srgbClr val="22303A"/>
          </a:solidFill>
          <a:ln>
            <a:noFill/>
          </a:ln>
        </p:spPr>
      </p:sp>
      <p:sp>
        <p:nvSpPr>
          <p:cNvPr id="13" name="p2-lb"/>
          <p:cNvSpPr txBox="1"/>
          <p:nvPr/>
        </p:nvSpPr>
        <p:spPr>
          <a:xfrm>
            <a:off x="4470400" y="3149600"/>
            <a:ext cx="20828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22303A"/>
                </a:solidFill>
                <a:latin typeface="MiSans"/>
                <a:ea typeface="MiSans"/>
              </a:rPr>
              <a:t>第二谐频 2f₁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22303A"/>
                </a:solidFill>
                <a:latin typeface="MiSans"/>
                <a:ea typeface="MiSans"/>
              </a:rPr>
              <a:t>3 波节 + 2 波腹　L = λ</a:t>
            </a:r>
            <a:endParaRPr lang="en-US" sz="1200" noProof="1"/>
          </a:p>
        </p:txBody>
      </p:sp>
      <p:sp>
        <p:nvSpPr>
          <p:cNvPr id="14" name="p3-bar-l"/>
          <p:cNvSpPr/>
          <p:nvPr/>
        </p:nvSpPr>
        <p:spPr>
          <a:xfrm>
            <a:off x="7721600" y="1905000"/>
            <a:ext cx="50800" cy="1143000"/>
          </a:xfrm>
          <a:prstGeom prst="rect">
            <a:avLst/>
          </a:prstGeom>
          <a:solidFill>
            <a:srgbClr val="22303A"/>
          </a:solidFill>
          <a:ln>
            <a:noFill/>
          </a:ln>
        </p:spPr>
      </p:sp>
      <p:sp>
        <p:nvSpPr>
          <p:cNvPr id="15" name="p3-wave"/>
          <p:cNvSpPr/>
          <p:nvPr>
            <p:extLst>
              <p:ext uri="{F5677B7D-0D2A-4D9B-9A5C-6D8D7D0E5A5D}">
                <pptd:line encoding="base64url">eyJ2aWV3Qm94IjpbMTYwLDcwXSwicG9pbnRzIjoiMCwzNSA4LDIyIDE2LDEyIDI0LDcgMzIsOCA0MCwxNSA0OCwyNiA1NiwzOSA2NCw1MSA3Miw2MCA4MCw2MyA4OCw2MCA5Niw1MSAxMDQsMzkgMTEyLDI2IDEyMCwxNSAxMjgsOCAxMzYsNyAxNDQsMTIgMTUyLDIyIDE2MCwzNSIsImN1cnZlIjoic2hhcnAifQ</pptd:line>
              </p:ext>
            </p:extLst>
          </p:nvPr>
        </p:nvSpPr>
        <p:spPr>
          <a:xfrm>
            <a:off x="7772400" y="2032000"/>
            <a:ext cx="2032000" cy="889000"/>
          </a:xfrm>
          <a:custGeom>
            <a:avLst/>
            <a:gdLst/>
            <a:ahLst/>
            <a:cxnLst/>
            <a:rect l="l" t="t" r="r" b="b"/>
            <a:pathLst>
              <a:path w="160" h="70">
                <a:moveTo>
                  <a:pt x="0" y="35"/>
                </a:moveTo>
                <a:lnTo>
                  <a:pt x="8" y="22"/>
                </a:lnTo>
                <a:lnTo>
                  <a:pt x="16" y="12"/>
                </a:lnTo>
                <a:lnTo>
                  <a:pt x="24" y="7"/>
                </a:lnTo>
                <a:lnTo>
                  <a:pt x="32" y="8"/>
                </a:lnTo>
                <a:lnTo>
                  <a:pt x="40" y="15"/>
                </a:lnTo>
                <a:lnTo>
                  <a:pt x="48" y="26"/>
                </a:lnTo>
                <a:lnTo>
                  <a:pt x="56" y="39"/>
                </a:lnTo>
                <a:lnTo>
                  <a:pt x="64" y="51"/>
                </a:lnTo>
                <a:lnTo>
                  <a:pt x="72" y="60"/>
                </a:lnTo>
                <a:lnTo>
                  <a:pt x="80" y="63"/>
                </a:lnTo>
                <a:lnTo>
                  <a:pt x="88" y="60"/>
                </a:lnTo>
                <a:lnTo>
                  <a:pt x="96" y="51"/>
                </a:lnTo>
                <a:lnTo>
                  <a:pt x="104" y="39"/>
                </a:lnTo>
                <a:lnTo>
                  <a:pt x="112" y="26"/>
                </a:lnTo>
                <a:lnTo>
                  <a:pt x="120" y="15"/>
                </a:lnTo>
                <a:lnTo>
                  <a:pt x="128" y="8"/>
                </a:lnTo>
                <a:lnTo>
                  <a:pt x="136" y="7"/>
                </a:lnTo>
                <a:lnTo>
                  <a:pt x="144" y="12"/>
                </a:lnTo>
                <a:lnTo>
                  <a:pt x="152" y="22"/>
                </a:lnTo>
                <a:lnTo>
                  <a:pt x="160" y="35"/>
                </a:lnTo>
              </a:path>
            </a:pathLst>
          </a:custGeom>
          <a:noFill/>
          <a:ln w="31750">
            <a:solidFill>
              <a:srgbClr val="0E5A55"/>
            </a:solidFill>
          </a:ln>
        </p:spPr>
      </p:sp>
      <p:sp>
        <p:nvSpPr>
          <p:cNvPr id="16" name="p3-bar-r"/>
          <p:cNvSpPr/>
          <p:nvPr/>
        </p:nvSpPr>
        <p:spPr>
          <a:xfrm>
            <a:off x="9804400" y="1905000"/>
            <a:ext cx="50800" cy="1143000"/>
          </a:xfrm>
          <a:prstGeom prst="rect">
            <a:avLst/>
          </a:prstGeom>
          <a:solidFill>
            <a:srgbClr val="22303A"/>
          </a:solidFill>
          <a:ln>
            <a:noFill/>
          </a:ln>
        </p:spPr>
      </p:sp>
      <p:sp>
        <p:nvSpPr>
          <p:cNvPr id="17" name="p3-lb"/>
          <p:cNvSpPr txBox="1"/>
          <p:nvPr/>
        </p:nvSpPr>
        <p:spPr>
          <a:xfrm>
            <a:off x="7772400" y="3149600"/>
            <a:ext cx="20828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22303A"/>
                </a:solidFill>
                <a:latin typeface="MiSans"/>
                <a:ea typeface="MiSans"/>
              </a:rPr>
              <a:t>第三谐频 3f₁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22303A"/>
                </a:solidFill>
                <a:latin typeface="MiSans"/>
                <a:ea typeface="MiSans"/>
              </a:rPr>
              <a:t>4 波节 + 3 波腹　L = 3λ/2</a:t>
            </a:r>
            <a:endParaRPr lang="en-US" sz="1200" noProof="1"/>
          </a:p>
        </p:txBody>
      </p:sp>
      <p:sp>
        <p:nvSpPr>
          <p:cNvPr id="18" name="rule-body"/>
          <p:cNvSpPr txBox="1"/>
          <p:nvPr/>
        </p:nvSpPr>
        <p:spPr>
          <a:xfrm>
            <a:off x="1168400" y="3962400"/>
            <a:ext cx="8686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规律：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第 n 谐频 = n × f₁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，有 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n 个波腹、n+1 个波节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，弦长 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L = nλ/2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300" noProof="1"/>
          </a:p>
        </p:txBody>
      </p:sp>
      <p:sp>
        <p:nvSpPr>
          <p:cNvPr id="19" name="fcard"/>
          <p:cNvSpPr/>
          <p:nvPr/>
        </p:nvSpPr>
        <p:spPr>
          <a:xfrm>
            <a:off x="1168400" y="4648200"/>
            <a:ext cx="5334000" cy="8382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20" name="fcard-t"/>
          <p:cNvSpPr txBox="1"/>
          <p:nvPr/>
        </p:nvSpPr>
        <p:spPr>
          <a:xfrm>
            <a:off x="1371600" y="4749800"/>
            <a:ext cx="49276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700" noProof="1" b="1">
                <a:solidFill>
                  <a:srgbClr val="FFFFFF"/>
                </a:solidFill>
                <a:latin typeface="MiSans"/>
                <a:ea typeface="MiSans"/>
              </a:rPr>
              <a:t>弦上基频　f₁ = (1/2L) × √(T/μ)</a:t>
            </a:r>
            <a:endParaRPr lang="en-US" sz="1700" noProof="1"/>
          </a:p>
          <a:p>
            <a:pPr>
              <a:lnSpc>
                <a:spcPct val="140000"/>
              </a:lnSpc>
            </a:pPr>
            <a:r>
              <a:rPr lang="en-US" sz="1100" noProof="1" b="1">
                <a:solidFill>
                  <a:srgbClr val="FFFFFF"/>
                </a:solidFill>
                <a:latin typeface="MiSans"/>
                <a:ea typeface="MiSans"/>
              </a:rPr>
              <a:t>L 弦长（m）· T 张力（N）· μ 线密度（kg/m）</a:t>
            </a:r>
            <a:endParaRPr lang="en-US" sz="1700" noProof="1"/>
          </a:p>
        </p:txBody>
      </p:sp>
      <p:sp>
        <p:nvSpPr>
          <p:cNvPr id="21" name="ex-card"/>
          <p:cNvSpPr/>
          <p:nvPr/>
        </p:nvSpPr>
        <p:spPr>
          <a:xfrm>
            <a:off x="6858000" y="4648200"/>
            <a:ext cx="4572000" cy="8382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22" name="ex-card-t"/>
          <p:cNvSpPr txBox="1"/>
          <p:nvPr/>
        </p:nvSpPr>
        <p:spPr>
          <a:xfrm>
            <a:off x="7061200" y="4737100"/>
            <a:ext cx="41656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常考链式题：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由 L 得 λ = 2L/n，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再 v = fλ 求波速或反推张力。</a:t>
            </a:r>
            <a:endParaRPr lang="en-US" sz="1250" noProof="1"/>
          </a:p>
        </p:txBody>
      </p:sp>
      <p:sp>
        <p:nvSpPr>
          <p:cNvPr id="23" name="warn-box"/>
          <p:cNvSpPr/>
          <p:nvPr/>
        </p:nvSpPr>
        <p:spPr>
          <a:xfrm>
            <a:off x="762000" y="5740400"/>
            <a:ext cx="10668000" cy="5080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24" name="warn-body"/>
          <p:cNvSpPr txBox="1"/>
          <p:nvPr/>
        </p:nvSpPr>
        <p:spPr>
          <a:xfrm>
            <a:off x="965200" y="5816600"/>
            <a:ext cx="102616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易错：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① 第一谐频 L = λ/2 不是 λ；② μ 是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线密度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（kg/m），不是总质量；③ 根号里是 T/μ 整体。</a:t>
            </a:r>
            <a:endParaRPr lang="en-US" sz="1250" noProof="1"/>
          </a:p>
        </p:txBody>
      </p:sp>
      <p:sp>
        <p:nvSpPr>
          <p:cNvPr id="25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6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8 叠加</a:t>
            </a:r>
            <a:endParaRPr lang="en-US" sz="1000" noProof="1"/>
          </a:p>
        </p:txBody>
      </p:sp>
      <p:sp>
        <p:nvSpPr>
          <p:cNvPr id="27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05</a:t>
            </a:r>
            <a:endParaRPr lang="en-US" sz="10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8.1 · STATIONARY WAVE EXPERIMENTS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两个驻波实验：微波与声波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Microwave probe · powder in a tube measures the speed of sound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exp1"/>
          <p:cNvSpPr/>
          <p:nvPr/>
        </p:nvSpPr>
        <p:spPr>
          <a:xfrm>
            <a:off x="762000" y="1727200"/>
            <a:ext cx="5080000" cy="30480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7" name="exp1-body"/>
          <p:cNvSpPr txBox="1"/>
          <p:nvPr/>
        </p:nvSpPr>
        <p:spPr>
          <a:xfrm>
            <a:off x="1016000" y="1930400"/>
            <a:ext cx="4572000" cy="266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 b="1">
                <a:solidFill>
                  <a:srgbClr val="0E5A55"/>
                </a:solidFill>
                <a:latin typeface="MiSans"/>
                <a:ea typeface="MiSans"/>
              </a:rPr>
              <a:t>① 微波驻波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微波束射向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金属板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反射；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入射波 + 反射波（反向、同 f/λ/A）→ 驻波；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用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微波探针 microwave probe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 沿轴移动：读数最大处 = 波腹，最小处 = 波节；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相邻波节间距 = 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λ/2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 → 求微波波长。</a:t>
            </a:r>
            <a:endParaRPr lang="en-US" sz="1300" noProof="1"/>
          </a:p>
        </p:txBody>
      </p:sp>
      <p:sp>
        <p:nvSpPr>
          <p:cNvPr id="8" name="exp2"/>
          <p:cNvSpPr/>
          <p:nvPr/>
        </p:nvSpPr>
        <p:spPr>
          <a:xfrm>
            <a:off x="6350000" y="1727200"/>
            <a:ext cx="5080000" cy="30480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9" name="exp2-body"/>
          <p:cNvSpPr txBox="1"/>
          <p:nvPr/>
        </p:nvSpPr>
        <p:spPr>
          <a:xfrm>
            <a:off x="6604000" y="1930400"/>
            <a:ext cx="4572000" cy="266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 b="1">
                <a:solidFill>
                  <a:srgbClr val="0E5A55"/>
                </a:solidFill>
                <a:latin typeface="MiSans"/>
                <a:ea typeface="MiSans"/>
              </a:rPr>
              <a:t>② 声波驻波测声速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扬声器在封闭玻璃管一端发声；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管底撒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粉末 powder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：波腹处被震走、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波节处堆积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成堆；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量相邻粉堆间距 = 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λ/2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；f 由信号发生器读出；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v = fλ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 → 空气中的声速。</a:t>
            </a:r>
            <a:endParaRPr lang="en-US" sz="1300" noProof="1"/>
          </a:p>
        </p:txBody>
      </p:sp>
      <p:sp>
        <p:nvSpPr>
          <p:cNvPr id="10" name="tube"/>
          <p:cNvSpPr/>
          <p:nvPr/>
        </p:nvSpPr>
        <p:spPr>
          <a:xfrm>
            <a:off x="1778000" y="5207000"/>
            <a:ext cx="7112000" cy="3810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1" name="spk"/>
          <p:cNvSpPr/>
          <p:nvPr/>
        </p:nvSpPr>
        <p:spPr>
          <a:xfrm>
            <a:off x="1320800" y="5130800"/>
            <a:ext cx="381000" cy="533400"/>
          </a:xfrm>
          <a:custGeom>
            <a:avLst/>
            <a:gdLst/>
            <a:ahLst/>
            <a:cxnLst/>
            <a:rect l="l" t="t" r="r" b="b"/>
            <a:pathLst>
              <a:path w="30" h="42">
                <a:moveTo>
                  <a:pt x="0" y="12"/>
                </a:moveTo>
                <a:lnTo>
                  <a:pt x="14" y="12"/>
                </a:lnTo>
                <a:lnTo>
                  <a:pt x="30" y="0"/>
                </a:lnTo>
                <a:lnTo>
                  <a:pt x="30" y="42"/>
                </a:lnTo>
                <a:lnTo>
                  <a:pt x="14" y="30"/>
                </a:lnTo>
                <a:lnTo>
                  <a:pt x="0" y="30"/>
                </a:lnTo>
                <a:close/>
              </a:path>
            </a:pathLst>
          </a:custGeom>
          <a:solidFill>
            <a:srgbClr val="0E5A55"/>
          </a:solidFill>
          <a:ln>
            <a:noFill/>
          </a:ln>
        </p:spPr>
      </p:sp>
      <p:sp>
        <p:nvSpPr>
          <p:cNvPr id="12" name="pile1"/>
          <p:cNvSpPr/>
          <p:nvPr/>
        </p:nvSpPr>
        <p:spPr>
          <a:xfrm>
            <a:off x="2946400" y="5461000"/>
            <a:ext cx="330200" cy="127000"/>
          </a:xfrm>
          <a:prstGeom prst="ellipse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13" name="pile2"/>
          <p:cNvSpPr/>
          <p:nvPr/>
        </p:nvSpPr>
        <p:spPr>
          <a:xfrm>
            <a:off x="4724400" y="5461000"/>
            <a:ext cx="330200" cy="127000"/>
          </a:xfrm>
          <a:prstGeom prst="ellipse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14" name="pile3"/>
          <p:cNvSpPr/>
          <p:nvPr/>
        </p:nvSpPr>
        <p:spPr>
          <a:xfrm>
            <a:off x="6502400" y="5461000"/>
            <a:ext cx="330200" cy="127000"/>
          </a:xfrm>
          <a:prstGeom prst="ellipse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15" name="tube-arr"/>
          <p:cNvSpPr/>
          <p:nvPr>
            <p:extLst>
              <p:ext uri="{F5677B7D-0D2A-4D9B-9A5C-6D8D7D0E5A5D}">
                <pptd:line encoding="base64url">eyJ2aWV3Qm94IjpbMTQwLDRdLCJwb2ludHMiOiIwLDIgMTQwLDIiLCJjdXJ2ZSI6InNoYXJwIn0</pptd:line>
              </p:ext>
            </p:extLst>
          </p:nvPr>
        </p:nvSpPr>
        <p:spPr>
          <a:xfrm>
            <a:off x="3111500" y="5740400"/>
            <a:ext cx="1778000" cy="50800"/>
          </a:xfrm>
          <a:custGeom>
            <a:avLst/>
            <a:gdLst/>
            <a:ahLst/>
            <a:cxnLst/>
            <a:rect l="l" t="t" r="r" b="b"/>
            <a:pathLst>
              <a:path w="140" h="4">
                <a:moveTo>
                  <a:pt x="0" y="2"/>
                </a:moveTo>
                <a:lnTo>
                  <a:pt x="140" y="2"/>
                </a:lnTo>
              </a:path>
            </a:pathLst>
          </a:custGeom>
          <a:noFill/>
          <a:ln w="19050">
            <a:solidFill>
              <a:srgbClr val="22303A"/>
            </a:solidFill>
            <a:headEnd type="arrow"/>
            <a:tailEnd type="arrow"/>
          </a:ln>
        </p:spPr>
      </p:sp>
      <p:sp>
        <p:nvSpPr>
          <p:cNvPr id="16" name="tube-lb"/>
          <p:cNvSpPr txBox="1"/>
          <p:nvPr/>
        </p:nvSpPr>
        <p:spPr>
          <a:xfrm>
            <a:off x="3683000" y="5842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 b="1">
                <a:solidFill>
                  <a:srgbClr val="22303A"/>
                </a:solidFill>
                <a:latin typeface="MiSans"/>
                <a:ea typeface="MiSans"/>
              </a:rPr>
              <a:t>λ/2</a:t>
            </a:r>
            <a:endParaRPr lang="en-US" sz="1150" noProof="1"/>
          </a:p>
        </p:txBody>
      </p:sp>
      <p:sp>
        <p:nvSpPr>
          <p:cNvPr id="17" name="tube-cap"/>
          <p:cNvSpPr txBox="1"/>
          <p:nvPr/>
        </p:nvSpPr>
        <p:spPr>
          <a:xfrm>
            <a:off x="9144000" y="51562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粉堆 = 波节位置；</a:t>
            </a:r>
            <a:endParaRPr lang="en-US" sz="1100" noProof="1"/>
          </a:p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相邻粉堆间距 ×2 = λ。</a:t>
            </a:r>
            <a:endParaRPr lang="en-US" sz="1100" noProof="1"/>
          </a:p>
        </p:txBody>
      </p:sp>
      <p:sp>
        <p:nvSpPr>
          <p:cNvPr id="18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9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8 叠加</a:t>
            </a:r>
            <a:endParaRPr lang="en-US" sz="1000" noProof="1"/>
          </a:p>
        </p:txBody>
      </p:sp>
      <p:sp>
        <p:nvSpPr>
          <p:cNvPr id="20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06</a:t>
            </a:r>
            <a:endParaRPr lang="en-US" sz="10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8.2 · DIFFRACTION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衍射：缝宽与波长"差不多"时最明显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Spreading through a gap · greatest when gap ≈ wavelength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h1"/>
          <p:cNvSpPr txBox="1"/>
          <p:nvPr/>
        </p:nvSpPr>
        <p:spPr>
          <a:xfrm>
            <a:off x="762000" y="1701800"/>
            <a:ext cx="584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定义与条件</a:t>
            </a:r>
            <a:endParaRPr lang="en-US" sz="1500" noProof="1"/>
          </a:p>
        </p:txBody>
      </p:sp>
      <p:sp>
        <p:nvSpPr>
          <p:cNvPr id="7" name="b1"/>
          <p:cNvSpPr txBox="1"/>
          <p:nvPr/>
        </p:nvSpPr>
        <p:spPr>
          <a:xfrm>
            <a:off x="762000" y="2057400"/>
            <a:ext cx="59690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衍射 Diffraction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：波通过缝隙或绕过障碍物时的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散开（spreading out）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缝宽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≈ 波长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→ 衍射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最明显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；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缝宽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&lt; 波长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→ 大部分被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反射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；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缝宽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&gt; 波长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→ 衍射不明显；障碍物越宽，边缘衍射越少。</a:t>
            </a:r>
            <a:endParaRPr lang="en-US" sz="1350" noProof="1"/>
          </a:p>
        </p:txBody>
      </p:sp>
      <p:sp>
        <p:nvSpPr>
          <p:cNvPr id="8" name="h2"/>
          <p:cNvSpPr txBox="1"/>
          <p:nvPr/>
        </p:nvSpPr>
        <p:spPr>
          <a:xfrm>
            <a:off x="762000" y="4140200"/>
            <a:ext cx="584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单缝衍射图样 Single-slit pattern</a:t>
            </a:r>
            <a:endParaRPr lang="en-US" sz="1500" noProof="1"/>
          </a:p>
        </p:txBody>
      </p:sp>
      <p:sp>
        <p:nvSpPr>
          <p:cNvPr id="9" name="b2"/>
          <p:cNvSpPr txBox="1"/>
          <p:nvPr/>
        </p:nvSpPr>
        <p:spPr>
          <a:xfrm>
            <a:off x="762000" y="4495800"/>
            <a:ext cx="5969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单色光过单缝 → 屏上明暗相间条纹：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中央亮纹最亮、宽度是其他亮纹的两倍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；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两侧条纹强度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向外递减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；亮纹 = 相长，暗纹 = 相消。</a:t>
            </a:r>
            <a:endParaRPr lang="en-US" sz="1350" noProof="1"/>
          </a:p>
        </p:txBody>
      </p:sp>
      <p:sp>
        <p:nvSpPr>
          <p:cNvPr id="10" name="pw1"/>
          <p:cNvSpPr/>
          <p:nvPr>
            <p:extLst>
              <p:ext uri="{F5677B7D-0D2A-4D9B-9A5C-6D8D7D0E5A5D}">
                <pptd:line encoding="base64url">eyJ2aWV3Qm94IjpbNCwyMDBdLCJwb2ludHMiOiIyLDAgMiwyMDAiLCJjdXJ2ZSI6InNoYXJwIn0</pptd:line>
              </p:ext>
            </p:extLst>
          </p:nvPr>
        </p:nvSpPr>
        <p:spPr>
          <a:xfrm>
            <a:off x="7620000" y="2286000"/>
            <a:ext cx="50800" cy="2540000"/>
          </a:xfrm>
          <a:custGeom>
            <a:avLst/>
            <a:gdLst/>
            <a:ahLst/>
            <a:cxnLst/>
            <a:rect l="l" t="t" r="r" b="b"/>
            <a:pathLst>
              <a:path w="4" h="200">
                <a:moveTo>
                  <a:pt x="2" y="0"/>
                </a:moveTo>
                <a:lnTo>
                  <a:pt x="2" y="200"/>
                </a:lnTo>
              </a:path>
            </a:pathLst>
          </a:custGeom>
          <a:noFill/>
          <a:ln w="25400">
            <a:solidFill>
              <a:srgbClr val="0E5A55"/>
            </a:solidFill>
          </a:ln>
        </p:spPr>
      </p:sp>
      <p:sp>
        <p:nvSpPr>
          <p:cNvPr id="11" name="pw2"/>
          <p:cNvSpPr/>
          <p:nvPr>
            <p:extLst>
              <p:ext uri="{F5677B7D-0D2A-4D9B-9A5C-6D8D7D0E5A5D}">
                <pptd:line encoding="base64url">eyJ2aWV3Qm94IjpbNCwyMDBdLCJwb2ludHMiOiIyLDAgMiwyMDAiLCJjdXJ2ZSI6InNoYXJwIn0</pptd:line>
              </p:ext>
            </p:extLst>
          </p:nvPr>
        </p:nvSpPr>
        <p:spPr>
          <a:xfrm>
            <a:off x="8001000" y="2286000"/>
            <a:ext cx="50800" cy="2540000"/>
          </a:xfrm>
          <a:custGeom>
            <a:avLst/>
            <a:gdLst/>
            <a:ahLst/>
            <a:cxnLst/>
            <a:rect l="l" t="t" r="r" b="b"/>
            <a:pathLst>
              <a:path w="4" h="200">
                <a:moveTo>
                  <a:pt x="2" y="0"/>
                </a:moveTo>
                <a:lnTo>
                  <a:pt x="2" y="200"/>
                </a:lnTo>
              </a:path>
            </a:pathLst>
          </a:custGeom>
          <a:noFill/>
          <a:ln w="25400">
            <a:solidFill>
              <a:srgbClr val="0E5A55"/>
            </a:solidFill>
          </a:ln>
        </p:spPr>
      </p:sp>
      <p:sp>
        <p:nvSpPr>
          <p:cNvPr id="12" name="pw3"/>
          <p:cNvSpPr/>
          <p:nvPr>
            <p:extLst>
              <p:ext uri="{F5677B7D-0D2A-4D9B-9A5C-6D8D7D0E5A5D}">
                <pptd:line encoding="base64url">eyJ2aWV3Qm94IjpbNCwyMDBdLCJwb2ludHMiOiIyLDAgMiwyMDAiLCJjdXJ2ZSI6InNoYXJwIn0</pptd:line>
              </p:ext>
            </p:extLst>
          </p:nvPr>
        </p:nvSpPr>
        <p:spPr>
          <a:xfrm>
            <a:off x="8382000" y="2286000"/>
            <a:ext cx="50800" cy="2540000"/>
          </a:xfrm>
          <a:custGeom>
            <a:avLst/>
            <a:gdLst/>
            <a:ahLst/>
            <a:cxnLst/>
            <a:rect l="l" t="t" r="r" b="b"/>
            <a:pathLst>
              <a:path w="4" h="200">
                <a:moveTo>
                  <a:pt x="2" y="0"/>
                </a:moveTo>
                <a:lnTo>
                  <a:pt x="2" y="200"/>
                </a:lnTo>
              </a:path>
            </a:pathLst>
          </a:custGeom>
          <a:noFill/>
          <a:ln w="25400">
            <a:solidFill>
              <a:srgbClr val="0E5A55"/>
            </a:solidFill>
          </a:ln>
        </p:spPr>
      </p:sp>
      <p:sp>
        <p:nvSpPr>
          <p:cNvPr id="13" name="bar-up"/>
          <p:cNvSpPr/>
          <p:nvPr/>
        </p:nvSpPr>
        <p:spPr>
          <a:xfrm>
            <a:off x="8737600" y="1905000"/>
            <a:ext cx="101600" cy="1397000"/>
          </a:xfrm>
          <a:prstGeom prst="rect">
            <a:avLst/>
          </a:prstGeom>
          <a:solidFill>
            <a:srgbClr val="22303A"/>
          </a:solidFill>
          <a:ln>
            <a:noFill/>
          </a:ln>
        </p:spPr>
      </p:sp>
      <p:sp>
        <p:nvSpPr>
          <p:cNvPr id="14" name="bar-dn"/>
          <p:cNvSpPr/>
          <p:nvPr/>
        </p:nvSpPr>
        <p:spPr>
          <a:xfrm>
            <a:off x="8737600" y="3810000"/>
            <a:ext cx="101600" cy="1397000"/>
          </a:xfrm>
          <a:prstGeom prst="rect">
            <a:avLst/>
          </a:prstGeom>
          <a:solidFill>
            <a:srgbClr val="22303A"/>
          </a:solidFill>
          <a:ln>
            <a:noFill/>
          </a:ln>
        </p:spPr>
      </p:sp>
      <p:sp>
        <p:nvSpPr>
          <p:cNvPr id="15" name="arc1"/>
          <p:cNvSpPr/>
          <p:nvPr>
            <p:extLst>
              <p:ext uri="{F5677B7D-0D2A-4D9B-9A5C-6D8D7D0E5A5D}">
                <pptd:line encoding="base64url">eyJ2aWV3Qm94IjpbMzIsNThdLCJwb2ludHMiOiI4LDAgMTUsMyAyMSw4IDI2LDE0IDI5LDIxIDMwLDI5IDI5LDM3IDI2LDQ0IDIxLDUwIDE1LDU1IDgsNTgiLCJjdXJ2ZSI6InNoYXJwIn0</pptd:line>
              </p:ext>
            </p:extLst>
          </p:nvPr>
        </p:nvSpPr>
        <p:spPr>
          <a:xfrm>
            <a:off x="8864600" y="3187700"/>
            <a:ext cx="406400" cy="736600"/>
          </a:xfrm>
          <a:custGeom>
            <a:avLst/>
            <a:gdLst/>
            <a:ahLst/>
            <a:cxnLst/>
            <a:rect l="l" t="t" r="r" b="b"/>
            <a:pathLst>
              <a:path w="32" h="58">
                <a:moveTo>
                  <a:pt x="8" y="0"/>
                </a:moveTo>
                <a:lnTo>
                  <a:pt x="15" y="3"/>
                </a:lnTo>
                <a:lnTo>
                  <a:pt x="21" y="8"/>
                </a:lnTo>
                <a:lnTo>
                  <a:pt x="26" y="14"/>
                </a:lnTo>
                <a:lnTo>
                  <a:pt x="29" y="21"/>
                </a:lnTo>
                <a:lnTo>
                  <a:pt x="30" y="29"/>
                </a:lnTo>
                <a:lnTo>
                  <a:pt x="29" y="37"/>
                </a:lnTo>
                <a:lnTo>
                  <a:pt x="26" y="44"/>
                </a:lnTo>
                <a:lnTo>
                  <a:pt x="21" y="50"/>
                </a:lnTo>
                <a:lnTo>
                  <a:pt x="15" y="55"/>
                </a:lnTo>
                <a:lnTo>
                  <a:pt x="8" y="58"/>
                </a:lnTo>
              </a:path>
            </a:pathLst>
          </a:custGeom>
          <a:noFill/>
          <a:ln w="25400">
            <a:solidFill>
              <a:srgbClr val="C96F16"/>
            </a:solidFill>
          </a:ln>
        </p:spPr>
      </p:sp>
      <p:sp>
        <p:nvSpPr>
          <p:cNvPr id="16" name="arc2"/>
          <p:cNvSpPr/>
          <p:nvPr>
            <p:extLst>
              <p:ext uri="{F5677B7D-0D2A-4D9B-9A5C-6D8D7D0E5A5D}">
                <pptd:line encoding="base64url">eyJ2aWV3Qm94IjpbNTcsMTA2XSwicG9pbnRzIjoiMTQsMCAyOCw1IDM5LDE0IDQ4LDI2IDUzLDM5IDU1LDUzIDUzLDY3IDQ4LDgwIDM5LDkyIDI4LDEwMSAxNCwxMDYiLCJjdXJ2ZSI6InNoYXJwIn0</pptd:line>
              </p:ext>
            </p:extLst>
          </p:nvPr>
        </p:nvSpPr>
        <p:spPr>
          <a:xfrm>
            <a:off x="8864600" y="2882900"/>
            <a:ext cx="723900" cy="1346200"/>
          </a:xfrm>
          <a:custGeom>
            <a:avLst/>
            <a:gdLst/>
            <a:ahLst/>
            <a:cxnLst/>
            <a:rect l="l" t="t" r="r" b="b"/>
            <a:pathLst>
              <a:path w="57" h="106">
                <a:moveTo>
                  <a:pt x="14" y="0"/>
                </a:moveTo>
                <a:lnTo>
                  <a:pt x="28" y="5"/>
                </a:lnTo>
                <a:lnTo>
                  <a:pt x="39" y="14"/>
                </a:lnTo>
                <a:lnTo>
                  <a:pt x="48" y="26"/>
                </a:lnTo>
                <a:lnTo>
                  <a:pt x="53" y="39"/>
                </a:lnTo>
                <a:lnTo>
                  <a:pt x="55" y="53"/>
                </a:lnTo>
                <a:lnTo>
                  <a:pt x="53" y="67"/>
                </a:lnTo>
                <a:lnTo>
                  <a:pt x="48" y="80"/>
                </a:lnTo>
                <a:lnTo>
                  <a:pt x="39" y="92"/>
                </a:lnTo>
                <a:lnTo>
                  <a:pt x="28" y="101"/>
                </a:lnTo>
                <a:lnTo>
                  <a:pt x="14" y="106"/>
                </a:lnTo>
              </a:path>
            </a:pathLst>
          </a:custGeom>
          <a:noFill/>
          <a:ln w="25400">
            <a:solidFill>
              <a:srgbClr val="C96F16"/>
            </a:solidFill>
          </a:ln>
        </p:spPr>
      </p:sp>
      <p:sp>
        <p:nvSpPr>
          <p:cNvPr id="17" name="arc3"/>
          <p:cNvSpPr/>
          <p:nvPr>
            <p:extLst>
              <p:ext uri="{F5677B7D-0D2A-4D9B-9A5C-6D8D7D0E5A5D}">
                <pptd:line encoding="base64url">eyJ2aWV3Qm94IjpbODIsMTU0XSwicG9pbnRzIjoiMjEsMCA0MCw4IDU3LDIwIDY5LDM3IDc3LDU2IDgwLDc3IDc3LDk4IDY5LDExNyA1NywxMzQgNDAsMTQ2IDIxLDE1NCIsImN1cnZlIjoic2hhcnAifQ</pptd:line>
              </p:ext>
            </p:extLst>
          </p:nvPr>
        </p:nvSpPr>
        <p:spPr>
          <a:xfrm>
            <a:off x="8864600" y="2578100"/>
            <a:ext cx="1041400" cy="1955800"/>
          </a:xfrm>
          <a:custGeom>
            <a:avLst/>
            <a:gdLst/>
            <a:ahLst/>
            <a:cxnLst/>
            <a:rect l="l" t="t" r="r" b="b"/>
            <a:pathLst>
              <a:path w="82" h="154">
                <a:moveTo>
                  <a:pt x="21" y="0"/>
                </a:moveTo>
                <a:lnTo>
                  <a:pt x="40" y="8"/>
                </a:lnTo>
                <a:lnTo>
                  <a:pt x="57" y="20"/>
                </a:lnTo>
                <a:lnTo>
                  <a:pt x="69" y="37"/>
                </a:lnTo>
                <a:lnTo>
                  <a:pt x="77" y="56"/>
                </a:lnTo>
                <a:lnTo>
                  <a:pt x="80" y="77"/>
                </a:lnTo>
                <a:lnTo>
                  <a:pt x="77" y="98"/>
                </a:lnTo>
                <a:lnTo>
                  <a:pt x="69" y="117"/>
                </a:lnTo>
                <a:lnTo>
                  <a:pt x="57" y="134"/>
                </a:lnTo>
                <a:lnTo>
                  <a:pt x="40" y="146"/>
                </a:lnTo>
                <a:lnTo>
                  <a:pt x="21" y="154"/>
                </a:lnTo>
              </a:path>
            </a:pathLst>
          </a:custGeom>
          <a:noFill/>
          <a:ln w="25400">
            <a:solidFill>
              <a:srgbClr val="C96F16"/>
            </a:solidFill>
          </a:ln>
        </p:spPr>
      </p:sp>
      <p:sp>
        <p:nvSpPr>
          <p:cNvPr id="18" name="pw-lb"/>
          <p:cNvSpPr txBox="1"/>
          <p:nvPr/>
        </p:nvSpPr>
        <p:spPr>
          <a:xfrm>
            <a:off x="7493000" y="4953000"/>
            <a:ext cx="1397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入射平面波</a:t>
            </a:r>
            <a:endParaRPr lang="en-US" sz="1100" noProof="1"/>
          </a:p>
        </p:txBody>
      </p:sp>
      <p:sp>
        <p:nvSpPr>
          <p:cNvPr id="19" name="gap-lb"/>
          <p:cNvSpPr txBox="1"/>
          <p:nvPr/>
        </p:nvSpPr>
        <p:spPr>
          <a:xfrm>
            <a:off x="10160000" y="4953000"/>
            <a:ext cx="152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缝后散开 = 衍射</a:t>
            </a:r>
            <a:endParaRPr lang="en-US" sz="1100" noProof="1"/>
          </a:p>
        </p:txBody>
      </p:sp>
      <p:sp>
        <p:nvSpPr>
          <p:cNvPr id="20" name="warn-box"/>
          <p:cNvSpPr/>
          <p:nvPr/>
        </p:nvSpPr>
        <p:spPr>
          <a:xfrm>
            <a:off x="762000" y="5740400"/>
            <a:ext cx="10668000" cy="5080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21" name="warn-body"/>
          <p:cNvSpPr txBox="1"/>
          <p:nvPr/>
        </p:nvSpPr>
        <p:spPr>
          <a:xfrm>
            <a:off x="965200" y="5816600"/>
            <a:ext cx="102616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易错：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"何时衍射最明显"标准答案：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gap width ≈ wavelength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——写"缝越小越好"是错的（太小反而被反射）。</a:t>
            </a:r>
            <a:endParaRPr lang="en-US" sz="1250" noProof="1"/>
          </a:p>
        </p:txBody>
      </p:sp>
      <p:sp>
        <p:nvSpPr>
          <p:cNvPr id="22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3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8 叠加</a:t>
            </a:r>
            <a:endParaRPr lang="en-US" sz="1000" noProof="1"/>
          </a:p>
        </p:txBody>
      </p:sp>
      <p:sp>
        <p:nvSpPr>
          <p:cNvPr id="24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07</a:t>
            </a:r>
            <a:endParaRPr lang="en-US" sz="10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8.3 · COHERENCE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相干：干涉图样的入场券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Same frequency · fixed phase difference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def-card"/>
          <p:cNvSpPr/>
          <p:nvPr/>
        </p:nvSpPr>
        <p:spPr>
          <a:xfrm>
            <a:off x="762000" y="1701800"/>
            <a:ext cx="10668000" cy="10668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7" name="def-body"/>
          <p:cNvSpPr txBox="1"/>
          <p:nvPr/>
        </p:nvSpPr>
        <p:spPr>
          <a:xfrm>
            <a:off x="1066800" y="1854200"/>
            <a:ext cx="100584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50" noProof="1" b="1">
                <a:solidFill>
                  <a:srgbClr val="FFFFFF"/>
                </a:solidFill>
                <a:latin typeface="MiSans"/>
                <a:ea typeface="MiSans"/>
              </a:rPr>
              <a:t>相干 Coherent = 频率（波长）相同 + 相位差恒定</a:t>
            </a:r>
            <a:endParaRPr lang="en-US" sz="1450" noProof="1"/>
          </a:p>
          <a:p>
            <a:pPr>
              <a:lnSpc>
                <a:spcPct val="155000"/>
              </a:lnSpc>
            </a:pPr>
            <a:r>
              <a:rPr lang="en-US" sz="1450" noProof="1">
                <a:solidFill>
                  <a:srgbClr val="FFFFFF"/>
                </a:solidFill>
                <a:latin typeface="MiSans"/>
                <a:ea typeface="MiSans"/>
              </a:rPr>
              <a:t>same frequency and wavelength </a:t>
            </a:r>
            <a:r>
              <a:rPr lang="en-US" sz="1450" noProof="1" b="1">
                <a:solidFill>
                  <a:srgbClr val="FFFFFF"/>
                </a:solidFill>
                <a:latin typeface="MiSans"/>
                <a:ea typeface="MiSans"/>
              </a:rPr>
              <a:t>and</a:t>
            </a:r>
            <a:r>
              <a:rPr lang="en-US" sz="1450" noProof="1">
                <a:solidFill>
                  <a:srgbClr val="FFFFFF"/>
                </a:solidFill>
                <a:latin typeface="MiSans"/>
                <a:ea typeface="MiSans"/>
              </a:rPr>
              <a:t> a fixed phase difference</a:t>
            </a:r>
            <a:endParaRPr lang="en-US" sz="1450" noProof="1"/>
          </a:p>
        </p:txBody>
      </p:sp>
      <p:sp>
        <p:nvSpPr>
          <p:cNvPr id="8" name="h1"/>
          <p:cNvSpPr txBox="1"/>
          <p:nvPr/>
        </p:nvSpPr>
        <p:spPr>
          <a:xfrm>
            <a:off x="762000" y="3073400"/>
            <a:ext cx="584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激光：天生的相干光源</a:t>
            </a:r>
            <a:endParaRPr lang="en-US" sz="1500" noProof="1"/>
          </a:p>
        </p:txBody>
      </p:sp>
      <p:sp>
        <p:nvSpPr>
          <p:cNvPr id="9" name="b1"/>
          <p:cNvSpPr txBox="1"/>
          <p:nvPr/>
        </p:nvSpPr>
        <p:spPr>
          <a:xfrm>
            <a:off x="762000" y="3429000"/>
            <a:ext cx="5842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激光（laser）=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相干 + 单色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（monochromatic，单一波长）。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干涉/衍射实验首选激光：图样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清晰锐利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350" noProof="1"/>
          </a:p>
        </p:txBody>
      </p:sp>
      <p:sp>
        <p:nvSpPr>
          <p:cNvPr id="10" name="h2"/>
          <p:cNvSpPr txBox="1"/>
          <p:nvPr/>
        </p:nvSpPr>
        <p:spPr>
          <a:xfrm>
            <a:off x="6858000" y="30734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灯泡不相干，怎么办？</a:t>
            </a:r>
            <a:endParaRPr lang="en-US" sz="1500" noProof="1"/>
          </a:p>
        </p:txBody>
      </p:sp>
      <p:sp>
        <p:nvSpPr>
          <p:cNvPr id="11" name="b2"/>
          <p:cNvSpPr txBox="1"/>
          <p:nvPr/>
        </p:nvSpPr>
        <p:spPr>
          <a:xfrm>
            <a:off x="6858000" y="3429000"/>
            <a:ext cx="4572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双缝前加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单缝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→ 让光先通过同一点，获得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固定的相位关系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；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再加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滤光片 filter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→ 只放行单一波长（单色化）。</a:t>
            </a:r>
            <a:endParaRPr lang="en-US" sz="1350" noProof="1"/>
          </a:p>
        </p:txBody>
      </p:sp>
      <p:sp>
        <p:nvSpPr>
          <p:cNvPr id="12" name="warn-box"/>
          <p:cNvSpPr/>
          <p:nvPr/>
        </p:nvSpPr>
        <p:spPr>
          <a:xfrm>
            <a:off x="762000" y="5486400"/>
            <a:ext cx="10668000" cy="7112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3" name="warn-body"/>
          <p:cNvSpPr txBox="1"/>
          <p:nvPr/>
        </p:nvSpPr>
        <p:spPr>
          <a:xfrm>
            <a:off x="965200" y="5575300"/>
            <a:ext cx="10261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易错：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相干定义必须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两点俱全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——same frequency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和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 constant phase difference，只答一个扣一半分；"为什么用激光"要答 coherent + monochromatic。</a:t>
            </a:r>
            <a:endParaRPr lang="en-US" sz="1250" noProof="1"/>
          </a:p>
        </p:txBody>
      </p:sp>
      <p:sp>
        <p:nvSpPr>
          <p:cNvPr id="14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5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8 叠加</a:t>
            </a:r>
            <a:endParaRPr lang="en-US" sz="1000" noProof="1"/>
          </a:p>
        </p:txBody>
      </p:sp>
      <p:sp>
        <p:nvSpPr>
          <p:cNvPr id="16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08</a:t>
            </a:r>
            <a:endParaRPr lang="en-US" sz="10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8.3 · YOUNG'S DOUBLE SLIT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杨氏双缝：路程差决定明暗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Bright fringes at nλ · dark fringes at (n+½)λ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h1"/>
          <p:cNvSpPr txBox="1"/>
          <p:nvPr/>
        </p:nvSpPr>
        <p:spPr>
          <a:xfrm>
            <a:off x="762000" y="1701800"/>
            <a:ext cx="584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实验要点 Procedure</a:t>
            </a:r>
            <a:endParaRPr lang="en-US" sz="1500" noProof="1"/>
          </a:p>
        </p:txBody>
      </p:sp>
      <p:sp>
        <p:nvSpPr>
          <p:cNvPr id="7" name="b1"/>
          <p:cNvSpPr txBox="1"/>
          <p:nvPr/>
        </p:nvSpPr>
        <p:spPr>
          <a:xfrm>
            <a:off x="762000" y="2057400"/>
            <a:ext cx="5842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① 相干光（激光）照双缝，缝宽 ≈ 光的波长 → 每条缝处发生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衍射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；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② 每条缝成为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相干点光源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，两束光在屏上叠加成明暗条纹。</a:t>
            </a:r>
            <a:endParaRPr lang="en-US" sz="1350" noProof="1"/>
          </a:p>
        </p:txBody>
      </p:sp>
      <p:sp>
        <p:nvSpPr>
          <p:cNvPr id="8" name="h2"/>
          <p:cNvSpPr txBox="1"/>
          <p:nvPr/>
        </p:nvSpPr>
        <p:spPr>
          <a:xfrm>
            <a:off x="762000" y="3657600"/>
            <a:ext cx="584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明暗条件（背！）</a:t>
            </a:r>
            <a:endParaRPr lang="en-US" sz="1500" noProof="1"/>
          </a:p>
        </p:txBody>
      </p:sp>
      <p:sp>
        <p:nvSpPr>
          <p:cNvPr id="9" name="b2"/>
          <p:cNvSpPr txBox="1"/>
          <p:nvPr/>
        </p:nvSpPr>
        <p:spPr>
          <a:xfrm>
            <a:off x="762000" y="4013200"/>
            <a:ext cx="5842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亮纹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：同相相遇、相长 → 路程差 =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nλ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（n = 0, 1, 2…）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暗纹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：完全反相、相消 → 路程差 =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(n+½)λ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6E6A62"/>
                </a:solidFill>
                <a:latin typeface="MiSans"/>
                <a:ea typeface="MiSans"/>
              </a:rPr>
              <a:t>n = 0 的亮纹 = 中央亮纹（路程差为零）</a:t>
            </a:r>
            <a:endParaRPr lang="en-US" sz="1350" noProof="1"/>
          </a:p>
        </p:txBody>
      </p:sp>
      <p:sp>
        <p:nvSpPr>
          <p:cNvPr id="10" name="slit-bar"/>
          <p:cNvSpPr/>
          <p:nvPr/>
        </p:nvSpPr>
        <p:spPr>
          <a:xfrm>
            <a:off x="7112000" y="2032000"/>
            <a:ext cx="76200" cy="1905000"/>
          </a:xfrm>
          <a:prstGeom prst="rect">
            <a:avLst/>
          </a:prstGeom>
          <a:solidFill>
            <a:srgbClr val="22303A"/>
          </a:solidFill>
          <a:ln>
            <a:noFill/>
          </a:ln>
        </p:spPr>
      </p:sp>
      <p:sp>
        <p:nvSpPr>
          <p:cNvPr id="11" name="slit-gap1"/>
          <p:cNvSpPr/>
          <p:nvPr/>
        </p:nvSpPr>
        <p:spPr>
          <a:xfrm>
            <a:off x="7061200" y="2743200"/>
            <a:ext cx="177800" cy="101600"/>
          </a:xfrm>
          <a:prstGeom prst="rect">
            <a:avLst/>
          </a:prstGeom>
          <a:solidFill>
            <a:srgbClr val="FAF8F4"/>
          </a:solidFill>
          <a:ln>
            <a:noFill/>
          </a:ln>
        </p:spPr>
      </p:sp>
      <p:sp>
        <p:nvSpPr>
          <p:cNvPr id="12" name="slit-gap2"/>
          <p:cNvSpPr/>
          <p:nvPr/>
        </p:nvSpPr>
        <p:spPr>
          <a:xfrm>
            <a:off x="7061200" y="3149600"/>
            <a:ext cx="177800" cy="101600"/>
          </a:xfrm>
          <a:prstGeom prst="rect">
            <a:avLst/>
          </a:prstGeom>
          <a:solidFill>
            <a:srgbClr val="FAF8F4"/>
          </a:solidFill>
          <a:ln>
            <a:noFill/>
          </a:ln>
        </p:spPr>
      </p:sp>
      <p:sp>
        <p:nvSpPr>
          <p:cNvPr id="13" name="ray1"/>
          <p:cNvSpPr/>
          <p:nvPr>
            <p:extLst>
              <p:ext uri="{F5677B7D-0D2A-4D9B-9A5C-6D8D7D0E5A5D}">
                <pptd:line encoding="base64url">eyJ2aWV3Qm94IjpbMjQwLDRdLCJwb2ludHMiOiIwLDIgMjQwLDIiLCJjdXJ2ZSI6InNoYXJwIn0</pptd:line>
              </p:ext>
            </p:extLst>
          </p:nvPr>
        </p:nvSpPr>
        <p:spPr>
          <a:xfrm>
            <a:off x="7239000" y="2768600"/>
            <a:ext cx="3048000" cy="50800"/>
          </a:xfrm>
          <a:custGeom>
            <a:avLst/>
            <a:gdLst/>
            <a:ahLst/>
            <a:cxnLst/>
            <a:rect l="l" t="t" r="r" b="b"/>
            <a:pathLst>
              <a:path w="240" h="4">
                <a:moveTo>
                  <a:pt x="0" y="2"/>
                </a:moveTo>
                <a:lnTo>
                  <a:pt x="240" y="2"/>
                </a:lnTo>
              </a:path>
            </a:pathLst>
          </a:custGeom>
          <a:noFill/>
          <a:ln w="19050">
            <a:solidFill>
              <a:srgbClr val="C96F16"/>
            </a:solidFill>
          </a:ln>
        </p:spPr>
      </p:sp>
      <p:sp>
        <p:nvSpPr>
          <p:cNvPr id="14" name="ray2"/>
          <p:cNvSpPr/>
          <p:nvPr>
            <p:extLst>
              <p:ext uri="{F5677B7D-0D2A-4D9B-9A5C-6D8D7D0E5A5D}">
                <pptd:line encoding="base64url">eyJ2aWV3Qm94IjpbMjQwLDIyXSwicG9pbnRzIjoiMCwyMCAyNDAsMiIsImN1cnZlIjoic2hhcnAifQ</pptd:line>
              </p:ext>
            </p:extLst>
          </p:nvPr>
        </p:nvSpPr>
        <p:spPr>
          <a:xfrm>
            <a:off x="7239000" y="2946400"/>
            <a:ext cx="3048000" cy="279400"/>
          </a:xfrm>
          <a:custGeom>
            <a:avLst/>
            <a:gdLst/>
            <a:ahLst/>
            <a:cxnLst/>
            <a:rect l="l" t="t" r="r" b="b"/>
            <a:pathLst>
              <a:path w="240" h="22">
                <a:moveTo>
                  <a:pt x="0" y="20"/>
                </a:moveTo>
                <a:lnTo>
                  <a:pt x="240" y="2"/>
                </a:lnTo>
              </a:path>
            </a:pathLst>
          </a:custGeom>
          <a:noFill/>
          <a:ln w="19050">
            <a:solidFill>
              <a:srgbClr val="C96F16"/>
            </a:solidFill>
          </a:ln>
        </p:spPr>
      </p:sp>
      <p:sp>
        <p:nvSpPr>
          <p:cNvPr id="15" name="ray3"/>
          <p:cNvSpPr/>
          <p:nvPr>
            <p:extLst>
              <p:ext uri="{F5677B7D-0D2A-4D9B-9A5C-6D8D7D0E5A5D}">
                <pptd:line encoding="base64url">eyJ2aWV3Qm94IjpbMjQwLDI0XSwicG9pbnRzIjoiMCwyIDI0MCwyMiIsImN1cnZlIjoic2hhcnAifQ</pptd:line>
              </p:ext>
            </p:extLst>
          </p:nvPr>
        </p:nvSpPr>
        <p:spPr>
          <a:xfrm>
            <a:off x="7239000" y="3200400"/>
            <a:ext cx="3048000" cy="304800"/>
          </a:xfrm>
          <a:custGeom>
            <a:avLst/>
            <a:gdLst/>
            <a:ahLst/>
            <a:cxnLst/>
            <a:rect l="l" t="t" r="r" b="b"/>
            <a:pathLst>
              <a:path w="240" h="24">
                <a:moveTo>
                  <a:pt x="0" y="2"/>
                </a:moveTo>
                <a:lnTo>
                  <a:pt x="240" y="22"/>
                </a:lnTo>
              </a:path>
            </a:pathLst>
          </a:custGeom>
          <a:noFill/>
          <a:ln w="19050">
            <a:solidFill>
              <a:srgbClr val="0E5A55"/>
            </a:solidFill>
          </a:ln>
        </p:spPr>
      </p:sp>
      <p:sp>
        <p:nvSpPr>
          <p:cNvPr id="16" name="screen"/>
          <p:cNvSpPr/>
          <p:nvPr/>
        </p:nvSpPr>
        <p:spPr>
          <a:xfrm>
            <a:off x="10541000" y="1905000"/>
            <a:ext cx="177800" cy="2159000"/>
          </a:xfrm>
          <a:prstGeom prst="rect">
            <a:avLst/>
          </a:prstGeom>
          <a:solidFill>
            <a:srgbClr val="22303A"/>
          </a:solidFill>
          <a:ln>
            <a:noFill/>
          </a:ln>
        </p:spPr>
      </p:sp>
      <p:sp>
        <p:nvSpPr>
          <p:cNvPr id="17" name="fr1"/>
          <p:cNvSpPr/>
          <p:nvPr/>
        </p:nvSpPr>
        <p:spPr>
          <a:xfrm>
            <a:off x="10490200" y="2489200"/>
            <a:ext cx="279400" cy="152400"/>
          </a:xfrm>
          <a:prstGeom prst="rect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18" name="fr2"/>
          <p:cNvSpPr/>
          <p:nvPr/>
        </p:nvSpPr>
        <p:spPr>
          <a:xfrm>
            <a:off x="10490200" y="2870200"/>
            <a:ext cx="279400" cy="177800"/>
          </a:xfrm>
          <a:prstGeom prst="rect">
            <a:avLst/>
          </a:prstGeom>
          <a:solidFill>
            <a:srgbClr val="E8A35C"/>
          </a:solidFill>
          <a:ln>
            <a:noFill/>
          </a:ln>
        </p:spPr>
      </p:sp>
      <p:sp>
        <p:nvSpPr>
          <p:cNvPr id="19" name="fr3"/>
          <p:cNvSpPr/>
          <p:nvPr/>
        </p:nvSpPr>
        <p:spPr>
          <a:xfrm>
            <a:off x="10490200" y="3276600"/>
            <a:ext cx="279400" cy="152400"/>
          </a:xfrm>
          <a:prstGeom prst="rect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20" name="slit-lb"/>
          <p:cNvSpPr txBox="1"/>
          <p:nvPr/>
        </p:nvSpPr>
        <p:spPr>
          <a:xfrm>
            <a:off x="6731000" y="4064000"/>
            <a:ext cx="1143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双缝（间距 a）</a:t>
            </a:r>
            <a:endParaRPr lang="en-US" sz="1100" noProof="1"/>
          </a:p>
        </p:txBody>
      </p:sp>
      <p:sp>
        <p:nvSpPr>
          <p:cNvPr id="21" name="scr-lb"/>
          <p:cNvSpPr txBox="1"/>
          <p:nvPr/>
        </p:nvSpPr>
        <p:spPr>
          <a:xfrm>
            <a:off x="10033000" y="4064000"/>
            <a:ext cx="152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屏上明暗条纹</a:t>
            </a:r>
            <a:endParaRPr lang="en-US" sz="1100" noProof="1"/>
          </a:p>
        </p:txBody>
      </p:sp>
      <p:sp>
        <p:nvSpPr>
          <p:cNvPr id="22" name="fcard"/>
          <p:cNvSpPr/>
          <p:nvPr/>
        </p:nvSpPr>
        <p:spPr>
          <a:xfrm>
            <a:off x="6858000" y="4470400"/>
            <a:ext cx="4572000" cy="7620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23" name="fcard-t"/>
          <p:cNvSpPr txBox="1"/>
          <p:nvPr/>
        </p:nvSpPr>
        <p:spPr>
          <a:xfrm>
            <a:off x="6858000" y="4470400"/>
            <a:ext cx="457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400" noProof="1" b="1">
                <a:solidFill>
                  <a:srgbClr val="FFFFFF"/>
                </a:solidFill>
                <a:latin typeface="MiSans"/>
                <a:ea typeface="MiSans"/>
              </a:rPr>
              <a:t>λ = ax / D</a:t>
            </a:r>
            <a:endParaRPr lang="en-US" sz="2400" noProof="1"/>
          </a:p>
        </p:txBody>
      </p:sp>
      <p:sp>
        <p:nvSpPr>
          <p:cNvPr id="24" name="fcard-note"/>
          <p:cNvSpPr txBox="1"/>
          <p:nvPr/>
        </p:nvSpPr>
        <p:spPr>
          <a:xfrm>
            <a:off x="6858000" y="5359400"/>
            <a:ext cx="4572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x = 条纹间距 · a = 双缝间距 · D = 缝到屏距离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易错：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x 与 a 别颠倒——a 越大条纹越密（x 越小）。</a:t>
            </a:r>
            <a:endParaRPr lang="en-US" sz="1250" noProof="1"/>
          </a:p>
        </p:txBody>
      </p:sp>
      <p:sp>
        <p:nvSpPr>
          <p:cNvPr id="25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6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8 叠加</a:t>
            </a:r>
            <a:endParaRPr lang="en-US" sz="1000" noProof="1"/>
          </a:p>
        </p:txBody>
      </p:sp>
      <p:sp>
        <p:nvSpPr>
          <p:cNvPr id="27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09</a:t>
            </a:r>
            <a:endParaRPr lang="en-US" sz="10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8.4 · DIFFRACTION GRATING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衍射光栅：更多缝，更锐更亮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Many equally spaced slits · sharper and brighter maxima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h1"/>
          <p:cNvSpPr txBox="1"/>
          <p:nvPr/>
        </p:nvSpPr>
        <p:spPr>
          <a:xfrm>
            <a:off x="762000" y="1701800"/>
            <a:ext cx="5969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特点与各级亮纹</a:t>
            </a:r>
            <a:endParaRPr lang="en-US" sz="1500" noProof="1"/>
          </a:p>
        </p:txBody>
      </p:sp>
      <p:sp>
        <p:nvSpPr>
          <p:cNvPr id="7" name="b1"/>
          <p:cNvSpPr txBox="1"/>
          <p:nvPr/>
        </p:nvSpPr>
        <p:spPr>
          <a:xfrm>
            <a:off x="762000" y="2057400"/>
            <a:ext cx="59690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光栅 = 许多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等间距、极细密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的狭缝。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比双缝图样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更尖锐、更亮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（更多光束互相加强）→ 测量更准。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正中央 =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零级 zero order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；两侧依次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一级、二级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……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λ 越大（蓝→红），θ 越大，图样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越张开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350" noProof="1"/>
          </a:p>
        </p:txBody>
      </p:sp>
      <p:sp>
        <p:nvSpPr>
          <p:cNvPr id="8" name="fcard"/>
          <p:cNvSpPr/>
          <p:nvPr/>
        </p:nvSpPr>
        <p:spPr>
          <a:xfrm>
            <a:off x="762000" y="4191000"/>
            <a:ext cx="5969000" cy="8128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9" name="fcard-t"/>
          <p:cNvSpPr txBox="1"/>
          <p:nvPr/>
        </p:nvSpPr>
        <p:spPr>
          <a:xfrm>
            <a:off x="762000" y="4191000"/>
            <a:ext cx="5969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400" noProof="1" b="1">
                <a:solidFill>
                  <a:srgbClr val="FFFFFF"/>
                </a:solidFill>
                <a:latin typeface="MiSans"/>
                <a:ea typeface="MiSans"/>
              </a:rPr>
              <a:t>d sinθ = nλ</a:t>
            </a:r>
            <a:endParaRPr lang="en-US" sz="2400" noProof="1"/>
          </a:p>
        </p:txBody>
      </p:sp>
      <p:sp>
        <p:nvSpPr>
          <p:cNvPr id="10" name="fcard-note"/>
          <p:cNvSpPr txBox="1"/>
          <p:nvPr/>
        </p:nvSpPr>
        <p:spPr>
          <a:xfrm>
            <a:off x="762000" y="5130800"/>
            <a:ext cx="5969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d = 相邻缝间距（光栅常数）· θ = 亮纹相对法线的角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n = 级数（0, 1, 2…）· λ = 波长</a:t>
            </a:r>
            <a:endParaRPr lang="en-US" sz="1250" noProof="1"/>
          </a:p>
        </p:txBody>
      </p:sp>
      <p:sp>
        <p:nvSpPr>
          <p:cNvPr id="11" name="ord-axis"/>
          <p:cNvSpPr/>
          <p:nvPr>
            <p:extLst>
              <p:ext uri="{F5677B7D-0D2A-4D9B-9A5C-6D8D7D0E5A5D}">
                <pptd:line encoding="base64url">eyJ2aWV3Qm94IjpbMzIwLDRdLCJwb2ludHMiOiIwLDIgMzIwLDIiLCJjdXJ2ZSI6InNoYXJwIn0</pptd:line>
              </p:ext>
            </p:extLst>
          </p:nvPr>
        </p:nvSpPr>
        <p:spPr>
          <a:xfrm>
            <a:off x="7366000" y="3810000"/>
            <a:ext cx="4064000" cy="50800"/>
          </a:xfrm>
          <a:custGeom>
            <a:avLst/>
            <a:gdLst/>
            <a:ahLst/>
            <a:cxnLst/>
            <a:rect l="l" t="t" r="r" b="b"/>
            <a:pathLst>
              <a:path w="320" h="4">
                <a:moveTo>
                  <a:pt x="0" y="2"/>
                </a:moveTo>
                <a:lnTo>
                  <a:pt x="320" y="2"/>
                </a:lnTo>
              </a:path>
            </a:pathLst>
          </a:custGeom>
          <a:noFill/>
          <a:ln w="19050">
            <a:solidFill>
              <a:srgbClr val="D8D2C8"/>
            </a:solidFill>
          </a:ln>
        </p:spPr>
      </p:sp>
      <p:sp>
        <p:nvSpPr>
          <p:cNvPr id="12" name="ord0"/>
          <p:cNvSpPr/>
          <p:nvPr/>
        </p:nvSpPr>
        <p:spPr>
          <a:xfrm>
            <a:off x="9347200" y="2286000"/>
            <a:ext cx="101600" cy="1524000"/>
          </a:xfrm>
          <a:prstGeom prst="rect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13" name="ord1l"/>
          <p:cNvSpPr/>
          <p:nvPr/>
        </p:nvSpPr>
        <p:spPr>
          <a:xfrm>
            <a:off x="8585200" y="2667000"/>
            <a:ext cx="76200" cy="11430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4" name="ord1r"/>
          <p:cNvSpPr/>
          <p:nvPr/>
        </p:nvSpPr>
        <p:spPr>
          <a:xfrm>
            <a:off x="10134600" y="2667000"/>
            <a:ext cx="76200" cy="11430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5" name="ord2l"/>
          <p:cNvSpPr/>
          <p:nvPr/>
        </p:nvSpPr>
        <p:spPr>
          <a:xfrm>
            <a:off x="7848600" y="2946400"/>
            <a:ext cx="63500" cy="863600"/>
          </a:xfrm>
          <a:prstGeom prst="rect">
            <a:avLst/>
          </a:prstGeom>
          <a:solidFill>
            <a:srgbClr val="6E6A62"/>
          </a:solidFill>
          <a:ln>
            <a:noFill/>
          </a:ln>
        </p:spPr>
      </p:sp>
      <p:sp>
        <p:nvSpPr>
          <p:cNvPr id="16" name="ord2r"/>
          <p:cNvSpPr/>
          <p:nvPr/>
        </p:nvSpPr>
        <p:spPr>
          <a:xfrm>
            <a:off x="10896600" y="2946400"/>
            <a:ext cx="63500" cy="863600"/>
          </a:xfrm>
          <a:prstGeom prst="rect">
            <a:avLst/>
          </a:prstGeom>
          <a:solidFill>
            <a:srgbClr val="6E6A62"/>
          </a:solidFill>
          <a:ln>
            <a:noFill/>
          </a:ln>
        </p:spPr>
      </p:sp>
      <p:sp>
        <p:nvSpPr>
          <p:cNvPr id="17" name="ord0-lb"/>
          <p:cNvSpPr txBox="1"/>
          <p:nvPr/>
        </p:nvSpPr>
        <p:spPr>
          <a:xfrm>
            <a:off x="9144000" y="20066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C96F16"/>
                </a:solidFill>
                <a:latin typeface="MiSans"/>
                <a:ea typeface="MiSans"/>
              </a:rPr>
              <a:t>零级</a:t>
            </a:r>
            <a:endParaRPr lang="en-US" sz="1100" noProof="1"/>
          </a:p>
        </p:txBody>
      </p:sp>
      <p:sp>
        <p:nvSpPr>
          <p:cNvPr id="18" name="ord1-lb"/>
          <p:cNvSpPr txBox="1"/>
          <p:nvPr/>
        </p:nvSpPr>
        <p:spPr>
          <a:xfrm>
            <a:off x="8128000" y="3886200"/>
            <a:ext cx="279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0E5A55"/>
                </a:solidFill>
                <a:latin typeface="MiSans"/>
                <a:ea typeface="MiSans"/>
              </a:rPr>
              <a:t>← 一级　·　一级 →</a:t>
            </a:r>
            <a:endParaRPr lang="en-US" sz="1100" noProof="1"/>
          </a:p>
        </p:txBody>
      </p:sp>
      <p:sp>
        <p:nvSpPr>
          <p:cNvPr id="19" name="ord2-lb"/>
          <p:cNvSpPr txBox="1"/>
          <p:nvPr/>
        </p:nvSpPr>
        <p:spPr>
          <a:xfrm>
            <a:off x="8128000" y="4114800"/>
            <a:ext cx="279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← 二级　·　二级 →</a:t>
            </a:r>
            <a:endParaRPr lang="en-US" sz="1100" noProof="1"/>
          </a:p>
        </p:txBody>
      </p:sp>
      <p:sp>
        <p:nvSpPr>
          <p:cNvPr id="20" name="ord-cap"/>
          <p:cNvSpPr txBox="1"/>
          <p:nvPr/>
        </p:nvSpPr>
        <p:spPr>
          <a:xfrm>
            <a:off x="7366000" y="4445000"/>
            <a:ext cx="4191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缝越多，亮纹越窄越锐，</a:t>
            </a:r>
            <a:endParaRPr lang="en-US" sz="1100" noProof="1"/>
          </a:p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级数越高，亮度越低、离中心越远。</a:t>
            </a:r>
            <a:endParaRPr lang="en-US" sz="1100" noProof="1"/>
          </a:p>
        </p:txBody>
      </p:sp>
      <p:sp>
        <p:nvSpPr>
          <p:cNvPr id="21" name="warn-box"/>
          <p:cNvSpPr/>
          <p:nvPr/>
        </p:nvSpPr>
        <p:spPr>
          <a:xfrm>
            <a:off x="762000" y="5740400"/>
            <a:ext cx="10668000" cy="5080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22" name="warn-body"/>
          <p:cNvSpPr txBox="1"/>
          <p:nvPr/>
        </p:nvSpPr>
        <p:spPr>
          <a:xfrm>
            <a:off x="965200" y="5816600"/>
            <a:ext cx="102616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换算第一关：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题目给"每毫米 N 条缝"→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d = 1/N mm = 10⁻³/N m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，换错全盘皆输。</a:t>
            </a:r>
            <a:endParaRPr lang="en-US" sz="1250" noProof="1"/>
          </a:p>
        </p:txBody>
      </p:sp>
      <p:sp>
        <p:nvSpPr>
          <p:cNvPr id="23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4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8 叠加</a:t>
            </a:r>
            <a:endParaRPr lang="en-US" sz="1000" noProof="1"/>
          </a:p>
        </p:txBody>
      </p:sp>
      <p:sp>
        <p:nvSpPr>
          <p:cNvPr id="25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10</a:t>
            </a:r>
            <a:endParaRPr lang="en-US" sz="10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8.4 · DERIVATION AND MAXIMUM ORDER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光栅方程：四步推导 + 最高级数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Deriving d sinθ = nλ · sinθ can never exceed 1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h1"/>
          <p:cNvSpPr txBox="1"/>
          <p:nvPr/>
        </p:nvSpPr>
        <p:spPr>
          <a:xfrm>
            <a:off x="762000" y="17018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推导 Derivation（考纲要求）</a:t>
            </a:r>
            <a:endParaRPr lang="en-US" sz="1500" noProof="1"/>
          </a:p>
        </p:txBody>
      </p:sp>
      <p:sp>
        <p:nvSpPr>
          <p:cNvPr id="7" name="b1"/>
          <p:cNvSpPr txBox="1"/>
          <p:nvPr/>
        </p:nvSpPr>
        <p:spPr>
          <a:xfrm>
            <a:off x="762000" y="2057400"/>
            <a:ext cx="6604000" cy="266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① 看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一级亮纹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：相邻两缝的光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路程差 = λ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；光线与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法线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夹角记为 θ；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② 从下方缝向另一条光线作垂线 → 直角三角形：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斜边 = d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（缝间距），θ 的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对边 = 路程差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；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③ sinθ = 对边 ÷ 斜边 = λ/d → 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d sinθ = λ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（一级）；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④ 第 n 级路程差 = nλ → 推广：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d sinθ = nλ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300" noProof="1"/>
          </a:p>
        </p:txBody>
      </p:sp>
      <p:sp>
        <p:nvSpPr>
          <p:cNvPr id="8" name="max-card"/>
          <p:cNvSpPr/>
          <p:nvPr/>
        </p:nvSpPr>
        <p:spPr>
          <a:xfrm>
            <a:off x="762000" y="4927600"/>
            <a:ext cx="6604000" cy="7112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9" name="max-body"/>
          <p:cNvSpPr txBox="1"/>
          <p:nvPr/>
        </p:nvSpPr>
        <p:spPr>
          <a:xfrm>
            <a:off x="965200" y="5016500"/>
            <a:ext cx="6197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最高级数：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sinθ ≤ 1 → n ≤ d/λ，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向下取整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；</a:t>
            </a:r>
            <a:endParaRPr lang="en-US" sz="1250" noProof="1"/>
          </a:p>
          <a:p>
            <a:pPr algn="l"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算出 nλ/d &gt; 1 的级数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不存在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250" noProof="1"/>
          </a:p>
        </p:txBody>
      </p:sp>
      <p:sp>
        <p:nvSpPr>
          <p:cNvPr id="10" name="normal"/>
          <p:cNvSpPr/>
          <p:nvPr>
            <p:extLst>
              <p:ext uri="{F5677B7D-0D2A-4D9B-9A5C-6D8D7D0E5A5D}">
                <pptd:line encoding="base64url">eyJ2aWV3Qm94IjpbMTgwLDRdLCJwb2ludHMiOiIwLDIgMTgwLDIiLCJjdXJ2ZSI6InNoYXJwIn0</pptd:line>
              </p:ext>
            </p:extLst>
          </p:nvPr>
        </p:nvSpPr>
        <p:spPr>
          <a:xfrm>
            <a:off x="8255000" y="3276600"/>
            <a:ext cx="2286000" cy="50800"/>
          </a:xfrm>
          <a:custGeom>
            <a:avLst/>
            <a:gdLst/>
            <a:ahLst/>
            <a:cxnLst/>
            <a:rect l="l" t="t" r="r" b="b"/>
            <a:pathLst>
              <a:path w="180" h="4">
                <a:moveTo>
                  <a:pt x="0" y="2"/>
                </a:moveTo>
                <a:lnTo>
                  <a:pt x="180" y="2"/>
                </a:lnTo>
              </a:path>
            </a:pathLst>
          </a:custGeom>
          <a:noFill/>
          <a:ln w="19050">
            <a:solidFill>
              <a:srgbClr val="6E6A62"/>
            </a:solidFill>
            <a:prstDash val="dash"/>
          </a:ln>
        </p:spPr>
      </p:sp>
      <p:sp>
        <p:nvSpPr>
          <p:cNvPr id="11" name="ray1"/>
          <p:cNvSpPr/>
          <p:nvPr>
            <p:extLst>
              <p:ext uri="{F5677B7D-0D2A-4D9B-9A5C-6D8D7D0E5A5D}">
                <pptd:line encoding="base64url">eyJ2aWV3Qm94IjpbMTA2LDc1XSwicG9pbnRzIjoiMCw3NSAxMDYsMCIsImN1cnZlIjoic2hhcnAifQ</pptd:line>
              </p:ext>
            </p:extLst>
          </p:nvPr>
        </p:nvSpPr>
        <p:spPr>
          <a:xfrm>
            <a:off x="8255000" y="2349500"/>
            <a:ext cx="1346200" cy="952500"/>
          </a:xfrm>
          <a:custGeom>
            <a:avLst/>
            <a:gdLst/>
            <a:ahLst/>
            <a:cxnLst/>
            <a:rect l="l" t="t" r="r" b="b"/>
            <a:pathLst>
              <a:path w="106" h="75">
                <a:moveTo>
                  <a:pt x="0" y="75"/>
                </a:moveTo>
                <a:lnTo>
                  <a:pt x="106" y="0"/>
                </a:lnTo>
              </a:path>
            </a:pathLst>
          </a:custGeom>
          <a:noFill/>
          <a:ln w="19050">
            <a:solidFill>
              <a:srgbClr val="C96F16"/>
            </a:solidFill>
          </a:ln>
        </p:spPr>
      </p:sp>
      <p:sp>
        <p:nvSpPr>
          <p:cNvPr id="12" name="ray2"/>
          <p:cNvSpPr/>
          <p:nvPr>
            <p:extLst>
              <p:ext uri="{F5677B7D-0D2A-4D9B-9A5C-6D8D7D0E5A5D}">
                <pptd:line encoding="base64url">eyJ2aWV3Qm94IjpbMTA2LDc1XSwicG9pbnRzIjoiMCw3NSAxMDYsMCIsImN1cnZlIjoic2hhcnAifQ</pptd:line>
              </p:ext>
            </p:extLst>
          </p:nvPr>
        </p:nvSpPr>
        <p:spPr>
          <a:xfrm>
            <a:off x="8255000" y="1333500"/>
            <a:ext cx="1346200" cy="952500"/>
          </a:xfrm>
          <a:custGeom>
            <a:avLst/>
            <a:gdLst/>
            <a:ahLst/>
            <a:cxnLst/>
            <a:rect l="l" t="t" r="r" b="b"/>
            <a:pathLst>
              <a:path w="106" h="75">
                <a:moveTo>
                  <a:pt x="0" y="75"/>
                </a:moveTo>
                <a:lnTo>
                  <a:pt x="106" y="0"/>
                </a:lnTo>
              </a:path>
            </a:pathLst>
          </a:custGeom>
          <a:noFill/>
          <a:ln w="19050">
            <a:solidFill>
              <a:srgbClr val="C96F16"/>
            </a:solidFill>
          </a:ln>
        </p:spPr>
      </p:sp>
      <p:sp>
        <p:nvSpPr>
          <p:cNvPr id="13" name="pd-seg"/>
          <p:cNvSpPr/>
          <p:nvPr>
            <p:extLst>
              <p:ext uri="{F5677B7D-0D2A-4D9B-9A5C-6D8D7D0E5A5D}">
                <pptd:line encoding="base64url">eyJ2aWV3Qm94IjpbMzgsMjZdLCJwb2ludHMiOiIwLDI2IDM4LDAiLCJjdXJ2ZSI6InNoYXJwIn0</pptd:line>
              </p:ext>
            </p:extLst>
          </p:nvPr>
        </p:nvSpPr>
        <p:spPr>
          <a:xfrm>
            <a:off x="8255000" y="2971800"/>
            <a:ext cx="482600" cy="330200"/>
          </a:xfrm>
          <a:custGeom>
            <a:avLst/>
            <a:gdLst/>
            <a:ahLst/>
            <a:cxnLst/>
            <a:rect l="l" t="t" r="r" b="b"/>
            <a:pathLst>
              <a:path w="38" h="26">
                <a:moveTo>
                  <a:pt x="0" y="26"/>
                </a:moveTo>
                <a:lnTo>
                  <a:pt x="38" y="0"/>
                </a:lnTo>
              </a:path>
            </a:pathLst>
          </a:custGeom>
          <a:noFill/>
          <a:ln w="44450">
            <a:solidFill>
              <a:srgbClr val="0E5A55"/>
            </a:solidFill>
          </a:ln>
        </p:spPr>
      </p:sp>
      <p:sp>
        <p:nvSpPr>
          <p:cNvPr id="14" name="perp-seg"/>
          <p:cNvSpPr/>
          <p:nvPr>
            <p:extLst>
              <p:ext uri="{F5677B7D-0D2A-4D9B-9A5C-6D8D7D0E5A5D}">
                <pptd:line encoding="base64url">eyJ2aWV3Qm94IjpbMzgsNTRdLCJwb2ludHMiOiIzOCw1NCAwLDAiLCJjdXJ2ZSI6InNoYXJwIn0</pptd:line>
              </p:ext>
            </p:extLst>
          </p:nvPr>
        </p:nvSpPr>
        <p:spPr>
          <a:xfrm>
            <a:off x="8255000" y="2286000"/>
            <a:ext cx="482600" cy="685800"/>
          </a:xfrm>
          <a:custGeom>
            <a:avLst/>
            <a:gdLst/>
            <a:ahLst/>
            <a:cxnLst/>
            <a:rect l="l" t="t" r="r" b="b"/>
            <a:pathLst>
              <a:path w="38" h="54">
                <a:moveTo>
                  <a:pt x="38" y="54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6E6A62"/>
            </a:solidFill>
          </a:ln>
        </p:spPr>
      </p:sp>
      <p:sp>
        <p:nvSpPr>
          <p:cNvPr id="15" name="d-arr"/>
          <p:cNvSpPr/>
          <p:nvPr>
            <p:extLst>
              <p:ext uri="{F5677B7D-0D2A-4D9B-9A5C-6D8D7D0E5A5D}">
                <pptd:line encoding="base64url">eyJ2aWV3Qm94IjpbNCw4MF0sInBvaW50cyI6IjIsMCAyLDgwIiwiY3VydmUiOiJzaGFycCJ9</pptd:line>
              </p:ext>
            </p:extLst>
          </p:nvPr>
        </p:nvSpPr>
        <p:spPr>
          <a:xfrm>
            <a:off x="8051800" y="2286000"/>
            <a:ext cx="50800" cy="1016000"/>
          </a:xfrm>
          <a:custGeom>
            <a:avLst/>
            <a:gdLst/>
            <a:ahLst/>
            <a:cxnLst/>
            <a:rect l="l" t="t" r="r" b="b"/>
            <a:pathLst>
              <a:path w="4" h="80">
                <a:moveTo>
                  <a:pt x="2" y="0"/>
                </a:moveTo>
                <a:lnTo>
                  <a:pt x="2" y="80"/>
                </a:lnTo>
              </a:path>
            </a:pathLst>
          </a:custGeom>
          <a:noFill/>
          <a:ln w="19050">
            <a:solidFill>
              <a:srgbClr val="22303A"/>
            </a:solidFill>
            <a:headEnd type="arrow"/>
            <a:tailEnd type="arrow"/>
          </a:ln>
        </p:spPr>
      </p:sp>
      <p:sp>
        <p:nvSpPr>
          <p:cNvPr id="16" name="d-lb"/>
          <p:cNvSpPr txBox="1"/>
          <p:nvPr/>
        </p:nvSpPr>
        <p:spPr>
          <a:xfrm>
            <a:off x="7696200" y="2692400"/>
            <a:ext cx="304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d</a:t>
            </a:r>
            <a:endParaRPr lang="en-US" sz="1300" noProof="1"/>
          </a:p>
        </p:txBody>
      </p:sp>
      <p:sp>
        <p:nvSpPr>
          <p:cNvPr id="17" name="pd-lb"/>
          <p:cNvSpPr txBox="1"/>
          <p:nvPr/>
        </p:nvSpPr>
        <p:spPr>
          <a:xfrm>
            <a:off x="8432800" y="3124200"/>
            <a:ext cx="762000" cy="2032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0E5A55"/>
                </a:solidFill>
                <a:latin typeface="MiSans"/>
                <a:ea typeface="MiSans"/>
              </a:rPr>
              <a:t>nλ</a:t>
            </a:r>
            <a:endParaRPr lang="en-US" sz="1200" noProof="1"/>
          </a:p>
        </p:txBody>
      </p:sp>
      <p:sp>
        <p:nvSpPr>
          <p:cNvPr id="18" name="th-lb"/>
          <p:cNvSpPr txBox="1"/>
          <p:nvPr/>
        </p:nvSpPr>
        <p:spPr>
          <a:xfrm>
            <a:off x="9093200" y="3048000"/>
            <a:ext cx="381000" cy="2032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θ</a:t>
            </a:r>
            <a:endParaRPr lang="en-US" sz="1300" noProof="1"/>
          </a:p>
        </p:txBody>
      </p:sp>
      <p:sp>
        <p:nvSpPr>
          <p:cNvPr id="19" name="dia-cap"/>
          <p:cNvSpPr txBox="1"/>
          <p:nvPr/>
        </p:nvSpPr>
        <p:spPr>
          <a:xfrm>
            <a:off x="7747000" y="3810000"/>
            <a:ext cx="3810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斜边 d = 缝间距；绿色段 = 相邻光线的</a:t>
            </a:r>
            <a:endParaRPr lang="en-US" sz="1100" noProof="1"/>
          </a:p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路程差 nλ；sinθ = nλ ÷ d。</a:t>
            </a:r>
            <a:endParaRPr lang="en-US" sz="1100" noProof="1"/>
          </a:p>
        </p:txBody>
      </p:sp>
      <p:sp>
        <p:nvSpPr>
          <p:cNvPr id="20" name="app-box"/>
          <p:cNvSpPr/>
          <p:nvPr/>
        </p:nvSpPr>
        <p:spPr>
          <a:xfrm>
            <a:off x="7747000" y="4927600"/>
            <a:ext cx="3810000" cy="7112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21" name="app-body"/>
          <p:cNvSpPr txBox="1"/>
          <p:nvPr/>
        </p:nvSpPr>
        <p:spPr>
          <a:xfrm>
            <a:off x="7924800" y="5016500"/>
            <a:ext cx="34544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200" noProof="1" b="1">
                <a:solidFill>
                  <a:srgbClr val="22303A"/>
                </a:solidFill>
                <a:latin typeface="MiSans"/>
                <a:ea typeface="MiSans"/>
              </a:rPr>
              <a:t>应用：</a:t>
            </a:r>
            <a:r>
              <a:rPr lang="en-US" sz="1200" noProof="1">
                <a:solidFill>
                  <a:srgbClr val="22303A"/>
                </a:solidFill>
                <a:latin typeface="MiSans"/>
                <a:ea typeface="MiSans"/>
              </a:rPr>
              <a:t>恒星光谱（线吸收谱定元素）、X 射线晶体衍射（测原子间距）。</a:t>
            </a:r>
            <a:endParaRPr lang="en-US" sz="1200" noProof="1"/>
          </a:p>
        </p:txBody>
      </p:sp>
      <p:sp>
        <p:nvSpPr>
          <p:cNvPr id="22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3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8 叠加</a:t>
            </a:r>
            <a:endParaRPr lang="en-US" sz="1000" noProof="1"/>
          </a:p>
        </p:txBody>
      </p:sp>
      <p:sp>
        <p:nvSpPr>
          <p:cNvPr id="24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11</a:t>
            </a:r>
            <a:endParaRPr lang="en-US" sz="10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WORKED EXAMPLE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综合例题：双缝 + 光栅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Fringe spacing, then order angles and the maximum order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q-box"/>
          <p:cNvSpPr/>
          <p:nvPr/>
        </p:nvSpPr>
        <p:spPr>
          <a:xfrm>
            <a:off x="762000" y="1625600"/>
            <a:ext cx="10668000" cy="9144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7" name="q-body"/>
          <p:cNvSpPr txBox="1"/>
          <p:nvPr/>
        </p:nvSpPr>
        <p:spPr>
          <a:xfrm>
            <a:off x="965200" y="1727200"/>
            <a:ext cx="102616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(a) 激光 λ = 630 nm 通过间距 a = 0.25 mm 的双缝，屏距 D = 1.8 m。求相邻亮纹间距 x。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(b) 光栅每毫米 500 条缝，用 λ = 550 nm 的光照射。求二级亮纹的角度 θ₂ 和能观察到的最高级数。</a:t>
            </a:r>
            <a:endParaRPr lang="en-US" sz="1300" noProof="1"/>
          </a:p>
        </p:txBody>
      </p:sp>
      <p:sp>
        <p:nvSpPr>
          <p:cNvPr id="8" name="a-h"/>
          <p:cNvSpPr txBox="1"/>
          <p:nvPr/>
        </p:nvSpPr>
        <p:spPr>
          <a:xfrm>
            <a:off x="762000" y="2794000"/>
            <a:ext cx="5461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(a) 双缝条纹间距</a:t>
            </a:r>
            <a:endParaRPr lang="en-US" sz="1500" noProof="1"/>
          </a:p>
        </p:txBody>
      </p:sp>
      <p:sp>
        <p:nvSpPr>
          <p:cNvPr id="9" name="a-body"/>
          <p:cNvSpPr txBox="1"/>
          <p:nvPr/>
        </p:nvSpPr>
        <p:spPr>
          <a:xfrm>
            <a:off x="762000" y="3149600"/>
            <a:ext cx="5461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由 λ = ax/D 得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x = λD/a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x = 630×10⁻⁹ × 1.8 / (0.25×10⁻³)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x = 4.54×10⁻³ m ≈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4.5 mm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✓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6E6A62"/>
                </a:solidFill>
                <a:latin typeface="MiSans"/>
                <a:ea typeface="MiSans"/>
              </a:rPr>
              <a:t>nm → m 是 10⁻⁹，mm → m 是 10⁻³，别混。</a:t>
            </a:r>
            <a:endParaRPr lang="en-US" sz="1350" noProof="1"/>
          </a:p>
        </p:txBody>
      </p:sp>
      <p:sp>
        <p:nvSpPr>
          <p:cNvPr id="10" name="b-h"/>
          <p:cNvSpPr txBox="1"/>
          <p:nvPr/>
        </p:nvSpPr>
        <p:spPr>
          <a:xfrm>
            <a:off x="6858000" y="27940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(b) 光栅方程</a:t>
            </a:r>
            <a:endParaRPr lang="en-US" sz="1500" noProof="1"/>
          </a:p>
        </p:txBody>
      </p:sp>
      <p:sp>
        <p:nvSpPr>
          <p:cNvPr id="11" name="b-body"/>
          <p:cNvSpPr txBox="1"/>
          <p:nvPr/>
        </p:nvSpPr>
        <p:spPr>
          <a:xfrm>
            <a:off x="6858000" y="3149600"/>
            <a:ext cx="45720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d = 1/500 mm =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2.0×10⁻⁶ m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sinθ₂ = 2λ/d = 2×550×10⁻⁹ / 2.0×10⁻⁶ = 0.55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θ₂ =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33.4°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✓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最高级数：n ≤ d/λ = 3.64 →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n_max = 3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✓</a:t>
            </a:r>
            <a:endParaRPr lang="en-US" sz="1350" noProof="1"/>
          </a:p>
        </p:txBody>
      </p:sp>
      <p:sp>
        <p:nvSpPr>
          <p:cNvPr id="12" name="tip-box"/>
          <p:cNvSpPr/>
          <p:nvPr/>
        </p:nvSpPr>
        <p:spPr>
          <a:xfrm>
            <a:off x="762000" y="5461000"/>
            <a:ext cx="10668000" cy="7366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3" name="tip-body"/>
          <p:cNvSpPr txBox="1"/>
          <p:nvPr/>
        </p:nvSpPr>
        <p:spPr>
          <a:xfrm>
            <a:off x="965200" y="5549900"/>
            <a:ext cx="10261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提示：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(a) sanity check——条纹间距几毫米量级才合理；(b) "每毫米 N 缝"先换算 d 再代公式；最高级数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向下取整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，验证第 4 级 sinθ = 1.1 &gt; 1 不存在。</a:t>
            </a:r>
            <a:endParaRPr lang="en-US" sz="1250" noProof="1"/>
          </a:p>
        </p:txBody>
      </p:sp>
      <p:sp>
        <p:nvSpPr>
          <p:cNvPr id="14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5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8 叠加</a:t>
            </a:r>
            <a:endParaRPr lang="en-US" sz="1000" noProof="1"/>
          </a:p>
        </p:txBody>
      </p:sp>
      <p:sp>
        <p:nvSpPr>
          <p:cNvPr id="16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12</a:t>
            </a:r>
            <a:endParaRPr lang="en-US" sz="10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YOUR TURN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课堂练习：三道题过关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Stationary waves · double slit · diffraction grating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q1-badge"/>
          <p:cNvSpPr/>
          <p:nvPr/>
        </p:nvSpPr>
        <p:spPr>
          <a:xfrm>
            <a:off x="762000" y="1727200"/>
            <a:ext cx="431800" cy="4318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7" name="q1-badge-t"/>
          <p:cNvSpPr txBox="1"/>
          <p:nvPr/>
        </p:nvSpPr>
        <p:spPr>
          <a:xfrm>
            <a:off x="762000" y="1727200"/>
            <a:ext cx="43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MiSans"/>
                <a:ea typeface="MiSans"/>
              </a:rPr>
              <a:t>Q1</a:t>
            </a:r>
            <a:endParaRPr lang="en-US" sz="1400" noProof="1"/>
          </a:p>
        </p:txBody>
      </p:sp>
      <p:sp>
        <p:nvSpPr>
          <p:cNvPr id="8" name="q1-tag"/>
          <p:cNvSpPr txBox="1"/>
          <p:nvPr/>
        </p:nvSpPr>
        <p:spPr>
          <a:xfrm>
            <a:off x="1346200" y="17526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驻波与谐频</a:t>
            </a:r>
            <a:endParaRPr lang="en-US" sz="1500" noProof="1"/>
          </a:p>
        </p:txBody>
      </p:sp>
      <p:sp>
        <p:nvSpPr>
          <p:cNvPr id="9" name="q1-body"/>
          <p:cNvSpPr txBox="1"/>
          <p:nvPr/>
        </p:nvSpPr>
        <p:spPr>
          <a:xfrm>
            <a:off x="1346200" y="2057400"/>
            <a:ext cx="100838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一根 0.80 m 的弦以基频 150 Hz 振动。(a) 求弦上波的波长与波速；(b) 第三谐频的频率是多少？此时有几个波腹、几个波节？</a:t>
            </a:r>
            <a:endParaRPr lang="en-US" sz="1350" noProof="1"/>
          </a:p>
        </p:txBody>
      </p:sp>
      <p:sp>
        <p:nvSpPr>
          <p:cNvPr id="10" name="q2-badge"/>
          <p:cNvSpPr/>
          <p:nvPr/>
        </p:nvSpPr>
        <p:spPr>
          <a:xfrm>
            <a:off x="762000" y="2997200"/>
            <a:ext cx="431800" cy="4318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1" name="q2-badge-t"/>
          <p:cNvSpPr txBox="1"/>
          <p:nvPr/>
        </p:nvSpPr>
        <p:spPr>
          <a:xfrm>
            <a:off x="762000" y="2997200"/>
            <a:ext cx="43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MiSans"/>
                <a:ea typeface="MiSans"/>
              </a:rPr>
              <a:t>Q2</a:t>
            </a:r>
            <a:endParaRPr lang="en-US" sz="1400" noProof="1"/>
          </a:p>
        </p:txBody>
      </p:sp>
      <p:sp>
        <p:nvSpPr>
          <p:cNvPr id="12" name="q2-tag"/>
          <p:cNvSpPr txBox="1"/>
          <p:nvPr/>
        </p:nvSpPr>
        <p:spPr>
          <a:xfrm>
            <a:off x="1346200" y="30226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双缝干涉</a:t>
            </a:r>
            <a:endParaRPr lang="en-US" sz="1500" noProof="1"/>
          </a:p>
        </p:txBody>
      </p:sp>
      <p:sp>
        <p:nvSpPr>
          <p:cNvPr id="13" name="q2-body"/>
          <p:cNvSpPr txBox="1"/>
          <p:nvPr/>
        </p:nvSpPr>
        <p:spPr>
          <a:xfrm>
            <a:off x="1346200" y="3327400"/>
            <a:ext cx="10083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双缝间距 a = 0.30 mm，缝到屏 D = 1.5 m，测得相邻亮纹间距 x = 3.3 mm。求光的波长（用 nm 表示），并判断大致是什么颜色。</a:t>
            </a:r>
            <a:endParaRPr lang="en-US" sz="1350" noProof="1"/>
          </a:p>
        </p:txBody>
      </p:sp>
      <p:sp>
        <p:nvSpPr>
          <p:cNvPr id="14" name="q3-badge"/>
          <p:cNvSpPr/>
          <p:nvPr/>
        </p:nvSpPr>
        <p:spPr>
          <a:xfrm>
            <a:off x="762000" y="4216400"/>
            <a:ext cx="431800" cy="4318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5" name="q3-badge-t"/>
          <p:cNvSpPr txBox="1"/>
          <p:nvPr/>
        </p:nvSpPr>
        <p:spPr>
          <a:xfrm>
            <a:off x="762000" y="4216400"/>
            <a:ext cx="43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MiSans"/>
                <a:ea typeface="MiSans"/>
              </a:rPr>
              <a:t>Q3</a:t>
            </a:r>
            <a:endParaRPr lang="en-US" sz="1400" noProof="1"/>
          </a:p>
        </p:txBody>
      </p:sp>
      <p:sp>
        <p:nvSpPr>
          <p:cNvPr id="16" name="q3-tag"/>
          <p:cNvSpPr txBox="1"/>
          <p:nvPr/>
        </p:nvSpPr>
        <p:spPr>
          <a:xfrm>
            <a:off x="1346200" y="42418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光栅最高级数</a:t>
            </a:r>
            <a:endParaRPr lang="en-US" sz="1500" noProof="1"/>
          </a:p>
        </p:txBody>
      </p:sp>
      <p:sp>
        <p:nvSpPr>
          <p:cNvPr id="17" name="q3-body"/>
          <p:cNvSpPr txBox="1"/>
          <p:nvPr/>
        </p:nvSpPr>
        <p:spPr>
          <a:xfrm>
            <a:off x="1346200" y="4546600"/>
            <a:ext cx="10083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光栅每毫米 400 条缝，用 λ = 600 nm 的光照射。求能观察到的最高级数 n_max 及其对应角度。</a:t>
            </a:r>
            <a:endParaRPr lang="en-US" sz="1350" noProof="1"/>
          </a:p>
        </p:txBody>
      </p:sp>
      <p:sp>
        <p:nvSpPr>
          <p:cNvPr id="18" name="std-box"/>
          <p:cNvSpPr/>
          <p:nvPr/>
        </p:nvSpPr>
        <p:spPr>
          <a:xfrm>
            <a:off x="762000" y="5461000"/>
            <a:ext cx="10668000" cy="7874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9" name="std-body"/>
          <p:cNvSpPr txBox="1"/>
          <p:nvPr/>
        </p:nvSpPr>
        <p:spPr>
          <a:xfrm>
            <a:off x="965200" y="5562600"/>
            <a:ext cx="102616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完成标准：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计算题写清公式 → 代入 → 数值 + 单位；Q1(b) 波腹波节数都要答；Q3 必须说明"sinθ ≤ 1 所以向下取整"。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建议用时 12 分钟，做完翻页对答案。</a:t>
            </a:r>
            <a:endParaRPr lang="en-US" sz="1250" noProof="1"/>
          </a:p>
        </p:txBody>
      </p:sp>
      <p:sp>
        <p:nvSpPr>
          <p:cNvPr id="20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1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8 叠加</a:t>
            </a:r>
            <a:endParaRPr lang="en-US" sz="1000" noProof="1"/>
          </a:p>
        </p:txBody>
      </p:sp>
      <p:sp>
        <p:nvSpPr>
          <p:cNvPr id="22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13</a:t>
            </a:r>
            <a:endParaRPr lang="en-US" sz="10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FEEDBACK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练习讲评：答案与错因排查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Answers, marking points, and the traps behind each error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25400"/>
          </a:xfrm>
          <a:prstGeom prst="rect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6" name="a1-tag"/>
          <p:cNvSpPr txBox="1"/>
          <p:nvPr/>
        </p:nvSpPr>
        <p:spPr>
          <a:xfrm>
            <a:off x="762000" y="1651000"/>
            <a:ext cx="406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Q1 · 驻波与谐频</a:t>
            </a:r>
            <a:endParaRPr lang="en-US" sz="1500" noProof="1"/>
          </a:p>
        </p:txBody>
      </p:sp>
      <p:sp>
        <p:nvSpPr>
          <p:cNvPr id="7" name="a1-body"/>
          <p:cNvSpPr txBox="1"/>
          <p:nvPr/>
        </p:nvSpPr>
        <p:spPr>
          <a:xfrm>
            <a:off x="762000" y="1955800"/>
            <a:ext cx="59690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(a) 基频：L = λ/2 → λ = 2L =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1.6 m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　 v = fλ = 150 × 1.6 =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240 m/s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(b) f₃ = 3 × 150 =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450 Hz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；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3 个波腹、4 个波节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C96F16"/>
                </a:solidFill>
                <a:latin typeface="MiSans"/>
                <a:ea typeface="MiSans"/>
              </a:rPr>
              <a:t>错因：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把 L 当成 λ；波节数忘 +1。</a:t>
            </a:r>
            <a:endParaRPr lang="en-US" sz="1250" noProof="1"/>
          </a:p>
        </p:txBody>
      </p:sp>
      <p:sp>
        <p:nvSpPr>
          <p:cNvPr id="8" name="a2-tag"/>
          <p:cNvSpPr txBox="1"/>
          <p:nvPr/>
        </p:nvSpPr>
        <p:spPr>
          <a:xfrm>
            <a:off x="762000" y="3276600"/>
            <a:ext cx="406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Q2 · 双缝干涉</a:t>
            </a:r>
            <a:endParaRPr lang="en-US" sz="1500" noProof="1"/>
          </a:p>
        </p:txBody>
      </p:sp>
      <p:sp>
        <p:nvSpPr>
          <p:cNvPr id="9" name="a2-body"/>
          <p:cNvSpPr txBox="1"/>
          <p:nvPr/>
        </p:nvSpPr>
        <p:spPr>
          <a:xfrm>
            <a:off x="762000" y="3581400"/>
            <a:ext cx="5969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λ = ax/D = (3.0×10⁻⁴ × 3.3×10⁻³) / 1.5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λ = 6.6×10⁻⁷ m =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660 nm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 →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红光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C96F16"/>
                </a:solidFill>
                <a:latin typeface="MiSans"/>
                <a:ea typeface="MiSans"/>
              </a:rPr>
              <a:t>错因：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x 与 a 颠倒；mm/nm 换算错。</a:t>
            </a:r>
            <a:endParaRPr lang="en-US" sz="1250" noProof="1"/>
          </a:p>
        </p:txBody>
      </p:sp>
      <p:sp>
        <p:nvSpPr>
          <p:cNvPr id="10" name="a3-tag"/>
          <p:cNvSpPr txBox="1"/>
          <p:nvPr/>
        </p:nvSpPr>
        <p:spPr>
          <a:xfrm>
            <a:off x="762000" y="4749800"/>
            <a:ext cx="406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Q3 · 光栅最高级数</a:t>
            </a:r>
            <a:endParaRPr lang="en-US" sz="1500" noProof="1"/>
          </a:p>
        </p:txBody>
      </p:sp>
      <p:sp>
        <p:nvSpPr>
          <p:cNvPr id="11" name="a3-body"/>
          <p:cNvSpPr txBox="1"/>
          <p:nvPr/>
        </p:nvSpPr>
        <p:spPr>
          <a:xfrm>
            <a:off x="762000" y="5054600"/>
            <a:ext cx="59690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d = 1/400 mm = 2.5×10⁻⁶ m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n ≤ d/λ = 4.17 →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n_max = 4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sinθ₄ = 4 × 600×10⁻⁹ / 2.5×10⁻⁶ = 0.96 → θ₄ =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73.7°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C96F16"/>
                </a:solidFill>
                <a:latin typeface="MiSans"/>
                <a:ea typeface="MiSans"/>
              </a:rPr>
              <a:t>错因：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d 换算错；n 向上取整成 5。</a:t>
            </a:r>
            <a:endParaRPr lang="en-US" sz="1250" noProof="1"/>
          </a:p>
        </p:txBody>
      </p:sp>
      <p:sp>
        <p:nvSpPr>
          <p:cNvPr id="12" name="rule-v"/>
          <p:cNvSpPr/>
          <p:nvPr/>
        </p:nvSpPr>
        <p:spPr>
          <a:xfrm>
            <a:off x="7061200" y="1651000"/>
            <a:ext cx="19050" cy="45720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3" name="chk-tag"/>
          <p:cNvSpPr txBox="1"/>
          <p:nvPr/>
        </p:nvSpPr>
        <p:spPr>
          <a:xfrm>
            <a:off x="7366000" y="1651000"/>
            <a:ext cx="406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自查清单 Marking checklist</a:t>
            </a:r>
            <a:endParaRPr lang="en-US" sz="1500" noProof="1"/>
          </a:p>
        </p:txBody>
      </p:sp>
      <p:sp>
        <p:nvSpPr>
          <p:cNvPr id="14" name="chk-body"/>
          <p:cNvSpPr txBox="1"/>
          <p:nvPr/>
        </p:nvSpPr>
        <p:spPr>
          <a:xfrm>
            <a:off x="7366000" y="2006600"/>
            <a:ext cx="4064000" cy="254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□ 公式先写符号式，再代数字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□ 驻波：先写 L = nλ/2 定 λ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□ nm、mm 一律换成 m 再代入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□ "每毫米 N 缝" → d = 10⁻³/N m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□ 最高级数向下取整并说明理由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□ 有效数字 2–3 位，单位齐全</a:t>
            </a:r>
            <a:endParaRPr lang="en-US" sz="1250" noProof="1"/>
          </a:p>
        </p:txBody>
      </p:sp>
      <p:sp>
        <p:nvSpPr>
          <p:cNvPr id="15" name="chk-box"/>
          <p:cNvSpPr/>
          <p:nvPr/>
        </p:nvSpPr>
        <p:spPr>
          <a:xfrm>
            <a:off x="7366000" y="4749800"/>
            <a:ext cx="4064000" cy="14732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6" name="chk-box-t"/>
          <p:cNvSpPr txBox="1"/>
          <p:nvPr/>
        </p:nvSpPr>
        <p:spPr>
          <a:xfrm>
            <a:off x="7569200" y="4876800"/>
            <a:ext cx="36576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评分参考：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Q1 共 4 分，Q2 共 3 分，Q3 共 3 分（换算 1 + 取整 1 + 角度 1）。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拿到 8/10 以上即可进入下一章。</a:t>
            </a:r>
            <a:endParaRPr lang="en-US" sz="1250" noProof="1"/>
          </a:p>
        </p:txBody>
      </p:sp>
      <p:sp>
        <p:nvSpPr>
          <p:cNvPr id="17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8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8 叠加</a:t>
            </a:r>
            <a:endParaRPr lang="en-US" sz="1000" noProof="1"/>
          </a:p>
        </p:txBody>
      </p:sp>
      <p:sp>
        <p:nvSpPr>
          <p:cNvPr id="19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14</a:t>
            </a:r>
            <a:endParaRPr lang="en-US" sz="100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SUMMARY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本章小结：叠加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Superposition · five takeaways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s-body"/>
          <p:cNvSpPr txBox="1"/>
          <p:nvPr/>
        </p:nvSpPr>
        <p:spPr>
          <a:xfrm>
            <a:off x="762000" y="1676400"/>
            <a:ext cx="7112000" cy="381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1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叠加原理：合位移 = 各波位移的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矢量和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；同相 → 相长，反相 → 相消。</a:t>
            </a:r>
            <a:endParaRPr lang="en-US" sz="1350" noProof="1"/>
          </a:p>
          <a:p>
            <a:pPr>
              <a:lnSpc>
                <a:spcPct val="160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2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驻波 = 两列同 f/λ/A 反向行波叠加，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不传能量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；波节间距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λ/2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；f₁ = (1/2L)√(T/μ)，第 n 谐频 = n·f₁。</a:t>
            </a:r>
            <a:endParaRPr lang="en-US" sz="1350" noProof="1"/>
          </a:p>
          <a:p>
            <a:pPr>
              <a:lnSpc>
                <a:spcPct val="160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3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衍射在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缝宽 ≈ 波长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时最明显；单缝图样中央亮纹双倍宽、强度向外递减。</a:t>
            </a:r>
            <a:endParaRPr lang="en-US" sz="1350" noProof="1"/>
          </a:p>
          <a:p>
            <a:pPr>
              <a:lnSpc>
                <a:spcPct val="160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4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相干 = 同频率 +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恒定相位差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；双缝亮纹 nλ、暗纹 (n+½)λ，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λ = ax/D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350" noProof="1"/>
          </a:p>
          <a:p>
            <a:pPr>
              <a:lnSpc>
                <a:spcPct val="160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5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光栅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d sinθ = nλ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（会推导）；每毫米 N 缝 → d = 10⁻³/N m；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sinθ ≤ 1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定最高级数。</a:t>
            </a:r>
            <a:endParaRPr lang="en-US" sz="1350" noProof="1"/>
          </a:p>
        </p:txBody>
      </p:sp>
      <p:sp>
        <p:nvSpPr>
          <p:cNvPr id="7" name="res-box"/>
          <p:cNvSpPr/>
          <p:nvPr/>
        </p:nvSpPr>
        <p:spPr>
          <a:xfrm>
            <a:off x="762000" y="5689600"/>
            <a:ext cx="7112000" cy="5588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8" name="res-body"/>
          <p:cNvSpPr txBox="1"/>
          <p:nvPr/>
        </p:nvSpPr>
        <p:spPr>
          <a:xfrm>
            <a:off x="965200" y="5765800"/>
            <a:ext cx="6705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22303A"/>
                </a:solidFill>
                <a:latin typeface="MiSans"/>
                <a:ea typeface="MiSans"/>
              </a:rPr>
              <a:t>配套资源：</a:t>
            </a:r>
            <a:r>
              <a:rPr lang="en-US" sz="1200" noProof="1">
                <a:solidFill>
                  <a:srgbClr val="22303A"/>
                </a:solidFill>
                <a:latin typeface="MiSans"/>
                <a:ea typeface="MiSans"/>
              </a:rPr>
              <a:t>《Topic 8 中英对照笔记》PDF / MD + 本课件；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22303A"/>
                </a:solidFill>
                <a:latin typeface="MiSans"/>
                <a:ea typeface="MiSans"/>
              </a:rPr>
              <a:t>建议先做题再回查笔记对应小节。</a:t>
            </a:r>
            <a:endParaRPr lang="en-US" sz="1200" noProof="1"/>
          </a:p>
        </p:txBody>
      </p:sp>
      <p:sp>
        <p:nvSpPr>
          <p:cNvPr id="9" name="next-rule"/>
          <p:cNvSpPr/>
          <p:nvPr/>
        </p:nvSpPr>
        <p:spPr>
          <a:xfrm>
            <a:off x="8331200" y="1676400"/>
            <a:ext cx="19050" cy="45720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0" name="next-tag"/>
          <p:cNvSpPr txBox="1"/>
          <p:nvPr/>
        </p:nvSpPr>
        <p:spPr>
          <a:xfrm>
            <a:off x="8636000" y="1676400"/>
            <a:ext cx="279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NEXT · 下一章</a:t>
            </a:r>
            <a:endParaRPr lang="en-US" sz="1500" noProof="1"/>
          </a:p>
        </p:txBody>
      </p:sp>
      <p:sp>
        <p:nvSpPr>
          <p:cNvPr id="11" name="next-title"/>
          <p:cNvSpPr txBox="1"/>
          <p:nvPr/>
        </p:nvSpPr>
        <p:spPr>
          <a:xfrm>
            <a:off x="8636000" y="2032000"/>
            <a:ext cx="2794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2000" noProof="1" b="1">
                <a:solidFill>
                  <a:srgbClr val="22303A"/>
                </a:solidFill>
                <a:latin typeface="MiSans"/>
                <a:ea typeface="MiSans"/>
              </a:rPr>
              <a:t>Topic 9</a:t>
            </a:r>
            <a:endParaRPr lang="en-US" sz="2000" noProof="1"/>
          </a:p>
          <a:p>
            <a:pPr>
              <a:lnSpc>
                <a:spcPct val="130000"/>
              </a:lnSpc>
            </a:pPr>
            <a:r>
              <a:rPr lang="en-US" sz="2000" noProof="1" b="1">
                <a:solidFill>
                  <a:srgbClr val="22303A"/>
                </a:solidFill>
                <a:latin typeface="MiSans"/>
                <a:ea typeface="MiSans"/>
              </a:rPr>
              <a:t>Electricity 电学</a:t>
            </a:r>
            <a:endParaRPr lang="en-US" sz="2000" noProof="1"/>
          </a:p>
        </p:txBody>
      </p:sp>
      <p:sp>
        <p:nvSpPr>
          <p:cNvPr id="12" name="next-body"/>
          <p:cNvSpPr txBox="1"/>
          <p:nvPr/>
        </p:nvSpPr>
        <p:spPr>
          <a:xfrm>
            <a:off x="8636000" y="2946400"/>
            <a:ext cx="2794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电流、电压与电阻；</a:t>
            </a:r>
            <a:endParaRPr lang="en-US" sz="1100" noProof="1"/>
          </a:p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欧姆定律与 I-V 图象；</a:t>
            </a:r>
            <a:endParaRPr lang="en-US" sz="1100" noProof="1"/>
          </a:p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电阻率与电功率。</a:t>
            </a:r>
            <a:endParaRPr lang="en-US" sz="1100" noProof="1"/>
          </a:p>
        </p:txBody>
      </p:sp>
      <p:sp>
        <p:nvSpPr>
          <p:cNvPr id="13" name="next-hint"/>
          <p:cNvSpPr txBox="1"/>
          <p:nvPr/>
        </p:nvSpPr>
        <p:spPr>
          <a:xfrm>
            <a:off x="8636000" y="4826000"/>
            <a:ext cx="279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6E6A62"/>
                </a:solidFill>
                <a:latin typeface="MiSans"/>
                <a:ea typeface="MiSans"/>
              </a:rPr>
              <a:t>回复"继续"，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6E6A62"/>
                </a:solidFill>
                <a:latin typeface="MiSans"/>
                <a:ea typeface="MiSans"/>
              </a:rPr>
              <a:t>即开始制作第九章资料。</a:t>
            </a:r>
            <a:endParaRPr lang="en-US" sz="1200" noProof="1"/>
          </a:p>
        </p:txBody>
      </p:sp>
      <p:sp>
        <p:nvSpPr>
          <p:cNvPr id="14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5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8 叠加</a:t>
            </a:r>
            <a:endParaRPr lang="en-US" sz="1000" noProof="1"/>
          </a:p>
        </p:txBody>
      </p:sp>
      <p:sp>
        <p:nvSpPr>
          <p:cNvPr id="16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15</a:t>
            </a:r>
            <a:endParaRPr lang="en-US" sz="1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15</Slides>
</Properties>
</file>

<file path=docProps/core.xml><?xml version="1.0" encoding="utf-8"?>
<cp:coreProperties xmlns:dc="http://purl.org/dc/elements/1.1/" xmlns:cp="http://schemas.openxmlformats.org/package/2006/metadata/core-properties">
  <dc:title>Topic8_Superposition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