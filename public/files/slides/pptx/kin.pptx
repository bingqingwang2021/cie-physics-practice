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2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运动学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Kinematics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v = u + at  ·  s = ½(u+v)t  ·  s = ut + ½at²  ·  v² = u² + 2as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匀加速四公式 —— 本章的计算核心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2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definitions to projectiles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五个核心量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distance / displacement / speed / velocity / acceleration——定义、标矢量属性一次分清。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Five key quantities · scalar vs vector revisited from Topic 1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运动图像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s-t、v-t、a-t 三种图：谁看斜率、谁看面积，瞬时速度怎么从图上读。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Gradients and areas · instantaneous velocity from a tangent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匀加速四公式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从 v-t 图推导四个 suvat 公式，学会"列清单选公式"的解题策略。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Deriving and choosing v = u + at family of equations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自由落体与抛物线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实验测 g（光门 + 线性化作图），初步认识抛物线运动的分量思想。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Measuring g with light gates · projectile motion as components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看到运动图像能说出斜率和面积的含义；看到匀加速题能列出 s/u/v/a/t 清单并选中正确公式；能复述测 g 实验的步骤与数据处理。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EQUATIONS OF MOTION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五个核心量：先把“谁是谁”说清楚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Distance, displacement, speed, velocity, acceleration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main-table"/>
          <p:cNvGraphicFramePr>
            <a:graphicFrameLocks noGrp="1"/>
          </p:cNvGraphicFramePr>
          <p:nvPr/>
        </p:nvGraphicFramePr>
        <p:xfrm>
          <a:off x="762000" y="1651000"/>
          <a:ext cx="10668000" cy="3200400"/>
        </p:xfrm>
        <a:graphic>
          <a:graphicData uri="http://schemas.openxmlformats.org/drawingml/2006/table">
            <a:tbl>
              <a:tblPr/>
              <a:tblGrid>
                <a:gridCol w="2133600"/>
                <a:gridCol w="1493520"/>
                <a:gridCol w="4267200"/>
                <a:gridCol w="2773680"/>
              </a:tblGrid>
              <a:tr h="4800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物理量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定义 Definition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备注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5440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distance 距离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标量 scalar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物体走过的路程（amount of ground covered）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永不为负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displacement (s) 位移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矢量 vector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从起点到终点的直线距离，带方向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可为负（方向）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5440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speed 速率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标量 scalar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单位时间走过的距离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永不为负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velocity (v) 速度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矢量 vector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位移的变化率 v = Δs/Δt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带方向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5440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acceleration (a) 加速度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矢量 vector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速度的变化率 a = Δv/Δt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匀加速 = a 恒定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ink-note"/>
          <p:cNvSpPr txBox="1"/>
          <p:nvPr/>
        </p:nvSpPr>
        <p:spPr>
          <a:xfrm>
            <a:off x="762000" y="5029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uniform acceleration 匀加速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：物体的加速度保持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恒定不变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——本章所有公式的前提条件。</a:t>
            </a:r>
            <a:endParaRPr lang="en-US" sz="1350" noProof="1"/>
          </a:p>
        </p:txBody>
      </p:sp>
      <p:sp>
        <p:nvSpPr>
          <p:cNvPr id="8" name="tip-box"/>
          <p:cNvSpPr/>
          <p:nvPr/>
        </p:nvSpPr>
        <p:spPr>
          <a:xfrm>
            <a:off x="762000" y="5613400"/>
            <a:ext cx="10668000" cy="609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tip-text"/>
          <p:cNvSpPr txBox="1"/>
          <p:nvPr/>
        </p:nvSpPr>
        <p:spPr>
          <a:xfrm>
            <a:off x="965200" y="57023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承接 Topic 1：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distance/displacement、speed/velocity 正是上一章的标量/矢量“孪生词”陷阱。跑完一圈回到起点：distance = 400 m，displacement = 0。</a:t>
            </a:r>
            <a:endParaRPr lang="en-US" sz="1250" noProof="1"/>
          </a:p>
        </p:txBody>
      </p:sp>
      <p:sp>
        <p:nvSpPr>
          <p:cNvPr id="1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MOTION GRAPHS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三种运动图像：斜率往下走，面积往回走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Gradients and areas of s-t, v-t and a-t graphs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graph-table"/>
          <p:cNvGraphicFramePr>
            <a:graphicFrameLocks noGrp="1"/>
          </p:cNvGraphicFramePr>
          <p:nvPr/>
        </p:nvGraphicFramePr>
        <p:xfrm>
          <a:off x="762000" y="1651000"/>
          <a:ext cx="10668000" cy="1879600"/>
        </p:xfrm>
        <a:graphic>
          <a:graphicData uri="http://schemas.openxmlformats.org/drawingml/2006/table">
            <a:tbl>
              <a:tblPr/>
              <a:tblGrid>
                <a:gridCol w="3200400"/>
                <a:gridCol w="3520440"/>
                <a:gridCol w="3947160"/>
              </a:tblGrid>
              <a:tr h="4511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图像 Graph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斜率 Gradient =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图下面积 Area =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47553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位移-时间 s-t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速度 velocity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（无物理意义）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53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速度-时间 v-t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加速度 acceleration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位移 displacement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7741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加速度-时间 a-t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（无物理意义）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速度变化量 Δv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nem-box"/>
          <p:cNvSpPr/>
          <p:nvPr/>
        </p:nvSpPr>
        <p:spPr>
          <a:xfrm>
            <a:off x="762000" y="3759200"/>
            <a:ext cx="10668000" cy="812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8" name="mnem-text"/>
          <p:cNvSpPr txBox="1"/>
          <p:nvPr/>
        </p:nvSpPr>
        <p:spPr>
          <a:xfrm>
            <a:off x="965200" y="38608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记忆框架：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沿 s → v → a 方向每走一步是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求斜率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；反方向 a → v → s 每走一步是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求面积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 algn="l">
              <a:lnSpc>
                <a:spcPct val="15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一张表记住六条关系，考试直接在草稿纸上默写这张表。</a:t>
            </a:r>
            <a:endParaRPr lang="en-US" sz="1350" noProof="1"/>
          </a:p>
        </p:txBody>
      </p:sp>
      <p:sp>
        <p:nvSpPr>
          <p:cNvPr id="9" name="neg-head"/>
          <p:cNvSpPr txBox="1"/>
          <p:nvPr/>
        </p:nvSpPr>
        <p:spPr>
          <a:xfrm>
            <a:off x="762000" y="4800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标量图像不会“掉下”时间轴</a:t>
            </a:r>
            <a:endParaRPr lang="en-US" sz="1500" noProof="1"/>
          </a:p>
        </p:txBody>
      </p:sp>
      <p:sp>
        <p:nvSpPr>
          <p:cNvPr id="10" name="neg-body"/>
          <p:cNvSpPr txBox="1"/>
          <p:nvPr/>
        </p:nvSpPr>
        <p:spPr>
          <a:xfrm>
            <a:off x="762000" y="51562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distance-time 与 speed-time 图像中，distance 和 speed 是标量，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永远不会取负值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而 displacement、velocity 的图线可以落到时间轴下方——负值表示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反方向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运动。</a:t>
            </a:r>
            <a:endParaRPr lang="en-US" sz="1350" noProof="1"/>
          </a:p>
        </p:txBody>
      </p:sp>
      <p:sp>
        <p:nvSpPr>
          <p:cNvPr id="1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VELOCITY-TIME GRAPHS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v-t 图：斜率是加速度，面积是位移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The single most important graph in kinematics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ex1-head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斜率 Gradient → 加速度</a:t>
            </a:r>
            <a:endParaRPr lang="en-US" sz="1500" noProof="1"/>
          </a:p>
        </p:txBody>
      </p:sp>
      <p:sp>
        <p:nvSpPr>
          <p:cNvPr id="7" name="ex1-body"/>
          <p:cNvSpPr txBox="1"/>
          <p:nvPr/>
        </p:nvSpPr>
        <p:spPr>
          <a:xfrm>
            <a:off x="762000" y="2057400"/>
            <a:ext cx="5969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a = Δv/Δt，正是 v-t 图斜率的定义。线越陡，加速度越大；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水平线 = 匀速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；下坡线 = 减速。</a:t>
            </a:r>
            <a:endParaRPr lang="en-US" sz="1350" noProof="1"/>
          </a:p>
        </p:txBody>
      </p:sp>
      <p:sp>
        <p:nvSpPr>
          <p:cNvPr id="8" name="ex2-head"/>
          <p:cNvSpPr txBox="1"/>
          <p:nvPr/>
        </p:nvSpPr>
        <p:spPr>
          <a:xfrm>
            <a:off x="762000" y="3048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面积 Area → 位移</a:t>
            </a:r>
            <a:endParaRPr lang="en-US" sz="1500" noProof="1"/>
          </a:p>
        </p:txBody>
      </p:sp>
      <p:sp>
        <p:nvSpPr>
          <p:cNvPr id="9" name="ex2-body"/>
          <p:cNvSpPr txBox="1"/>
          <p:nvPr/>
        </p:nvSpPr>
        <p:spPr>
          <a:xfrm>
            <a:off x="762000" y="3403600"/>
            <a:ext cx="5969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图线与时间轴之间的面积 = 位移 s。常拆成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矩形 + 三角形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分别计算再相加——匀加速公式的推导就靠它。</a:t>
            </a:r>
            <a:endParaRPr lang="en-US" sz="1350" noProof="1"/>
          </a:p>
        </p:txBody>
      </p:sp>
      <p:sp>
        <p:nvSpPr>
          <p:cNvPr id="10" name="ex3-body"/>
          <p:cNvSpPr txBox="1"/>
          <p:nvPr/>
        </p:nvSpPr>
        <p:spPr>
          <a:xfrm>
            <a:off x="762000" y="43942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考试提示：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给出 v-t 图求位移时，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不要套公式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，直接数格子或拆几何图形算面积，又快又准。</a:t>
            </a:r>
            <a:endParaRPr lang="en-US" sz="1250" noProof="1"/>
          </a:p>
        </p:txBody>
      </p:sp>
      <p:sp>
        <p:nvSpPr>
          <p:cNvPr id="11" name="axis-y"/>
          <p:cNvSpPr/>
          <p:nvPr>
            <p:extLst>
              <p:ext uri="{F5677B7D-0D2A-4D9B-9A5C-6D8D7D0E5A5D}">
                <pptd:line encoding="base64url">eyJ2aWV3Qm94IjpbNCwyNjBdLCJwb2ludHMiOiIyLDI2MCAyLDAiLCJjdXJ2ZSI6InNoYXJwIn0</pptd:line>
              </p:ext>
            </p:extLst>
          </p:nvPr>
        </p:nvSpPr>
        <p:spPr>
          <a:xfrm>
            <a:off x="7594600" y="16256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4" h="260">
                <a:moveTo>
                  <a:pt x="2" y="26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2" name="axis-x"/>
          <p:cNvSpPr/>
          <p:nvPr>
            <p:extLst>
              <p:ext uri="{F5677B7D-0D2A-4D9B-9A5C-6D8D7D0E5A5D}">
                <pptd:line encoding="base64url">eyJ2aWV3Qm94IjpbMjkwLDRdLCJwb2ludHMiOiIwLDIgMjkwLDIiLCJjdXJ2ZSI6InNoYXJwIn0</pptd:line>
              </p:ext>
            </p:extLst>
          </p:nvPr>
        </p:nvSpPr>
        <p:spPr>
          <a:xfrm>
            <a:off x="7594600" y="4876800"/>
            <a:ext cx="3683000" cy="50800"/>
          </a:xfrm>
          <a:custGeom>
            <a:avLst/>
            <a:gdLst/>
            <a:ahLst/>
            <a:cxnLst/>
            <a:rect l="l" t="t" r="r" b="b"/>
            <a:pathLst>
              <a:path w="290" h="4">
                <a:moveTo>
                  <a:pt x="0" y="2"/>
                </a:moveTo>
                <a:lnTo>
                  <a:pt x="29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3" name="area-shade"/>
          <p:cNvSpPr/>
          <p:nvPr/>
        </p:nvSpPr>
        <p:spPr>
          <a:xfrm>
            <a:off x="7620000" y="2286000"/>
            <a:ext cx="3302000" cy="2590800"/>
          </a:xfrm>
          <a:custGeom>
            <a:avLst/>
            <a:gdLst/>
            <a:ahLst/>
            <a:cxnLst/>
            <a:rect l="l" t="t" r="r" b="b"/>
            <a:pathLst>
              <a:path w="260" h="204">
                <a:moveTo>
                  <a:pt x="0" y="204"/>
                </a:moveTo>
                <a:lnTo>
                  <a:pt x="0" y="140"/>
                </a:lnTo>
                <a:lnTo>
                  <a:pt x="260" y="0"/>
                </a:lnTo>
                <a:lnTo>
                  <a:pt x="260" y="204"/>
                </a:lnTo>
                <a:close/>
              </a:path>
            </a:pathLst>
          </a:custGeom>
          <a:solidFill>
            <a:srgbClr val="0E5A55">
              <a:alpha val="14902"/>
            </a:srgbClr>
          </a:solidFill>
          <a:ln>
            <a:noFill/>
          </a:ln>
        </p:spPr>
      </p:sp>
      <p:sp>
        <p:nvSpPr>
          <p:cNvPr id="14" name="vline"/>
          <p:cNvSpPr/>
          <p:nvPr>
            <p:extLst>
              <p:ext uri="{F5677B7D-0D2A-4D9B-9A5C-6D8D7D0E5A5D}">
                <pptd:line encoding="base64url">eyJ2aWV3Qm94IjpbMjYwLDE0MF0sInBvaW50cyI6IjAsMTQwIDI2MCwwIiwiY3VydmUiOiJzaGFycCJ9</pptd:line>
              </p:ext>
            </p:extLst>
          </p:nvPr>
        </p:nvSpPr>
        <p:spPr>
          <a:xfrm>
            <a:off x="7620000" y="2286000"/>
            <a:ext cx="3302000" cy="1778000"/>
          </a:xfrm>
          <a:custGeom>
            <a:avLst/>
            <a:gdLst/>
            <a:ahLst/>
            <a:cxnLst/>
            <a:rect l="l" t="t" r="r" b="b"/>
            <a:pathLst>
              <a:path w="260" h="140">
                <a:moveTo>
                  <a:pt x="0" y="140"/>
                </a:moveTo>
                <a:lnTo>
                  <a:pt x="260" y="0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15" name="lb-v"/>
          <p:cNvSpPr txBox="1"/>
          <p:nvPr/>
        </p:nvSpPr>
        <p:spPr>
          <a:xfrm>
            <a:off x="7061200" y="1625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</a:t>
            </a:r>
            <a:endParaRPr lang="en-US" sz="1300" noProof="1"/>
          </a:p>
        </p:txBody>
      </p:sp>
      <p:sp>
        <p:nvSpPr>
          <p:cNvPr id="16" name="lb-t"/>
          <p:cNvSpPr txBox="1"/>
          <p:nvPr/>
        </p:nvSpPr>
        <p:spPr>
          <a:xfrm>
            <a:off x="11226800" y="4978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t</a:t>
            </a:r>
            <a:endParaRPr lang="en-US" sz="1300" noProof="1"/>
          </a:p>
        </p:txBody>
      </p:sp>
      <p:sp>
        <p:nvSpPr>
          <p:cNvPr id="17" name="lb-u"/>
          <p:cNvSpPr txBox="1"/>
          <p:nvPr/>
        </p:nvSpPr>
        <p:spPr>
          <a:xfrm>
            <a:off x="7112000" y="3886200"/>
            <a:ext cx="43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0E5A55"/>
                </a:solidFill>
                <a:latin typeface="MiSans"/>
                <a:ea typeface="MiSans"/>
              </a:rPr>
              <a:t>u</a:t>
            </a:r>
            <a:endParaRPr lang="en-US" sz="1250" noProof="1"/>
          </a:p>
        </p:txBody>
      </p:sp>
      <p:sp>
        <p:nvSpPr>
          <p:cNvPr id="18" name="lb-vv"/>
          <p:cNvSpPr txBox="1"/>
          <p:nvPr/>
        </p:nvSpPr>
        <p:spPr>
          <a:xfrm>
            <a:off x="10871200" y="20066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0E5A55"/>
                </a:solidFill>
                <a:latin typeface="MiSans"/>
                <a:ea typeface="MiSans"/>
              </a:rPr>
              <a:t>v</a:t>
            </a:r>
            <a:endParaRPr lang="en-US" sz="1250" noProof="1"/>
          </a:p>
        </p:txBody>
      </p:sp>
      <p:sp>
        <p:nvSpPr>
          <p:cNvPr id="19" name="lb-grad"/>
          <p:cNvSpPr txBox="1"/>
          <p:nvPr/>
        </p:nvSpPr>
        <p:spPr>
          <a:xfrm>
            <a:off x="8890000" y="2489200"/>
            <a:ext cx="2413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斜率 = a</a:t>
            </a:r>
            <a:endParaRPr lang="en-US" sz="1250" noProof="1"/>
          </a:p>
        </p:txBody>
      </p:sp>
      <p:sp>
        <p:nvSpPr>
          <p:cNvPr id="20" name="lb-area"/>
          <p:cNvSpPr txBox="1"/>
          <p:nvPr/>
        </p:nvSpPr>
        <p:spPr>
          <a:xfrm>
            <a:off x="8890000" y="4191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面积 = s</a:t>
            </a:r>
            <a:endParaRPr lang="en-US" sz="1250" noProof="1"/>
          </a:p>
        </p:txBody>
      </p:sp>
      <p:sp>
        <p:nvSpPr>
          <p:cNvPr id="21" name="graph-caption"/>
          <p:cNvSpPr txBox="1"/>
          <p:nvPr/>
        </p:nvSpPr>
        <p:spPr>
          <a:xfrm>
            <a:off x="7366000" y="53340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匀加速运动的 v-t 图：从 u 直线升到 v，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阴影梯形面积 = 位移 s = ½(u+v)t</a:t>
            </a:r>
            <a:endParaRPr lang="en-US" sz="1100" noProof="1"/>
          </a:p>
        </p:txBody>
      </p:sp>
      <p:sp>
        <p:nvSpPr>
          <p:cNvPr id="2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INSTANTANEOUS VELOCITY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瞬时速度：在 s-t 图上画一条切线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Velocity at one instant = gradient of the tangent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dy"/>
          <p:cNvSpPr txBox="1"/>
          <p:nvPr/>
        </p:nvSpPr>
        <p:spPr>
          <a:xfrm>
            <a:off x="762000" y="17018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瞬时速度 instantaneous velocity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：物体在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某一具体时刻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的速度。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当运动不是匀速时，s-t 图是一条曲线，斜率时刻在变——怎么办？</a:t>
            </a:r>
            <a:endParaRPr lang="en-US" sz="1350" noProof="1"/>
          </a:p>
        </p:txBody>
      </p:sp>
      <p:sp>
        <p:nvSpPr>
          <p:cNvPr id="7" name="how-head"/>
          <p:cNvSpPr txBox="1"/>
          <p:nvPr/>
        </p:nvSpPr>
        <p:spPr>
          <a:xfrm>
            <a:off x="762000" y="29972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操作三步走</a:t>
            </a:r>
            <a:endParaRPr lang="en-US" sz="1500" noProof="1"/>
          </a:p>
        </p:txBody>
      </p:sp>
      <p:sp>
        <p:nvSpPr>
          <p:cNvPr id="8" name="how-body"/>
          <p:cNvSpPr txBox="1"/>
          <p:nvPr/>
        </p:nvSpPr>
        <p:spPr>
          <a:xfrm>
            <a:off x="762000" y="3352800"/>
            <a:ext cx="609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在曲线上找到目标时刻对应的点；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用直尺在该点作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切线（tangent）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——只接触、不穿过曲线；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③ 取切线上相距较远的两点，算切线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斜率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= 瞬时速度。</a:t>
            </a:r>
            <a:endParaRPr lang="en-US" sz="1350" noProof="1"/>
          </a:p>
        </p:txBody>
      </p:sp>
      <p:sp>
        <p:nvSpPr>
          <p:cNvPr id="9" name="warn-body"/>
          <p:cNvSpPr txBox="1"/>
          <p:nvPr/>
        </p:nvSpPr>
        <p:spPr>
          <a:xfrm>
            <a:off x="762000" y="50292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不要用原点与目标点连线求斜率——那得到的是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平均速度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。切线两点取得越远，结果越准。</a:t>
            </a:r>
            <a:endParaRPr lang="en-US" sz="1250" noProof="1"/>
          </a:p>
        </p:txBody>
      </p:sp>
      <p:sp>
        <p:nvSpPr>
          <p:cNvPr id="10" name="axis-y"/>
          <p:cNvSpPr/>
          <p:nvPr>
            <p:extLst>
              <p:ext uri="{F5677B7D-0D2A-4D9B-9A5C-6D8D7D0E5A5D}">
                <pptd:line encoding="base64url">eyJ2aWV3Qm94IjpbNCwyNjBdLCJwb2ludHMiOiIyLDI2MCAyLDAiLCJjdXJ2ZSI6InNoYXJwIn0</pptd:line>
              </p:ext>
            </p:extLst>
          </p:nvPr>
        </p:nvSpPr>
        <p:spPr>
          <a:xfrm>
            <a:off x="7594600" y="16256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4" h="260">
                <a:moveTo>
                  <a:pt x="2" y="26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1" name="axis-x"/>
          <p:cNvSpPr/>
          <p:nvPr>
            <p:extLst>
              <p:ext uri="{F5677B7D-0D2A-4D9B-9A5C-6D8D7D0E5A5D}">
                <pptd:line encoding="base64url">eyJ2aWV3Qm94IjpbMjkwLDRdLCJwb2ludHMiOiIwLDIgMjkwLDIiLCJjdXJ2ZSI6InNoYXJwIn0</pptd:line>
              </p:ext>
            </p:extLst>
          </p:nvPr>
        </p:nvSpPr>
        <p:spPr>
          <a:xfrm>
            <a:off x="7594600" y="4876800"/>
            <a:ext cx="3683000" cy="50800"/>
          </a:xfrm>
          <a:custGeom>
            <a:avLst/>
            <a:gdLst/>
            <a:ahLst/>
            <a:cxnLst/>
            <a:rect l="l" t="t" r="r" b="b"/>
            <a:pathLst>
              <a:path w="290" h="4">
                <a:moveTo>
                  <a:pt x="0" y="2"/>
                </a:moveTo>
                <a:lnTo>
                  <a:pt x="29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2" name="lb-s"/>
          <p:cNvSpPr txBox="1"/>
          <p:nvPr/>
        </p:nvSpPr>
        <p:spPr>
          <a:xfrm>
            <a:off x="7086600" y="1625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s</a:t>
            </a:r>
            <a:endParaRPr lang="en-US" sz="1300" noProof="1"/>
          </a:p>
        </p:txBody>
      </p:sp>
      <p:sp>
        <p:nvSpPr>
          <p:cNvPr id="13" name="lb-t"/>
          <p:cNvSpPr txBox="1"/>
          <p:nvPr/>
        </p:nvSpPr>
        <p:spPr>
          <a:xfrm>
            <a:off x="11226800" y="4978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t</a:t>
            </a:r>
            <a:endParaRPr lang="en-US" sz="1300" noProof="1"/>
          </a:p>
        </p:txBody>
      </p:sp>
      <p:sp>
        <p:nvSpPr>
          <p:cNvPr id="14" name="curve"/>
          <p:cNvSpPr/>
          <p:nvPr>
            <p:extLst>
              <p:ext uri="{F5677B7D-0D2A-4D9B-9A5C-6D8D7D0E5A5D}">
                <pptd:line encoding="base64url">eyJ2aWV3Qm94IjpbMjYwLDIyNF0sInBvaW50cyI6IjAsMjI0IDYwLDE1MCAxNjAsNjQgMjYwLDE0IiwiY3VydmUiOiJzbW9vdGgifQ</pptd:line>
              </p:ext>
            </p:extLst>
          </p:nvPr>
        </p:nvSpPr>
        <p:spPr>
          <a:xfrm>
            <a:off x="7620000" y="2032000"/>
            <a:ext cx="3302000" cy="2844800"/>
          </a:xfrm>
          <a:custGeom>
            <a:avLst/>
            <a:gdLst/>
            <a:ahLst/>
            <a:cxnLst/>
            <a:rect l="l" t="t" r="r" b="b"/>
            <a:pathLst>
              <a:path w="260" h="224">
                <a:moveTo>
                  <a:pt x="0" y="224"/>
                </a:moveTo>
                <a:cubicBezTo>
                  <a:pt x="60" y="150"/>
                  <a:pt x="160" y="64"/>
                  <a:pt x="260" y="14"/>
                </a:cubicBezTo>
              </a:path>
            </a:pathLst>
          </a:custGeom>
          <a:noFill/>
          <a:ln w="38100" cap="rnd">
            <a:solidFill>
              <a:srgbClr val="0E5A55"/>
            </a:solidFill>
            <a:round/>
          </a:ln>
        </p:spPr>
      </p:sp>
      <p:sp>
        <p:nvSpPr>
          <p:cNvPr id="15" name="tangent"/>
          <p:cNvSpPr/>
          <p:nvPr>
            <p:extLst>
              <p:ext uri="{F5677B7D-0D2A-4D9B-9A5C-6D8D7D0E5A5D}">
                <pptd:line encoding="base64url">eyJ2aWV3Qm94IjpbMTQwLDExMl0sInBvaW50cyI6IjAsMTEyIDE0MCwwIiwiY3VydmUiOiJzaGFycCJ9</pptd:line>
              </p:ext>
            </p:extLst>
          </p:nvPr>
        </p:nvSpPr>
        <p:spPr>
          <a:xfrm>
            <a:off x="8763000" y="2082800"/>
            <a:ext cx="1778000" cy="1422400"/>
          </a:xfrm>
          <a:custGeom>
            <a:avLst/>
            <a:gdLst/>
            <a:ahLst/>
            <a:cxnLst/>
            <a:rect l="l" t="t" r="r" b="b"/>
            <a:pathLst>
              <a:path w="140" h="112">
                <a:moveTo>
                  <a:pt x="0" y="112"/>
                </a:moveTo>
                <a:lnTo>
                  <a:pt x="140" y="0"/>
                </a:lnTo>
              </a:path>
            </a:pathLst>
          </a:custGeom>
          <a:noFill/>
          <a:ln w="25400">
            <a:solidFill>
              <a:srgbClr val="C96F16"/>
            </a:solidFill>
            <a:prstDash val="dash"/>
          </a:ln>
        </p:spPr>
      </p:sp>
      <p:sp>
        <p:nvSpPr>
          <p:cNvPr id="16" name="touch-dot"/>
          <p:cNvSpPr/>
          <p:nvPr/>
        </p:nvSpPr>
        <p:spPr>
          <a:xfrm>
            <a:off x="9575800" y="2717800"/>
            <a:ext cx="127000" cy="1270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lb-tangent"/>
          <p:cNvSpPr txBox="1"/>
          <p:nvPr/>
        </p:nvSpPr>
        <p:spPr>
          <a:xfrm>
            <a:off x="8737600" y="1778000"/>
            <a:ext cx="2286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切线 tangent</a:t>
            </a:r>
            <a:endParaRPr lang="en-US" sz="1200" noProof="1"/>
          </a:p>
        </p:txBody>
      </p:sp>
      <p:sp>
        <p:nvSpPr>
          <p:cNvPr id="18" name="lb-point"/>
          <p:cNvSpPr txBox="1"/>
          <p:nvPr/>
        </p:nvSpPr>
        <p:spPr>
          <a:xfrm>
            <a:off x="9753600" y="28956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目标时刻的点</a:t>
            </a:r>
            <a:endParaRPr lang="en-US" sz="1200" noProof="1"/>
          </a:p>
        </p:txBody>
      </p:sp>
      <p:sp>
        <p:nvSpPr>
          <p:cNvPr id="19" name="graph-caption"/>
          <p:cNvSpPr txBox="1"/>
          <p:nvPr/>
        </p:nvSpPr>
        <p:spPr>
          <a:xfrm>
            <a:off x="7366000" y="53340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曲线表示非匀速运动；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切线斜率 = 该时刻的瞬时速度</a:t>
            </a:r>
            <a:endParaRPr lang="en-US" sz="110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DERIVATION 推导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四个公式，全部从一张 v-t 图里长出来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Deriving the suvat equations from one velocity-time graph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1-head"/>
          <p:cNvSpPr txBox="1"/>
          <p:nvPr/>
        </p:nvSpPr>
        <p:spPr>
          <a:xfrm>
            <a:off x="762000" y="1651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 面积法：s = ½(u+v)t</a:t>
            </a:r>
            <a:endParaRPr lang="en-US" sz="1400" noProof="1"/>
          </a:p>
        </p:txBody>
      </p:sp>
      <p:sp>
        <p:nvSpPr>
          <p:cNvPr id="7" name="d1-body"/>
          <p:cNvSpPr txBox="1"/>
          <p:nvPr/>
        </p:nvSpPr>
        <p:spPr>
          <a:xfrm>
            <a:off x="762000" y="19812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图下面积 = 矩形 + 三角形：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s = ut + ½·t·(v−u) = ut + ½vt − ½ut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s = ½(u + v)t</a:t>
            </a:r>
            <a:endParaRPr lang="en-US" sz="1250" noProof="1"/>
          </a:p>
        </p:txBody>
      </p:sp>
      <p:sp>
        <p:nvSpPr>
          <p:cNvPr id="8" name="d2-head"/>
          <p:cNvSpPr txBox="1"/>
          <p:nvPr/>
        </p:nvSpPr>
        <p:spPr>
          <a:xfrm>
            <a:off x="762000" y="2895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 斜率法：v = u + at</a:t>
            </a:r>
            <a:endParaRPr lang="en-US" sz="1400" noProof="1"/>
          </a:p>
        </p:txBody>
      </p:sp>
      <p:sp>
        <p:nvSpPr>
          <p:cNvPr id="9" name="d2-body"/>
          <p:cNvSpPr txBox="1"/>
          <p:nvPr/>
        </p:nvSpPr>
        <p:spPr>
          <a:xfrm>
            <a:off x="762000" y="3225800"/>
            <a:ext cx="533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a = (v−u)/t，整理得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v = u + at</a:t>
            </a:r>
            <a:endParaRPr lang="en-US" sz="1250" noProof="1"/>
          </a:p>
        </p:txBody>
      </p:sp>
      <p:sp>
        <p:nvSpPr>
          <p:cNvPr id="10" name="d3-head"/>
          <p:cNvSpPr txBox="1"/>
          <p:nvPr/>
        </p:nvSpPr>
        <p:spPr>
          <a:xfrm>
            <a:off x="762000" y="3886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 消去 v：s = ut + ½at²</a:t>
            </a:r>
            <a:endParaRPr lang="en-US" sz="1400" noProof="1"/>
          </a:p>
        </p:txBody>
      </p:sp>
      <p:sp>
        <p:nvSpPr>
          <p:cNvPr id="11" name="d3-body"/>
          <p:cNvSpPr txBox="1"/>
          <p:nvPr/>
        </p:nvSpPr>
        <p:spPr>
          <a:xfrm>
            <a:off x="762000" y="4216400"/>
            <a:ext cx="533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把 v = u + at 代入 ①：s = ut + ½t(at)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s = ut + ½at²</a:t>
            </a:r>
            <a:endParaRPr lang="en-US" sz="1250" noProof="1"/>
          </a:p>
        </p:txBody>
      </p:sp>
      <p:sp>
        <p:nvSpPr>
          <p:cNvPr id="12" name="d4-head"/>
          <p:cNvSpPr txBox="1"/>
          <p:nvPr/>
        </p:nvSpPr>
        <p:spPr>
          <a:xfrm>
            <a:off x="762000" y="48768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 消去 t：v² = u² + 2as</a:t>
            </a:r>
            <a:endParaRPr lang="en-US" sz="1400" noProof="1"/>
          </a:p>
        </p:txBody>
      </p:sp>
      <p:sp>
        <p:nvSpPr>
          <p:cNvPr id="13" name="d4-body"/>
          <p:cNvSpPr txBox="1"/>
          <p:nvPr/>
        </p:nvSpPr>
        <p:spPr>
          <a:xfrm>
            <a:off x="762000" y="52070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由 ② 得 t = (v−u)/a，代入 ①：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s = ½(u+v)·(v−u)/a = (v²−u²)/2a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v² = u² + 2as</a:t>
            </a:r>
            <a:endParaRPr lang="en-US" sz="1250" noProof="1"/>
          </a:p>
        </p:txBody>
      </p:sp>
      <p:sp>
        <p:nvSpPr>
          <p:cNvPr id="14" name="axis-y"/>
          <p:cNvSpPr/>
          <p:nvPr>
            <p:extLst>
              <p:ext uri="{F5677B7D-0D2A-4D9B-9A5C-6D8D7D0E5A5D}">
                <pptd:line encoding="base64url">eyJ2aWV3Qm94IjpbNCwyMzBdLCJwb2ludHMiOiIyLDIzMCAyLDAiLCJjdXJ2ZSI6InNoYXJwIn0</pptd:line>
              </p:ext>
            </p:extLst>
          </p:nvPr>
        </p:nvSpPr>
        <p:spPr>
          <a:xfrm>
            <a:off x="6959600" y="1778000"/>
            <a:ext cx="50800" cy="2921000"/>
          </a:xfrm>
          <a:custGeom>
            <a:avLst/>
            <a:gdLst/>
            <a:ahLst/>
            <a:cxnLst/>
            <a:rect l="l" t="t" r="r" b="b"/>
            <a:pathLst>
              <a:path w="4" h="230">
                <a:moveTo>
                  <a:pt x="2" y="23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5" name="axis-x"/>
          <p:cNvSpPr/>
          <p:nvPr>
            <p:extLst>
              <p:ext uri="{F5677B7D-0D2A-4D9B-9A5C-6D8D7D0E5A5D}">
                <pptd:line encoding="base64url">eyJ2aWV3Qm94IjpbMjYwLDRdLCJwb2ludHMiOiIwLDIgMjYwLDIiLCJjdXJ2ZSI6InNoYXJwIn0</pptd:line>
              </p:ext>
            </p:extLst>
          </p:nvPr>
        </p:nvSpPr>
        <p:spPr>
          <a:xfrm>
            <a:off x="6959600" y="4648200"/>
            <a:ext cx="3302000" cy="50800"/>
          </a:xfrm>
          <a:custGeom>
            <a:avLst/>
            <a:gdLst/>
            <a:ahLst/>
            <a:cxnLst/>
            <a:rect l="l" t="t" r="r" b="b"/>
            <a:pathLst>
              <a:path w="260" h="4">
                <a:moveTo>
                  <a:pt x="0" y="2"/>
                </a:moveTo>
                <a:lnTo>
                  <a:pt x="26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6" name="area-rect"/>
          <p:cNvSpPr/>
          <p:nvPr/>
        </p:nvSpPr>
        <p:spPr>
          <a:xfrm>
            <a:off x="6985000" y="3352800"/>
            <a:ext cx="2794000" cy="1295400"/>
          </a:xfrm>
          <a:prstGeom prst="rect">
            <a:avLst/>
          </a:prstGeom>
          <a:solidFill>
            <a:srgbClr val="0E5A55">
              <a:alpha val="14902"/>
            </a:srgbClr>
          </a:solidFill>
          <a:ln>
            <a:noFill/>
          </a:ln>
        </p:spPr>
      </p:sp>
      <p:sp>
        <p:nvSpPr>
          <p:cNvPr id="17" name="area-tri"/>
          <p:cNvSpPr/>
          <p:nvPr/>
        </p:nvSpPr>
        <p:spPr>
          <a:xfrm>
            <a:off x="6985000" y="2336800"/>
            <a:ext cx="2794000" cy="1016000"/>
          </a:xfrm>
          <a:custGeom>
            <a:avLst/>
            <a:gdLst/>
            <a:ahLst/>
            <a:cxnLst/>
            <a:rect l="l" t="t" r="r" b="b"/>
            <a:pathLst>
              <a:path w="220" h="80">
                <a:moveTo>
                  <a:pt x="0" y="80"/>
                </a:moveTo>
                <a:lnTo>
                  <a:pt x="220" y="0"/>
                </a:lnTo>
                <a:lnTo>
                  <a:pt x="220" y="80"/>
                </a:lnTo>
                <a:close/>
              </a:path>
            </a:pathLst>
          </a:custGeom>
          <a:solidFill>
            <a:srgbClr val="C96F16">
              <a:alpha val="20000"/>
            </a:srgbClr>
          </a:solidFill>
          <a:ln>
            <a:noFill/>
          </a:ln>
        </p:spPr>
      </p:sp>
      <p:sp>
        <p:nvSpPr>
          <p:cNvPr id="18" name="vline"/>
          <p:cNvSpPr/>
          <p:nvPr>
            <p:extLst>
              <p:ext uri="{F5677B7D-0D2A-4D9B-9A5C-6D8D7D0E5A5D}">
                <pptd:line encoding="base64url">eyJ2aWV3Qm94IjpbMjIwLDgwXSwicG9pbnRzIjoiMCw4MCAyMjAsMCIsImN1cnZlIjoic2hhcnAifQ</pptd:line>
              </p:ext>
            </p:extLst>
          </p:nvPr>
        </p:nvSpPr>
        <p:spPr>
          <a:xfrm>
            <a:off x="6985000" y="2336800"/>
            <a:ext cx="2794000" cy="1016000"/>
          </a:xfrm>
          <a:custGeom>
            <a:avLst/>
            <a:gdLst/>
            <a:ahLst/>
            <a:cxnLst/>
            <a:rect l="l" t="t" r="r" b="b"/>
            <a:pathLst>
              <a:path w="220" h="80">
                <a:moveTo>
                  <a:pt x="0" y="80"/>
                </a:moveTo>
                <a:lnTo>
                  <a:pt x="220" y="0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19" name="lb-u"/>
          <p:cNvSpPr txBox="1"/>
          <p:nvPr/>
        </p:nvSpPr>
        <p:spPr>
          <a:xfrm>
            <a:off x="6527800" y="32004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0E5A55"/>
                </a:solidFill>
                <a:latin typeface="MiSans"/>
                <a:ea typeface="MiSans"/>
              </a:rPr>
              <a:t>u</a:t>
            </a:r>
            <a:endParaRPr lang="en-US" sz="1250" noProof="1"/>
          </a:p>
        </p:txBody>
      </p:sp>
      <p:sp>
        <p:nvSpPr>
          <p:cNvPr id="20" name="lb-v"/>
          <p:cNvSpPr txBox="1"/>
          <p:nvPr/>
        </p:nvSpPr>
        <p:spPr>
          <a:xfrm>
            <a:off x="9779000" y="2057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0E5A55"/>
                </a:solidFill>
                <a:latin typeface="MiSans"/>
                <a:ea typeface="MiSans"/>
              </a:rPr>
              <a:t>v</a:t>
            </a:r>
            <a:endParaRPr lang="en-US" sz="1250" noProof="1"/>
          </a:p>
        </p:txBody>
      </p:sp>
      <p:sp>
        <p:nvSpPr>
          <p:cNvPr id="21" name="lb-t"/>
          <p:cNvSpPr txBox="1"/>
          <p:nvPr/>
        </p:nvSpPr>
        <p:spPr>
          <a:xfrm>
            <a:off x="10160000" y="4749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t</a:t>
            </a:r>
            <a:endParaRPr lang="en-US" sz="1250" noProof="1"/>
          </a:p>
        </p:txBody>
      </p:sp>
      <p:sp>
        <p:nvSpPr>
          <p:cNvPr id="22" name="lb-rect"/>
          <p:cNvSpPr txBox="1"/>
          <p:nvPr/>
        </p:nvSpPr>
        <p:spPr>
          <a:xfrm>
            <a:off x="78740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0E5A55"/>
                </a:solidFill>
                <a:latin typeface="MiSans"/>
                <a:ea typeface="MiSans"/>
              </a:rPr>
              <a:t>矩形 = ut</a:t>
            </a:r>
            <a:endParaRPr lang="en-US" sz="1150" noProof="1"/>
          </a:p>
        </p:txBody>
      </p:sp>
      <p:sp>
        <p:nvSpPr>
          <p:cNvPr id="23" name="lb-tri"/>
          <p:cNvSpPr txBox="1"/>
          <p:nvPr/>
        </p:nvSpPr>
        <p:spPr>
          <a:xfrm>
            <a:off x="7874000" y="2667000"/>
            <a:ext cx="1651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C96F16"/>
                </a:solidFill>
                <a:latin typeface="MiSans"/>
                <a:ea typeface="MiSans"/>
              </a:rPr>
              <a:t>三角形 = ½t(v−u)</a:t>
            </a:r>
            <a:endParaRPr lang="en-US" sz="1150" noProof="1"/>
          </a:p>
        </p:txBody>
      </p:sp>
      <p:sp>
        <p:nvSpPr>
          <p:cNvPr id="24" name="graph-caption"/>
          <p:cNvSpPr txBox="1"/>
          <p:nvPr/>
        </p:nvSpPr>
        <p:spPr>
          <a:xfrm>
            <a:off x="6731000" y="5334000"/>
            <a:ext cx="393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位移 = 绿色矩形 + 橙色三角形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这就是公式 ① 的全部来历</a:t>
            </a:r>
            <a:endParaRPr lang="en-US" sz="1100" noProof="1"/>
          </a:p>
        </p:txBody>
      </p:sp>
      <p:sp>
        <p:nvSpPr>
          <p:cNvPr id="2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THE SUVAT EQUATIONS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选公式的秘诀：每个公式都“缺一个量”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List what you know, pick the equation that hides the rest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formula-table"/>
          <p:cNvGraphicFramePr>
            <a:graphicFrameLocks noGrp="1"/>
          </p:cNvGraphicFramePr>
          <p:nvPr/>
        </p:nvGraphicFramePr>
        <p:xfrm>
          <a:off x="762000" y="1651000"/>
          <a:ext cx="6096000" cy="2794000"/>
        </p:xfrm>
        <a:graphic>
          <a:graphicData uri="http://schemas.openxmlformats.org/drawingml/2006/table">
            <a:tbl>
              <a:tblPr/>
              <a:tblGrid>
                <a:gridCol w="3352800"/>
                <a:gridCol w="2743200"/>
              </a:tblGrid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公式 Equation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不含的量 Missing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v = u + 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不含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s = ½(u + v)t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不含 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s = ut + ½at²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不含 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v² = u² + 2as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不含 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</a:tbl>
          </a:graphicData>
        </a:graphic>
      </p:graphicFrame>
      <p:sp>
        <p:nvSpPr>
          <p:cNvPr id="7" name="symbols-note"/>
          <p:cNvSpPr txBox="1"/>
          <p:nvPr/>
        </p:nvSpPr>
        <p:spPr>
          <a:xfrm>
            <a:off x="762000" y="4597400"/>
            <a:ext cx="609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s = 位移 displacement　u = 初速度　v = 末速度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a = 加速度　t = 时间　前提：匀加速 uniform acceleration</a:t>
            </a:r>
            <a:endParaRPr lang="en-US" sz="1100" noProof="1"/>
          </a:p>
        </p:txBody>
      </p:sp>
      <p:sp>
        <p:nvSpPr>
          <p:cNvPr id="8" name="mid-rule"/>
          <p:cNvSpPr/>
          <p:nvPr/>
        </p:nvSpPr>
        <p:spPr>
          <a:xfrm>
            <a:off x="7366000" y="1676400"/>
            <a:ext cx="12700" cy="3429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strat-head"/>
          <p:cNvSpPr txBox="1"/>
          <p:nvPr/>
        </p:nvSpPr>
        <p:spPr>
          <a:xfrm>
            <a:off x="7721600" y="1651000"/>
            <a:ext cx="3708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解题策略：列清单</a:t>
            </a:r>
            <a:endParaRPr lang="en-US" sz="1500" noProof="1"/>
          </a:p>
        </p:txBody>
      </p:sp>
      <p:sp>
        <p:nvSpPr>
          <p:cNvPr id="10" name="strat-body"/>
          <p:cNvSpPr txBox="1"/>
          <p:nvPr/>
        </p:nvSpPr>
        <p:spPr>
          <a:xfrm>
            <a:off x="7721600" y="2057400"/>
            <a:ext cx="37084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① 读题，把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s / u / v / a / t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五个量列出来；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② 标出已知量和待求量；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③ 找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只含一个未知量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的公式——“缺的那个量”正好是题目没给的；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④ 代入求解，带单位作答。</a:t>
            </a:r>
            <a:endParaRPr lang="en-US" sz="1300" noProof="1"/>
          </a:p>
        </p:txBody>
      </p:sp>
      <p:sp>
        <p:nvSpPr>
          <p:cNvPr id="11" name="strat-eg"/>
          <p:cNvSpPr/>
          <p:nvPr/>
        </p:nvSpPr>
        <p:spPr>
          <a:xfrm>
            <a:off x="7721600" y="4521200"/>
            <a:ext cx="3708400" cy="584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2" name="strat-eg-text"/>
          <p:cNvSpPr txBox="1"/>
          <p:nvPr/>
        </p:nvSpPr>
        <p:spPr>
          <a:xfrm>
            <a:off x="7874000" y="45974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例：给了 u、a、s，求 v？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缺 t → 用 v² = u² + 2as</a:t>
            </a:r>
            <a:endParaRPr lang="en-US" sz="1200" noProof="1"/>
          </a:p>
        </p:txBody>
      </p:sp>
      <p:sp>
        <p:nvSpPr>
          <p:cNvPr id="13" name="warn-box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4" name="warn-text"/>
          <p:cNvSpPr txBox="1"/>
          <p:nvPr/>
        </p:nvSpPr>
        <p:spPr>
          <a:xfrm>
            <a:off x="965200" y="55499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两个隐含条件要条件反射：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“dropped / released / from rest 由静止释放”→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u = 0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；自由落体 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a = g = 9.81 m s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。同时全题统一正方向（通常取运动方向为正）。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WORKED EXAMPLE 例题演示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完整示范：桥上落石，两步选出两个公式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stone dropped 50 m — find v and 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given-box"/>
          <p:cNvSpPr/>
          <p:nvPr/>
        </p:nvSpPr>
        <p:spPr>
          <a:xfrm>
            <a:off x="762000" y="16510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given-text"/>
          <p:cNvSpPr txBox="1"/>
          <p:nvPr/>
        </p:nvSpPr>
        <p:spPr>
          <a:xfrm>
            <a:off x="965200" y="1752600"/>
            <a:ext cx="10261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题目：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石块从高出水面 50 m 的桥上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落下（dropped）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。求入水时的末速度 v 与下落时间 t。（g = 9.81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）</a:t>
            </a:r>
            <a:endParaRPr lang="en-US" sz="1350" noProof="1"/>
          </a:p>
        </p:txBody>
      </p:sp>
      <p:sp>
        <p:nvSpPr>
          <p:cNvPr id="8" name="st0-badge"/>
          <p:cNvSpPr txBox="1"/>
          <p:nvPr/>
        </p:nvSpPr>
        <p:spPr>
          <a:xfrm>
            <a:off x="762000" y="2514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0 步</a:t>
            </a:r>
            <a:endParaRPr lang="en-US" sz="1300" noProof="1"/>
          </a:p>
        </p:txBody>
      </p:sp>
      <p:sp>
        <p:nvSpPr>
          <p:cNvPr id="9" name="st0-body"/>
          <p:cNvSpPr txBox="1"/>
          <p:nvPr/>
        </p:nvSpPr>
        <p:spPr>
          <a:xfrm>
            <a:off x="1905000" y="2489200"/>
            <a:ext cx="952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读隐含条件 + 列清单：dropped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u = 0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；自由落体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a = 9.81 m s</a:t>
            </a:r>
            <a:r>
              <a:rPr lang="en-US" sz="130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s = 50 m　u = 0　v =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?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a = 9.81 m s</a:t>
            </a:r>
            <a:r>
              <a:rPr lang="en-US" sz="130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t =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?</a:t>
            </a:r>
            <a:endParaRPr lang="en-US" sz="1300" noProof="1"/>
          </a:p>
        </p:txBody>
      </p:sp>
      <p:sp>
        <p:nvSpPr>
          <p:cNvPr id="10" name="st1-badge"/>
          <p:cNvSpPr txBox="1"/>
          <p:nvPr/>
        </p:nvSpPr>
        <p:spPr>
          <a:xfrm>
            <a:off x="762000" y="32512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1 步</a:t>
            </a:r>
            <a:endParaRPr lang="en-US" sz="1300" noProof="1"/>
          </a:p>
        </p:txBody>
      </p:sp>
      <p:sp>
        <p:nvSpPr>
          <p:cNvPr id="11" name="st1-body"/>
          <p:cNvSpPr txBox="1"/>
          <p:nvPr/>
        </p:nvSpPr>
        <p:spPr>
          <a:xfrm>
            <a:off x="1905000" y="3225800"/>
            <a:ext cx="952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求 v：题目没给 t → 选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不含 t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的公式 v² = u² + 2as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v² = 0² + 2 × 9.81 × 50 = 981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 = 31.3 m s</a:t>
            </a:r>
            <a:r>
              <a:rPr lang="en-US" sz="1300" noProof="1" b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endParaRPr lang="en-US" sz="1300" noProof="1"/>
          </a:p>
        </p:txBody>
      </p:sp>
      <p:sp>
        <p:nvSpPr>
          <p:cNvPr id="12" name="st2-badge"/>
          <p:cNvSpPr txBox="1"/>
          <p:nvPr/>
        </p:nvSpPr>
        <p:spPr>
          <a:xfrm>
            <a:off x="762000" y="39878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2 步</a:t>
            </a:r>
            <a:endParaRPr lang="en-US" sz="1300" noProof="1"/>
          </a:p>
        </p:txBody>
      </p:sp>
      <p:sp>
        <p:nvSpPr>
          <p:cNvPr id="13" name="st2-body"/>
          <p:cNvSpPr txBox="1"/>
          <p:nvPr/>
        </p:nvSpPr>
        <p:spPr>
          <a:xfrm>
            <a:off x="1905000" y="3962400"/>
            <a:ext cx="952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求 t：v 已知了，用 s = ut + ½at²（u = 0 更省事）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50 = ½ × 9.81 × t² → t² = 10.19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t = 3.19 s</a:t>
            </a:r>
            <a:endParaRPr lang="en-US" sz="1300" noProof="1"/>
          </a:p>
        </p:txBody>
      </p:sp>
      <p:sp>
        <p:nvSpPr>
          <p:cNvPr id="14" name="ans-rule"/>
          <p:cNvSpPr/>
          <p:nvPr/>
        </p:nvSpPr>
        <p:spPr>
          <a:xfrm>
            <a:off x="762000" y="4800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ans"/>
          <p:cNvSpPr txBox="1"/>
          <p:nvPr/>
        </p:nvSpPr>
        <p:spPr>
          <a:xfrm>
            <a:off x="762000" y="4978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0E5A55"/>
                </a:solidFill>
                <a:latin typeface="MiSans"/>
                <a:ea typeface="MiSans"/>
              </a:rPr>
              <a:t>答案：v = 31.3 m s⁻¹，t = 3.19 s</a:t>
            </a:r>
            <a:endParaRPr lang="en-US" sz="1700" noProof="1"/>
          </a:p>
        </p:txBody>
      </p:sp>
      <p:sp>
        <p:nvSpPr>
          <p:cNvPr id="16" name="ans-note"/>
          <p:cNvSpPr txBox="1"/>
          <p:nvPr/>
        </p:nvSpPr>
        <p:spPr>
          <a:xfrm>
            <a:off x="762000" y="55626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验算习惯：用另一个公式交叉验证——由 v = u + at 得 t = 31.3/9.81 ≈ 3.19 s ✓</a:t>
            </a:r>
            <a:endParaRPr lang="en-US" sz="1250" noProof="1"/>
          </a:p>
          <a:p>
            <a:pPr algn="ctr">
              <a:lnSpc>
                <a:spcPct val="150000"/>
              </a:lnSpc>
            </a:pPr>
            <a:r>
              <a:rPr lang="en-US" sz="1250" noProof="1">
                <a:solidFill>
                  <a:srgbClr val="6E6A62"/>
                </a:solidFill>
                <a:latin typeface="MiSans"/>
                <a:ea typeface="MiSans"/>
              </a:rPr>
              <a:t>考试中写出“公式 → 代入 → 结果 + 单位”三步，过程分才拿得全。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MEASURING g 实验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实验测 g：把曲线“拉直”，斜率就是答案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Light gates + data logger · plot 2h against t²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app-head"/>
          <p:cNvSpPr txBox="1"/>
          <p:nvPr/>
        </p:nvSpPr>
        <p:spPr>
          <a:xfrm>
            <a:off x="762000" y="1651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装置与步骤 Method</a:t>
            </a:r>
            <a:endParaRPr lang="en-US" sz="1500" noProof="1"/>
          </a:p>
        </p:txBody>
      </p:sp>
      <p:sp>
        <p:nvSpPr>
          <p:cNvPr id="7" name="app-body"/>
          <p:cNvSpPr txBox="1"/>
          <p:nvPr/>
        </p:nvSpPr>
        <p:spPr>
          <a:xfrm>
            <a:off x="762000" y="2032000"/>
            <a:ext cx="5842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器材：电磁铁、钢球、两个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光门 light gates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、数据采集器、米尺。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光门接数据采集器，上光门尽量靠近电磁铁；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调下光门使 h = 0.75 m（米尺量）；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电磁铁吸住钢球，断电释放，记录两光门间下落时间 t；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④ h 每次减 0.05 m，重复测量，直到 0.25 m；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⑤ 每个 h 重复测两次以上，取 t 的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平均值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8" name="ana-head"/>
          <p:cNvSpPr txBox="1"/>
          <p:nvPr/>
        </p:nvSpPr>
        <p:spPr>
          <a:xfrm>
            <a:off x="762000" y="51308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数据处理：线性化</a:t>
            </a:r>
            <a:endParaRPr lang="en-US" sz="1500" noProof="1"/>
          </a:p>
        </p:txBody>
      </p:sp>
      <p:sp>
        <p:nvSpPr>
          <p:cNvPr id="9" name="ana-body"/>
          <p:cNvSpPr txBox="1"/>
          <p:nvPr/>
        </p:nvSpPr>
        <p:spPr>
          <a:xfrm>
            <a:off x="762000" y="54864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由 s = ut + ½at²，代入 s = h、u = 0、a = g：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h = ½gt² 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2h = gt²</a:t>
            </a:r>
            <a:endParaRPr lang="en-US" sz="1250" noProof="1"/>
          </a:p>
        </p:txBody>
      </p:sp>
      <p:sp>
        <p:nvSpPr>
          <p:cNvPr id="10" name="axis-y"/>
          <p:cNvSpPr/>
          <p:nvPr>
            <p:extLst>
              <p:ext uri="{F5677B7D-0D2A-4D9B-9A5C-6D8D7D0E5A5D}">
                <pptd:line encoding="base64url">eyJ2aWV3Qm94IjpbNCwyNTBdLCJwb2ludHMiOiIyLDI1MCAyLDAiLCJjdXJ2ZSI6InNoYXJwIn0</pptd:line>
              </p:ext>
            </p:extLst>
          </p:nvPr>
        </p:nvSpPr>
        <p:spPr>
          <a:xfrm>
            <a:off x="7340600" y="1905000"/>
            <a:ext cx="50800" cy="3175000"/>
          </a:xfrm>
          <a:custGeom>
            <a:avLst/>
            <a:gdLst/>
            <a:ahLst/>
            <a:cxnLst/>
            <a:rect l="l" t="t" r="r" b="b"/>
            <a:pathLst>
              <a:path w="4" h="250">
                <a:moveTo>
                  <a:pt x="2" y="25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1" name="axis-x"/>
          <p:cNvSpPr/>
          <p:nvPr>
            <p:extLst>
              <p:ext uri="{F5677B7D-0D2A-4D9B-9A5C-6D8D7D0E5A5D}">
                <pptd:line encoding="base64url">eyJ2aWV3Qm94IjpbMzAwLDRdLCJwb2ludHMiOiIwLDIgMzAwLDIiLCJjdXJ2ZSI6InNoYXJwIn0</pptd:line>
              </p:ext>
            </p:extLst>
          </p:nvPr>
        </p:nvSpPr>
        <p:spPr>
          <a:xfrm>
            <a:off x="7340600" y="5029200"/>
            <a:ext cx="3810000" cy="50800"/>
          </a:xfrm>
          <a:custGeom>
            <a:avLst/>
            <a:gdLst/>
            <a:ahLst/>
            <a:cxnLst/>
            <a:rect l="l" t="t" r="r" b="b"/>
            <a:pathLst>
              <a:path w="300" h="4">
                <a:moveTo>
                  <a:pt x="0" y="2"/>
                </a:moveTo>
                <a:lnTo>
                  <a:pt x="30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2" name="lb-y"/>
          <p:cNvSpPr txBox="1"/>
          <p:nvPr/>
        </p:nvSpPr>
        <p:spPr>
          <a:xfrm>
            <a:off x="6731000" y="19050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2h</a:t>
            </a:r>
            <a:endParaRPr lang="en-US" sz="1300" noProof="1"/>
          </a:p>
        </p:txBody>
      </p:sp>
      <p:sp>
        <p:nvSpPr>
          <p:cNvPr id="13" name="lb-x"/>
          <p:cNvSpPr txBox="1"/>
          <p:nvPr/>
        </p:nvSpPr>
        <p:spPr>
          <a:xfrm>
            <a:off x="11125200" y="5130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t²</a:t>
            </a:r>
            <a:endParaRPr lang="en-US" sz="1300" noProof="1"/>
          </a:p>
        </p:txBody>
      </p:sp>
      <p:sp>
        <p:nvSpPr>
          <p:cNvPr id="14" name="fitline"/>
          <p:cNvSpPr/>
          <p:nvPr>
            <p:extLst>
              <p:ext uri="{F5677B7D-0D2A-4D9B-9A5C-6D8D7D0E5A5D}">
                <pptd:line encoding="base64url">eyJ2aWV3Qm94IjpbMjcwLDIwMF0sInBvaW50cyI6IjAsMjAwIDI3MCwwIiwiY3VydmUiOiJzaGFycCJ9</pptd:line>
              </p:ext>
            </p:extLst>
          </p:nvPr>
        </p:nvSpPr>
        <p:spPr>
          <a:xfrm>
            <a:off x="7366000" y="2489200"/>
            <a:ext cx="3429000" cy="2540000"/>
          </a:xfrm>
          <a:custGeom>
            <a:avLst/>
            <a:gdLst/>
            <a:ahLst/>
            <a:cxnLst/>
            <a:rect l="l" t="t" r="r" b="b"/>
            <a:pathLst>
              <a:path w="270" h="200">
                <a:moveTo>
                  <a:pt x="0" y="200"/>
                </a:moveTo>
                <a:lnTo>
                  <a:pt x="270" y="0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5" name="d1"/>
          <p:cNvSpPr/>
          <p:nvPr/>
        </p:nvSpPr>
        <p:spPr>
          <a:xfrm>
            <a:off x="7874000" y="43434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6" name="d2"/>
          <p:cNvSpPr/>
          <p:nvPr/>
        </p:nvSpPr>
        <p:spPr>
          <a:xfrm>
            <a:off x="8636000" y="3759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d3"/>
          <p:cNvSpPr/>
          <p:nvPr/>
        </p:nvSpPr>
        <p:spPr>
          <a:xfrm>
            <a:off x="9398000" y="32004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8" name="d4"/>
          <p:cNvSpPr/>
          <p:nvPr/>
        </p:nvSpPr>
        <p:spPr>
          <a:xfrm>
            <a:off x="10160000" y="26416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9" name="lb-grad"/>
          <p:cNvSpPr txBox="1"/>
          <p:nvPr/>
        </p:nvSpPr>
        <p:spPr>
          <a:xfrm>
            <a:off x="8382000" y="2870200"/>
            <a:ext cx="2413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斜率 gradient = g</a:t>
            </a:r>
            <a:endParaRPr lang="en-US" sz="1300" noProof="1"/>
          </a:p>
        </p:txBody>
      </p:sp>
      <p:sp>
        <p:nvSpPr>
          <p:cNvPr id="20" name="graph-caption"/>
          <p:cNvSpPr txBox="1"/>
          <p:nvPr/>
        </p:nvSpPr>
        <p:spPr>
          <a:xfrm>
            <a:off x="7112000" y="54610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以 2h 对 t²（平均值）作图得直线，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斜率直接给出重力加速度 g</a:t>
            </a:r>
            <a:endParaRPr lang="en-US" sz="1100" noProof="1"/>
          </a:p>
        </p:txBody>
      </p:sp>
      <p:sp>
        <p:nvSpPr>
          <p:cNvPr id="2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2.1 · PROJECTILE MOTION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抛物线 = 水平匀速 × 竖直匀加速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Two independent perpendicular components combined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ow-body"/>
          <p:cNvSpPr txBox="1"/>
          <p:nvPr/>
        </p:nvSpPr>
        <p:spPr>
          <a:xfrm>
            <a:off x="762000" y="1701800"/>
            <a:ext cx="584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物体在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一个方向匀速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运动，同时在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垂直方向匀加速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（重力），轨迹就是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抛物线 parabola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起初只有水平速度 v</a:t>
            </a:r>
            <a:r>
              <a:rPr lang="en-US" sz="1350" noProof="1" baseline="-25000">
                <a:solidFill>
                  <a:srgbClr val="22303A"/>
                </a:solidFill>
                <a:latin typeface="MiSans"/>
                <a:ea typeface="MiSans"/>
              </a:rPr>
              <a:t>x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；竖直速度 v</a:t>
            </a:r>
            <a:r>
              <a:rPr lang="en-US" sz="1350" noProof="1" baseline="-25000">
                <a:solidFill>
                  <a:srgbClr val="22303A"/>
                </a:solidFill>
                <a:latin typeface="MiSans"/>
                <a:ea typeface="MiSans"/>
              </a:rPr>
              <a:t>y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因重力不断增大，合速度方向随之不断偏转，且越偏越快——轨迹向下弯曲。</a:t>
            </a:r>
            <a:endParaRPr lang="en-US" sz="1350" noProof="1"/>
          </a:p>
        </p:txBody>
      </p:sp>
      <p:sp>
        <p:nvSpPr>
          <p:cNvPr id="7" name="link-box"/>
          <p:cNvSpPr/>
          <p:nvPr/>
        </p:nvSpPr>
        <p:spPr>
          <a:xfrm>
            <a:off x="762000" y="3556000"/>
            <a:ext cx="5842000" cy="1219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8" name="link-text"/>
          <p:cNvSpPr txBox="1"/>
          <p:nvPr/>
        </p:nvSpPr>
        <p:spPr>
          <a:xfrm>
            <a:off x="965200" y="3683000"/>
            <a:ext cx="5435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这正是 Topic 1 的矢量分解：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水平、竖直两个分量互相垂直、互不影响，可以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分开处理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</a:t>
            </a:r>
            <a:endParaRPr lang="en-US" sz="1250" noProof="1"/>
          </a:p>
          <a:p>
            <a:pPr algn="l"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水平方向：v</a:t>
            </a:r>
            <a:r>
              <a:rPr lang="en-US" sz="1250" noProof="1" baseline="-25000">
                <a:solidFill>
                  <a:srgbClr val="22303A"/>
                </a:solidFill>
                <a:latin typeface="MiSans"/>
                <a:ea typeface="MiSans"/>
              </a:rPr>
              <a:t>x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恒定；竖直方向：套用匀加速公式（a = g）。</a:t>
            </a:r>
            <a:endParaRPr lang="en-US" sz="1250" noProof="1"/>
          </a:p>
        </p:txBody>
      </p:sp>
      <p:sp>
        <p:nvSpPr>
          <p:cNvPr id="9" name="fwd-body"/>
          <p:cNvSpPr txBox="1"/>
          <p:nvPr/>
        </p:nvSpPr>
        <p:spPr>
          <a:xfrm>
            <a:off x="762000" y="50292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预告：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A2 阶段会系统学习抛体运动计算，本章只需理解“分量独立 + 抛物线形状”这两个要点。</a:t>
            </a:r>
            <a:endParaRPr lang="en-US" sz="1250" noProof="1"/>
          </a:p>
        </p:txBody>
      </p:sp>
      <p:sp>
        <p:nvSpPr>
          <p:cNvPr id="10" name="parabola"/>
          <p:cNvSpPr/>
          <p:nvPr>
            <p:extLst>
              <p:ext uri="{F5677B7D-0D2A-4D9B-9A5C-6D8D7D0E5A5D}">
                <pptd:line encoding="base64url">eyJ2aWV3Qm94IjpbMzAwLDI0MF0sInBvaW50cyI6IjAsMjAgMTEwLDUwIDIxMCwxMzAgMzAwLDI0MCIsImN1cnZlIjoic21vb3RoIn0</pptd:line>
              </p:ext>
            </p:extLst>
          </p:nvPr>
        </p:nvSpPr>
        <p:spPr>
          <a:xfrm>
            <a:off x="7366000" y="2032000"/>
            <a:ext cx="3810000" cy="3048000"/>
          </a:xfrm>
          <a:custGeom>
            <a:avLst/>
            <a:gdLst/>
            <a:ahLst/>
            <a:cxnLst/>
            <a:rect l="l" t="t" r="r" b="b"/>
            <a:pathLst>
              <a:path w="300" h="240">
                <a:moveTo>
                  <a:pt x="0" y="20"/>
                </a:moveTo>
                <a:cubicBezTo>
                  <a:pt x="110" y="50"/>
                  <a:pt x="210" y="130"/>
                  <a:pt x="300" y="240"/>
                </a:cubicBezTo>
              </a:path>
            </a:pathLst>
          </a:custGeom>
          <a:noFill/>
          <a:ln w="38100" cap="rnd">
            <a:solidFill>
              <a:srgbClr val="0E5A55"/>
            </a:solidFill>
            <a:round/>
          </a:ln>
        </p:spPr>
      </p:sp>
      <p:sp>
        <p:nvSpPr>
          <p:cNvPr id="11" name="start-dot"/>
          <p:cNvSpPr/>
          <p:nvPr/>
        </p:nvSpPr>
        <p:spPr>
          <a:xfrm>
            <a:off x="7289800" y="2133600"/>
            <a:ext cx="152400" cy="152400"/>
          </a:xfrm>
          <a:prstGeom prst="ellipse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2" name="vx-arrow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7442200" y="22352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25400">
            <a:solidFill>
              <a:srgbClr val="6E6A62"/>
            </a:solidFill>
            <a:tailEnd type="arrow"/>
          </a:ln>
        </p:spPr>
      </p:sp>
      <p:sp>
        <p:nvSpPr>
          <p:cNvPr id="13" name="lb-vx"/>
          <p:cNvSpPr txBox="1"/>
          <p:nvPr/>
        </p:nvSpPr>
        <p:spPr>
          <a:xfrm>
            <a:off x="7467600" y="18796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vx 恒定</a:t>
            </a:r>
            <a:endParaRPr lang="en-US" sz="1200" noProof="1"/>
          </a:p>
        </p:txBody>
      </p:sp>
      <p:sp>
        <p:nvSpPr>
          <p:cNvPr id="14" name="mid-dot"/>
          <p:cNvSpPr/>
          <p:nvPr/>
        </p:nvSpPr>
        <p:spPr>
          <a:xfrm>
            <a:off x="8686800" y="3454400"/>
            <a:ext cx="152400" cy="1524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vx2-arrow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8839200" y="35052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25400">
            <a:solidFill>
              <a:srgbClr val="6E6A62"/>
            </a:solidFill>
            <a:tailEnd type="arrow"/>
          </a:ln>
        </p:spPr>
      </p:sp>
      <p:sp>
        <p:nvSpPr>
          <p:cNvPr id="16" name="vy2-arrow"/>
          <p:cNvSpPr/>
          <p:nvPr>
            <p:extLst>
              <p:ext uri="{F5677B7D-0D2A-4D9B-9A5C-6D8D7D0E5A5D}">
                <pptd:line encoding="base64url">eyJ2aWV3Qm94IjpbNCw3MF0sInBvaW50cyI6IjIsMCAyLDcwIiwiY3VydmUiOiJzaGFycCJ9</pptd:line>
              </p:ext>
            </p:extLst>
          </p:nvPr>
        </p:nvSpPr>
        <p:spPr>
          <a:xfrm>
            <a:off x="8737600" y="3632200"/>
            <a:ext cx="50800" cy="889000"/>
          </a:xfrm>
          <a:custGeom>
            <a:avLst/>
            <a:gdLst/>
            <a:ahLst/>
            <a:cxnLst/>
            <a:rect l="l" t="t" r="r" b="b"/>
            <a:pathLst>
              <a:path w="4" h="70">
                <a:moveTo>
                  <a:pt x="2" y="0"/>
                </a:moveTo>
                <a:lnTo>
                  <a:pt x="2" y="70"/>
                </a:lnTo>
              </a:path>
            </a:pathLst>
          </a:custGeom>
          <a:noFill/>
          <a:ln w="25400">
            <a:solidFill>
              <a:srgbClr val="C96F16"/>
            </a:solidFill>
            <a:tailEnd type="arrow"/>
          </a:ln>
        </p:spPr>
      </p:sp>
      <p:sp>
        <p:nvSpPr>
          <p:cNvPr id="17" name="lb-vy"/>
          <p:cNvSpPr txBox="1"/>
          <p:nvPr/>
        </p:nvSpPr>
        <p:spPr>
          <a:xfrm>
            <a:off x="8864600" y="40640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C96F16"/>
                </a:solidFill>
                <a:latin typeface="MiSans"/>
                <a:ea typeface="MiSans"/>
              </a:rPr>
              <a:t>vy 越来越大</a:t>
            </a:r>
            <a:endParaRPr lang="en-US" sz="1200" noProof="1"/>
          </a:p>
        </p:txBody>
      </p:sp>
      <p:sp>
        <p:nvSpPr>
          <p:cNvPr id="18" name="lb-para"/>
          <p:cNvSpPr txBox="1"/>
          <p:nvPr/>
        </p:nvSpPr>
        <p:spPr>
          <a:xfrm>
            <a:off x="9779000" y="4953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抛物线 parabola</a:t>
            </a:r>
            <a:endParaRPr lang="en-US" sz="1250" noProof="1"/>
          </a:p>
        </p:txBody>
      </p:sp>
      <p:sp>
        <p:nvSpPr>
          <p:cNvPr id="19" name="graph-caption"/>
          <p:cNvSpPr txBox="1"/>
          <p:nvPr/>
        </p:nvSpPr>
        <p:spPr>
          <a:xfrm>
            <a:off x="7112000" y="53848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灰色箭头：水平分量，长度不变；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橙色箭头：竖直分量，随时间变长</a:t>
            </a:r>
            <a:endParaRPr lang="en-US" sz="110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Graphs, suvat selection, and the g experiment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【运动图像】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物体从静止出发，以 2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匀加速 5 s，随后匀速运动 5 s。画出 v-t 草图并求全程位移。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Sketch the v-t graph and find the total displacement.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【匀加速公式】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汽车从 10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匀加速到 26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，期间行驶 90 m。求加速度 a。先列出 s/u/v/a/t 清单，再说明你选择了哪个公式、为什么。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List the knowns first, then justify your choice of equation.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【测 g 实验】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在光门法测 g 的实验中，某同学以 2h 为纵轴、平均 t² 为横轴作图，测得直线斜率为 9.7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。g 的值是多少？为什么要把 2h 对 t² 作图，而不是 h 对 t 作图？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What is g, and why linearise the graph?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Q1 画图标出两段的形状与数值，位移用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面积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而不是套公式；② Q2 清单和公式选择理由缺一不可；③ Q3 第二问要答到“直线化后斜率可直接读数”。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位移 = 75 m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加速段末速度 v = at = 2 × 5 = 10 m s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。v-t 图 = 三角形（0–5 s）+ 矩形（5–10 s）。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位移 = ½ × 5 × 10 + 5 × 10 = 25 + 50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75 m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错因排查：把两段都当匀加速套公式；或忘记匀速段速度保持 10 m s</a:t>
            </a:r>
            <a:r>
              <a:rPr lang="en-US" sz="1250" noProof="1" baseline="30000">
                <a:solidFill>
                  <a:srgbClr val="C96F16"/>
                </a:solidFill>
                <a:latin typeface="MiSans"/>
                <a:ea typeface="MiSans"/>
              </a:rPr>
              <a:t>−1</a:t>
            </a: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9210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3073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a = 3.2 m s⁻²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378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清单：u = 10，v = 26，s = 90，a = ?，t 未给 → 选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不含 t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的 v² = u² + 2as。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676 − 100 = 2 × a × 90 → a = 576/180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3.2 m s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错因排查：没列清单就乱套公式；选择了含 t 的公式导致多一个未知量解不出。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368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g = 9.7 m s⁻²，线性化的价值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826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由 2h = gt²，2h 对 t² 的图是过原点直线，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斜率 = g = 9.7 m s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h 对 t 作图是曲线，无法直接读数；线性化把关系变成 y = kx，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斜率直接给出待测量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，还能一眼看出偏离直线的异常点。</a:t>
            </a:r>
            <a:endParaRPr lang="en-US" sz="1250" noProof="1"/>
          </a:p>
        </p:txBody>
      </p:sp>
      <p:sp>
        <p:nvSpPr>
          <p:cNvPr id="14" name="check-box"/>
          <p:cNvSpPr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check-text"/>
          <p:cNvSpPr txBox="1"/>
          <p:nvPr/>
        </p:nvSpPr>
        <p:spPr>
          <a:xfrm>
            <a:off x="965200" y="5880100"/>
            <a:ext cx="10261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自查口令：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图像题想“斜率还是面积”？计算题先列清单了吗？实验题线性化了吗？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离开本章前，请带走这五件事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2 checklist — graphs and equations you will use for two years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76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五个核心量脱口而出：distance/displacement、speed/velocity、acceleration，标矢量属性不混。</a:t>
            </a:r>
            <a:endParaRPr lang="en-US" sz="140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图像六关系：s-t 斜率=v；v-t 斜率=a、面积=s；a-t 面积=Δv；瞬时速度=切线斜率。</a:t>
            </a:r>
            <a:endParaRPr lang="en-US" sz="14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90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背熟四个 suvat 公式，每个“缺一个量”；解题先列 s/u/v/a/t 清单再选公式。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隐含条件条件反射：dropped → u = 0；自由落体 → a = g = 9.81 m s</a:t>
            </a:r>
            <a:r>
              <a:rPr lang="en-US" sz="140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；统一正方向。</a:t>
            </a:r>
            <a:endParaRPr lang="en-US" sz="14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测 g 实验：光门装置、重复取平均、画 2h-t² 直线、斜率 = g；抛物线 = 水平匀速 × 竖直匀加速。</a:t>
            </a:r>
            <a:endParaRPr lang="en-US" sz="1400" noProof="1"/>
          </a:p>
        </p:txBody>
      </p:sp>
      <p:sp>
        <p:nvSpPr>
          <p:cNvPr id="11" name="res-rule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res-head"/>
          <p:cNvSpPr txBox="1"/>
          <p:nvPr/>
        </p:nvSpPr>
        <p:spPr>
          <a:xfrm>
            <a:off x="762000" y="4343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3" name="res-body"/>
          <p:cNvSpPr txBox="1"/>
          <p:nvPr/>
        </p:nvSpPr>
        <p:spPr>
          <a:xfrm>
            <a:off x="762000" y="4724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《中英对照笔记》：本课件全部内容的双语详版，含推导全过程与实验步骤，适合课后精读与考前背诵（中英结合笔记 文件夹）。</a:t>
            </a:r>
            <a:endParaRPr lang="en-US" sz="1300" noProof="1"/>
          </a:p>
        </p:txBody>
      </p:sp>
      <p:sp>
        <p:nvSpPr>
          <p:cNvPr id="14" name="next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next-text"/>
          <p:cNvSpPr txBox="1"/>
          <p:nvPr/>
        </p:nvSpPr>
        <p:spPr>
          <a:xfrm>
            <a:off x="965200" y="58166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下一章预告 Next：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Topic 3 Dynamics 动力学 —— 牛顿三定律登场，本章的加速度将成为分析受力的桥梁。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2 运动学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Topic 2 Kinematics 运动学 · CIE A-Level Physics 9702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