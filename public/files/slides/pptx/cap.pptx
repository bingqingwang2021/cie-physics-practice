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notesMasterIdLst>
    <p:notesMasterId r:id="rId8"/>
  </p:notesMaster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customXml" Target="../customXml/item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 = Q/C</c:v>
                </c:pt>
              </c:strCache>
            </c:strRef>
          </c:tx>
          <c:spPr>
            <a:solidFill>
              <a:srgbClr val="0E4D64">
                <a:alpha val="70000"/>
              </a:srgbClr>
            </a:solidFill>
            <a:ln w="19050">
              <a:solidFill>
                <a:srgbClr val="0E4D64"/>
              </a:solidFill>
            </a:ln>
          </c:spPr>
          <c:dLbls>
            <c:spPr>
              <a:noFill/>
              <a:ln>
                <a:noFill/>
              </a:ln>
              <a:effectLst/>
            </c:spPr>
            <c:txPr>
              <a:bodyPr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>
                    <a:latin typeface="Calibri"/>
                    <a:ea typeface="MiSans"/>
                  </a:defRPr>
                </a:pPr>
                <a:endParaRPr/>
              </a:p>
            </c:txPr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Sheet1!$A$2:$A$6</c:f>
              <c:strCache>
                <c:ptCount val="5"/>
                <c:pt idx="0">
                  <c:v>0</c:v>
                </c:pt>
                <c:pt idx="1">
                  <c:v>2</c:v>
                </c:pt>
                <c:pt idx="2">
                  <c:v>4</c:v>
                </c:pt>
                <c:pt idx="3">
                  <c:v>6</c:v>
                </c:pt>
                <c:pt idx="4">
                  <c:v>8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2</c:v>
                </c:pt>
                <c:pt idx="2">
                  <c:v>4</c:v>
                </c:pt>
                <c:pt idx="3">
                  <c:v>6</c:v>
                </c:pt>
                <c:pt idx="4">
                  <c:v>8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sz="825" lang="zh-CN">
                    <a:solidFill>
                      <a:srgbClr val="54555A"/>
                    </a:solidFill>
                    <a:latin typeface="Calibri"/>
                    <a:ea typeface="MiSans"/>
                  </a:rPr>
                  <a:t>Q →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54555A"/>
            </a:solidFill>
          </a:ln>
        </c:spPr>
        <c:txPr>
          <a:bodyPr spcFirstLastPara="1" vertOverflow="ellipsis" vert="horz" wrap="square" lIns="38100" tIns="19050" rIns="38100" bIns="19050" anchor="ctr" anchorCtr="1">
            <a:spAutoFit/>
          </a:bodyPr>
          <a:lstStyle/>
          <a:p>
            <a:pPr>
              <a:defRPr sz="825">
                <a:solidFill>
                  <a:srgbClr val="54555A"/>
                </a:solidFill>
                <a:latin typeface="Calibri"/>
                <a:ea typeface="MiSans"/>
              </a:defRPr>
            </a:pPr>
          </a:p>
        </c:txPr>
        <c:crossAx val="-2100718248"/>
        <c:crosses val="autoZero"/>
        <c:auto val="1"/>
        <c:lblAlgn val="ctr"/>
        <c:lblOffset val="100"/>
        <c:noMultiLvlLbl val="0"/>
      </c:catAx>
      <c:valAx>
        <c:axId val="-2100718248"/>
        <c:scaling>
          <c:orientation val="minMax"/>
        </c:scaling>
        <c:delete val="0"/>
        <c:axPos val="l"/>
        <c:majorGridlines>
          <c:spPr>
            <a:ln>
              <a:solidFill>
                <a:srgbClr val="DBDEE4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/>
                </a:pPr>
                <a:r>
                  <a:rPr sz="825" lang="zh-CN">
                    <a:solidFill>
                      <a:srgbClr val="54555A"/>
                    </a:solidFill>
                    <a:latin typeface="Calibri"/>
                    <a:ea typeface="MiSans"/>
                  </a:rPr>
                  <a:t>V →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54555A"/>
            </a:solidFill>
          </a:ln>
        </c:spPr>
        <c:txPr>
          <a:bodyPr spcFirstLastPara="1" vertOverflow="ellipsis" vert="horz" wrap="square" lIns="38100" tIns="19050" rIns="38100" bIns="19050" anchor="ctr" anchorCtr="1">
            <a:spAutoFit/>
          </a:bodyPr>
          <a:lstStyle/>
          <a:p>
            <a:pPr>
              <a:defRPr sz="825">
                <a:solidFill>
                  <a:srgbClr val="54555A"/>
                </a:solidFill>
                <a:latin typeface="Calibri"/>
                <a:ea typeface="MiSans"/>
              </a:defRPr>
            </a:pPr>
          </a:p>
        </c:txPr>
        <c:crossAx val="-2101159928"/>
        <c:crosses val="autoZero"/>
        <c:crossBetween val="midCat"/>
      </c:valAx>
    </c:plotArea>
    <c:plotVisOnly val="1"/>
    <c:dispBlanksAs val="zero"/>
    <c:showDLblsOverMax val="0"/>
  </c:chart>
  <c:txPr>
    <a:bodyPr spcFirstLastPara="1" vertOverflow="ellipsis" vert="horz" wrap="square" lIns="38100" tIns="19050" rIns="38100" bIns="19050" anchor="ctr" anchorCtr="1">
      <a:spAutoFit/>
    </a:bodyPr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 or V or I (normalised)</c:v>
                </c:pt>
              </c:strCache>
            </c:strRef>
          </c:tx>
          <c:spPr>
            <a:solidFill>
              <a:srgbClr val="0E4D64"/>
            </a:solidFill>
            <a:ln w="19050">
              <a:solidFill>
                <a:srgbClr val="0E4D64"/>
              </a:solidFill>
            </a:ln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500">
                    <a:latin typeface="Calibri"/>
                    <a:ea typeface="MiSans"/>
                  </a:defRPr>
                </a:pPr>
                <a:endParaRPr/>
              </a:p>
            </c:txPr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Sheet1!$A$2:$A$42</c:f>
              <c:strCache>
                <c:ptCount val="41"/>
                <c:pt idx="0">
                  <c:v>0.0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1.0</c:v>
                </c:pt>
                <c:pt idx="11">
                  <c:v>1.1</c:v>
                </c:pt>
                <c:pt idx="12">
                  <c:v>1.2</c:v>
                </c:pt>
                <c:pt idx="13">
                  <c:v>1.3</c:v>
                </c:pt>
                <c:pt idx="14">
                  <c:v>1.4</c:v>
                </c:pt>
                <c:pt idx="15">
                  <c:v>1.5</c:v>
                </c:pt>
                <c:pt idx="16">
                  <c:v>1.6</c:v>
                </c:pt>
                <c:pt idx="17">
                  <c:v>1.7</c:v>
                </c:pt>
                <c:pt idx="18">
                  <c:v>1.8</c:v>
                </c:pt>
                <c:pt idx="19">
                  <c:v>1.9</c:v>
                </c:pt>
                <c:pt idx="20">
                  <c:v>2.0</c:v>
                </c:pt>
                <c:pt idx="21">
                  <c:v>2.1</c:v>
                </c:pt>
                <c:pt idx="22">
                  <c:v>2.2</c:v>
                </c:pt>
                <c:pt idx="23">
                  <c:v>2.3</c:v>
                </c:pt>
                <c:pt idx="24">
                  <c:v>2.4</c:v>
                </c:pt>
                <c:pt idx="25">
                  <c:v>2.5</c:v>
                </c:pt>
                <c:pt idx="26">
                  <c:v>2.6</c:v>
                </c:pt>
                <c:pt idx="27">
                  <c:v>2.7</c:v>
                </c:pt>
                <c:pt idx="28">
                  <c:v>2.8</c:v>
                </c:pt>
                <c:pt idx="29">
                  <c:v>2.9</c:v>
                </c:pt>
                <c:pt idx="30">
                  <c:v>3.0</c:v>
                </c:pt>
                <c:pt idx="31">
                  <c:v>3.1</c:v>
                </c:pt>
                <c:pt idx="32">
                  <c:v>3.2</c:v>
                </c:pt>
                <c:pt idx="33">
                  <c:v>3.3</c:v>
                </c:pt>
                <c:pt idx="34">
                  <c:v>3.4</c:v>
                </c:pt>
                <c:pt idx="35">
                  <c:v>3.5</c:v>
                </c:pt>
                <c:pt idx="36">
                  <c:v>3.6</c:v>
                </c:pt>
                <c:pt idx="37">
                  <c:v>3.7</c:v>
                </c:pt>
                <c:pt idx="38">
                  <c:v>3.8</c:v>
                </c:pt>
                <c:pt idx="39">
                  <c:v>3.9</c:v>
                </c:pt>
                <c:pt idx="40">
                  <c:v>4.0</c:v>
                </c:pt>
              </c:strCache>
            </c:strRef>
          </c:cat>
          <c:val>
            <c:numRef>
              <c:f>Sheet1!$B$2:$B$42</c:f>
              <c:numCache>
                <c:formatCode>General</c:formatCode>
                <c:ptCount val="41"/>
                <c:pt idx="0">
                  <c:v>1.0</c:v>
                </c:pt>
                <c:pt idx="1">
                  <c:v>0.905</c:v>
                </c:pt>
                <c:pt idx="2">
                  <c:v>0.819</c:v>
                </c:pt>
                <c:pt idx="3">
                  <c:v>0.741</c:v>
                </c:pt>
                <c:pt idx="4">
                  <c:v>0.67</c:v>
                </c:pt>
                <c:pt idx="5">
                  <c:v>0.607</c:v>
                </c:pt>
                <c:pt idx="6">
                  <c:v>0.549</c:v>
                </c:pt>
                <c:pt idx="7">
                  <c:v>0.497</c:v>
                </c:pt>
                <c:pt idx="8">
                  <c:v>0.449</c:v>
                </c:pt>
                <c:pt idx="9">
                  <c:v>0.407</c:v>
                </c:pt>
                <c:pt idx="10">
                  <c:v>0.368</c:v>
                </c:pt>
                <c:pt idx="11">
                  <c:v>0.333</c:v>
                </c:pt>
                <c:pt idx="12">
                  <c:v>0.301</c:v>
                </c:pt>
                <c:pt idx="13">
                  <c:v>0.273</c:v>
                </c:pt>
                <c:pt idx="14">
                  <c:v>0.247</c:v>
                </c:pt>
                <c:pt idx="15">
                  <c:v>0.223</c:v>
                </c:pt>
                <c:pt idx="16">
                  <c:v>0.202</c:v>
                </c:pt>
                <c:pt idx="17">
                  <c:v>0.183</c:v>
                </c:pt>
                <c:pt idx="18">
                  <c:v>0.165</c:v>
                </c:pt>
                <c:pt idx="19">
                  <c:v>0.15</c:v>
                </c:pt>
                <c:pt idx="20">
                  <c:v>0.135</c:v>
                </c:pt>
                <c:pt idx="21">
                  <c:v>0.122</c:v>
                </c:pt>
                <c:pt idx="22">
                  <c:v>0.111</c:v>
                </c:pt>
                <c:pt idx="23">
                  <c:v>0.1</c:v>
                </c:pt>
                <c:pt idx="24">
                  <c:v>0.091</c:v>
                </c:pt>
                <c:pt idx="25">
                  <c:v>0.082</c:v>
                </c:pt>
                <c:pt idx="26">
                  <c:v>0.074</c:v>
                </c:pt>
                <c:pt idx="27">
                  <c:v>0.067</c:v>
                </c:pt>
                <c:pt idx="28">
                  <c:v>0.061</c:v>
                </c:pt>
                <c:pt idx="29">
                  <c:v>0.055</c:v>
                </c:pt>
                <c:pt idx="30">
                  <c:v>0.05</c:v>
                </c:pt>
                <c:pt idx="31">
                  <c:v>0.045</c:v>
                </c:pt>
                <c:pt idx="32">
                  <c:v>0.041</c:v>
                </c:pt>
                <c:pt idx="33">
                  <c:v>0.037</c:v>
                </c:pt>
                <c:pt idx="34">
                  <c:v>0.033</c:v>
                </c:pt>
                <c:pt idx="35">
                  <c:v>0.03</c:v>
                </c:pt>
                <c:pt idx="36">
                  <c:v>0.027</c:v>
                </c:pt>
                <c:pt idx="37">
                  <c:v>0.025</c:v>
                </c:pt>
                <c:pt idx="38">
                  <c:v>0.022</c:v>
                </c:pt>
                <c:pt idx="39">
                  <c:v>0.02</c:v>
                </c:pt>
                <c:pt idx="40">
                  <c:v>0.018</c:v>
                </c:pt>
              </c:numCache>
            </c:numRef>
          </c:val>
          <c:smooth val="1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sz="825" lang="zh-CN">
                    <a:solidFill>
                      <a:srgbClr val="54555A"/>
                    </a:solidFill>
                    <a:latin typeface="Calibri"/>
                    <a:ea typeface="MiSans"/>
                  </a:rPr>
                  <a:t>t →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54555A"/>
            </a:solidFill>
          </a:ln>
        </c:spPr>
        <c:txPr>
          <a:bodyPr spcFirstLastPara="1" vertOverflow="ellipsis" vert="horz" wrap="square" lIns="38100" tIns="19050" rIns="38100" bIns="19050" anchor="ctr" anchorCtr="1">
            <a:spAutoFit/>
          </a:bodyPr>
          <a:lstStyle/>
          <a:p>
            <a:pPr>
              <a:defRPr sz="825">
                <a:solidFill>
                  <a:srgbClr val="54555A"/>
                </a:solidFill>
                <a:latin typeface="Calibri"/>
                <a:ea typeface="MiSans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DBDEE4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/>
                </a:pPr>
                <a:r>
                  <a:rPr sz="825" lang="zh-CN">
                    <a:solidFill>
                      <a:srgbClr val="54555A"/>
                    </a:solidFill>
                    <a:latin typeface="Calibri"/>
                    <a:ea typeface="MiSans"/>
                  </a:rPr>
                  <a:t>x / x₀ →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54555A"/>
            </a:solidFill>
          </a:ln>
        </c:spPr>
        <c:txPr>
          <a:bodyPr spcFirstLastPara="1" vertOverflow="ellipsis" vert="horz" wrap="square" lIns="38100" tIns="19050" rIns="38100" bIns="19050" anchor="ctr" anchorCtr="1">
            <a:spAutoFit/>
          </a:bodyPr>
          <a:lstStyle/>
          <a:p>
            <a:pPr>
              <a:defRPr sz="825">
                <a:solidFill>
                  <a:srgbClr val="54555A"/>
                </a:solidFill>
                <a:latin typeface="Calibri"/>
                <a:ea typeface="MiSans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 spcFirstLastPara="1" vertOverflow="ellipsis" vert="horz" wrap="square" lIns="38100" tIns="19050" rIns="38100" bIns="19050" anchor="ctr" anchorCtr="1">
      <a:spAutoFit/>
    </a:bodyPr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x = x₀e^(−t/RC)</c:v>
                </c:pt>
              </c:strCache>
            </c:strRef>
          </c:tx>
          <c:spPr>
            <a:solidFill>
              <a:srgbClr val="0E4D64"/>
            </a:solidFill>
            <a:ln w="19050">
              <a:solidFill>
                <a:srgbClr val="0E4D64"/>
              </a:solidFill>
            </a:ln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500">
                    <a:latin typeface="Calibri"/>
                    <a:ea typeface="MiSans"/>
                  </a:defRPr>
                </a:pPr>
                <a:endParaRPr/>
              </a:p>
            </c:txPr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Sheet1!$A$2:$A$52</c:f>
              <c:strCache>
                <c:ptCount val="51"/>
                <c:pt idx="0">
                  <c:v>0.0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1.0</c:v>
                </c:pt>
                <c:pt idx="11">
                  <c:v>1.1</c:v>
                </c:pt>
                <c:pt idx="12">
                  <c:v>1.2</c:v>
                </c:pt>
                <c:pt idx="13">
                  <c:v>1.3</c:v>
                </c:pt>
                <c:pt idx="14">
                  <c:v>1.4</c:v>
                </c:pt>
                <c:pt idx="15">
                  <c:v>1.5</c:v>
                </c:pt>
                <c:pt idx="16">
                  <c:v>1.6</c:v>
                </c:pt>
                <c:pt idx="17">
                  <c:v>1.7</c:v>
                </c:pt>
                <c:pt idx="18">
                  <c:v>1.8</c:v>
                </c:pt>
                <c:pt idx="19">
                  <c:v>1.9</c:v>
                </c:pt>
                <c:pt idx="20">
                  <c:v>2.0</c:v>
                </c:pt>
                <c:pt idx="21">
                  <c:v>2.1</c:v>
                </c:pt>
                <c:pt idx="22">
                  <c:v>2.2</c:v>
                </c:pt>
                <c:pt idx="23">
                  <c:v>2.3</c:v>
                </c:pt>
                <c:pt idx="24">
                  <c:v>2.4</c:v>
                </c:pt>
                <c:pt idx="25">
                  <c:v>2.5</c:v>
                </c:pt>
                <c:pt idx="26">
                  <c:v>2.6</c:v>
                </c:pt>
                <c:pt idx="27">
                  <c:v>2.7</c:v>
                </c:pt>
                <c:pt idx="28">
                  <c:v>2.8</c:v>
                </c:pt>
                <c:pt idx="29">
                  <c:v>2.9</c:v>
                </c:pt>
                <c:pt idx="30">
                  <c:v>3.0</c:v>
                </c:pt>
                <c:pt idx="31">
                  <c:v>3.1</c:v>
                </c:pt>
                <c:pt idx="32">
                  <c:v>3.2</c:v>
                </c:pt>
                <c:pt idx="33">
                  <c:v>3.3</c:v>
                </c:pt>
                <c:pt idx="34">
                  <c:v>3.4</c:v>
                </c:pt>
                <c:pt idx="35">
                  <c:v>3.5</c:v>
                </c:pt>
                <c:pt idx="36">
                  <c:v>3.6</c:v>
                </c:pt>
                <c:pt idx="37">
                  <c:v>3.7</c:v>
                </c:pt>
                <c:pt idx="38">
                  <c:v>3.8</c:v>
                </c:pt>
                <c:pt idx="39">
                  <c:v>3.9</c:v>
                </c:pt>
                <c:pt idx="40">
                  <c:v>4.0</c:v>
                </c:pt>
                <c:pt idx="41">
                  <c:v>4.1</c:v>
                </c:pt>
                <c:pt idx="42">
                  <c:v>4.2</c:v>
                </c:pt>
                <c:pt idx="43">
                  <c:v>4.3</c:v>
                </c:pt>
                <c:pt idx="44">
                  <c:v>4.4</c:v>
                </c:pt>
                <c:pt idx="45">
                  <c:v>4.5</c:v>
                </c:pt>
                <c:pt idx="46">
                  <c:v>4.6</c:v>
                </c:pt>
                <c:pt idx="47">
                  <c:v>4.7</c:v>
                </c:pt>
                <c:pt idx="48">
                  <c:v>4.8</c:v>
                </c:pt>
                <c:pt idx="49">
                  <c:v>4.9</c:v>
                </c:pt>
                <c:pt idx="50">
                  <c:v>5.0</c:v>
                </c:pt>
              </c:strCache>
            </c:strRef>
          </c:cat>
          <c:val>
            <c:numRef>
              <c:f>Sheet1!$B$2:$B$52</c:f>
              <c:numCache>
                <c:formatCode>General</c:formatCode>
                <c:ptCount val="51"/>
                <c:pt idx="0">
                  <c:v>1.0</c:v>
                </c:pt>
                <c:pt idx="1">
                  <c:v>0.905</c:v>
                </c:pt>
                <c:pt idx="2">
                  <c:v>0.819</c:v>
                </c:pt>
                <c:pt idx="3">
                  <c:v>0.741</c:v>
                </c:pt>
                <c:pt idx="4">
                  <c:v>0.67</c:v>
                </c:pt>
                <c:pt idx="5">
                  <c:v>0.607</c:v>
                </c:pt>
                <c:pt idx="6">
                  <c:v>0.549</c:v>
                </c:pt>
                <c:pt idx="7">
                  <c:v>0.497</c:v>
                </c:pt>
                <c:pt idx="8">
                  <c:v>0.449</c:v>
                </c:pt>
                <c:pt idx="9">
                  <c:v>0.407</c:v>
                </c:pt>
                <c:pt idx="10">
                  <c:v>0.368</c:v>
                </c:pt>
                <c:pt idx="11">
                  <c:v>0.333</c:v>
                </c:pt>
                <c:pt idx="12">
                  <c:v>0.301</c:v>
                </c:pt>
                <c:pt idx="13">
                  <c:v>0.273</c:v>
                </c:pt>
                <c:pt idx="14">
                  <c:v>0.247</c:v>
                </c:pt>
                <c:pt idx="15">
                  <c:v>0.223</c:v>
                </c:pt>
                <c:pt idx="16">
                  <c:v>0.202</c:v>
                </c:pt>
                <c:pt idx="17">
                  <c:v>0.183</c:v>
                </c:pt>
                <c:pt idx="18">
                  <c:v>0.165</c:v>
                </c:pt>
                <c:pt idx="19">
                  <c:v>0.15</c:v>
                </c:pt>
                <c:pt idx="20">
                  <c:v>0.135</c:v>
                </c:pt>
                <c:pt idx="21">
                  <c:v>0.122</c:v>
                </c:pt>
                <c:pt idx="22">
                  <c:v>0.111</c:v>
                </c:pt>
                <c:pt idx="23">
                  <c:v>0.1</c:v>
                </c:pt>
                <c:pt idx="24">
                  <c:v>0.091</c:v>
                </c:pt>
                <c:pt idx="25">
                  <c:v>0.082</c:v>
                </c:pt>
                <c:pt idx="26">
                  <c:v>0.074</c:v>
                </c:pt>
                <c:pt idx="27">
                  <c:v>0.067</c:v>
                </c:pt>
                <c:pt idx="28">
                  <c:v>0.061</c:v>
                </c:pt>
                <c:pt idx="29">
                  <c:v>0.055</c:v>
                </c:pt>
                <c:pt idx="30">
                  <c:v>0.05</c:v>
                </c:pt>
                <c:pt idx="31">
                  <c:v>0.045</c:v>
                </c:pt>
                <c:pt idx="32">
                  <c:v>0.041</c:v>
                </c:pt>
                <c:pt idx="33">
                  <c:v>0.037</c:v>
                </c:pt>
                <c:pt idx="34">
                  <c:v>0.033</c:v>
                </c:pt>
                <c:pt idx="35">
                  <c:v>0.03</c:v>
                </c:pt>
                <c:pt idx="36">
                  <c:v>0.027</c:v>
                </c:pt>
                <c:pt idx="37">
                  <c:v>0.025</c:v>
                </c:pt>
                <c:pt idx="38">
                  <c:v>0.022</c:v>
                </c:pt>
                <c:pt idx="39">
                  <c:v>0.02</c:v>
                </c:pt>
                <c:pt idx="40">
                  <c:v>0.018</c:v>
                </c:pt>
                <c:pt idx="41">
                  <c:v>0.017</c:v>
                </c:pt>
                <c:pt idx="42">
                  <c:v>0.015</c:v>
                </c:pt>
                <c:pt idx="43">
                  <c:v>0.014</c:v>
                </c:pt>
                <c:pt idx="44">
                  <c:v>0.012</c:v>
                </c:pt>
                <c:pt idx="45">
                  <c:v>0.011</c:v>
                </c:pt>
                <c:pt idx="46">
                  <c:v>0.01</c:v>
                </c:pt>
                <c:pt idx="47">
                  <c:v>0.009</c:v>
                </c:pt>
                <c:pt idx="48">
                  <c:v>0.008</c:v>
                </c:pt>
                <c:pt idx="49">
                  <c:v>0.007</c:v>
                </c:pt>
                <c:pt idx="50">
                  <c:v>0.007</c:v>
                </c:pt>
              </c:numCache>
            </c:numRef>
          </c:val>
          <c:smooth val="1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sz="825" lang="zh-CN">
                    <a:solidFill>
                      <a:srgbClr val="54555A"/>
                    </a:solidFill>
                    <a:latin typeface="Calibri"/>
                    <a:ea typeface="MiSans"/>
                  </a:rPr>
                  <a:t>t / τ →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54555A"/>
            </a:solidFill>
          </a:ln>
        </c:spPr>
        <c:txPr>
          <a:bodyPr spcFirstLastPara="1" vertOverflow="ellipsis" vert="horz" wrap="square" lIns="38100" tIns="19050" rIns="38100" bIns="19050" anchor="ctr" anchorCtr="1">
            <a:spAutoFit/>
          </a:bodyPr>
          <a:lstStyle/>
          <a:p>
            <a:pPr>
              <a:defRPr sz="825">
                <a:solidFill>
                  <a:srgbClr val="54555A"/>
                </a:solidFill>
                <a:latin typeface="Calibri"/>
                <a:ea typeface="MiSans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DBDEE4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/>
                </a:pPr>
                <a:r>
                  <a:rPr sz="825" lang="zh-CN">
                    <a:solidFill>
                      <a:srgbClr val="54555A"/>
                    </a:solidFill>
                    <a:latin typeface="Calibri"/>
                    <a:ea typeface="MiSans"/>
                  </a:rPr>
                  <a:t>x / x₀ →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54555A"/>
            </a:solidFill>
          </a:ln>
        </c:spPr>
        <c:txPr>
          <a:bodyPr spcFirstLastPara="1" vertOverflow="ellipsis" vert="horz" wrap="square" lIns="38100" tIns="19050" rIns="38100" bIns="19050" anchor="ctr" anchorCtr="1">
            <a:spAutoFit/>
          </a:bodyPr>
          <a:lstStyle/>
          <a:p>
            <a:pPr>
              <a:defRPr sz="825">
                <a:solidFill>
                  <a:srgbClr val="54555A"/>
                </a:solidFill>
                <a:latin typeface="Calibri"/>
                <a:ea typeface="MiSans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 spcFirstLastPara="1" vertOverflow="ellipsis" vert="horz" wrap="square" lIns="38100" tIns="19050" rIns="38100" bIns="19050" anchor="ctr" anchorCtr="1">
      <a:spAutoFit/>
    </a:bodyPr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&lt;!--pageType:cover--&gt;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93748"/>
            </a:gs>
            <a:gs pos="100000">
              <a:srgbClr val="0E4D64"/>
            </a:gs>
          </a:gsLst>
          <a:lin scaled="1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dsl:dc-m"/>
          <p:cNvSpPr/>
          <p:nvPr/>
        </p:nvSpPr>
        <p:spPr>
          <a:xfrm>
            <a:off x="9258300" y="3067050"/>
            <a:ext cx="342900" cy="342900"/>
          </a:xfrm>
          <a:prstGeom prst="ellipse">
            <a:avLst/>
          </a:prstGeom>
          <a:solidFill>
            <a:srgbClr val="D97D29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0"/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dsl:dc-f0"/>
          <p:cNvCxnSpPr/>
          <p:nvPr/>
        </p:nvCxnSpPr>
        <p:spPr>
          <a:xfrm>
            <a:off x="9696450" y="3238500"/>
            <a:ext cx="1162050" cy="0"/>
          </a:xfrm>
          <a:prstGeom prst="straightConnector1">
            <a:avLst/>
          </a:prstGeom>
          <a:ln w="12700">
            <a:solidFill>
              <a:srgbClr val="FFFFFF">
                <a:alpha val="25000"/>
              </a:srgbClr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dsl:dc-f1"/>
          <p:cNvCxnSpPr/>
          <p:nvPr/>
        </p:nvCxnSpPr>
        <p:spPr>
          <a:xfrm>
            <a:off x="9660718" y="3371850"/>
            <a:ext cx="1006365" cy="581025"/>
          </a:xfrm>
          <a:prstGeom prst="straightConnector1">
            <a:avLst/>
          </a:prstGeom>
          <a:ln w="12700">
            <a:solidFill>
              <a:srgbClr val="FFFFFF">
                <a:alpha val="25000"/>
              </a:srgbClr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dsl:dc-f2"/>
          <p:cNvCxnSpPr/>
          <p:nvPr/>
        </p:nvCxnSpPr>
        <p:spPr>
          <a:xfrm>
            <a:off x="9563100" y="3469468"/>
            <a:ext cx="581025" cy="1006365"/>
          </a:xfrm>
          <a:prstGeom prst="straightConnector1">
            <a:avLst/>
          </a:prstGeom>
          <a:ln w="12700">
            <a:solidFill>
              <a:srgbClr val="FFFFFF">
                <a:alpha val="25000"/>
              </a:srgbClr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dsl:dc-f3"/>
          <p:cNvCxnSpPr/>
          <p:nvPr/>
        </p:nvCxnSpPr>
        <p:spPr>
          <a:xfrm>
            <a:off x="9429750" y="3505200"/>
            <a:ext cx="0" cy="1162050"/>
          </a:xfrm>
          <a:prstGeom prst="straightConnector1">
            <a:avLst/>
          </a:prstGeom>
          <a:ln w="12700">
            <a:solidFill>
              <a:srgbClr val="FFFFFF">
                <a:alpha val="25000"/>
              </a:srgbClr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dsl:dc-f4"/>
          <p:cNvCxnSpPr/>
          <p:nvPr/>
        </p:nvCxnSpPr>
        <p:spPr>
          <a:xfrm flipH="1">
            <a:off x="8715375" y="3469468"/>
            <a:ext cx="581025" cy="1006365"/>
          </a:xfrm>
          <a:prstGeom prst="straightConnector1">
            <a:avLst/>
          </a:prstGeom>
          <a:ln w="12700">
            <a:solidFill>
              <a:srgbClr val="FFFFFF">
                <a:alpha val="25000"/>
              </a:srgbClr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dsl:dc-f5"/>
          <p:cNvCxnSpPr/>
          <p:nvPr/>
        </p:nvCxnSpPr>
        <p:spPr>
          <a:xfrm flipH="1">
            <a:off x="8192416" y="3371850"/>
            <a:ext cx="1006365" cy="581025"/>
          </a:xfrm>
          <a:prstGeom prst="straightConnector1">
            <a:avLst/>
          </a:prstGeom>
          <a:ln w="12700">
            <a:solidFill>
              <a:srgbClr val="FFFFFF">
                <a:alpha val="25000"/>
              </a:srgbClr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dsl:dc-f6"/>
          <p:cNvCxnSpPr/>
          <p:nvPr/>
        </p:nvCxnSpPr>
        <p:spPr>
          <a:xfrm>
            <a:off x="8001000" y="3238500"/>
            <a:ext cx="1162050" cy="0"/>
          </a:xfrm>
          <a:prstGeom prst="straightConnector1">
            <a:avLst/>
          </a:prstGeom>
          <a:ln w="12700">
            <a:solidFill>
              <a:srgbClr val="FFFFFF">
                <a:alpha val="25000"/>
              </a:srgbClr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dsl:dc-f7"/>
          <p:cNvCxnSpPr/>
          <p:nvPr/>
        </p:nvCxnSpPr>
        <p:spPr>
          <a:xfrm>
            <a:off x="8192416" y="2524125"/>
            <a:ext cx="1006365" cy="581025"/>
          </a:xfrm>
          <a:prstGeom prst="straightConnector1">
            <a:avLst/>
          </a:prstGeom>
          <a:ln w="12700">
            <a:solidFill>
              <a:srgbClr val="FFFFFF">
                <a:alpha val="25000"/>
              </a:srgbClr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dsl:dc-f8"/>
          <p:cNvCxnSpPr/>
          <p:nvPr/>
        </p:nvCxnSpPr>
        <p:spPr>
          <a:xfrm>
            <a:off x="8715374" y="2001166"/>
            <a:ext cx="581026" cy="1006365"/>
          </a:xfrm>
          <a:prstGeom prst="straightConnector1">
            <a:avLst/>
          </a:prstGeom>
          <a:ln w="12700">
            <a:solidFill>
              <a:srgbClr val="FFFFFF">
                <a:alpha val="25000"/>
              </a:srgbClr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dsl:dc-f9"/>
          <p:cNvCxnSpPr/>
          <p:nvPr/>
        </p:nvCxnSpPr>
        <p:spPr>
          <a:xfrm>
            <a:off x="9429750" y="1809750"/>
            <a:ext cx="0" cy="1162050"/>
          </a:xfrm>
          <a:prstGeom prst="straightConnector1">
            <a:avLst/>
          </a:prstGeom>
          <a:ln w="12700">
            <a:solidFill>
              <a:srgbClr val="FFFFFF">
                <a:alpha val="25000"/>
              </a:srgbClr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dsl:dc-f10"/>
          <p:cNvCxnSpPr/>
          <p:nvPr/>
        </p:nvCxnSpPr>
        <p:spPr>
          <a:xfrm flipH="1">
            <a:off x="9563100" y="2001166"/>
            <a:ext cx="581025" cy="1006365"/>
          </a:xfrm>
          <a:prstGeom prst="straightConnector1">
            <a:avLst/>
          </a:prstGeom>
          <a:ln w="12700">
            <a:solidFill>
              <a:srgbClr val="FFFFFF">
                <a:alpha val="25000"/>
              </a:srgbClr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dsl:dc-f11"/>
          <p:cNvCxnSpPr/>
          <p:nvPr/>
        </p:nvCxnSpPr>
        <p:spPr>
          <a:xfrm flipH="1">
            <a:off x="9660718" y="2524124"/>
            <a:ext cx="1006365" cy="581026"/>
          </a:xfrm>
          <a:prstGeom prst="straightConnector1">
            <a:avLst/>
          </a:prstGeom>
          <a:ln w="12700">
            <a:solidFill>
              <a:srgbClr val="FFFFFF">
                <a:alpha val="25000"/>
              </a:srgbClr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dsl:topic-tag"/>
          <p:cNvSpPr txBox="1"/>
          <p:nvPr/>
        </p:nvSpPr>
        <p:spPr>
          <a:xfrm>
            <a:off x="838200" y="1428750"/>
            <a:ext cx="4762500" cy="2667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200" noProof="1" spc="300">
                <a:solidFill>
                  <a:srgbClr val="D97D29"/>
                </a:solidFill>
                <a:latin typeface="QuattrocentoSans"/>
                <a:ea typeface="MiSans"/>
              </a:rPr>
              <a:t>TOPIC 19</a:t>
            </a:r>
          </a:p>
        </p:txBody>
      </p:sp>
      <p:sp>
        <p:nvSpPr>
          <p:cNvPr id="16" name="dsl:title-main"/>
          <p:cNvSpPr txBox="1"/>
          <p:nvPr/>
        </p:nvSpPr>
        <p:spPr>
          <a:xfrm>
            <a:off x="838200" y="2000250"/>
            <a:ext cx="6286500" cy="1143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3300" noProof="1">
                <a:solidFill>
                  <a:srgbClr val="FFFFFF"/>
                </a:solidFill>
                <a:latin typeface="Unna"/>
                <a:ea typeface="siyuanSongti"/>
              </a:rPr>
              <a:t>Capacitance</a:t>
            </a:r>
          </a:p>
        </p:txBody>
      </p:sp>
      <p:sp>
        <p:nvSpPr>
          <p:cNvPr id="17" name="dsl:title-cn"/>
          <p:cNvSpPr txBox="1"/>
          <p:nvPr/>
        </p:nvSpPr>
        <p:spPr>
          <a:xfrm>
            <a:off x="838200" y="3352800"/>
            <a:ext cx="62865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650" noProof="1">
                <a:solidFill>
                  <a:srgbClr val="FFFFFF"/>
                </a:solidFill>
                <a:latin typeface="siyuanSongti"/>
                <a:ea typeface="siyuanSongti"/>
              </a:rPr>
              <a:t>电容</a:t>
            </a:r>
          </a:p>
        </p:txBody>
      </p:sp>
      <p:cxnSp>
        <p:nvCxnSpPr>
          <p:cNvPr id="18" name="dsl:div"/>
          <p:cNvCxnSpPr/>
          <p:nvPr/>
        </p:nvCxnSpPr>
        <p:spPr>
          <a:xfrm>
            <a:off x="838200" y="4000500"/>
            <a:ext cx="2019300" cy="0"/>
          </a:xfrm>
          <a:prstGeom prst="straightConnector1">
            <a:avLst/>
          </a:prstGeom>
          <a:ln w="38100">
            <a:solidFill>
              <a:srgbClr val="D97D29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dsl:exam-info"/>
          <p:cNvSpPr txBox="1"/>
          <p:nvPr/>
        </p:nvSpPr>
        <p:spPr>
          <a:xfrm>
            <a:off x="838200" y="5715000"/>
            <a:ext cx="6667500" cy="2476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FFFFFF"/>
                </a:solidFill>
                <a:latin typeface="QuattrocentoSans"/>
                <a:ea typeface="MiSans"/>
              </a:rPr>
              <a:t>CIE 9702 · A Level Physics A2 · Paper 4</a:t>
            </a:r>
          </a:p>
        </p:txBody>
      </p:sp>
      <p:sp>
        <p:nvSpPr>
          <p:cNvPr id="20" name="dsl:series-info"/>
          <p:cNvSpPr txBox="1"/>
          <p:nvPr/>
        </p:nvSpPr>
        <p:spPr>
          <a:xfrm>
            <a:off x="838200" y="6019800"/>
            <a:ext cx="6667500" cy="2095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noProof="1">
                <a:solidFill>
                  <a:srgbClr val="FFFFFF"/>
                </a:solidFill>
                <a:latin typeface="QuattrocentoSans"/>
                <a:ea typeface="MiSans"/>
              </a:rPr>
              <a:t>剑桥国际物理 A2 分章节讲义 · 中英双语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19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Learning Outcomes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学习目标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19 Capacitance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02 / 15</a:t>
            </a:r>
          </a:p>
        </p:txBody>
      </p:sp>
      <p:sp>
        <p:nvSpPr>
          <p:cNvPr id="9" name="dsl:ol-panel"/>
          <p:cNvSpPr/>
          <p:nvPr/>
        </p:nvSpPr>
        <p:spPr>
          <a:xfrm>
            <a:off x="609600" y="1695450"/>
            <a:ext cx="2476500" cy="447675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ol-big"/>
          <p:cNvSpPr txBox="1"/>
          <p:nvPr/>
        </p:nvSpPr>
        <p:spPr>
          <a:xfrm>
            <a:off x="838200" y="1981200"/>
            <a:ext cx="2019300" cy="1600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b="1" sz="2250" noProof="1">
                <a:solidFill>
                  <a:srgbClr val="FFFFFF"/>
                </a:solidFill>
                <a:latin typeface="Unna"/>
                <a:ea typeface="siyuanSongti"/>
              </a:rPr>
              <a:t>LEARNING</a:t>
            </a:r>
            <a:r>
              <a:rPr b="1" sz="2250" noProof="1">
                <a:solidFill>
                  <a:srgbClr val="FFFFFF"/>
                </a:solidFill>
                <a:latin typeface="Unna"/>
                <a:ea typeface="siyuanSongti"/>
              </a:rPr>
              <a:t>
</a:t>
            </a:r>
            <a:r>
              <a:rPr b="1" sz="2250" noProof="1">
                <a:solidFill>
                  <a:srgbClr val="FFFFFF"/>
                </a:solidFill>
                <a:latin typeface="Unna"/>
                <a:ea typeface="siyuanSongti"/>
              </a:rPr>
              <a:t>OUTCOMES</a:t>
            </a:r>
          </a:p>
        </p:txBody>
      </p:sp>
      <p:sp>
        <p:nvSpPr>
          <p:cNvPr id="11" name="dsl:ol-cn"/>
          <p:cNvSpPr txBox="1"/>
          <p:nvPr/>
        </p:nvSpPr>
        <p:spPr>
          <a:xfrm>
            <a:off x="838200" y="3695700"/>
            <a:ext cx="2019300" cy="2857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500" noProof="1">
                <a:solidFill>
                  <a:srgbClr val="FFFFFF"/>
                </a:solidFill>
                <a:latin typeface="siyuanSongti"/>
                <a:ea typeface="siyuanSongti"/>
              </a:rPr>
              <a:t>学习目标</a:t>
            </a:r>
          </a:p>
        </p:txBody>
      </p:sp>
      <p:sp>
        <p:nvSpPr>
          <p:cNvPr id="12" name="dsl:ol-note"/>
          <p:cNvSpPr txBox="1"/>
          <p:nvPr/>
        </p:nvSpPr>
        <p:spPr>
          <a:xfrm>
            <a:off x="838200" y="5505450"/>
            <a:ext cx="2019300" cy="4762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975" noProof="1">
                <a:solidFill>
                  <a:srgbClr val="FFFFFF"/>
                </a:solidFill>
                <a:latin typeface="MiSans"/>
                <a:ea typeface="MiSans"/>
              </a:rPr>
              <a:t>By the end of this topic, you will be able to…</a:t>
            </a:r>
          </a:p>
        </p:txBody>
      </p:sp>
      <p:sp>
        <p:nvSpPr>
          <p:cNvPr id="13" name="dsl:og0"/>
          <p:cNvSpPr txBox="1"/>
          <p:nvPr/>
        </p:nvSpPr>
        <p:spPr>
          <a:xfrm>
            <a:off x="3467100" y="1752600"/>
            <a:ext cx="8115300" cy="2476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b="1" sz="1275" noProof="1">
                <a:solidFill>
                  <a:srgbClr val="0E4D64"/>
                </a:solidFill>
                <a:latin typeface="MiSans"/>
                <a:ea typeface="MiSans"/>
              </a:rPr>
              <a:t>19.1 Capacitors &amp; capacitance 电容器与电容</a:t>
            </a:r>
          </a:p>
        </p:txBody>
      </p:sp>
      <p:pic>
        <p:nvPicPr>
          <p:cNvPr id="14" name="dsl:oc0_0|i=fas:square-check" descr="tmp0vet9nh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6150" y="2105025"/>
            <a:ext cx="152400" cy="1524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5" name="dsl:ot0_0"/>
          <p:cNvSpPr txBox="1"/>
          <p:nvPr/>
        </p:nvSpPr>
        <p:spPr>
          <a:xfrm>
            <a:off x="3752850" y="2076450"/>
            <a:ext cx="782955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Define capacitance C = Q/V for isolated spheres and parallel-plate capacitors 电容定义</a:t>
            </a:r>
          </a:p>
        </p:txBody>
      </p:sp>
      <p:pic>
        <p:nvPicPr>
          <p:cNvPr id="16" name="dsl:oc0_1|i=fas:square-check" descr="tmp0vet9nh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6150" y="2409825"/>
            <a:ext cx="152400" cy="1524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7" name="dsl:ot0_1"/>
          <p:cNvSpPr txBox="1"/>
          <p:nvPr/>
        </p:nvSpPr>
        <p:spPr>
          <a:xfrm>
            <a:off x="3752850" y="2381250"/>
            <a:ext cx="782955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Derive and use combined capacitance for series and parallel 串并联公式推导与应用</a:t>
            </a:r>
          </a:p>
        </p:txBody>
      </p:sp>
      <p:sp>
        <p:nvSpPr>
          <p:cNvPr id="18" name="dsl:og1"/>
          <p:cNvSpPr txBox="1"/>
          <p:nvPr/>
        </p:nvSpPr>
        <p:spPr>
          <a:xfrm>
            <a:off x="3467100" y="2800350"/>
            <a:ext cx="8115300" cy="2476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b="1" sz="1275" noProof="1">
                <a:solidFill>
                  <a:srgbClr val="0E4D64"/>
                </a:solidFill>
                <a:latin typeface="MiSans"/>
                <a:ea typeface="MiSans"/>
              </a:rPr>
              <a:t>19.2 Energy stored 储能</a:t>
            </a:r>
          </a:p>
        </p:txBody>
      </p:sp>
      <p:pic>
        <p:nvPicPr>
          <p:cNvPr id="19" name="dsl:oc1_0|i=fas:square-check" descr="tmp0vet9nh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6150" y="3152775"/>
            <a:ext cx="152400" cy="1524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20" name="dsl:ot1_0"/>
          <p:cNvSpPr txBox="1"/>
          <p:nvPr/>
        </p:nvSpPr>
        <p:spPr>
          <a:xfrm>
            <a:off x="3752850" y="3124200"/>
            <a:ext cx="782955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Energy from the area under the V–Q graph: W = ½QV = ½CV² = ½Q²/C 储能公式</a:t>
            </a:r>
          </a:p>
        </p:txBody>
      </p:sp>
      <p:sp>
        <p:nvSpPr>
          <p:cNvPr id="21" name="dsl:og2"/>
          <p:cNvSpPr txBox="1"/>
          <p:nvPr/>
        </p:nvSpPr>
        <p:spPr>
          <a:xfrm>
            <a:off x="3467100" y="3543300"/>
            <a:ext cx="8115300" cy="2476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b="1" sz="1275" noProof="1">
                <a:solidFill>
                  <a:srgbClr val="0E4D64"/>
                </a:solidFill>
                <a:latin typeface="MiSans"/>
                <a:ea typeface="MiSans"/>
              </a:rPr>
              <a:t>19.3 Discharging 放电</a:t>
            </a:r>
          </a:p>
        </p:txBody>
      </p:sp>
      <p:pic>
        <p:nvPicPr>
          <p:cNvPr id="22" name="dsl:oc2_0|i=fas:square-check" descr="tmp0vet9nh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6150" y="3895725"/>
            <a:ext cx="152400" cy="1524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23" name="dsl:ot2_0"/>
          <p:cNvSpPr txBox="1"/>
          <p:nvPr/>
        </p:nvSpPr>
        <p:spPr>
          <a:xfrm>
            <a:off x="3752850" y="3867150"/>
            <a:ext cx="782955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Graphs of V, Q, I against time for discharge through a resistor 放电曲线</a:t>
            </a:r>
          </a:p>
        </p:txBody>
      </p:sp>
      <p:pic>
        <p:nvPicPr>
          <p:cNvPr id="24" name="dsl:oc2_1|i=fas:square-check" descr="tmp0vet9nh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6150" y="4200525"/>
            <a:ext cx="152400" cy="1524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25" name="dsl:ot2_1"/>
          <p:cNvSpPr txBox="1"/>
          <p:nvPr/>
        </p:nvSpPr>
        <p:spPr>
          <a:xfrm>
            <a:off x="3752850" y="4171950"/>
            <a:ext cx="782955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Time constant τ = RC and x = x₀e^(−t/RC) 时间常数与指数衰减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a14="http://schemas.microsoft.com/office/drawing/2010/main" xmlns:m="http://schemas.openxmlformats.org/officeDocument/2006/math" xmlns:mc="http://schemas.openxmlformats.org/markup-compatibility/2006" mc:Ignorable="a14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19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What is Capacitance?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电容的定义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19 Capacitance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03 / 15</a:t>
            </a:r>
          </a:p>
        </p:txBody>
      </p:sp>
      <p:sp>
        <p:nvSpPr>
          <p:cNvPr id="9" name="dsl:b0-bg"/>
          <p:cNvSpPr/>
          <p:nvPr/>
        </p:nvSpPr>
        <p:spPr>
          <a:xfrm>
            <a:off x="609600" y="1809750"/>
            <a:ext cx="5334000" cy="1076325"/>
          </a:xfrm>
          <a:prstGeom prst="rect">
            <a:avLst/>
          </a:prstGeom>
          <a:solidFill>
            <a:srgbClr val="EE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b0-bar"/>
          <p:cNvSpPr/>
          <p:nvPr/>
        </p:nvSpPr>
        <p:spPr>
          <a:xfrm>
            <a:off x="609600" y="1809750"/>
            <a:ext cx="38100" cy="1076325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b0-tx"/>
          <p:cNvSpPr txBox="1"/>
          <p:nvPr/>
        </p:nvSpPr>
        <p:spPr>
          <a:xfrm>
            <a:off x="838200" y="1924050"/>
            <a:ext cx="4876800" cy="8477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Capacitance C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: the charge stored per unit potential difference, </a:t>
            </a:r>
            <a14:m>
              <m:oMath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C</m:t>
                </m:r>
                <m:r>
                  <a:rPr lang="en-US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Q</m:t>
                </m:r>
                <m:r>
                  <a:rPr lang="en-US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/</m:t>
                </m:r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V</m:t>
                </m:r>
              </m:oMath>
            </a14:m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. Unit: the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farad (F)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.</a:t>
            </a:r>
          </a:p>
          <a:p>
            <a:pPr algn="l">
              <a:lnSpc>
                <a:spcPct val="145000"/>
              </a:lnSpc>
            </a:pPr>
            <a:r>
              <a:rPr sz="1125" noProof="1">
                <a:solidFill>
                  <a:srgbClr val="5C7A84"/>
                </a:solidFill>
                <a:latin typeface="MiSans"/>
                <a:ea typeface="MiSans"/>
              </a:rPr>
              <a:t>单位电势差下储存的电荷量；单位法拉。</a:t>
            </a:r>
          </a:p>
        </p:txBody>
      </p:sp>
      <p:sp>
        <p:nvSpPr>
          <p:cNvPr id="12" name="dsl:b1"/>
          <p:cNvSpPr txBox="1"/>
          <p:nvPr/>
        </p:nvSpPr>
        <p:spPr>
          <a:xfrm>
            <a:off x="609600" y="3057525"/>
            <a:ext cx="5334000" cy="14001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Applies to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parallel-plate capacitors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and to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isolated spherical conductors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平行板与孤立球导体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Isolated sphere: </a:t>
            </a:r>
            <a14:m>
              <m:oMath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C</m:t>
                </m:r>
                <m:r>
                  <a:rPr lang="en-US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4</m:t>
                </m:r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π</m:t>
                </m:r>
                <m:sSub>
                  <m:sSubPr>
                    <m:ctrlP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ε</m:t>
                    </m:r>
                  </m:e>
                  <m:sub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0</m:t>
                    </m:r>
                  </m:sub>
                </m:sSub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r</m:t>
                </m:r>
              </m:oMath>
            </a14:m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（见例题 19A 推导）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1 F is huge — practical capacitors are µF, nF, pF 常用微法皮法</a:t>
            </a:r>
          </a:p>
        </p:txBody>
      </p:sp>
      <p:sp>
        <p:nvSpPr>
          <p:cNvPr id="13" name="dsl:dg-canvas"/>
          <p:cNvSpPr/>
          <p:nvPr/>
        </p:nvSpPr>
        <p:spPr>
          <a:xfrm>
            <a:off x="6286500" y="1809750"/>
            <a:ext cx="5295900" cy="409575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dsl:cp-ba"/>
          <p:cNvCxnSpPr/>
          <p:nvPr/>
        </p:nvCxnSpPr>
        <p:spPr>
          <a:xfrm>
            <a:off x="6667500" y="3657600"/>
            <a:ext cx="0" cy="304800"/>
          </a:xfrm>
          <a:prstGeom prst="straightConnector1">
            <a:avLst/>
          </a:prstGeom>
          <a:ln w="25400">
            <a:solidFill>
              <a:srgbClr val="1C2B33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dsl:cp-bb"/>
          <p:cNvCxnSpPr/>
          <p:nvPr/>
        </p:nvCxnSpPr>
        <p:spPr>
          <a:xfrm>
            <a:off x="6724650" y="3743325"/>
            <a:ext cx="0" cy="133350"/>
          </a:xfrm>
          <a:prstGeom prst="straightConnector1">
            <a:avLst/>
          </a:prstGeom>
          <a:ln w="50800">
            <a:solidFill>
              <a:srgbClr val="1C2B33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dsl:cp-w1"/>
          <p:cNvCxnSpPr/>
          <p:nvPr/>
        </p:nvCxnSpPr>
        <p:spPr>
          <a:xfrm>
            <a:off x="6724650" y="3810000"/>
            <a:ext cx="895350" cy="0"/>
          </a:xfrm>
          <a:prstGeom prst="straightConnector1">
            <a:avLst/>
          </a:prstGeom>
          <a:ln w="25400">
            <a:solidFill>
              <a:srgbClr val="1C2B33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dsl:cp-w2"/>
          <p:cNvCxnSpPr/>
          <p:nvPr/>
        </p:nvCxnSpPr>
        <p:spPr>
          <a:xfrm>
            <a:off x="7620000" y="3048000"/>
            <a:ext cx="0" cy="762000"/>
          </a:xfrm>
          <a:prstGeom prst="straightConnector1">
            <a:avLst/>
          </a:prstGeom>
          <a:ln w="25400">
            <a:solidFill>
              <a:srgbClr val="1C2B33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dsl:cp-w3"/>
          <p:cNvCxnSpPr/>
          <p:nvPr/>
        </p:nvCxnSpPr>
        <p:spPr>
          <a:xfrm>
            <a:off x="6610350" y="3810000"/>
            <a:ext cx="0" cy="666750"/>
          </a:xfrm>
          <a:prstGeom prst="straightConnector1">
            <a:avLst/>
          </a:prstGeom>
          <a:ln w="25400">
            <a:solidFill>
              <a:srgbClr val="1C2B33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dsl:cp-w4"/>
          <p:cNvCxnSpPr/>
          <p:nvPr/>
        </p:nvCxnSpPr>
        <p:spPr>
          <a:xfrm>
            <a:off x="6610350" y="4476750"/>
            <a:ext cx="2533650" cy="0"/>
          </a:xfrm>
          <a:prstGeom prst="straightConnector1">
            <a:avLst/>
          </a:prstGeom>
          <a:ln w="25400">
            <a:solidFill>
              <a:srgbClr val="1C2B33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dsl:cp-w5"/>
          <p:cNvCxnSpPr/>
          <p:nvPr/>
        </p:nvCxnSpPr>
        <p:spPr>
          <a:xfrm>
            <a:off x="9144000" y="3810000"/>
            <a:ext cx="0" cy="666750"/>
          </a:xfrm>
          <a:prstGeom prst="straightConnector1">
            <a:avLst/>
          </a:prstGeom>
          <a:ln w="25400">
            <a:solidFill>
              <a:srgbClr val="1C2B33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dsl:cp-w6"/>
          <p:cNvCxnSpPr/>
          <p:nvPr/>
        </p:nvCxnSpPr>
        <p:spPr>
          <a:xfrm>
            <a:off x="8953500" y="3810000"/>
            <a:ext cx="190500" cy="0"/>
          </a:xfrm>
          <a:prstGeom prst="straightConnector1">
            <a:avLst/>
          </a:prstGeom>
          <a:ln w="25400">
            <a:solidFill>
              <a:srgbClr val="1C2B33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dsl:cp-w7"/>
          <p:cNvCxnSpPr/>
          <p:nvPr/>
        </p:nvCxnSpPr>
        <p:spPr>
          <a:xfrm>
            <a:off x="9144000" y="3048000"/>
            <a:ext cx="0" cy="95250"/>
          </a:xfrm>
          <a:prstGeom prst="straightConnector1">
            <a:avLst/>
          </a:prstGeom>
          <a:ln w="25400">
            <a:solidFill>
              <a:srgbClr val="1C2B33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dsl:cp-w8"/>
          <p:cNvCxnSpPr/>
          <p:nvPr/>
        </p:nvCxnSpPr>
        <p:spPr>
          <a:xfrm>
            <a:off x="8953500" y="3048000"/>
            <a:ext cx="190500" cy="0"/>
          </a:xfrm>
          <a:prstGeom prst="straightConnector1">
            <a:avLst/>
          </a:prstGeom>
          <a:ln w="25400">
            <a:solidFill>
              <a:srgbClr val="1C2B33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dsl:cp-p1"/>
          <p:cNvCxnSpPr/>
          <p:nvPr/>
        </p:nvCxnSpPr>
        <p:spPr>
          <a:xfrm>
            <a:off x="7620000" y="2952750"/>
            <a:ext cx="1333500" cy="0"/>
          </a:xfrm>
          <a:prstGeom prst="straightConnector1">
            <a:avLst/>
          </a:prstGeom>
          <a:ln w="50800">
            <a:solidFill>
              <a:srgbClr val="0E4D64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dsl:cp-p2"/>
          <p:cNvCxnSpPr/>
          <p:nvPr/>
        </p:nvCxnSpPr>
        <p:spPr>
          <a:xfrm>
            <a:off x="7620000" y="3238500"/>
            <a:ext cx="1333500" cy="0"/>
          </a:xfrm>
          <a:prstGeom prst="straightConnector1">
            <a:avLst/>
          </a:prstGeom>
          <a:ln w="50800">
            <a:solidFill>
              <a:srgbClr val="0E4D64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dsl:cp-plus"/>
          <p:cNvSpPr txBox="1"/>
          <p:nvPr/>
        </p:nvSpPr>
        <p:spPr>
          <a:xfrm>
            <a:off x="7715250" y="2705100"/>
            <a:ext cx="1143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050" noProof="1">
                <a:solidFill>
                  <a:srgbClr val="D97D29"/>
                </a:solidFill>
                <a:latin typeface="MiSans"/>
                <a:ea typeface="MiSans"/>
              </a:rPr>
              <a:t>＋ ＋ ＋ ＋</a:t>
            </a:r>
          </a:p>
        </p:txBody>
      </p:sp>
      <p:sp>
        <p:nvSpPr>
          <p:cNvPr id="27" name="dsl:cp-minus"/>
          <p:cNvSpPr txBox="1"/>
          <p:nvPr/>
        </p:nvSpPr>
        <p:spPr>
          <a:xfrm>
            <a:off x="7715250" y="3295650"/>
            <a:ext cx="1143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050" noProof="1">
                <a:solidFill>
                  <a:srgbClr val="5C7A84"/>
                </a:solidFill>
                <a:latin typeface="MiSans"/>
                <a:ea typeface="MiSans"/>
              </a:rPr>
              <a:t>− − − −</a:t>
            </a:r>
          </a:p>
        </p:txBody>
      </p:sp>
      <p:sp>
        <p:nvSpPr>
          <p:cNvPr id="28" name="dsl:cp-lab"/>
          <p:cNvSpPr txBox="1"/>
          <p:nvPr/>
        </p:nvSpPr>
        <p:spPr>
          <a:xfrm>
            <a:off x="7905750" y="2286000"/>
            <a:ext cx="11430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125" noProof="1">
                <a:solidFill>
                  <a:srgbClr val="1C2B33"/>
                </a:solidFill>
                <a:latin typeface="MiSans"/>
                <a:ea typeface="MiSans"/>
              </a:rPr>
              <a:t>C 电容器</a:t>
            </a:r>
          </a:p>
        </p:txBody>
      </p:sp>
      <p:sp>
        <p:nvSpPr>
          <p:cNvPr id="29" name="dsl:cp-cap|s=$small"/>
          <p:cNvSpPr txBox="1"/>
          <p:nvPr/>
        </p:nvSpPr>
        <p:spPr>
          <a:xfrm>
            <a:off x="6286500" y="5048250"/>
            <a:ext cx="5295900" cy="2476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Charging a parallel-plate capacitor 电容器充电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a14="http://schemas.microsoft.com/office/drawing/2010/main" xmlns:m="http://schemas.openxmlformats.org/officeDocument/2006/math" xmlns:mc="http://schemas.openxmlformats.org/markup-compatibility/2006" mc:Ignorable="a14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19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Capacitors in Parallel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电容器的并联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19 Capacitance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04 / 15</a:t>
            </a:r>
          </a:p>
        </p:txBody>
      </p:sp>
      <p:sp>
        <p:nvSpPr>
          <p:cNvPr id="9" name="dsl:b0"/>
          <p:cNvSpPr txBox="1"/>
          <p:nvPr/>
        </p:nvSpPr>
        <p:spPr>
          <a:xfrm>
            <a:off x="609600" y="1809750"/>
            <a:ext cx="5334000" cy="5810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Same p.d. V across each capacitor 各电容电压相同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Total charge: </a:t>
            </a:r>
            <a14:m>
              <m:oMath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Q</m:t>
                </m:r>
                <m:r>
                  <a:rPr lang="en-US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sSub>
                  <m:sSubPr>
                    <m:ctrlP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Q</m:t>
                    </m:r>
                  </m:e>
                  <m:sub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</m:t>
                    </m:r>
                  </m:sub>
                </m:sSub>
                <m:r>
                  <a:rPr lang="en-US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+</m:t>
                </m:r>
                <m:sSub>
                  <m:sSubPr>
                    <m:ctrlP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Q</m:t>
                    </m:r>
                  </m:e>
                  <m:sub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2</m:t>
                    </m:r>
                  </m:sub>
                </m:sSub>
                <m:r>
                  <a:rPr lang="en-US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sSub>
                  <m:sSubPr>
                    <m:ctrlP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C</m:t>
                    </m:r>
                  </m:e>
                  <m:sub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</m:t>
                    </m:r>
                  </m:sub>
                </m:sSub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V</m:t>
                </m:r>
                <m:r>
                  <a:rPr lang="en-US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+</m:t>
                </m:r>
                <m:sSub>
                  <m:sSubPr>
                    <m:ctrlP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C</m:t>
                    </m:r>
                  </m:e>
                  <m:sub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2</m:t>
                    </m:r>
                  </m:sub>
                </m:sSub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V</m:t>
                </m:r>
              </m:oMath>
            </a14:m>
          </a:p>
        </p:txBody>
      </p:sp>
      <p:sp>
        <p:nvSpPr>
          <p:cNvPr id="10" name="dsl:b1-bg"/>
          <p:cNvSpPr/>
          <p:nvPr/>
        </p:nvSpPr>
        <p:spPr>
          <a:xfrm>
            <a:off x="609600" y="2562225"/>
            <a:ext cx="5334000" cy="60960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b1-fx"/>
          <p:cNvSpPr txBox="1"/>
          <p:nvPr/>
        </p:nvSpPr>
        <p:spPr>
          <a:xfrm>
            <a:off x="838200" y="2562225"/>
            <a:ext cx="2552700" cy="609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14:m>
              <m:oMath>
                <m:sSub>
                  <m:sSubPr>
                    <m:ctrlP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C</m:t>
                    </m:r>
                  </m:e>
                  <m:sub>
                    <m: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o</m:t>
                    </m:r>
                    <m: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l</m:t>
                    </m:r>
                  </m:sub>
                </m:sSub>
                <m:r>
                  <a:rPr lang="en-US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=</m:t>
                </m:r>
                <m:sSub>
                  <m:sSubPr>
                    <m:ctrlP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C</m:t>
                    </m:r>
                  </m:e>
                  <m:sub>
                    <m:r>
                      <a:rPr lang="en-US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1</m:t>
                    </m:r>
                  </m:sub>
                </m:sSub>
                <m:r>
                  <a:rPr lang="en-US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+</m:t>
                </m:r>
                <m:sSub>
                  <m:sSubPr>
                    <m:ctrlP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C</m:t>
                    </m:r>
                  </m:e>
                  <m:sub>
                    <m:r>
                      <a:rPr lang="en-US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2</m:t>
                    </m:r>
                  </m:sub>
                </m:sSub>
              </m:oMath>
            </a14:m>
          </a:p>
        </p:txBody>
      </p:sp>
      <p:sp>
        <p:nvSpPr>
          <p:cNvPr id="12" name="dsl:b1-nt|s=$small"/>
          <p:cNvSpPr txBox="1"/>
          <p:nvPr/>
        </p:nvSpPr>
        <p:spPr>
          <a:xfrm>
            <a:off x="3543300" y="2562225"/>
            <a:ext cx="2247900" cy="6096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parallel 并联等效电容</a:t>
            </a:r>
          </a:p>
        </p:txBody>
      </p:sp>
      <p:sp>
        <p:nvSpPr>
          <p:cNvPr id="13" name="dsl:b2"/>
          <p:cNvSpPr txBox="1"/>
          <p:nvPr/>
        </p:nvSpPr>
        <p:spPr>
          <a:xfrm>
            <a:off x="609600" y="3343275"/>
            <a:ext cx="5334000" cy="8286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Equivalent to one larger capacitor 等效于更大电容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Compare: same form as resistors in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series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与电阻串联公式同形</a:t>
            </a:r>
          </a:p>
        </p:txBody>
      </p:sp>
      <p:sp>
        <p:nvSpPr>
          <p:cNvPr id="14" name="dsl:dg-canvas"/>
          <p:cNvSpPr/>
          <p:nvPr/>
        </p:nvSpPr>
        <p:spPr>
          <a:xfrm>
            <a:off x="6286500" y="1809750"/>
            <a:ext cx="5295900" cy="409575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dsl:pl-ba"/>
          <p:cNvCxnSpPr/>
          <p:nvPr/>
        </p:nvCxnSpPr>
        <p:spPr>
          <a:xfrm>
            <a:off x="6667500" y="3848100"/>
            <a:ext cx="0" cy="304800"/>
          </a:xfrm>
          <a:prstGeom prst="straightConnector1">
            <a:avLst/>
          </a:prstGeom>
          <a:ln w="25400">
            <a:solidFill>
              <a:srgbClr val="1C2B33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dsl:pl-bb"/>
          <p:cNvCxnSpPr/>
          <p:nvPr/>
        </p:nvCxnSpPr>
        <p:spPr>
          <a:xfrm>
            <a:off x="6724650" y="3933825"/>
            <a:ext cx="0" cy="133350"/>
          </a:xfrm>
          <a:prstGeom prst="straightConnector1">
            <a:avLst/>
          </a:prstGeom>
          <a:ln w="50800">
            <a:solidFill>
              <a:srgbClr val="1C2B33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dsl:pl-w1"/>
          <p:cNvCxnSpPr/>
          <p:nvPr/>
        </p:nvCxnSpPr>
        <p:spPr>
          <a:xfrm>
            <a:off x="6724650" y="4000500"/>
            <a:ext cx="895350" cy="0"/>
          </a:xfrm>
          <a:prstGeom prst="straightConnector1">
            <a:avLst/>
          </a:prstGeom>
          <a:ln w="25400">
            <a:solidFill>
              <a:srgbClr val="1C2B33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dsl:pl-w2"/>
          <p:cNvCxnSpPr/>
          <p:nvPr/>
        </p:nvCxnSpPr>
        <p:spPr>
          <a:xfrm>
            <a:off x="7620000" y="2857500"/>
            <a:ext cx="0" cy="1143000"/>
          </a:xfrm>
          <a:prstGeom prst="straightConnector1">
            <a:avLst/>
          </a:prstGeom>
          <a:ln w="25400">
            <a:solidFill>
              <a:srgbClr val="1C2B33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dsl:pl-w3"/>
          <p:cNvCxnSpPr/>
          <p:nvPr/>
        </p:nvCxnSpPr>
        <p:spPr>
          <a:xfrm>
            <a:off x="6610350" y="2476500"/>
            <a:ext cx="0" cy="1524000"/>
          </a:xfrm>
          <a:prstGeom prst="straightConnector1">
            <a:avLst/>
          </a:prstGeom>
          <a:ln w="25400">
            <a:solidFill>
              <a:srgbClr val="1C2B33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dsl:pl-w4"/>
          <p:cNvCxnSpPr/>
          <p:nvPr/>
        </p:nvCxnSpPr>
        <p:spPr>
          <a:xfrm>
            <a:off x="6610350" y="2476500"/>
            <a:ext cx="4248150" cy="0"/>
          </a:xfrm>
          <a:prstGeom prst="straightConnector1">
            <a:avLst/>
          </a:prstGeom>
          <a:ln w="25400">
            <a:solidFill>
              <a:srgbClr val="1C2B33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dsl:pl-w5"/>
          <p:cNvCxnSpPr/>
          <p:nvPr/>
        </p:nvCxnSpPr>
        <p:spPr>
          <a:xfrm>
            <a:off x="7620000" y="2857500"/>
            <a:ext cx="1333500" cy="0"/>
          </a:xfrm>
          <a:prstGeom prst="straightConnector1">
            <a:avLst/>
          </a:prstGeom>
          <a:ln w="25400">
            <a:solidFill>
              <a:srgbClr val="1C2B33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dsl:pl-w6"/>
          <p:cNvCxnSpPr/>
          <p:nvPr/>
        </p:nvCxnSpPr>
        <p:spPr>
          <a:xfrm>
            <a:off x="7620000" y="2476500"/>
            <a:ext cx="0" cy="381000"/>
          </a:xfrm>
          <a:prstGeom prst="straightConnector1">
            <a:avLst/>
          </a:prstGeom>
          <a:ln w="25400">
            <a:solidFill>
              <a:srgbClr val="1C2B33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dsl:pl-w7"/>
          <p:cNvCxnSpPr/>
          <p:nvPr/>
        </p:nvCxnSpPr>
        <p:spPr>
          <a:xfrm>
            <a:off x="8953500" y="2476500"/>
            <a:ext cx="0" cy="381000"/>
          </a:xfrm>
          <a:prstGeom prst="straightConnector1">
            <a:avLst/>
          </a:prstGeom>
          <a:ln w="25400">
            <a:solidFill>
              <a:srgbClr val="1C2B33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dsl:pl-w8"/>
          <p:cNvCxnSpPr/>
          <p:nvPr/>
        </p:nvCxnSpPr>
        <p:spPr>
          <a:xfrm>
            <a:off x="10287000" y="2476500"/>
            <a:ext cx="0" cy="381000"/>
          </a:xfrm>
          <a:prstGeom prst="straightConnector1">
            <a:avLst/>
          </a:prstGeom>
          <a:ln w="25400">
            <a:solidFill>
              <a:srgbClr val="1C2B33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dsl:pl-w9"/>
          <p:cNvCxnSpPr/>
          <p:nvPr/>
        </p:nvCxnSpPr>
        <p:spPr>
          <a:xfrm>
            <a:off x="10858500" y="2476500"/>
            <a:ext cx="0" cy="1524000"/>
          </a:xfrm>
          <a:prstGeom prst="straightConnector1">
            <a:avLst/>
          </a:prstGeom>
          <a:ln w="25400">
            <a:solidFill>
              <a:srgbClr val="1C2B33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dsl:pl-w10"/>
          <p:cNvCxnSpPr/>
          <p:nvPr/>
        </p:nvCxnSpPr>
        <p:spPr>
          <a:xfrm>
            <a:off x="10287000" y="4000500"/>
            <a:ext cx="571500" cy="0"/>
          </a:xfrm>
          <a:prstGeom prst="straightConnector1">
            <a:avLst/>
          </a:prstGeom>
          <a:ln w="25400">
            <a:solidFill>
              <a:srgbClr val="1C2B33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dsl:pl-w11"/>
          <p:cNvCxnSpPr/>
          <p:nvPr/>
        </p:nvCxnSpPr>
        <p:spPr>
          <a:xfrm>
            <a:off x="10287000" y="2857500"/>
            <a:ext cx="0" cy="1143000"/>
          </a:xfrm>
          <a:prstGeom prst="straightConnector1">
            <a:avLst/>
          </a:prstGeom>
          <a:ln w="25400">
            <a:solidFill>
              <a:srgbClr val="1C2B33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dsl:pl-w12"/>
          <p:cNvCxnSpPr/>
          <p:nvPr/>
        </p:nvCxnSpPr>
        <p:spPr>
          <a:xfrm>
            <a:off x="8953500" y="4000500"/>
            <a:ext cx="1333500" cy="0"/>
          </a:xfrm>
          <a:prstGeom prst="straightConnector1">
            <a:avLst/>
          </a:prstGeom>
          <a:ln w="25400">
            <a:solidFill>
              <a:srgbClr val="1C2B33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dsl:pl-w13"/>
          <p:cNvCxnSpPr/>
          <p:nvPr/>
        </p:nvCxnSpPr>
        <p:spPr>
          <a:xfrm>
            <a:off x="7620000" y="4000500"/>
            <a:ext cx="1333500" cy="0"/>
          </a:xfrm>
          <a:prstGeom prst="straightConnector1">
            <a:avLst/>
          </a:prstGeom>
          <a:ln w="25400">
            <a:solidFill>
              <a:srgbClr val="1C2B33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dsl:pl-l1"/>
          <p:cNvSpPr txBox="1"/>
          <p:nvPr/>
        </p:nvSpPr>
        <p:spPr>
          <a:xfrm>
            <a:off x="7905750" y="2190750"/>
            <a:ext cx="762000" cy="2095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125" noProof="1">
                <a:solidFill>
                  <a:srgbClr val="0E4D64"/>
                </a:solidFill>
                <a:latin typeface="MiSans"/>
                <a:ea typeface="MiSans"/>
              </a:rPr>
              <a:t>C₁</a:t>
            </a:r>
          </a:p>
        </p:txBody>
      </p:sp>
      <p:sp>
        <p:nvSpPr>
          <p:cNvPr id="31" name="dsl:pl-l2"/>
          <p:cNvSpPr txBox="1"/>
          <p:nvPr/>
        </p:nvSpPr>
        <p:spPr>
          <a:xfrm>
            <a:off x="9906000" y="2190750"/>
            <a:ext cx="762000" cy="2095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125" noProof="1">
                <a:solidFill>
                  <a:srgbClr val="0E4D64"/>
                </a:solidFill>
                <a:latin typeface="MiSans"/>
                <a:ea typeface="MiSans"/>
              </a:rPr>
              <a:t>C₂</a:t>
            </a:r>
          </a:p>
        </p:txBody>
      </p:sp>
      <p:cxnSp>
        <p:nvCxnSpPr>
          <p:cNvPr id="32" name="dsl:pl-c1a"/>
          <p:cNvCxnSpPr/>
          <p:nvPr/>
        </p:nvCxnSpPr>
        <p:spPr>
          <a:xfrm>
            <a:off x="8248650" y="2667000"/>
            <a:ext cx="0" cy="381000"/>
          </a:xfrm>
          <a:prstGeom prst="straightConnector1">
            <a:avLst/>
          </a:prstGeom>
          <a:ln w="38100">
            <a:solidFill>
              <a:srgbClr val="1C2B33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dsl:pl-c1b"/>
          <p:cNvCxnSpPr/>
          <p:nvPr/>
        </p:nvCxnSpPr>
        <p:spPr>
          <a:xfrm>
            <a:off x="8324850" y="2667000"/>
            <a:ext cx="0" cy="381000"/>
          </a:xfrm>
          <a:prstGeom prst="straightConnector1">
            <a:avLst/>
          </a:prstGeom>
          <a:ln w="38100">
            <a:solidFill>
              <a:srgbClr val="1C2B33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dsl:pl-c2a"/>
          <p:cNvCxnSpPr/>
          <p:nvPr/>
        </p:nvCxnSpPr>
        <p:spPr>
          <a:xfrm>
            <a:off x="10344150" y="2667000"/>
            <a:ext cx="0" cy="381000"/>
          </a:xfrm>
          <a:prstGeom prst="straightConnector1">
            <a:avLst/>
          </a:prstGeom>
          <a:ln w="38100">
            <a:solidFill>
              <a:srgbClr val="1C2B33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dsl:pl-c2b"/>
          <p:cNvCxnSpPr/>
          <p:nvPr/>
        </p:nvCxnSpPr>
        <p:spPr>
          <a:xfrm>
            <a:off x="10420350" y="2667000"/>
            <a:ext cx="0" cy="381000"/>
          </a:xfrm>
          <a:prstGeom prst="straightConnector1">
            <a:avLst/>
          </a:prstGeom>
          <a:ln w="38100">
            <a:solidFill>
              <a:srgbClr val="1C2B33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dsl:pl-cap|s=$small"/>
          <p:cNvSpPr txBox="1"/>
          <p:nvPr/>
        </p:nvSpPr>
        <p:spPr>
          <a:xfrm>
            <a:off x="6286500" y="4762500"/>
            <a:ext cx="5295900" cy="2476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Two capacitors in parallel 并联电路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a14="http://schemas.microsoft.com/office/drawing/2010/main" xmlns:m="http://schemas.openxmlformats.org/officeDocument/2006/math" xmlns:mc="http://schemas.openxmlformats.org/markup-compatibility/2006" mc:Ignorable="a14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19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Capacitors in Series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电容器的串联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19 Capacitance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05 / 15</a:t>
            </a:r>
          </a:p>
        </p:txBody>
      </p:sp>
      <p:sp>
        <p:nvSpPr>
          <p:cNvPr id="9" name="dsl:b0"/>
          <p:cNvSpPr txBox="1"/>
          <p:nvPr/>
        </p:nvSpPr>
        <p:spPr>
          <a:xfrm>
            <a:off x="609600" y="1809750"/>
            <a:ext cx="5334000" cy="5810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Same charge Q on each capacitor 各电容电荷量相同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Voltages add: </a:t>
            </a:r>
            <a14:m>
              <m:oMath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V</m:t>
                </m:r>
                <m:r>
                  <a:rPr lang="en-US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sSub>
                  <m:sSubPr>
                    <m:ctrlP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V</m:t>
                    </m:r>
                  </m:e>
                  <m:sub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</m:t>
                    </m:r>
                  </m:sub>
                </m:sSub>
                <m:r>
                  <a:rPr lang="en-US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+</m:t>
                </m:r>
                <m:sSub>
                  <m:sSubPr>
                    <m:ctrlP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V</m:t>
                    </m:r>
                  </m:e>
                  <m:sub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2</m:t>
                    </m:r>
                  </m:sub>
                </m:sSub>
                <m:r>
                  <a:rPr lang="en-US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f>
                  <m:fPr>
                    <m:ctrlP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Q</m:t>
                    </m:r>
                  </m:num>
                  <m:den>
                    <m:sSub>
                      <m:sSubPr>
                        <m:ctrlPr>
                          <a:rPr lang="en-US" i="1" sz="135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z="135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US" sz="135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den>
                </m:f>
                <m:r>
                  <a:rPr lang="en-US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+</m:t>
                </m:r>
                <m:f>
                  <m:fPr>
                    <m:ctrlP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Q</m:t>
                    </m:r>
                  </m:num>
                  <m:den>
                    <m:sSub>
                      <m:sSubPr>
                        <m:ctrlPr>
                          <a:rPr lang="en-US" i="1" sz="135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z="135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US" sz="135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den>
                </m:f>
              </m:oMath>
            </a14:m>
          </a:p>
        </p:txBody>
      </p:sp>
      <p:sp>
        <p:nvSpPr>
          <p:cNvPr id="10" name="dsl:b1-bg"/>
          <p:cNvSpPr/>
          <p:nvPr/>
        </p:nvSpPr>
        <p:spPr>
          <a:xfrm>
            <a:off x="609600" y="2562225"/>
            <a:ext cx="5334000" cy="60960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b1-fx"/>
          <p:cNvSpPr txBox="1"/>
          <p:nvPr/>
        </p:nvSpPr>
        <p:spPr>
          <a:xfrm>
            <a:off x="838200" y="2562225"/>
            <a:ext cx="2552700" cy="609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14:m>
              <m:oMath>
                <m:f>
                  <m:fPr>
                    <m:ctrlP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a:rPr lang="en-US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1</m:t>
                    </m:r>
                  </m:num>
                  <m:den>
                    <m:sSub>
                      <m:sSubPr>
                        <m:ctrlPr>
                          <a:rPr lang="en-US" i="1" sz="1650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z="1650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US" i="1" sz="1650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i="1" sz="1650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  <m:r>
                          <a:rPr lang="en-US" i="1" sz="1650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i="1" sz="1650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i="1" sz="1650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  <m:t>l</m:t>
                        </m:r>
                      </m:sub>
                    </m:sSub>
                  </m:den>
                </m:f>
                <m:r>
                  <a:rPr lang="en-US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=</m:t>
                </m:r>
                <m:f>
                  <m:fPr>
                    <m:ctrlP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a:rPr lang="en-US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1</m:t>
                    </m:r>
                  </m:num>
                  <m:den>
                    <m:sSub>
                      <m:sSubPr>
                        <m:ctrlPr>
                          <a:rPr lang="en-US" i="1" sz="1650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z="1650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US" sz="1650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den>
                </m:f>
                <m:r>
                  <a:rPr lang="en-US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+</m:t>
                </m:r>
                <m:f>
                  <m:fPr>
                    <m:ctrlP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a:rPr lang="en-US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1</m:t>
                    </m:r>
                  </m:num>
                  <m:den>
                    <m:sSub>
                      <m:sSubPr>
                        <m:ctrlPr>
                          <a:rPr lang="en-US" i="1" sz="1650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z="1650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US" sz="1650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den>
                </m:f>
              </m:oMath>
            </a14:m>
          </a:p>
        </p:txBody>
      </p:sp>
      <p:sp>
        <p:nvSpPr>
          <p:cNvPr id="12" name="dsl:b1-nt|s=$small"/>
          <p:cNvSpPr txBox="1"/>
          <p:nvPr/>
        </p:nvSpPr>
        <p:spPr>
          <a:xfrm>
            <a:off x="3543300" y="2562225"/>
            <a:ext cx="2247900" cy="6096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series 串联等效电容</a:t>
            </a:r>
          </a:p>
        </p:txBody>
      </p:sp>
      <p:sp>
        <p:nvSpPr>
          <p:cNvPr id="13" name="dsl:b2"/>
          <p:cNvSpPr txBox="1"/>
          <p:nvPr/>
        </p:nvSpPr>
        <p:spPr>
          <a:xfrm>
            <a:off x="609600" y="3343275"/>
            <a:ext cx="5334000" cy="11525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Result is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smaller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than the smallest capacitor 总电容小于最小者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Opposite pattern to resistors! 与电阻规律相反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Two equal C in series give C/2 两个相同电容串联减半</a:t>
            </a:r>
          </a:p>
        </p:txBody>
      </p:sp>
      <p:sp>
        <p:nvSpPr>
          <p:cNvPr id="14" name="dsl:dg-canvas"/>
          <p:cNvSpPr/>
          <p:nvPr/>
        </p:nvSpPr>
        <p:spPr>
          <a:xfrm>
            <a:off x="6286500" y="1809750"/>
            <a:ext cx="5295900" cy="409575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dsl:sr-ba"/>
          <p:cNvCxnSpPr/>
          <p:nvPr/>
        </p:nvCxnSpPr>
        <p:spPr>
          <a:xfrm>
            <a:off x="6667500" y="3848100"/>
            <a:ext cx="0" cy="304800"/>
          </a:xfrm>
          <a:prstGeom prst="straightConnector1">
            <a:avLst/>
          </a:prstGeom>
          <a:ln w="25400">
            <a:solidFill>
              <a:srgbClr val="1C2B33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dsl:sr-bb"/>
          <p:cNvCxnSpPr/>
          <p:nvPr/>
        </p:nvCxnSpPr>
        <p:spPr>
          <a:xfrm>
            <a:off x="6724650" y="3933825"/>
            <a:ext cx="0" cy="133350"/>
          </a:xfrm>
          <a:prstGeom prst="straightConnector1">
            <a:avLst/>
          </a:prstGeom>
          <a:ln w="50800">
            <a:solidFill>
              <a:srgbClr val="1C2B33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dsl:sr-w1"/>
          <p:cNvCxnSpPr/>
          <p:nvPr/>
        </p:nvCxnSpPr>
        <p:spPr>
          <a:xfrm>
            <a:off x="6724650" y="4000500"/>
            <a:ext cx="895350" cy="0"/>
          </a:xfrm>
          <a:prstGeom prst="straightConnector1">
            <a:avLst/>
          </a:prstGeom>
          <a:ln w="25400">
            <a:solidFill>
              <a:srgbClr val="1C2B33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dsl:sr-w2"/>
          <p:cNvCxnSpPr/>
          <p:nvPr/>
        </p:nvCxnSpPr>
        <p:spPr>
          <a:xfrm>
            <a:off x="6610350" y="3238500"/>
            <a:ext cx="0" cy="762000"/>
          </a:xfrm>
          <a:prstGeom prst="straightConnector1">
            <a:avLst/>
          </a:prstGeom>
          <a:ln w="25400">
            <a:solidFill>
              <a:srgbClr val="1C2B33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dsl:sr-w3"/>
          <p:cNvCxnSpPr/>
          <p:nvPr/>
        </p:nvCxnSpPr>
        <p:spPr>
          <a:xfrm>
            <a:off x="6610350" y="3238500"/>
            <a:ext cx="1009650" cy="0"/>
          </a:xfrm>
          <a:prstGeom prst="straightConnector1">
            <a:avLst/>
          </a:prstGeom>
          <a:ln w="25400">
            <a:solidFill>
              <a:srgbClr val="1C2B33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dsl:sr-w4"/>
          <p:cNvCxnSpPr/>
          <p:nvPr/>
        </p:nvCxnSpPr>
        <p:spPr>
          <a:xfrm>
            <a:off x="9144000" y="3238500"/>
            <a:ext cx="1714500" cy="0"/>
          </a:xfrm>
          <a:prstGeom prst="straightConnector1">
            <a:avLst/>
          </a:prstGeom>
          <a:ln w="25400">
            <a:solidFill>
              <a:srgbClr val="1C2B33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dsl:sr-w5"/>
          <p:cNvCxnSpPr/>
          <p:nvPr/>
        </p:nvCxnSpPr>
        <p:spPr>
          <a:xfrm>
            <a:off x="10858500" y="3238500"/>
            <a:ext cx="0" cy="762000"/>
          </a:xfrm>
          <a:prstGeom prst="straightConnector1">
            <a:avLst/>
          </a:prstGeom>
          <a:ln w="25400">
            <a:solidFill>
              <a:srgbClr val="1C2B33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dsl:sr-w6"/>
          <p:cNvCxnSpPr/>
          <p:nvPr/>
        </p:nvCxnSpPr>
        <p:spPr>
          <a:xfrm>
            <a:off x="8953500" y="4000500"/>
            <a:ext cx="1905000" cy="0"/>
          </a:xfrm>
          <a:prstGeom prst="straightConnector1">
            <a:avLst/>
          </a:prstGeom>
          <a:ln w="25400">
            <a:solidFill>
              <a:srgbClr val="1C2B33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dsl:sr-w7"/>
          <p:cNvCxnSpPr/>
          <p:nvPr/>
        </p:nvCxnSpPr>
        <p:spPr>
          <a:xfrm>
            <a:off x="7620000" y="4000500"/>
            <a:ext cx="571500" cy="0"/>
          </a:xfrm>
          <a:prstGeom prst="straightConnector1">
            <a:avLst/>
          </a:prstGeom>
          <a:ln w="25400">
            <a:solidFill>
              <a:srgbClr val="1C2B33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dsl:sr-c1a"/>
          <p:cNvCxnSpPr/>
          <p:nvPr/>
        </p:nvCxnSpPr>
        <p:spPr>
          <a:xfrm>
            <a:off x="7810500" y="3048000"/>
            <a:ext cx="0" cy="381000"/>
          </a:xfrm>
          <a:prstGeom prst="straightConnector1">
            <a:avLst/>
          </a:prstGeom>
          <a:ln w="38100">
            <a:solidFill>
              <a:srgbClr val="1C2B33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dsl:sr-c1b"/>
          <p:cNvCxnSpPr/>
          <p:nvPr/>
        </p:nvCxnSpPr>
        <p:spPr>
          <a:xfrm>
            <a:off x="7886700" y="3048000"/>
            <a:ext cx="0" cy="381000"/>
          </a:xfrm>
          <a:prstGeom prst="straightConnector1">
            <a:avLst/>
          </a:prstGeom>
          <a:ln w="38100">
            <a:solidFill>
              <a:srgbClr val="1C2B33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dsl:sr-c2a"/>
          <p:cNvCxnSpPr/>
          <p:nvPr/>
        </p:nvCxnSpPr>
        <p:spPr>
          <a:xfrm>
            <a:off x="8382000" y="3810000"/>
            <a:ext cx="0" cy="381000"/>
          </a:xfrm>
          <a:prstGeom prst="straightConnector1">
            <a:avLst/>
          </a:prstGeom>
          <a:ln w="38100">
            <a:solidFill>
              <a:srgbClr val="1C2B33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dsl:sr-c2b"/>
          <p:cNvCxnSpPr/>
          <p:nvPr/>
        </p:nvCxnSpPr>
        <p:spPr>
          <a:xfrm>
            <a:off x="8458200" y="3810000"/>
            <a:ext cx="0" cy="381000"/>
          </a:xfrm>
          <a:prstGeom prst="straightConnector1">
            <a:avLst/>
          </a:prstGeom>
          <a:ln w="38100">
            <a:solidFill>
              <a:srgbClr val="1C2B33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dsl:sr-l1"/>
          <p:cNvSpPr txBox="1"/>
          <p:nvPr/>
        </p:nvSpPr>
        <p:spPr>
          <a:xfrm>
            <a:off x="7905750" y="2914650"/>
            <a:ext cx="762000" cy="2095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125" noProof="1">
                <a:solidFill>
                  <a:srgbClr val="0E4D64"/>
                </a:solidFill>
                <a:latin typeface="MiSans"/>
                <a:ea typeface="MiSans"/>
              </a:rPr>
              <a:t>C₁</a:t>
            </a:r>
          </a:p>
        </p:txBody>
      </p:sp>
      <p:sp>
        <p:nvSpPr>
          <p:cNvPr id="29" name="dsl:sr-l2"/>
          <p:cNvSpPr txBox="1"/>
          <p:nvPr/>
        </p:nvSpPr>
        <p:spPr>
          <a:xfrm>
            <a:off x="8477250" y="4248150"/>
            <a:ext cx="762000" cy="2095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125" noProof="1">
                <a:solidFill>
                  <a:srgbClr val="0E4D64"/>
                </a:solidFill>
                <a:latin typeface="MiSans"/>
                <a:ea typeface="MiSans"/>
              </a:rPr>
              <a:t>C₂</a:t>
            </a:r>
          </a:p>
        </p:txBody>
      </p:sp>
      <p:sp>
        <p:nvSpPr>
          <p:cNvPr id="30" name="dsl:sr-cap|s=$small"/>
          <p:cNvSpPr txBox="1"/>
          <p:nvPr/>
        </p:nvSpPr>
        <p:spPr>
          <a:xfrm>
            <a:off x="6286500" y="4762500"/>
            <a:ext cx="5295900" cy="2476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Two capacitors in series 串联电路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a14="http://schemas.microsoft.com/office/drawing/2010/main" xmlns:m="http://schemas.openxmlformats.org/officeDocument/2006/math" xmlns:mc="http://schemas.openxmlformats.org/markup-compatibility/2006" mc:Ignorable="a14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19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Energy Stored in a Capacitor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电容器的储能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19 Capacitance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06 / 15</a:t>
            </a:r>
          </a:p>
        </p:txBody>
      </p:sp>
      <p:sp>
        <p:nvSpPr>
          <p:cNvPr id="9" name="dsl:b0"/>
          <p:cNvSpPr txBox="1"/>
          <p:nvPr/>
        </p:nvSpPr>
        <p:spPr>
          <a:xfrm>
            <a:off x="609600" y="1809750"/>
            <a:ext cx="5334000" cy="8286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Charging: the p.d. rises from 0 as charge accumulates — average p.d. is V/2 充电过程电压线性上升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Energy = area under the V–Q graph 储能=V–Q 图下方面积</a:t>
            </a:r>
          </a:p>
        </p:txBody>
      </p:sp>
      <p:sp>
        <p:nvSpPr>
          <p:cNvPr id="10" name="dsl:b1-bg"/>
          <p:cNvSpPr/>
          <p:nvPr/>
        </p:nvSpPr>
        <p:spPr>
          <a:xfrm>
            <a:off x="609600" y="2809875"/>
            <a:ext cx="5334000" cy="60960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b1-fx"/>
          <p:cNvSpPr txBox="1"/>
          <p:nvPr/>
        </p:nvSpPr>
        <p:spPr>
          <a:xfrm>
            <a:off x="838200" y="2809875"/>
            <a:ext cx="2552700" cy="609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14:m>
              <m:oMath>
                <m:r>
                  <a:rPr lang="en-US" i="1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W</m:t>
                </m:r>
                <m:r>
                  <a:rPr lang="en-US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=</m:t>
                </m:r>
                <m:f>
                  <m:fPr>
                    <m:ctrlP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a:rPr lang="en-US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1</m:t>
                    </m:r>
                  </m:num>
                  <m:den>
                    <m:r>
                      <a:rPr lang="en-US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2</m:t>
                    </m:r>
                  </m:den>
                </m:f>
                <m:r>
                  <a:rPr lang="en-US" i="1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Q</m:t>
                </m:r>
                <m:r>
                  <a:rPr lang="en-US" i="1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V</m:t>
                </m:r>
                <m:r>
                  <a:rPr lang="en-US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=</m:t>
                </m:r>
                <m:f>
                  <m:fPr>
                    <m:ctrlP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a:rPr lang="en-US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1</m:t>
                    </m:r>
                  </m:num>
                  <m:den>
                    <m:r>
                      <a:rPr lang="en-US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2</m:t>
                    </m:r>
                  </m:den>
                </m:f>
                <m:r>
                  <a:rPr lang="en-US" i="1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C</m:t>
                </m:r>
                <m:sSup>
                  <m:sSupPr>
                    <m:ctrlP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V</m:t>
                    </m:r>
                  </m:e>
                  <m:sup>
                    <m:r>
                      <a:rPr lang="en-US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2</m:t>
                    </m:r>
                  </m:sup>
                </m:sSup>
                <m:r>
                  <a:rPr lang="en-US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=</m:t>
                </m:r>
                <m:f>
                  <m:fPr>
                    <m:ctrlP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fPr>
                  <m:num>
                    <m:sSup>
                      <m:sSupPr>
                        <m:ctrlPr>
                          <a:rPr lang="en-US" i="1" sz="1650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sz="1650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p>
                        <m:r>
                          <a:rPr lang="en-US" sz="1650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num>
                  <m:den>
                    <m:r>
                      <a:rPr lang="en-US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C</m:t>
                    </m:r>
                  </m:den>
                </m:f>
              </m:oMath>
            </a14:m>
          </a:p>
        </p:txBody>
      </p:sp>
      <p:sp>
        <p:nvSpPr>
          <p:cNvPr id="12" name="dsl:b1-nt|s=$small"/>
          <p:cNvSpPr txBox="1"/>
          <p:nvPr/>
        </p:nvSpPr>
        <p:spPr>
          <a:xfrm>
            <a:off x="3543300" y="2809875"/>
            <a:ext cx="2247900" cy="6096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三种等价形式</a:t>
            </a:r>
          </a:p>
        </p:txBody>
      </p:sp>
      <p:sp>
        <p:nvSpPr>
          <p:cNvPr id="13" name="dsl:b2"/>
          <p:cNvSpPr txBox="1"/>
          <p:nvPr/>
        </p:nvSpPr>
        <p:spPr>
          <a:xfrm>
            <a:off x="609600" y="3590925"/>
            <a:ext cx="5334000" cy="10763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Energy is stored in the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electric field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between the plates 能量储存在电场中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Note the factor ½ — only half the battery’s energy is stored 只有一半电源能量被储存</a:t>
            </a:r>
          </a:p>
        </p:txBody>
      </p:sp>
      <p:sp>
        <p:nvSpPr>
          <p:cNvPr id="14" name="dsl:dg-canvas"/>
          <p:cNvSpPr/>
          <p:nvPr/>
        </p:nvSpPr>
        <p:spPr>
          <a:xfrm>
            <a:off x="6286500" y="1809750"/>
            <a:ext cx="5295900" cy="409575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5" name="dsl:vq-chart"/>
          <p:cNvGraphicFramePr>
            <a:graphicFrameLocks noGrp="1"/>
          </p:cNvGraphicFramePr>
          <p:nvPr/>
        </p:nvGraphicFramePr>
        <p:xfrm>
          <a:off x="6667500" y="2095500"/>
          <a:ext cx="4667250" cy="3238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6" name="dsl:dg-cap2|s=$small"/>
          <p:cNvSpPr txBox="1"/>
          <p:nvPr/>
        </p:nvSpPr>
        <p:spPr>
          <a:xfrm>
            <a:off x="6286500" y="5943600"/>
            <a:ext cx="52959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Area under V–Q graph = ½QV 阴影面积即储能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19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Discharging a Capacitor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电容器经电阻放电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19 Capacitance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07 / 15</a:t>
            </a:r>
          </a:p>
        </p:txBody>
      </p:sp>
      <p:sp>
        <p:nvSpPr>
          <p:cNvPr id="9" name="dsl:b0"/>
          <p:cNvSpPr txBox="1"/>
          <p:nvPr/>
        </p:nvSpPr>
        <p:spPr>
          <a:xfrm>
            <a:off x="609600" y="1809750"/>
            <a:ext cx="5334000" cy="19716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Charge, p.d. and current all decay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exponentially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with time Q、V、I 均指数衰减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Current is greatest at the start (charge flows fastest) 初始电流最大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Rate of decay depends on R and C 衰减快慢由 R、C 决定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The curve approaches zero but never reaches it 渐近为零</a:t>
            </a:r>
          </a:p>
        </p:txBody>
      </p:sp>
      <p:sp>
        <p:nvSpPr>
          <p:cNvPr id="10" name="dsl:dg-canvas"/>
          <p:cNvSpPr/>
          <p:nvPr/>
        </p:nvSpPr>
        <p:spPr>
          <a:xfrm>
            <a:off x="6286500" y="1809750"/>
            <a:ext cx="5295900" cy="409575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dsl:dc-chart"/>
          <p:cNvGraphicFramePr>
            <a:graphicFrameLocks noGrp="1"/>
          </p:cNvGraphicFramePr>
          <p:nvPr/>
        </p:nvGraphicFramePr>
        <p:xfrm>
          <a:off x="6667500" y="2095500"/>
          <a:ext cx="4667250" cy="3238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dsl:dg-cap2|s=$small"/>
          <p:cNvSpPr txBox="1"/>
          <p:nvPr/>
        </p:nvSpPr>
        <p:spPr>
          <a:xfrm>
            <a:off x="6286500" y="5943600"/>
            <a:ext cx="52959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Exponential decay of Q, V and I 指数衰减曲线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a14="http://schemas.microsoft.com/office/drawing/2010/main" xmlns:m="http://schemas.openxmlformats.org/officeDocument/2006/math" xmlns:mc="http://schemas.openxmlformats.org/markup-compatibility/2006" mc:Ignorable="a14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19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The Time Constant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时间常数 τ = RC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19 Capacitance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08 / 15</a:t>
            </a:r>
          </a:p>
        </p:txBody>
      </p:sp>
      <p:sp>
        <p:nvSpPr>
          <p:cNvPr id="9" name="dsl:b0-bg"/>
          <p:cNvSpPr/>
          <p:nvPr/>
        </p:nvSpPr>
        <p:spPr>
          <a:xfrm>
            <a:off x="609600" y="1809750"/>
            <a:ext cx="5334000" cy="60960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b0-fx"/>
          <p:cNvSpPr txBox="1"/>
          <p:nvPr/>
        </p:nvSpPr>
        <p:spPr>
          <a:xfrm>
            <a:off x="838200" y="1809750"/>
            <a:ext cx="2552700" cy="609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14:m>
              <m:oMath>
                <m:r>
                  <a:rPr lang="en-US" i="1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τ</m:t>
                </m:r>
                <m:r>
                  <a:rPr lang="en-US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i="1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R</m:t>
                </m:r>
                <m:r>
                  <a:rPr lang="en-US" i="1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C</m:t>
                </m:r>
                <m:r>
                  <m:t> </m:t>
                </m:r>
                <m:r>
                  <a:rPr lang="en-US" i="1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x</m:t>
                </m:r>
                <m:r>
                  <a:rPr lang="en-US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=</m:t>
                </m:r>
                <m:sSub>
                  <m:sSubPr>
                    <m:ctrlP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x</m:t>
                    </m:r>
                  </m:e>
                  <m:sub>
                    <m:r>
                      <a:rPr lang="en-US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0</m:t>
                    </m:r>
                  </m:sub>
                </m:sSub>
                <m:r>
                  <m:t> </m:t>
                </m:r>
                <m:sSup>
                  <m:sSupPr>
                    <m:ctrlP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e</m:t>
                    </m:r>
                  </m:e>
                  <m:sup>
                    <m:r>
                      <a:rPr lang="en-US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C</m:t>
                    </m:r>
                  </m:sup>
                </m:sSup>
              </m:oMath>
            </a14:m>
          </a:p>
        </p:txBody>
      </p:sp>
      <p:sp>
        <p:nvSpPr>
          <p:cNvPr id="11" name="dsl:b0-nt|s=$small"/>
          <p:cNvSpPr txBox="1"/>
          <p:nvPr/>
        </p:nvSpPr>
        <p:spPr>
          <a:xfrm>
            <a:off x="3543300" y="1809750"/>
            <a:ext cx="2247900" cy="6096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x 可为 Q、V 或 I</a:t>
            </a:r>
          </a:p>
        </p:txBody>
      </p:sp>
      <p:sp>
        <p:nvSpPr>
          <p:cNvPr id="12" name="dsl:b1"/>
          <p:cNvSpPr txBox="1"/>
          <p:nvPr/>
        </p:nvSpPr>
        <p:spPr>
          <a:xfrm>
            <a:off x="609600" y="2590800"/>
            <a:ext cx="5334000" cy="17240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τ in seconds: R in Ω, C in F 单位秒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After t = τ: x falls to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37%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(1/e) of x₀ 一个时间常数后降至 37%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Half-life 半衰期: </a:t>
            </a:r>
            <a14:m>
              <m:oMath>
                <m:sSub>
                  <m:sSubPr>
                    <m:ctrlP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t</m:t>
                    </m:r>
                  </m:e>
                  <m:sub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2</m:t>
                    </m:r>
                  </m:sub>
                </m:sSub>
                <m:r>
                  <a:rPr lang="en-US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0.693</m:t>
                </m:r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τ</m:t>
                </m:r>
              </m:oMath>
            </a14:m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Large τ ⇒ slow discharge; small τ ⇒ fast discharge τ 大衰减慢</a:t>
            </a:r>
          </a:p>
        </p:txBody>
      </p:sp>
      <p:sp>
        <p:nvSpPr>
          <p:cNvPr id="13" name="dsl:dg-canvas"/>
          <p:cNvSpPr/>
          <p:nvPr/>
        </p:nvSpPr>
        <p:spPr>
          <a:xfrm>
            <a:off x="6286500" y="1809750"/>
            <a:ext cx="5295900" cy="409575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4" name="dsl:tc-chart"/>
          <p:cNvGraphicFramePr>
            <a:graphicFrameLocks noGrp="1"/>
          </p:cNvGraphicFramePr>
          <p:nvPr/>
        </p:nvGraphicFramePr>
        <p:xfrm>
          <a:off x="6667500" y="2095500"/>
          <a:ext cx="4667250" cy="3238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5" name="dsl:dg-cap2|s=$small"/>
          <p:cNvSpPr txBox="1"/>
          <p:nvPr/>
        </p:nvSpPr>
        <p:spPr>
          <a:xfrm>
            <a:off x="6286500" y="5943600"/>
            <a:ext cx="52959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At t = τ, x = 0.37x₀ 时间常数的意义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a14="http://schemas.microsoft.com/office/drawing/2010/main" xmlns:m="http://schemas.openxmlformats.org/officeDocument/2006/math" xmlns:mc="http://schemas.openxmlformats.org/markup-compatibility/2006" mc:Ignorable="a14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19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Worked Example 19A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例题解析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19 Capacitance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09 / 15</a:t>
            </a:r>
          </a:p>
        </p:txBody>
      </p:sp>
      <p:sp>
        <p:nvSpPr>
          <p:cNvPr id="9" name="dsl:ex-tag|s=$badge"/>
          <p:cNvSpPr txBox="1"/>
          <p:nvPr/>
        </p:nvSpPr>
        <p:spPr>
          <a:xfrm>
            <a:off x="609600" y="1752600"/>
            <a:ext cx="45720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WORKED EXAMPLE 19A</a:t>
            </a:r>
          </a:p>
        </p:txBody>
      </p:sp>
      <p:sp>
        <p:nvSpPr>
          <p:cNvPr id="10" name="dsl:ex-qbg"/>
          <p:cNvSpPr/>
          <p:nvPr/>
        </p:nvSpPr>
        <p:spPr>
          <a:xfrm>
            <a:off x="609600" y="2076450"/>
            <a:ext cx="4381500" cy="1743075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ex-q"/>
          <p:cNvSpPr txBox="1"/>
          <p:nvPr/>
        </p:nvSpPr>
        <p:spPr>
          <a:xfrm>
            <a:off x="800100" y="2209800"/>
            <a:ext cx="4000500" cy="14763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b="1" sz="1200" noProof="1">
                <a:solidFill>
                  <a:srgbClr val="1C2B33"/>
                </a:solidFill>
                <a:latin typeface="MiSans"/>
                <a:ea typeface="MiSans"/>
              </a:rPr>
              <a:t>1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 Show that the capacitance of an isolated spherical conductor of radius r is </a:t>
            </a:r>
            <a14:m>
              <m:oMath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C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4</m:t>
                </m:r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π</m:t>
                </m:r>
                <m:sSub>
                  <m:sSub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ε</m:t>
                    </m:r>
                  </m:e>
                  <m:sub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0</m:t>
                    </m:r>
                  </m:sub>
                </m:sSub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r</m:t>
                </m:r>
              </m:oMath>
            </a14:m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.</a:t>
            </a:r>
          </a:p>
          <a:p>
            <a:pPr algn="l">
              <a:lnSpc>
                <a:spcPct val="140000"/>
              </a:lnSpc>
            </a:pPr>
            <a:r>
              <a:rPr b="1" sz="1200" noProof="1">
                <a:solidFill>
                  <a:srgbClr val="1C2B33"/>
                </a:solidFill>
                <a:latin typeface="MiSans"/>
                <a:ea typeface="MiSans"/>
              </a:rPr>
              <a:t>2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 Calculate the charge stored on an isolated conductor of capacitance 280 µF at a potential of 25 V.</a:t>
            </a: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sz="1050" noProof="1">
                <a:solidFill>
                  <a:srgbClr val="5C7A84"/>
                </a:solidFill>
                <a:latin typeface="MiSans"/>
                <a:ea typeface="MiSans"/>
              </a:rPr>
              <a:t>证明题从定义式出发；µF 要 ×10⁻⁶。</a:t>
            </a:r>
          </a:p>
        </p:txBody>
      </p:sp>
      <p:sp>
        <p:nvSpPr>
          <p:cNvPr id="12" name="dsl:ex-sol|s=$badge"/>
          <p:cNvSpPr txBox="1"/>
          <p:nvPr/>
        </p:nvSpPr>
        <p:spPr>
          <a:xfrm>
            <a:off x="5372100" y="1752600"/>
            <a:ext cx="62103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SOLUTION 解答</a:t>
            </a:r>
          </a:p>
        </p:txBody>
      </p:sp>
      <p:sp>
        <p:nvSpPr>
          <p:cNvPr id="13" name="dsl:ex-steps"/>
          <p:cNvSpPr txBox="1"/>
          <p:nvPr/>
        </p:nvSpPr>
        <p:spPr>
          <a:xfrm>
            <a:off x="5372100" y="2076450"/>
            <a:ext cx="6210300" cy="10477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b="1" sz="1200" noProof="1">
                <a:solidFill>
                  <a:srgbClr val="1C2B33"/>
                </a:solidFill>
                <a:latin typeface="MiSans"/>
                <a:ea typeface="MiSans"/>
              </a:rPr>
              <a:t>Step 1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　</a:t>
            </a:r>
            <a:r>
              <a:rPr b="1" sz="1200" noProof="1">
                <a:solidFill>
                  <a:srgbClr val="1C2B33"/>
                </a:solidFill>
                <a:latin typeface="MiSans"/>
                <a:ea typeface="MiSans"/>
              </a:rPr>
              <a:t>1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 Charge on a sphere acts as a point charge at its centre: surface potential </a:t>
            </a:r>
            <a14:m>
              <m:oMath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V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f>
                  <m:f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Q</m:t>
                    </m:r>
                  </m:num>
                  <m:den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π</m:t>
                    </m:r>
                    <m:sSub>
                      <m:sSubPr>
                        <m:ctrlPr>
                          <a:rPr lang="en-US" i="1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ε</m:t>
                        </m:r>
                      </m:e>
                      <m:sub>
                        <m:r>
                          <a:rPr lang="en-US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r</m:t>
                    </m:r>
                  </m:den>
                </m:f>
              </m:oMath>
            </a14:m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.</a:t>
            </a:r>
          </a:p>
          <a:p>
            <a:pPr algn="l">
              <a:lnSpc>
                <a:spcPct val="140000"/>
              </a:lnSpc>
            </a:pPr>
            <a:r>
              <a:rPr b="1" sz="1200" noProof="1">
                <a:solidFill>
                  <a:srgbClr val="1C2B33"/>
                </a:solidFill>
                <a:latin typeface="MiSans"/>
                <a:ea typeface="MiSans"/>
              </a:rPr>
              <a:t>Step 2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　By definition </a:t>
            </a:r>
            <a14:m>
              <m:oMath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C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f>
                  <m:f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Q</m:t>
                    </m:r>
                  </m:num>
                  <m:den>
                    <m: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V</m:t>
                    </m:r>
                  </m:den>
                </m:f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f>
                  <m:f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Q</m:t>
                    </m:r>
                  </m:num>
                  <m:den>
                    <m: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Q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π</m:t>
                    </m:r>
                    <m:sSub>
                      <m:sSubPr>
                        <m:ctrlPr>
                          <a:rPr lang="en-US" i="1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ε</m:t>
                        </m:r>
                      </m:e>
                      <m:sub>
                        <m:r>
                          <a:rPr lang="en-US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)</m:t>
                    </m:r>
                  </m:den>
                </m:f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4</m:t>
                </m:r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π</m:t>
                </m:r>
                <m:sSub>
                  <m:sSub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ε</m:t>
                    </m:r>
                  </m:e>
                  <m:sub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0</m:t>
                    </m:r>
                  </m:sub>
                </m:sSub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r</m:t>
                </m:r>
              </m:oMath>
            </a14:m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.</a:t>
            </a:r>
          </a:p>
          <a:p>
            <a:pPr algn="l">
              <a:lnSpc>
                <a:spcPct val="140000"/>
              </a:lnSpc>
            </a:pPr>
            <a:r>
              <a:rPr b="1" sz="1200" noProof="1">
                <a:solidFill>
                  <a:srgbClr val="1C2B33"/>
                </a:solidFill>
                <a:latin typeface="MiSans"/>
                <a:ea typeface="MiSans"/>
              </a:rPr>
              <a:t>Step 3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　</a:t>
            </a:r>
            <a:r>
              <a:rPr b="1" sz="1200" noProof="1">
                <a:solidFill>
                  <a:srgbClr val="1C2B33"/>
                </a:solidFill>
                <a:latin typeface="MiSans"/>
                <a:ea typeface="MiSans"/>
              </a:rPr>
              <a:t>2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 </a:t>
            </a:r>
            <a14:m>
              <m:oMath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Q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C</m:t>
                </m:r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V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280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×</m:t>
                </m:r>
                <m:sSup>
                  <m:sSup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10</m:t>
                    </m:r>
                  </m:e>
                  <m:sup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6</m:t>
                    </m:r>
                  </m:sup>
                </m:sSup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×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25</m:t>
                </m:r>
              </m:oMath>
            </a14:m>
          </a:p>
        </p:txBody>
      </p:sp>
      <p:sp>
        <p:nvSpPr>
          <p:cNvPr id="14" name="dsl:ex-abg"/>
          <p:cNvSpPr/>
          <p:nvPr/>
        </p:nvSpPr>
        <p:spPr>
          <a:xfrm>
            <a:off x="5372100" y="3276600"/>
            <a:ext cx="6210300" cy="51435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l:ex-abar"/>
          <p:cNvSpPr/>
          <p:nvPr/>
        </p:nvSpPr>
        <p:spPr>
          <a:xfrm>
            <a:off x="5372100" y="3276600"/>
            <a:ext cx="38100" cy="51435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sl:ex-ans"/>
          <p:cNvSpPr txBox="1"/>
          <p:nvPr/>
        </p:nvSpPr>
        <p:spPr>
          <a:xfrm>
            <a:off x="5562600" y="3276600"/>
            <a:ext cx="5867400" cy="5143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b="1" sz="1275" noProof="1">
                <a:solidFill>
                  <a:srgbClr val="1C2B33"/>
                </a:solidFill>
                <a:latin typeface="MiSans"/>
                <a:ea typeface="MiSans"/>
              </a:rPr>
              <a:t>Answer</a:t>
            </a:r>
            <a:r>
              <a:rPr sz="1275" noProof="1">
                <a:solidFill>
                  <a:srgbClr val="1C2B33"/>
                </a:solidFill>
                <a:latin typeface="MiSans"/>
                <a:ea typeface="MiSans"/>
              </a:rPr>
              <a:t>　</a:t>
            </a:r>
            <a:r>
              <a:rPr b="1" sz="1275" noProof="1">
                <a:solidFill>
                  <a:srgbClr val="D97D29"/>
                </a:solidFill>
                <a:latin typeface="MiSans"/>
                <a:ea typeface="MiSans"/>
              </a:rPr>
              <a:t>2</a:t>
            </a:r>
            <a:r>
              <a:rPr b="1" sz="1275" noProof="1">
                <a:solidFill>
                  <a:srgbClr val="D97D29"/>
                </a:solidFill>
                <a:latin typeface="MiSans"/>
                <a:ea typeface="MiSans"/>
              </a:rPr>
              <a:t> </a:t>
            </a:r>
            <a14:m>
              <m:oMath>
                <m:r>
                  <a:rPr lang="en-US" i="1" sz="1275">
                    <a:solidFill>
                      <a:srgbClr val="D97D29"/>
                    </a:solidFill>
                    <a:latin typeface="Cambria Math" panose="02040503050406030204" pitchFamily="18" charset="0"/>
                  </a:rPr>
                  <m:t>Q</m:t>
                </m:r>
                <m:r>
                  <a:rPr lang="en-US" sz="1275">
                    <a:solidFill>
                      <a:srgbClr val="D97D29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275">
                    <a:solidFill>
                      <a:srgbClr val="D97D29"/>
                    </a:solidFill>
                    <a:latin typeface="Cambria Math" panose="02040503050406030204" pitchFamily="18" charset="0"/>
                  </a:rPr>
                  <m:t>7.0</m:t>
                </m:r>
                <m:r>
                  <a:rPr lang="en-US" sz="1275">
                    <a:solidFill>
                      <a:srgbClr val="D97D29"/>
                    </a:solidFill>
                    <a:latin typeface="Cambria Math" panose="02040503050406030204" pitchFamily="18" charset="0"/>
                  </a:rPr>
                  <m:t>×</m:t>
                </m:r>
                <m:sSup>
                  <m:sSupPr>
                    <m:ctrlPr>
                      <a:rPr lang="en-US" i="1" sz="1275">
                        <a:solidFill>
                          <a:srgbClr val="D97D29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275">
                        <a:solidFill>
                          <a:srgbClr val="D97D29"/>
                        </a:solidFill>
                        <a:latin typeface="Cambria Math" panose="02040503050406030204" pitchFamily="18" charset="0"/>
                      </a:rPr>
                      <m:t>10</m:t>
                    </m:r>
                  </m:e>
                  <m:sup>
                    <m:r>
                      <a:rPr lang="en-US" sz="1275">
                        <a:solidFill>
                          <a:srgbClr val="D97D29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275">
                        <a:solidFill>
                          <a:srgbClr val="D97D29"/>
                        </a:solidFill>
                        <a:latin typeface="Cambria Math" panose="02040503050406030204" pitchFamily="18" charset="0"/>
                      </a:rPr>
                      <m:t>3</m:t>
                    </m:r>
                  </m:sup>
                </m:sSup>
                <m:r>
                  <m:t> </m:t>
                </m:r>
                <m:r>
                  <a:rPr lang="en-US" sz="1275">
                    <a:solidFill>
                      <a:srgbClr val="D97D29"/>
                    </a:solidFill>
                    <a:latin typeface="Cambria Math" panose="02040503050406030204" pitchFamily="18" charset="0"/>
                  </a:rPr>
                  <m:t>C</m:t>
                </m:r>
              </m:oMath>
            </a14:m>
            <a:r>
              <a:rPr b="1" sz="1275" noProof="1">
                <a:solidFill>
                  <a:srgbClr val="D97D29"/>
                </a:solidFill>
                <a:latin typeface="MiSans"/>
                <a:ea typeface="MiSans"/>
              </a:rPr>
              <a:t>（7.0 mC）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a14="http://schemas.microsoft.com/office/drawing/2010/main" xmlns:m="http://schemas.openxmlformats.org/officeDocument/2006/math" xmlns:mc="http://schemas.openxmlformats.org/markup-compatibility/2006" mc:Ignorable="a14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19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Worked Example 19C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例题解析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19 Capacitance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10 / 15</a:t>
            </a:r>
          </a:p>
        </p:txBody>
      </p:sp>
      <p:sp>
        <p:nvSpPr>
          <p:cNvPr id="9" name="dsl:ex-tag|s=$badge"/>
          <p:cNvSpPr txBox="1"/>
          <p:nvPr/>
        </p:nvSpPr>
        <p:spPr>
          <a:xfrm>
            <a:off x="609600" y="1752600"/>
            <a:ext cx="45720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WORKED EXAMPLE 19C</a:t>
            </a:r>
          </a:p>
        </p:txBody>
      </p:sp>
      <p:sp>
        <p:nvSpPr>
          <p:cNvPr id="10" name="dsl:ex-qbg"/>
          <p:cNvSpPr/>
          <p:nvPr/>
        </p:nvSpPr>
        <p:spPr>
          <a:xfrm>
            <a:off x="609600" y="2076450"/>
            <a:ext cx="4381500" cy="238125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ex-q"/>
          <p:cNvSpPr txBox="1"/>
          <p:nvPr/>
        </p:nvSpPr>
        <p:spPr>
          <a:xfrm>
            <a:off x="800100" y="2209800"/>
            <a:ext cx="4000500" cy="21145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b="1" sz="1200" noProof="1">
                <a:solidFill>
                  <a:srgbClr val="1C2B33"/>
                </a:solidFill>
                <a:latin typeface="MiSans"/>
                <a:ea typeface="MiSans"/>
              </a:rPr>
              <a:t>1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 A 50 µF capacitor in parallel with a 10 µF capacitor is connected to a 12 V supply. Find (a) total capacitance; (b) p.d. across each; (c) charge on each.</a:t>
            </a:r>
          </a:p>
          <a:p>
            <a:pPr algn="l">
              <a:lnSpc>
                <a:spcPct val="140000"/>
              </a:lnSpc>
            </a:pPr>
            <a:r>
              <a:rPr b="1" sz="1200" noProof="1">
                <a:solidFill>
                  <a:srgbClr val="1C2B33"/>
                </a:solidFill>
                <a:latin typeface="MiSans"/>
                <a:ea typeface="MiSans"/>
              </a:rPr>
              <a:t>2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 A 12 µF capacitor in series with a 6 µF capacitor is connected to 15 V. Find (a) combined capacitance; (b) charge on each; (c) p.d. across each.</a:t>
            </a: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sz="1050" noProof="1">
                <a:solidFill>
                  <a:srgbClr val="5C7A84"/>
                </a:solidFill>
                <a:latin typeface="MiSans"/>
                <a:ea typeface="MiSans"/>
              </a:rPr>
              <a:t>串联同 Q、并联同 V；最后用 V 总和验证。</a:t>
            </a:r>
          </a:p>
        </p:txBody>
      </p:sp>
      <p:sp>
        <p:nvSpPr>
          <p:cNvPr id="12" name="dsl:ex-sol|s=$badge"/>
          <p:cNvSpPr txBox="1"/>
          <p:nvPr/>
        </p:nvSpPr>
        <p:spPr>
          <a:xfrm>
            <a:off x="5372100" y="1752600"/>
            <a:ext cx="62103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SOLUTION 解答</a:t>
            </a:r>
          </a:p>
        </p:txBody>
      </p:sp>
      <p:sp>
        <p:nvSpPr>
          <p:cNvPr id="13" name="dsl:ex-steps"/>
          <p:cNvSpPr txBox="1"/>
          <p:nvPr/>
        </p:nvSpPr>
        <p:spPr>
          <a:xfrm>
            <a:off x="5372100" y="2076450"/>
            <a:ext cx="6210300" cy="15716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b="1" sz="1200" noProof="1">
                <a:solidFill>
                  <a:srgbClr val="1C2B33"/>
                </a:solidFill>
                <a:latin typeface="MiSans"/>
                <a:ea typeface="MiSans"/>
              </a:rPr>
              <a:t>Step 1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　</a:t>
            </a:r>
            <a:r>
              <a:rPr b="1" sz="1200" noProof="1">
                <a:solidFill>
                  <a:srgbClr val="1C2B33"/>
                </a:solidFill>
                <a:latin typeface="MiSans"/>
                <a:ea typeface="MiSans"/>
              </a:rPr>
              <a:t>1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 Parallel: </a:t>
            </a:r>
            <a14:m>
              <m:oMath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C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50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+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10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60</m:t>
                </m:r>
                <m:r>
                  <m:t> </m:t>
                </m:r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μ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F</m:t>
                </m:r>
              </m:oMath>
            </a14:m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; each has V = 12 V; </a:t>
            </a:r>
            <a14:m>
              <m:oMath>
                <m:sSub>
                  <m:sSub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Q</m:t>
                    </m:r>
                  </m:e>
                  <m:sub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</m:t>
                    </m:r>
                  </m:sub>
                </m:sSub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50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×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12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600</m:t>
                </m:r>
                <m:r>
                  <m:t> </m:t>
                </m:r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μ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C</m:t>
                </m:r>
              </m:oMath>
            </a14:m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, </a:t>
            </a:r>
            <a14:m>
              <m:oMath>
                <m:sSub>
                  <m:sSub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Q</m:t>
                    </m:r>
                  </m:e>
                  <m:sub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2</m:t>
                    </m:r>
                  </m:sub>
                </m:sSub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10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×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12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120</m:t>
                </m:r>
                <m:r>
                  <m:t> </m:t>
                </m:r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μ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C</m:t>
                </m:r>
              </m:oMath>
            </a14:m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.</a:t>
            </a:r>
          </a:p>
          <a:p>
            <a:pPr algn="l">
              <a:lnSpc>
                <a:spcPct val="140000"/>
              </a:lnSpc>
            </a:pPr>
            <a:r>
              <a:rPr b="1" sz="1200" noProof="1">
                <a:solidFill>
                  <a:srgbClr val="1C2B33"/>
                </a:solidFill>
                <a:latin typeface="MiSans"/>
                <a:ea typeface="MiSans"/>
              </a:rPr>
              <a:t>Step 2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　</a:t>
            </a:r>
            <a:r>
              <a:rPr b="1" sz="1200" noProof="1">
                <a:solidFill>
                  <a:srgbClr val="1C2B33"/>
                </a:solidFill>
                <a:latin typeface="MiSans"/>
                <a:ea typeface="MiSans"/>
              </a:rPr>
              <a:t>2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 Series: </a:t>
            </a:r>
            <a14:m>
              <m:oMath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C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f>
                  <m:f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6</m:t>
                    </m:r>
                  </m:num>
                  <m:den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6</m:t>
                    </m:r>
                  </m:den>
                </m:f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4.0</m:t>
                </m:r>
                <m:r>
                  <m:t> </m:t>
                </m:r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μ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F</m:t>
                </m:r>
              </m:oMath>
            </a14:m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.</a:t>
            </a:r>
          </a:p>
          <a:p>
            <a:pPr algn="l">
              <a:lnSpc>
                <a:spcPct val="140000"/>
              </a:lnSpc>
            </a:pPr>
            <a:r>
              <a:rPr b="1" sz="1200" noProof="1">
                <a:solidFill>
                  <a:srgbClr val="1C2B33"/>
                </a:solidFill>
                <a:latin typeface="MiSans"/>
                <a:ea typeface="MiSans"/>
              </a:rPr>
              <a:t>Step 3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　Same charge on each: </a:t>
            </a:r>
            <a14:m>
              <m:oMath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Q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C</m:t>
                </m:r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V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4.0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×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15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60</m:t>
                </m:r>
                <m:r>
                  <m:t> </m:t>
                </m:r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μ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C</m:t>
                </m:r>
              </m:oMath>
            </a14:m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.</a:t>
            </a:r>
          </a:p>
          <a:p>
            <a:pPr algn="l">
              <a:lnSpc>
                <a:spcPct val="140000"/>
              </a:lnSpc>
            </a:pPr>
            <a:r>
              <a:rPr b="1" sz="1200" noProof="1">
                <a:solidFill>
                  <a:srgbClr val="1C2B33"/>
                </a:solidFill>
                <a:latin typeface="MiSans"/>
                <a:ea typeface="MiSans"/>
              </a:rPr>
              <a:t>Step 4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　</a:t>
            </a:r>
            <a14:m>
              <m:oMath>
                <m:sSub>
                  <m:sSub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V</m:t>
                    </m:r>
                  </m:e>
                  <m:sub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</m:t>
                    </m:r>
                  </m:sub>
                </m:sSub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f>
                  <m:f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Q</m:t>
                    </m:r>
                  </m:num>
                  <m:den>
                    <m:sSub>
                      <m:sSubPr>
                        <m:ctrlPr>
                          <a:rPr lang="en-US" i="1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US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den>
                </m:f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f>
                  <m:f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60</m:t>
                    </m:r>
                  </m:num>
                  <m:den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12</m:t>
                    </m:r>
                  </m:den>
                </m:f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5.0</m:t>
                </m:r>
                <m:r>
                  <m:t> 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V</m:t>
                </m:r>
              </m:oMath>
            </a14:m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, </a:t>
            </a:r>
            <a14:m>
              <m:oMath>
                <m:sSub>
                  <m:sSub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V</m:t>
                    </m:r>
                  </m:e>
                  <m:sub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2</m:t>
                    </m:r>
                  </m:sub>
                </m:sSub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f>
                  <m:f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60</m:t>
                    </m:r>
                  </m:num>
                  <m:den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6</m:t>
                    </m:r>
                  </m:den>
                </m:f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10</m:t>
                </m:r>
                <m:r>
                  <m:t> 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V</m:t>
                </m:r>
              </m:oMath>
            </a14:m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（check: 5 + 10 = 15 V ✓）</a:t>
            </a:r>
          </a:p>
        </p:txBody>
      </p:sp>
      <p:sp>
        <p:nvSpPr>
          <p:cNvPr id="14" name="dsl:ex-abg"/>
          <p:cNvSpPr/>
          <p:nvPr/>
        </p:nvSpPr>
        <p:spPr>
          <a:xfrm>
            <a:off x="5372100" y="3800475"/>
            <a:ext cx="6210300" cy="51435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l:ex-abar"/>
          <p:cNvSpPr/>
          <p:nvPr/>
        </p:nvSpPr>
        <p:spPr>
          <a:xfrm>
            <a:off x="5372100" y="3800475"/>
            <a:ext cx="38100" cy="51435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sl:ex-ans"/>
          <p:cNvSpPr txBox="1"/>
          <p:nvPr/>
        </p:nvSpPr>
        <p:spPr>
          <a:xfrm>
            <a:off x="5562600" y="3800475"/>
            <a:ext cx="5867400" cy="5143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b="1" sz="1275" noProof="1">
                <a:solidFill>
                  <a:srgbClr val="1C2B33"/>
                </a:solidFill>
                <a:latin typeface="MiSans"/>
                <a:ea typeface="MiSans"/>
              </a:rPr>
              <a:t>Answer</a:t>
            </a:r>
            <a:r>
              <a:rPr sz="1275" noProof="1">
                <a:solidFill>
                  <a:srgbClr val="1C2B33"/>
                </a:solidFill>
                <a:latin typeface="MiSans"/>
                <a:ea typeface="MiSans"/>
              </a:rPr>
              <a:t>　</a:t>
            </a:r>
            <a:r>
              <a:rPr b="1" sz="1275" noProof="1">
                <a:solidFill>
                  <a:srgbClr val="D97D29"/>
                </a:solidFill>
                <a:latin typeface="MiSans"/>
                <a:ea typeface="MiSans"/>
              </a:rPr>
              <a:t>1</a:t>
            </a:r>
            <a:r>
              <a:rPr b="1" sz="1275" noProof="1">
                <a:solidFill>
                  <a:srgbClr val="D97D29"/>
                </a:solidFill>
                <a:latin typeface="MiSans"/>
                <a:ea typeface="MiSans"/>
              </a:rPr>
              <a:t> 60 µF; 12 V; 600 µC &amp; 120 µC　</a:t>
            </a:r>
            <a:r>
              <a:rPr b="1" sz="1275" noProof="1">
                <a:solidFill>
                  <a:srgbClr val="D97D29"/>
                </a:solidFill>
                <a:latin typeface="MiSans"/>
                <a:ea typeface="MiSans"/>
              </a:rPr>
              <a:t>2</a:t>
            </a:r>
            <a:r>
              <a:rPr b="1" sz="1275" noProof="1">
                <a:solidFill>
                  <a:srgbClr val="D97D29"/>
                </a:solidFill>
                <a:latin typeface="MiSans"/>
                <a:ea typeface="MiSans"/>
              </a:rPr>
              <a:t> 4.0 µF; 60 µC; 5.0 V &amp; 10 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a14="http://schemas.microsoft.com/office/drawing/2010/main" xmlns:m="http://schemas.openxmlformats.org/officeDocument/2006/math" xmlns:mc="http://schemas.openxmlformats.org/markup-compatibility/2006" mc:Ignorable="a14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19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Worked Example 19D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例题解析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19 Capacitance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11 / 15</a:t>
            </a:r>
          </a:p>
        </p:txBody>
      </p:sp>
      <p:sp>
        <p:nvSpPr>
          <p:cNvPr id="9" name="dsl:ex-tag|s=$badge"/>
          <p:cNvSpPr txBox="1"/>
          <p:nvPr/>
        </p:nvSpPr>
        <p:spPr>
          <a:xfrm>
            <a:off x="609600" y="1752600"/>
            <a:ext cx="45720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WORKED EXAMPLE 19D</a:t>
            </a:r>
          </a:p>
        </p:txBody>
      </p:sp>
      <p:sp>
        <p:nvSpPr>
          <p:cNvPr id="10" name="dsl:ex-qbg"/>
          <p:cNvSpPr/>
          <p:nvPr/>
        </p:nvSpPr>
        <p:spPr>
          <a:xfrm>
            <a:off x="609600" y="2076450"/>
            <a:ext cx="4381500" cy="1952625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ex-q"/>
          <p:cNvSpPr txBox="1"/>
          <p:nvPr/>
        </p:nvSpPr>
        <p:spPr>
          <a:xfrm>
            <a:off x="800100" y="2209800"/>
            <a:ext cx="4000500" cy="16859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b="1" sz="1200" noProof="1">
                <a:solidFill>
                  <a:srgbClr val="1C2B33"/>
                </a:solidFill>
                <a:latin typeface="MiSans"/>
                <a:ea typeface="MiSans"/>
              </a:rPr>
              <a:t>1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 Calculate the energy stored by a 280 µF capacitor charged to 12 V.</a:t>
            </a:r>
          </a:p>
          <a:p>
            <a:pPr algn="l">
              <a:lnSpc>
                <a:spcPct val="140000"/>
              </a:lnSpc>
            </a:pPr>
            <a:r>
              <a:rPr b="1" sz="1200" noProof="1">
                <a:solidFill>
                  <a:srgbClr val="1C2B33"/>
                </a:solidFill>
                <a:latin typeface="MiSans"/>
                <a:ea typeface="MiSans"/>
              </a:rPr>
              <a:t>2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 A camera flash uses a 5000 µF capacitor charged by a 9 V battery. Calculate the energy transferred when it discharges through the lamp until the p.d. falls to 4.0 V.</a:t>
            </a: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sz="1050" noProof="1">
                <a:solidFill>
                  <a:srgbClr val="5C7A84"/>
                </a:solidFill>
                <a:latin typeface="MiSans"/>
                <a:ea typeface="MiSans"/>
              </a:rPr>
              <a:t>部分放电要算能量差，不能直接 ½CV²。</a:t>
            </a:r>
          </a:p>
        </p:txBody>
      </p:sp>
      <p:sp>
        <p:nvSpPr>
          <p:cNvPr id="12" name="dsl:ex-sol|s=$badge"/>
          <p:cNvSpPr txBox="1"/>
          <p:nvPr/>
        </p:nvSpPr>
        <p:spPr>
          <a:xfrm>
            <a:off x="5372100" y="1752600"/>
            <a:ext cx="62103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SOLUTION 解答</a:t>
            </a:r>
          </a:p>
        </p:txBody>
      </p:sp>
      <p:sp>
        <p:nvSpPr>
          <p:cNvPr id="13" name="dsl:ex-steps"/>
          <p:cNvSpPr txBox="1"/>
          <p:nvPr/>
        </p:nvSpPr>
        <p:spPr>
          <a:xfrm>
            <a:off x="5372100" y="2076450"/>
            <a:ext cx="6210300" cy="838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b="1" sz="1200" noProof="1">
                <a:solidFill>
                  <a:srgbClr val="1C2B33"/>
                </a:solidFill>
                <a:latin typeface="MiSans"/>
                <a:ea typeface="MiSans"/>
              </a:rPr>
              <a:t>Step 1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　</a:t>
            </a:r>
            <a:r>
              <a:rPr b="1" sz="1200" noProof="1">
                <a:solidFill>
                  <a:srgbClr val="1C2B33"/>
                </a:solidFill>
                <a:latin typeface="MiSans"/>
                <a:ea typeface="MiSans"/>
              </a:rPr>
              <a:t>1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 </a:t>
            </a:r>
            <a14:m>
              <m:oMath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W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f>
                  <m:f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</m:t>
                    </m:r>
                  </m:num>
                  <m:den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2</m:t>
                    </m:r>
                  </m:den>
                </m:f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C</m:t>
                </m:r>
                <m:sSup>
                  <m:sSup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V</m:t>
                    </m:r>
                  </m:e>
                  <m:sup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2</m:t>
                    </m:r>
                  </m:sup>
                </m:sSup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0.5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×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280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×</m:t>
                </m:r>
                <m:sSup>
                  <m:sSup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10</m:t>
                    </m:r>
                  </m:e>
                  <m:sup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6</m:t>
                    </m:r>
                  </m:sup>
                </m:sSup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×</m:t>
                </m:r>
                <m:sSup>
                  <m:sSup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12</m:t>
                    </m:r>
                  </m:e>
                  <m:sup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2</m:t>
                    </m:r>
                  </m:sup>
                </m:sSup>
              </m:oMath>
            </a14:m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.</a:t>
            </a:r>
          </a:p>
          <a:p>
            <a:pPr algn="l">
              <a:lnSpc>
                <a:spcPct val="140000"/>
              </a:lnSpc>
            </a:pPr>
            <a:r>
              <a:rPr b="1" sz="1200" noProof="1">
                <a:solidFill>
                  <a:srgbClr val="1C2B33"/>
                </a:solidFill>
                <a:latin typeface="MiSans"/>
                <a:ea typeface="MiSans"/>
              </a:rPr>
              <a:t>Step 2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　</a:t>
            </a:r>
            <a:r>
              <a:rPr b="1" sz="1200" noProof="1">
                <a:solidFill>
                  <a:srgbClr val="1C2B33"/>
                </a:solidFill>
                <a:latin typeface="MiSans"/>
                <a:ea typeface="MiSans"/>
              </a:rPr>
              <a:t>2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 Energy remaining at 4 V is </a:t>
            </a:r>
            <a:r>
              <a:rPr b="1" sz="1200" noProof="1">
                <a:solidFill>
                  <a:srgbClr val="1C2B33"/>
                </a:solidFill>
                <a:latin typeface="MiSans"/>
                <a:ea typeface="MiSans"/>
              </a:rPr>
              <a:t>not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 transferred — subtract:</a:t>
            </a:r>
          </a:p>
          <a:p>
            <a:pPr algn="l">
              <a:lnSpc>
                <a:spcPct val="140000"/>
              </a:lnSpc>
            </a:pPr>
            <a:r>
              <a:rPr b="1" sz="1200" noProof="1">
                <a:solidFill>
                  <a:srgbClr val="1C2B33"/>
                </a:solidFill>
                <a:latin typeface="MiSans"/>
                <a:ea typeface="MiSans"/>
              </a:rPr>
              <a:t>Step 3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　</a:t>
            </a:r>
            <a14:m>
              <m:oMath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Δ</m:t>
                </m:r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W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f>
                  <m:f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</m:t>
                    </m:r>
                  </m:num>
                  <m:den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2</m:t>
                    </m:r>
                  </m:den>
                </m:f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C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(</m:t>
                </m:r>
                <m:sSubSup>
                  <m:sSubSup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bSupPr>
                  <m:e>
                    <m: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V</m:t>
                    </m:r>
                  </m:e>
                  <m:sub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</m:t>
                    </m:r>
                  </m:sub>
                  <m:sup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2</m:t>
                    </m:r>
                  </m:sup>
                </m:sSubSup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−</m:t>
                </m:r>
                <m:sSubSup>
                  <m:sSubSup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bSupPr>
                  <m:e>
                    <m: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V</m:t>
                    </m:r>
                  </m:e>
                  <m:sub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2</m:t>
                    </m:r>
                  </m:sub>
                  <m:sup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2</m:t>
                    </m:r>
                  </m:sup>
                </m:sSubSup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)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0.5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×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5000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×</m:t>
                </m:r>
                <m:sSup>
                  <m:sSup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10</m:t>
                    </m:r>
                  </m:e>
                  <m:sup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6</m:t>
                    </m:r>
                  </m:sup>
                </m:sSup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×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(</m:t>
                </m:r>
                <m:sSup>
                  <m:sSup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9</m:t>
                    </m:r>
                  </m:e>
                  <m:sup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2</m:t>
                    </m:r>
                  </m:sup>
                </m:sSup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−</m:t>
                </m:r>
                <m:sSup>
                  <m:sSup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4</m:t>
                    </m:r>
                  </m:e>
                  <m:sup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2</m:t>
                    </m:r>
                  </m:sup>
                </m:sSup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</a:p>
        </p:txBody>
      </p:sp>
      <p:sp>
        <p:nvSpPr>
          <p:cNvPr id="14" name="dsl:ex-abg"/>
          <p:cNvSpPr/>
          <p:nvPr/>
        </p:nvSpPr>
        <p:spPr>
          <a:xfrm>
            <a:off x="5372100" y="3067050"/>
            <a:ext cx="6210300" cy="51435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l:ex-abar"/>
          <p:cNvSpPr/>
          <p:nvPr/>
        </p:nvSpPr>
        <p:spPr>
          <a:xfrm>
            <a:off x="5372100" y="3067050"/>
            <a:ext cx="38100" cy="51435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sl:ex-ans"/>
          <p:cNvSpPr txBox="1"/>
          <p:nvPr/>
        </p:nvSpPr>
        <p:spPr>
          <a:xfrm>
            <a:off x="5562600" y="3067050"/>
            <a:ext cx="5867400" cy="5143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b="1" sz="1275" noProof="1">
                <a:solidFill>
                  <a:srgbClr val="1C2B33"/>
                </a:solidFill>
                <a:latin typeface="MiSans"/>
                <a:ea typeface="MiSans"/>
              </a:rPr>
              <a:t>Answer</a:t>
            </a:r>
            <a:r>
              <a:rPr sz="1275" noProof="1">
                <a:solidFill>
                  <a:srgbClr val="1C2B33"/>
                </a:solidFill>
                <a:latin typeface="MiSans"/>
                <a:ea typeface="MiSans"/>
              </a:rPr>
              <a:t>　</a:t>
            </a:r>
            <a:r>
              <a:rPr b="1" sz="1275" noProof="1">
                <a:solidFill>
                  <a:srgbClr val="D97D29"/>
                </a:solidFill>
                <a:latin typeface="MiSans"/>
                <a:ea typeface="MiSans"/>
              </a:rPr>
              <a:t>1</a:t>
            </a:r>
            <a:r>
              <a:rPr b="1" sz="1275" noProof="1">
                <a:solidFill>
                  <a:srgbClr val="D97D29"/>
                </a:solidFill>
                <a:latin typeface="MiSans"/>
                <a:ea typeface="MiSans"/>
              </a:rPr>
              <a:t> </a:t>
            </a:r>
            <a14:m>
              <m:oMath>
                <m:r>
                  <a:rPr lang="en-US" i="1" sz="1275">
                    <a:solidFill>
                      <a:srgbClr val="D97D29"/>
                    </a:solidFill>
                    <a:latin typeface="Cambria Math" panose="02040503050406030204" pitchFamily="18" charset="0"/>
                  </a:rPr>
                  <m:t>W</m:t>
                </m:r>
                <m:r>
                  <a:rPr lang="en-US" sz="1275">
                    <a:solidFill>
                      <a:srgbClr val="D97D29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275">
                    <a:solidFill>
                      <a:srgbClr val="D97D29"/>
                    </a:solidFill>
                    <a:latin typeface="Cambria Math" panose="02040503050406030204" pitchFamily="18" charset="0"/>
                  </a:rPr>
                  <m:t>0.020</m:t>
                </m:r>
                <m:r>
                  <m:t> </m:t>
                </m:r>
                <m:r>
                  <a:rPr lang="en-US" sz="1275">
                    <a:solidFill>
                      <a:srgbClr val="D97D29"/>
                    </a:solidFill>
                    <a:latin typeface="Cambria Math" panose="02040503050406030204" pitchFamily="18" charset="0"/>
                  </a:rPr>
                  <m:t>J</m:t>
                </m:r>
              </m:oMath>
            </a14:m>
            <a:r>
              <a:rPr b="1" sz="1275" noProof="1">
                <a:solidFill>
                  <a:srgbClr val="D97D29"/>
                </a:solidFill>
                <a:latin typeface="MiSans"/>
                <a:ea typeface="MiSans"/>
              </a:rPr>
              <a:t>　</a:t>
            </a:r>
            <a:r>
              <a:rPr b="1" sz="1275" noProof="1">
                <a:solidFill>
                  <a:srgbClr val="D97D29"/>
                </a:solidFill>
                <a:latin typeface="MiSans"/>
                <a:ea typeface="MiSans"/>
              </a:rPr>
              <a:t>2</a:t>
            </a:r>
            <a:r>
              <a:rPr b="1" sz="1275" noProof="1">
                <a:solidFill>
                  <a:srgbClr val="D97D29"/>
                </a:solidFill>
                <a:latin typeface="MiSans"/>
                <a:ea typeface="MiSans"/>
              </a:rPr>
              <a:t> </a:t>
            </a:r>
            <a14:m>
              <m:oMath>
                <m:r>
                  <a:rPr lang="en-US" i="1" sz="1275">
                    <a:solidFill>
                      <a:srgbClr val="D97D29"/>
                    </a:solidFill>
                    <a:latin typeface="Cambria Math" panose="02040503050406030204" pitchFamily="18" charset="0"/>
                  </a:rPr>
                  <m:t>Δ</m:t>
                </m:r>
                <m:r>
                  <a:rPr lang="en-US" i="1" sz="1275">
                    <a:solidFill>
                      <a:srgbClr val="D97D29"/>
                    </a:solidFill>
                    <a:latin typeface="Cambria Math" panose="02040503050406030204" pitchFamily="18" charset="0"/>
                  </a:rPr>
                  <m:t>W</m:t>
                </m:r>
                <m:r>
                  <a:rPr lang="en-US" sz="1275">
                    <a:solidFill>
                      <a:srgbClr val="D97D29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275">
                    <a:solidFill>
                      <a:srgbClr val="D97D29"/>
                    </a:solidFill>
                    <a:latin typeface="Cambria Math" panose="02040503050406030204" pitchFamily="18" charset="0"/>
                  </a:rPr>
                  <m:t>0.16</m:t>
                </m:r>
                <m:r>
                  <m:t> </m:t>
                </m:r>
                <m:r>
                  <a:rPr lang="en-US" sz="1275">
                    <a:solidFill>
                      <a:srgbClr val="D97D29"/>
                    </a:solidFill>
                    <a:latin typeface="Cambria Math" panose="02040503050406030204" pitchFamily="18" charset="0"/>
                  </a:rPr>
                  <m:t>J</m:t>
                </m:r>
              </m:oMath>
            </a14:m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a14="http://schemas.microsoft.com/office/drawing/2010/main" xmlns:m="http://schemas.openxmlformats.org/officeDocument/2006/math" xmlns:mc="http://schemas.openxmlformats.org/markup-compatibility/2006" mc:Ignorable="a14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19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Worked Example 19E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例题解析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19 Capacitance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12 / 15</a:t>
            </a:r>
          </a:p>
        </p:txBody>
      </p:sp>
      <p:sp>
        <p:nvSpPr>
          <p:cNvPr id="9" name="dsl:ex-tag|s=$badge"/>
          <p:cNvSpPr txBox="1"/>
          <p:nvPr/>
        </p:nvSpPr>
        <p:spPr>
          <a:xfrm>
            <a:off x="609600" y="1752600"/>
            <a:ext cx="45720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WORKED EXAMPLE 19E</a:t>
            </a:r>
          </a:p>
        </p:txBody>
      </p:sp>
      <p:sp>
        <p:nvSpPr>
          <p:cNvPr id="10" name="dsl:ex-qbg"/>
          <p:cNvSpPr/>
          <p:nvPr/>
        </p:nvSpPr>
        <p:spPr>
          <a:xfrm>
            <a:off x="609600" y="2076450"/>
            <a:ext cx="4381500" cy="121920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ex-q"/>
          <p:cNvSpPr txBox="1"/>
          <p:nvPr/>
        </p:nvSpPr>
        <p:spPr>
          <a:xfrm>
            <a:off x="800100" y="2209800"/>
            <a:ext cx="4000500" cy="952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Calculate the time taken to discharge a 2.5 µF capacitor through a resistance of 0.5 MΩ until the p.d. across it has fallen by 50%.</a:t>
            </a: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sz="1050" noProof="1">
                <a:solidFill>
                  <a:srgbClr val="5C7A84"/>
                </a:solidFill>
                <a:latin typeface="MiSans"/>
                <a:ea typeface="MiSans"/>
              </a:rPr>
              <a:t>降到 50% 即一个半衰期 t½ = 0.693τ。</a:t>
            </a:r>
          </a:p>
        </p:txBody>
      </p:sp>
      <p:sp>
        <p:nvSpPr>
          <p:cNvPr id="12" name="dsl:ex-sol|s=$badge"/>
          <p:cNvSpPr txBox="1"/>
          <p:nvPr/>
        </p:nvSpPr>
        <p:spPr>
          <a:xfrm>
            <a:off x="5372100" y="1752600"/>
            <a:ext cx="62103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SOLUTION 解答</a:t>
            </a:r>
          </a:p>
        </p:txBody>
      </p:sp>
      <p:sp>
        <p:nvSpPr>
          <p:cNvPr id="13" name="dsl:ex-steps"/>
          <p:cNvSpPr txBox="1"/>
          <p:nvPr/>
        </p:nvSpPr>
        <p:spPr>
          <a:xfrm>
            <a:off x="5372100" y="2076450"/>
            <a:ext cx="6210300" cy="1143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b="1" sz="1200" noProof="1">
                <a:solidFill>
                  <a:srgbClr val="1C2B33"/>
                </a:solidFill>
                <a:latin typeface="MiSans"/>
                <a:ea typeface="MiSans"/>
              </a:rPr>
              <a:t>Step 1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　Time constant: </a:t>
            </a:r>
            <a14:m>
              <m:oMath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τ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R</m:t>
                </m:r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C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0.5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×</m:t>
                </m:r>
                <m:sSup>
                  <m:sSup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10</m:t>
                    </m:r>
                  </m:e>
                  <m:sup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6</m:t>
                    </m:r>
                  </m:sup>
                </m:sSup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×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2.5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×</m:t>
                </m:r>
                <m:sSup>
                  <m:sSup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10</m:t>
                    </m:r>
                  </m:e>
                  <m:sup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6</m:t>
                    </m:r>
                  </m:sup>
                </m:sSup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1.25</m:t>
                </m:r>
                <m:r>
                  <m:t> 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s</m:t>
                </m:r>
              </m:oMath>
            </a14:m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.</a:t>
            </a:r>
          </a:p>
          <a:p>
            <a:pPr algn="l">
              <a:lnSpc>
                <a:spcPct val="140000"/>
              </a:lnSpc>
            </a:pPr>
            <a:r>
              <a:rPr b="1" sz="1200" noProof="1">
                <a:solidFill>
                  <a:srgbClr val="1C2B33"/>
                </a:solidFill>
                <a:latin typeface="MiSans"/>
                <a:ea typeface="MiSans"/>
              </a:rPr>
              <a:t>Step 2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　Decay equation: </a:t>
            </a:r>
            <a14:m>
              <m:oMath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V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sSub>
                  <m:sSub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V</m:t>
                    </m:r>
                  </m:e>
                  <m:sub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0</m:t>
                    </m:r>
                  </m:sub>
                </m:sSub>
                <m:sSup>
                  <m:sSup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e</m:t>
                    </m:r>
                  </m:e>
                  <m:sup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C</m:t>
                    </m:r>
                  </m:sup>
                </m:sSup>
              </m:oMath>
            </a14:m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 with </a:t>
            </a:r>
            <a14:m>
              <m:oMath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V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/</m:t>
                </m:r>
                <m:sSub>
                  <m:sSub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V</m:t>
                    </m:r>
                  </m:e>
                  <m:sub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0</m:t>
                    </m:r>
                  </m:sub>
                </m:sSub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0.5</m:t>
                </m:r>
              </m:oMath>
            </a14:m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.</a:t>
            </a:r>
          </a:p>
          <a:p>
            <a:pPr algn="l">
              <a:lnSpc>
                <a:spcPct val="140000"/>
              </a:lnSpc>
            </a:pPr>
            <a:r>
              <a:rPr b="1" sz="1200" noProof="1">
                <a:solidFill>
                  <a:srgbClr val="1C2B33"/>
                </a:solidFill>
                <a:latin typeface="MiSans"/>
                <a:ea typeface="MiSans"/>
              </a:rPr>
              <a:t>Step 3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　Take natural logarithms: </a:t>
            </a:r>
            <a14:m>
              <m:oMath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ln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0.5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−</m:t>
                </m:r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t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/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1.25</m:t>
                </m:r>
              </m:oMath>
            </a14:m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.</a:t>
            </a:r>
          </a:p>
          <a:p>
            <a:pPr algn="l">
              <a:lnSpc>
                <a:spcPct val="140000"/>
              </a:lnSpc>
            </a:pPr>
            <a:r>
              <a:rPr b="1" sz="1200" noProof="1">
                <a:solidFill>
                  <a:srgbClr val="1C2B33"/>
                </a:solidFill>
                <a:latin typeface="MiSans"/>
                <a:ea typeface="MiSans"/>
              </a:rPr>
              <a:t>Step 4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　</a:t>
            </a:r>
            <a14:m>
              <m:oMath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t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0.693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×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1.25</m:t>
                </m:r>
              </m:oMath>
            </a14:m>
          </a:p>
        </p:txBody>
      </p:sp>
      <p:sp>
        <p:nvSpPr>
          <p:cNvPr id="14" name="dsl:ex-abg"/>
          <p:cNvSpPr/>
          <p:nvPr/>
        </p:nvSpPr>
        <p:spPr>
          <a:xfrm>
            <a:off x="5372100" y="3371850"/>
            <a:ext cx="6210300" cy="51435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l:ex-abar"/>
          <p:cNvSpPr/>
          <p:nvPr/>
        </p:nvSpPr>
        <p:spPr>
          <a:xfrm>
            <a:off x="5372100" y="3371850"/>
            <a:ext cx="38100" cy="51435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sl:ex-ans"/>
          <p:cNvSpPr txBox="1"/>
          <p:nvPr/>
        </p:nvSpPr>
        <p:spPr>
          <a:xfrm>
            <a:off x="5562600" y="3371850"/>
            <a:ext cx="5867400" cy="5143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b="1" sz="1275" noProof="1">
                <a:solidFill>
                  <a:srgbClr val="1C2B33"/>
                </a:solidFill>
                <a:latin typeface="MiSans"/>
                <a:ea typeface="MiSans"/>
              </a:rPr>
              <a:t>Answer</a:t>
            </a:r>
            <a:r>
              <a:rPr sz="1275" noProof="1">
                <a:solidFill>
                  <a:srgbClr val="1C2B33"/>
                </a:solidFill>
                <a:latin typeface="MiSans"/>
                <a:ea typeface="MiSans"/>
              </a:rPr>
              <a:t>　</a:t>
            </a:r>
            <a14:m>
              <m:oMath>
                <m:r>
                  <a:rPr lang="en-US" i="1" sz="1275">
                    <a:solidFill>
                      <a:srgbClr val="D97D29"/>
                    </a:solidFill>
                    <a:latin typeface="Cambria Math" panose="02040503050406030204" pitchFamily="18" charset="0"/>
                  </a:rPr>
                  <m:t>t</m:t>
                </m:r>
                <m:r>
                  <a:rPr lang="en-US" sz="1275">
                    <a:solidFill>
                      <a:srgbClr val="D97D29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275">
                    <a:solidFill>
                      <a:srgbClr val="D97D29"/>
                    </a:solidFill>
                    <a:latin typeface="Cambria Math" panose="02040503050406030204" pitchFamily="18" charset="0"/>
                  </a:rPr>
                  <m:t>0.87</m:t>
                </m:r>
                <m:r>
                  <m:t> </m:t>
                </m:r>
                <m:r>
                  <a:rPr lang="en-US" sz="1275">
                    <a:solidFill>
                      <a:srgbClr val="D97D29"/>
                    </a:solidFill>
                    <a:latin typeface="Cambria Math" panose="02040503050406030204" pitchFamily="18" charset="0"/>
                  </a:rPr>
                  <m:t>s</m:t>
                </m:r>
              </m:oMath>
            </a14:m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19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Class Practice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随堂练习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19 Capacitance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13 / 15</a:t>
            </a:r>
          </a:p>
        </p:txBody>
      </p:sp>
      <p:sp>
        <p:nvSpPr>
          <p:cNvPr id="9" name="dsl:pq0-bg"/>
          <p:cNvSpPr/>
          <p:nvPr/>
        </p:nvSpPr>
        <p:spPr>
          <a:xfrm>
            <a:off x="609600" y="1790700"/>
            <a:ext cx="10972800" cy="609600"/>
          </a:xfrm>
          <a:prstGeom prst="rect">
            <a:avLst/>
          </a:prstGeom>
          <a:solidFill>
            <a:srgbClr val="EE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pq0-num"/>
          <p:cNvSpPr/>
          <p:nvPr/>
        </p:nvSpPr>
        <p:spPr>
          <a:xfrm>
            <a:off x="609600" y="1790700"/>
            <a:ext cx="609600" cy="6096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pq0-n"/>
          <p:cNvSpPr txBox="1"/>
          <p:nvPr/>
        </p:nvSpPr>
        <p:spPr>
          <a:xfrm>
            <a:off x="609600" y="1790700"/>
            <a:ext cx="609600" cy="609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b="1" sz="1350" noProof="1">
                <a:solidFill>
                  <a:srgbClr val="FFFFFF"/>
                </a:solidFill>
                <a:latin typeface="MiSans"/>
                <a:ea typeface="MiSans"/>
              </a:rPr>
              <a:t>Q1</a:t>
            </a:r>
          </a:p>
        </p:txBody>
      </p:sp>
      <p:sp>
        <p:nvSpPr>
          <p:cNvPr id="12" name="dsl:pq0-t"/>
          <p:cNvSpPr txBox="1"/>
          <p:nvPr/>
        </p:nvSpPr>
        <p:spPr>
          <a:xfrm>
            <a:off x="1409700" y="1885950"/>
            <a:ext cx="9944100" cy="4191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The charge on an isolated sphere is 5.4 mC when its potential is 12 V. Calculate its capacitance in microfarads. 球导体电容计算。</a:t>
            </a:r>
          </a:p>
        </p:txBody>
      </p:sp>
      <p:sp>
        <p:nvSpPr>
          <p:cNvPr id="13" name="dsl:pq1-bg"/>
          <p:cNvSpPr/>
          <p:nvPr/>
        </p:nvSpPr>
        <p:spPr>
          <a:xfrm>
            <a:off x="609600" y="2533650"/>
            <a:ext cx="10972800" cy="609600"/>
          </a:xfrm>
          <a:prstGeom prst="rect">
            <a:avLst/>
          </a:prstGeom>
          <a:solidFill>
            <a:srgbClr val="EE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l:pq1-num"/>
          <p:cNvSpPr/>
          <p:nvPr/>
        </p:nvSpPr>
        <p:spPr>
          <a:xfrm>
            <a:off x="609600" y="2533650"/>
            <a:ext cx="609600" cy="6096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l:pq1-n"/>
          <p:cNvSpPr txBox="1"/>
          <p:nvPr/>
        </p:nvSpPr>
        <p:spPr>
          <a:xfrm>
            <a:off x="609600" y="2533650"/>
            <a:ext cx="609600" cy="609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b="1" sz="1350" noProof="1">
                <a:solidFill>
                  <a:srgbClr val="FFFFFF"/>
                </a:solidFill>
                <a:latin typeface="MiSans"/>
                <a:ea typeface="MiSans"/>
              </a:rPr>
              <a:t>Q2</a:t>
            </a:r>
          </a:p>
        </p:txBody>
      </p:sp>
      <p:sp>
        <p:nvSpPr>
          <p:cNvPr id="16" name="dsl:pq1-t"/>
          <p:cNvSpPr txBox="1"/>
          <p:nvPr/>
        </p:nvSpPr>
        <p:spPr>
          <a:xfrm>
            <a:off x="1409700" y="2628900"/>
            <a:ext cx="9944100" cy="4191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A 470 µF capacitor is charged to 12 V. Calculate (a) the charge stored; (b) the energy stored. 储能与电荷。</a:t>
            </a:r>
          </a:p>
        </p:txBody>
      </p:sp>
      <p:sp>
        <p:nvSpPr>
          <p:cNvPr id="17" name="dsl:pq2-bg"/>
          <p:cNvSpPr/>
          <p:nvPr/>
        </p:nvSpPr>
        <p:spPr>
          <a:xfrm>
            <a:off x="609600" y="3276600"/>
            <a:ext cx="10972800" cy="609600"/>
          </a:xfrm>
          <a:prstGeom prst="rect">
            <a:avLst/>
          </a:prstGeom>
          <a:solidFill>
            <a:srgbClr val="EE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sl:pq2-num"/>
          <p:cNvSpPr/>
          <p:nvPr/>
        </p:nvSpPr>
        <p:spPr>
          <a:xfrm>
            <a:off x="609600" y="3276600"/>
            <a:ext cx="609600" cy="6096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sl:pq2-n"/>
          <p:cNvSpPr txBox="1"/>
          <p:nvPr/>
        </p:nvSpPr>
        <p:spPr>
          <a:xfrm>
            <a:off x="609600" y="3276600"/>
            <a:ext cx="609600" cy="609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b="1" sz="1350" noProof="1">
                <a:solidFill>
                  <a:srgbClr val="FFFFFF"/>
                </a:solidFill>
                <a:latin typeface="MiSans"/>
                <a:ea typeface="MiSans"/>
              </a:rPr>
              <a:t>Q3</a:t>
            </a:r>
          </a:p>
        </p:txBody>
      </p:sp>
      <p:sp>
        <p:nvSpPr>
          <p:cNvPr id="20" name="dsl:pq2-t"/>
          <p:cNvSpPr txBox="1"/>
          <p:nvPr/>
        </p:nvSpPr>
        <p:spPr>
          <a:xfrm>
            <a:off x="1409700" y="3371850"/>
            <a:ext cx="9944100" cy="4191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A 100 µF capacitor, initially charged to 9.0 V, discharges through a 47 kΩ resistor. Calculate (a) the time constant; (b) the p.d. after 4.7 s; (c) the p.d. after 9.4 s.</a:t>
            </a:r>
          </a:p>
        </p:txBody>
      </p:sp>
      <p:sp>
        <p:nvSpPr>
          <p:cNvPr id="21" name="dsl:pq-ans"/>
          <p:cNvSpPr txBox="1"/>
          <p:nvPr/>
        </p:nvSpPr>
        <p:spPr>
          <a:xfrm>
            <a:off x="609600" y="6096000"/>
            <a:ext cx="10972800" cy="2857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b="1" sz="975" noProof="1">
                <a:solidFill>
                  <a:srgbClr val="5C7A84"/>
                </a:solidFill>
                <a:latin typeface="MiSans"/>
                <a:ea typeface="MiSans"/>
              </a:rPr>
              <a:t>Answers</a:t>
            </a:r>
            <a:r>
              <a:rPr sz="975" noProof="1">
                <a:solidFill>
                  <a:srgbClr val="5C7A84"/>
                </a:solidFill>
                <a:latin typeface="MiSans"/>
                <a:ea typeface="MiSans"/>
              </a:rPr>
              <a:t>　Q1 450 µF　Q2 (a) 5.6 mC (b) 0.034 J　Q3 (a) 4.7 s (b) 3.3 V (c) 1.2 V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a14="http://schemas.microsoft.com/office/drawing/2010/main" xmlns:m="http://schemas.openxmlformats.org/officeDocument/2006/math" xmlns:mc="http://schemas.openxmlformats.org/markup-compatibility/2006" mc:Ignorable="a14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19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Summary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本章小结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19 Capacitance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14 / 15</a:t>
            </a:r>
          </a:p>
        </p:txBody>
      </p:sp>
      <p:sp>
        <p:nvSpPr>
          <p:cNvPr id="9" name="dsl:sm-h1|s=$badge"/>
          <p:cNvSpPr txBox="1"/>
          <p:nvPr/>
        </p:nvSpPr>
        <p:spPr>
          <a:xfrm>
            <a:off x="609600" y="1733550"/>
            <a:ext cx="5715000" cy="2476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KEY FORMULAS 核心公式</a:t>
            </a:r>
          </a:p>
        </p:txBody>
      </p:sp>
      <p:sp>
        <p:nvSpPr>
          <p:cNvPr id="10" name="dsl:smf0-bg"/>
          <p:cNvSpPr/>
          <p:nvPr/>
        </p:nvSpPr>
        <p:spPr>
          <a:xfrm>
            <a:off x="609600" y="2057400"/>
            <a:ext cx="5410200" cy="60960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smf0-f"/>
          <p:cNvSpPr txBox="1"/>
          <p:nvPr/>
        </p:nvSpPr>
        <p:spPr>
          <a:xfrm>
            <a:off x="762000" y="2095500"/>
            <a:ext cx="51054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14:m>
              <m:oMath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C</m:t>
                </m:r>
                <m:r>
                  <a:rPr lang="en-US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=</m:t>
                </m:r>
                <m:f>
                  <m:fPr>
                    <m:ctrlP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Q</m:t>
                    </m:r>
                  </m:num>
                  <m:den>
                    <m: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V</m:t>
                    </m:r>
                  </m:den>
                </m:f>
              </m:oMath>
            </a14:m>
          </a:p>
        </p:txBody>
      </p:sp>
      <p:sp>
        <p:nvSpPr>
          <p:cNvPr id="12" name="dsl:smf0-n"/>
          <p:cNvSpPr txBox="1"/>
          <p:nvPr/>
        </p:nvSpPr>
        <p:spPr>
          <a:xfrm>
            <a:off x="762000" y="2381250"/>
            <a:ext cx="51054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00" noProof="1">
                <a:solidFill>
                  <a:srgbClr val="5C7A84"/>
                </a:solidFill>
                <a:latin typeface="MiSans"/>
                <a:ea typeface="MiSans"/>
              </a:rPr>
              <a:t>definition 电容定义</a:t>
            </a:r>
          </a:p>
        </p:txBody>
      </p:sp>
      <p:sp>
        <p:nvSpPr>
          <p:cNvPr id="13" name="dsl:smf1-bg"/>
          <p:cNvSpPr/>
          <p:nvPr/>
        </p:nvSpPr>
        <p:spPr>
          <a:xfrm>
            <a:off x="6172200" y="2057400"/>
            <a:ext cx="5410200" cy="60960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l:smf1-f"/>
          <p:cNvSpPr txBox="1"/>
          <p:nvPr/>
        </p:nvSpPr>
        <p:spPr>
          <a:xfrm>
            <a:off x="6324600" y="2095500"/>
            <a:ext cx="51054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14:m>
              <m:oMath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C</m:t>
                </m:r>
                <m:r>
                  <a:rPr lang="en-US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=</m:t>
                </m:r>
                <m:sSub>
                  <m:sSubPr>
                    <m:ctrlP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C</m:t>
                    </m:r>
                  </m:e>
                  <m:sub>
                    <m:r>
                      <a:rPr lang="en-US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1</m:t>
                    </m:r>
                  </m:sub>
                </m:sSub>
                <m:r>
                  <a:rPr lang="en-US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+</m:t>
                </m:r>
                <m:sSub>
                  <m:sSubPr>
                    <m:ctrlP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C</m:t>
                    </m:r>
                  </m:e>
                  <m:sub>
                    <m:r>
                      <a:rPr lang="en-US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2</m:t>
                    </m:r>
                  </m:sub>
                </m:sSub>
              </m:oMath>
            </a14:m>
          </a:p>
        </p:txBody>
      </p:sp>
      <p:sp>
        <p:nvSpPr>
          <p:cNvPr id="15" name="dsl:smf1-n"/>
          <p:cNvSpPr txBox="1"/>
          <p:nvPr/>
        </p:nvSpPr>
        <p:spPr>
          <a:xfrm>
            <a:off x="6324600" y="2381250"/>
            <a:ext cx="51054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00" noProof="1">
                <a:solidFill>
                  <a:srgbClr val="5C7A84"/>
                </a:solidFill>
                <a:latin typeface="MiSans"/>
                <a:ea typeface="MiSans"/>
              </a:rPr>
              <a:t>parallel 并联</a:t>
            </a:r>
          </a:p>
        </p:txBody>
      </p:sp>
      <p:sp>
        <p:nvSpPr>
          <p:cNvPr id="16" name="dsl:smf2-bg"/>
          <p:cNvSpPr/>
          <p:nvPr/>
        </p:nvSpPr>
        <p:spPr>
          <a:xfrm>
            <a:off x="609600" y="2781300"/>
            <a:ext cx="5410200" cy="60960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sl:smf2-f"/>
          <p:cNvSpPr txBox="1"/>
          <p:nvPr/>
        </p:nvSpPr>
        <p:spPr>
          <a:xfrm>
            <a:off x="762000" y="2819400"/>
            <a:ext cx="51054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14:m>
              <m:oMath>
                <m:f>
                  <m:fPr>
                    <m:ctrlP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a:rPr lang="en-US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1</m:t>
                    </m:r>
                  </m:num>
                  <m:den>
                    <m: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C</m:t>
                    </m:r>
                  </m:den>
                </m:f>
                <m:r>
                  <a:rPr lang="en-US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=</m:t>
                </m:r>
                <m:f>
                  <m:fPr>
                    <m:ctrlP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a:rPr lang="en-US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1</m:t>
                    </m:r>
                  </m:num>
                  <m:den>
                    <m:sSub>
                      <m:sSubPr>
                        <m:ctrlPr>
                          <a:rPr lang="en-US" i="1" sz="1425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z="1425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US" sz="1425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den>
                </m:f>
                <m:r>
                  <a:rPr lang="en-US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+</m:t>
                </m:r>
                <m:f>
                  <m:fPr>
                    <m:ctrlP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a:rPr lang="en-US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1</m:t>
                    </m:r>
                  </m:num>
                  <m:den>
                    <m:sSub>
                      <m:sSubPr>
                        <m:ctrlPr>
                          <a:rPr lang="en-US" i="1" sz="1425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z="1425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US" sz="1425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den>
                </m:f>
              </m:oMath>
            </a14:m>
          </a:p>
        </p:txBody>
      </p:sp>
      <p:sp>
        <p:nvSpPr>
          <p:cNvPr id="18" name="dsl:smf2-n"/>
          <p:cNvSpPr txBox="1"/>
          <p:nvPr/>
        </p:nvSpPr>
        <p:spPr>
          <a:xfrm>
            <a:off x="762000" y="3105150"/>
            <a:ext cx="51054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00" noProof="1">
                <a:solidFill>
                  <a:srgbClr val="5C7A84"/>
                </a:solidFill>
                <a:latin typeface="MiSans"/>
                <a:ea typeface="MiSans"/>
              </a:rPr>
              <a:t>series 串联</a:t>
            </a:r>
          </a:p>
        </p:txBody>
      </p:sp>
      <p:sp>
        <p:nvSpPr>
          <p:cNvPr id="19" name="dsl:smf3-bg"/>
          <p:cNvSpPr/>
          <p:nvPr/>
        </p:nvSpPr>
        <p:spPr>
          <a:xfrm>
            <a:off x="6172200" y="2781300"/>
            <a:ext cx="5410200" cy="60960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sl:smf3-f"/>
          <p:cNvSpPr txBox="1"/>
          <p:nvPr/>
        </p:nvSpPr>
        <p:spPr>
          <a:xfrm>
            <a:off x="6324600" y="2819400"/>
            <a:ext cx="51054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14:m>
              <m:oMath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W</m:t>
                </m:r>
                <m:r>
                  <a:rPr lang="en-US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=</m:t>
                </m:r>
                <m:f>
                  <m:fPr>
                    <m:ctrlP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a:rPr lang="en-US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1</m:t>
                    </m:r>
                  </m:num>
                  <m:den>
                    <m:r>
                      <a:rPr lang="en-US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2</m:t>
                    </m:r>
                  </m:den>
                </m:f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Q</m:t>
                </m:r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V</m:t>
                </m:r>
                <m:r>
                  <a:rPr lang="en-US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=</m:t>
                </m:r>
                <m:f>
                  <m:fPr>
                    <m:ctrlP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a:rPr lang="en-US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1</m:t>
                    </m:r>
                  </m:num>
                  <m:den>
                    <m:r>
                      <a:rPr lang="en-US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2</m:t>
                    </m:r>
                  </m:den>
                </m:f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C</m:t>
                </m:r>
                <m:sSup>
                  <m:sSupPr>
                    <m:ctrlP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V</m:t>
                    </m:r>
                  </m:e>
                  <m:sup>
                    <m:r>
                      <a:rPr lang="en-US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2</m:t>
                    </m:r>
                  </m:sup>
                </m:sSup>
              </m:oMath>
            </a14:m>
          </a:p>
        </p:txBody>
      </p:sp>
      <p:sp>
        <p:nvSpPr>
          <p:cNvPr id="21" name="dsl:smf3-n"/>
          <p:cNvSpPr txBox="1"/>
          <p:nvPr/>
        </p:nvSpPr>
        <p:spPr>
          <a:xfrm>
            <a:off x="6324600" y="3105150"/>
            <a:ext cx="51054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00" noProof="1">
                <a:solidFill>
                  <a:srgbClr val="5C7A84"/>
                </a:solidFill>
                <a:latin typeface="MiSans"/>
                <a:ea typeface="MiSans"/>
              </a:rPr>
              <a:t>energy 储能</a:t>
            </a:r>
          </a:p>
        </p:txBody>
      </p:sp>
      <p:sp>
        <p:nvSpPr>
          <p:cNvPr id="22" name="dsl:smf4-bg"/>
          <p:cNvSpPr/>
          <p:nvPr/>
        </p:nvSpPr>
        <p:spPr>
          <a:xfrm>
            <a:off x="609600" y="3505200"/>
            <a:ext cx="5410200" cy="60960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sl:smf4-f"/>
          <p:cNvSpPr txBox="1"/>
          <p:nvPr/>
        </p:nvSpPr>
        <p:spPr>
          <a:xfrm>
            <a:off x="762000" y="3543300"/>
            <a:ext cx="51054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14:m>
              <m:oMath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τ</m:t>
                </m:r>
                <m:r>
                  <a:rPr lang="en-US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R</m:t>
                </m:r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C</m:t>
                </m:r>
              </m:oMath>
            </a14:m>
          </a:p>
        </p:txBody>
      </p:sp>
      <p:sp>
        <p:nvSpPr>
          <p:cNvPr id="24" name="dsl:smf4-n"/>
          <p:cNvSpPr txBox="1"/>
          <p:nvPr/>
        </p:nvSpPr>
        <p:spPr>
          <a:xfrm>
            <a:off x="762000" y="3829050"/>
            <a:ext cx="51054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00" noProof="1">
                <a:solidFill>
                  <a:srgbClr val="5C7A84"/>
                </a:solidFill>
                <a:latin typeface="MiSans"/>
                <a:ea typeface="MiSans"/>
              </a:rPr>
              <a:t>time constant 时间常数</a:t>
            </a:r>
          </a:p>
        </p:txBody>
      </p:sp>
      <p:sp>
        <p:nvSpPr>
          <p:cNvPr id="25" name="dsl:smf5-bg"/>
          <p:cNvSpPr/>
          <p:nvPr/>
        </p:nvSpPr>
        <p:spPr>
          <a:xfrm>
            <a:off x="6172200" y="3505200"/>
            <a:ext cx="5410200" cy="60960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sl:smf5-f"/>
          <p:cNvSpPr txBox="1"/>
          <p:nvPr/>
        </p:nvSpPr>
        <p:spPr>
          <a:xfrm>
            <a:off x="6324600" y="3543300"/>
            <a:ext cx="51054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14:m>
              <m:oMath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x</m:t>
                </m:r>
                <m:r>
                  <a:rPr lang="en-US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=</m:t>
                </m:r>
                <m:sSub>
                  <m:sSubPr>
                    <m:ctrlP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x</m:t>
                    </m:r>
                  </m:e>
                  <m:sub>
                    <m:r>
                      <a:rPr lang="en-US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0</m:t>
                    </m:r>
                  </m:sub>
                </m:sSub>
                <m:sSup>
                  <m:sSupPr>
                    <m:ctrlP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e</m:t>
                    </m:r>
                  </m:e>
                  <m:sup>
                    <m:r>
                      <a:rPr lang="en-US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C</m:t>
                    </m:r>
                  </m:sup>
                </m:sSup>
              </m:oMath>
            </a14:m>
          </a:p>
        </p:txBody>
      </p:sp>
      <p:sp>
        <p:nvSpPr>
          <p:cNvPr id="27" name="dsl:smf5-n"/>
          <p:cNvSpPr txBox="1"/>
          <p:nvPr/>
        </p:nvSpPr>
        <p:spPr>
          <a:xfrm>
            <a:off x="6324600" y="3829050"/>
            <a:ext cx="51054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00" noProof="1">
                <a:solidFill>
                  <a:srgbClr val="5C7A84"/>
                </a:solidFill>
                <a:latin typeface="MiSans"/>
                <a:ea typeface="MiSans"/>
              </a:rPr>
              <a:t>exponential decay 指数衰减</a:t>
            </a:r>
          </a:p>
        </p:txBody>
      </p:sp>
      <p:sp>
        <p:nvSpPr>
          <p:cNvPr id="28" name="dsl:sm-h2|s=$badge"/>
          <p:cNvSpPr txBox="1"/>
          <p:nvPr/>
        </p:nvSpPr>
        <p:spPr>
          <a:xfrm>
            <a:off x="609600" y="4324350"/>
            <a:ext cx="5715000" cy="2476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KEY IDEAS 核心思想</a:t>
            </a:r>
          </a:p>
        </p:txBody>
      </p:sp>
      <p:sp>
        <p:nvSpPr>
          <p:cNvPr id="29" name="dsl:sm-ideas"/>
          <p:cNvSpPr txBox="1"/>
          <p:nvPr/>
        </p:nvSpPr>
        <p:spPr>
          <a:xfrm>
            <a:off x="609600" y="4629150"/>
            <a:ext cx="10972800" cy="7810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• Capacitance links stored charge to p.d. 电容=单位电压的储电能力。</a:t>
            </a:r>
          </a:p>
          <a:p>
            <a:pPr algn="l">
              <a:lnSpc>
                <a:spcPct val="145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• Series/parallel rules are opposite to those for resistors 与电阻规律相反。</a:t>
            </a:r>
          </a:p>
          <a:p>
            <a:pPr algn="l">
              <a:lnSpc>
                <a:spcPct val="145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• Discharge is exponential; after τ the value falls to 37% 放电指数衰减。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a14="http://schemas.microsoft.com/office/drawing/2010/main" xmlns:m="http://schemas.openxmlformats.org/officeDocument/2006/math" xmlns:mc="http://schemas.openxmlformats.org/markup-compatibility/2006" mc:Ignorable="a14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19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Exam Tips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备考提示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19 Capacitance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15 / 15</a:t>
            </a:r>
          </a:p>
        </p:txBody>
      </p:sp>
      <p:sp>
        <p:nvSpPr>
          <p:cNvPr id="9" name="dsl:tp0-bg"/>
          <p:cNvSpPr/>
          <p:nvPr/>
        </p:nvSpPr>
        <p:spPr>
          <a:xfrm>
            <a:off x="609600" y="1790700"/>
            <a:ext cx="10972800" cy="53340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dsl:tp0-ic|i=fas:shuffle" descr="tmp7nzmns0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924050"/>
            <a:ext cx="209550" cy="20955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1" name="dsl:tp0-t"/>
          <p:cNvSpPr txBox="1"/>
          <p:nvPr/>
        </p:nvSpPr>
        <p:spPr>
          <a:xfrm>
            <a:off x="1143000" y="1885950"/>
            <a:ext cx="10210800" cy="3429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Series/parallel capacitor rules are the </a:t>
            </a:r>
            <a:r>
              <a:rPr b="1" sz="1200" noProof="1">
                <a:solidFill>
                  <a:srgbClr val="1C2B33"/>
                </a:solidFill>
                <a:latin typeface="MiSans"/>
                <a:ea typeface="MiSans"/>
              </a:rPr>
              <a:t>reverse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 of resistor rules — check twice. 串并联规则与电阻相反。</a:t>
            </a:r>
          </a:p>
        </p:txBody>
      </p:sp>
      <p:sp>
        <p:nvSpPr>
          <p:cNvPr id="12" name="dsl:tp1-bg"/>
          <p:cNvSpPr/>
          <p:nvPr/>
        </p:nvSpPr>
        <p:spPr>
          <a:xfrm>
            <a:off x="609600" y="2438400"/>
            <a:ext cx="10972800" cy="53340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dsl:tp1-ic|i=fas:calculator" descr="tmp7nzmns0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571750"/>
            <a:ext cx="209550" cy="20955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4" name="dsl:tp1-t"/>
          <p:cNvSpPr txBox="1"/>
          <p:nvPr/>
        </p:nvSpPr>
        <p:spPr>
          <a:xfrm>
            <a:off x="1143000" y="2533650"/>
            <a:ext cx="10210800" cy="3429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µF = 10⁻⁶ F; kΩ = 10³ Ω — τ comes out in seconds automatically if SI units are used. 单位换算。</a:t>
            </a:r>
          </a:p>
        </p:txBody>
      </p:sp>
      <p:sp>
        <p:nvSpPr>
          <p:cNvPr id="15" name="dsl:tp2-bg"/>
          <p:cNvSpPr/>
          <p:nvPr/>
        </p:nvSpPr>
        <p:spPr>
          <a:xfrm>
            <a:off x="609600" y="3086100"/>
            <a:ext cx="10972800" cy="53340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dsl:tp2-ic|i=fas:chart-line" descr="tmp7nzmns0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3219450"/>
            <a:ext cx="209550" cy="20955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7" name="dsl:tp2-t"/>
          <p:cNvSpPr txBox="1"/>
          <p:nvPr/>
        </p:nvSpPr>
        <p:spPr>
          <a:xfrm>
            <a:off x="1143000" y="3181350"/>
            <a:ext cx="10210800" cy="3429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For partial discharge, compute the energy </a:t>
            </a:r>
            <a:r>
              <a:rPr b="1" sz="1200" noProof="1">
                <a:solidFill>
                  <a:srgbClr val="1C2B33"/>
                </a:solidFill>
                <a:latin typeface="MiSans"/>
                <a:ea typeface="MiSans"/>
              </a:rPr>
              <a:t>difference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 </a:t>
            </a:r>
            <a14:m>
              <m:oMath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½</m:t>
                </m:r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C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(</m:t>
                </m:r>
                <m:sSubSup>
                  <m:sSubSup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bSupPr>
                  <m:e>
                    <m: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V</m:t>
                    </m:r>
                  </m:e>
                  <m:sub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</m:t>
                    </m:r>
                  </m:sub>
                  <m:sup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2</m:t>
                    </m:r>
                  </m:sup>
                </m:sSubSup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−</m:t>
                </m:r>
                <m:sSubSup>
                  <m:sSubSup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bSupPr>
                  <m:e>
                    <m: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V</m:t>
                    </m:r>
                  </m:e>
                  <m:sub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2</m:t>
                    </m:r>
                  </m:sub>
                  <m:sup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2</m:t>
                    </m:r>
                  </m:sup>
                </m:sSubSup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, not ½CV². 部分放电算差值。</a:t>
            </a:r>
          </a:p>
        </p:txBody>
      </p:sp>
      <p:sp>
        <p:nvSpPr>
          <p:cNvPr id="18" name="dsl:tp3-bg"/>
          <p:cNvSpPr/>
          <p:nvPr/>
        </p:nvSpPr>
        <p:spPr>
          <a:xfrm>
            <a:off x="609600" y="3733800"/>
            <a:ext cx="10972800" cy="53340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dsl:tp3-ic|i=fas:square-root-variable" descr="tmp7nzmns0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3867150"/>
            <a:ext cx="209550" cy="209550"/>
          </a:xfrm>
          <a:prstGeom prst="rect">
            <a:avLst/>
          </a:prstGeom>
          <a:ln>
            <a:noFill/>
          </a:ln>
          <a:effectLst/>
        </p:spPr>
      </p:pic>
      <p:sp>
        <p:nvSpPr>
          <p:cNvPr id="20" name="dsl:tp3-t"/>
          <p:cNvSpPr txBox="1"/>
          <p:nvPr/>
        </p:nvSpPr>
        <p:spPr>
          <a:xfrm>
            <a:off x="1143000" y="3829050"/>
            <a:ext cx="10210800" cy="3429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Use ln when solving </a:t>
            </a:r>
            <a14:m>
              <m:oMath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x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sSub>
                  <m:sSub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x</m:t>
                    </m:r>
                  </m:e>
                  <m:sub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0</m:t>
                    </m:r>
                  </m:sub>
                </m:sSub>
                <m:sSup>
                  <m:sSup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e</m:t>
                    </m:r>
                  </m:e>
                  <m:sup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C</m:t>
                    </m:r>
                  </m:sup>
                </m:sSup>
              </m:oMath>
            </a14:m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 for t; remember 50% ⇒ t = 0.693τ. 指数方程取对数。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DslMetadata>
  <Colors>
    <Color name="primary" value="#0E4D64"/>
    <Color name="primaryDark" value="#093748"/>
    <Color name="secondary" value="#5C7A84"/>
    <Color name="accent" value="#D97D29"/>
    <Color name="accentSoft" value="#FBEFE1"/>
    <Color name="background" value="#FBFAF7"/>
    <Color name="card" value="#EEF3F3"/>
    <Color name="cardDeep" value="#E2EBEC"/>
    <Color name="line" value="#D5DFE0"/>
    <Color name="text" value="#1C2B33"/>
    <Color name="white" value="#FFFFFF"/>
  </Colors>
  <TextStyles>
    <TextStyle name="badge" font_size="13.0" color="$accent" font_family="QuattrocentoSans, MiSans" letter_spacing="2.0"/>
    <TextStyle name="title" font_size="29.0" color="$primary" font_family="QuattrocentoSans, MiSans"/>
    <TextStyle name="subtitle" font_size="16.0" color="$secondary" font_family="QuattrocentoSans, MiSans"/>
    <TextStyle name="body" font_size="18.0" color="$text" font_family="QuattrocentoSans, MiSans" line_height="1.5"/>
    <TextStyle name="small" font_size="14.0" color="$secondary" font_family="QuattrocentoSans, MiSans" line_height="1.4"/>
    <TextStyle name="formula" font_size="22.0" color="$primary" font_family="QuattrocentoSans, MiSans"/>
  </TextStyles>
  <TableStyles>
    <TableStyle name="default" fontSize="16.0" fontFamily="QuattrocentoSans, MiSans" headerFill="$primary" headerColor="#FFFFFF" headerBold="true" bodyFill="#FFFFFF,#F2F6F6" bodyColor="$text" firstColumnBold="false">
      <Border style="solid" width="1.0" color="$line"/>
    </TableStyle>
  </TableStyles>
</DslMetadata>
</file>

<file path=customXml/itemProps1.xml><?xml version="1.0" encoding="utf-8"?>
<ns0:datastoreItem xmlns:ns0="http://schemas.openxmlformats.org/officeDocument/2006/customXml" ns0:itemID="{DA745373-F732-4D54-A081-0EA13F81F4F9}">
  <ns0:schemaRefs/>
</ns0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