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eg"/>
  <Default Extension="jpeg" ContentType="image/jpeg"/>
  <Default Extension="gif" ContentType="image/gif"/>
  <Default Extension="svg" ContentType="image/svg+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type="custom"/>
  <p:notesSz cx="12192000" cy="6858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8F4"/>
        </a:solidFill>
      </p:bgPr>
    </p:bg>
    <p:spTree>
      <p:nvGrpSpPr>
        <p:cNvPr id="1" name=""/>
        <p:cNvGrpSpPr/>
        <p:nvPr/>
      </p:nvGrpSpPr>
      <p:grpSpPr>
        <a:xfrm>
          <a:off x="0" y="0"/>
          <a:ext cx="0" cy="0"/>
          <a:chOff x="0" y="0"/>
          <a:chExt cx="0" cy="0"/>
        </a:xfrm>
      </p:grpSpPr>
      <p:sp>
        <p:nvSpPr>
          <p:cNvPr id="2" name="left-bar"/>
          <p:cNvSpPr/>
          <p:nvPr/>
        </p:nvSpPr>
        <p:spPr>
          <a:xfrm>
            <a:off x="0" y="0"/>
            <a:ext cx="177800" cy="6858000"/>
          </a:xfrm>
          <a:prstGeom prst="rect">
            <a:avLst/>
          </a:prstGeom>
          <a:solidFill>
            <a:srgbClr val="0E5A55"/>
          </a:solidFill>
          <a:ln>
            <a:noFill/>
          </a:ln>
        </p:spPr>
      </p:sp>
      <p:sp>
        <p:nvSpPr>
          <p:cNvPr id="3" name="topic-num"/>
          <p:cNvSpPr txBox="1"/>
          <p:nvPr/>
        </p:nvSpPr>
        <p:spPr>
          <a:xfrm>
            <a:off x="1219200" y="939800"/>
            <a:ext cx="3810000" cy="381000"/>
          </a:xfrm>
          <a:prstGeom prst="rect">
            <a:avLst/>
          </a:prstGeom>
          <a:noFill/>
          <a:ln>
            <a:noFill/>
          </a:ln>
        </p:spPr>
        <p:txBody>
          <a:bodyPr lIns="0" rIns="0" tIns="0" bIns="0" wrap="none" rtlCol="0"/>
          <a:lstStyle/>
          <a:p>
            <a:pPr>
              <a:lnSpc>
                <a:spcPct val="120000"/>
              </a:lnSpc>
            </a:pPr>
            <a:r>
              <a:rPr lang="en-US" sz="1400" noProof="1" b="1" spc="200" kern="0">
                <a:solidFill>
                  <a:srgbClr val="0E5A55"/>
                </a:solidFill>
                <a:latin typeface="MiSans"/>
                <a:ea typeface="MiSans"/>
              </a:rPr>
              <a:t>CIE A-LEVEL PHYSICS · 9702 · TOPIC 9</a:t>
            </a:r>
            <a:endParaRPr lang="en-US" sz="1400" noProof="1"/>
          </a:p>
        </p:txBody>
      </p:sp>
      <p:sp>
        <p:nvSpPr>
          <p:cNvPr id="4" name="title-cn"/>
          <p:cNvSpPr txBox="1"/>
          <p:nvPr/>
        </p:nvSpPr>
        <p:spPr>
          <a:xfrm>
            <a:off x="1219200" y="1625600"/>
            <a:ext cx="9652000" cy="838200"/>
          </a:xfrm>
          <a:prstGeom prst="rect">
            <a:avLst/>
          </a:prstGeom>
          <a:noFill/>
          <a:ln>
            <a:noFill/>
          </a:ln>
        </p:spPr>
        <p:txBody>
          <a:bodyPr lIns="0" rIns="0" tIns="0" bIns="0" wrap="none" rtlCol="0"/>
          <a:lstStyle/>
          <a:p>
            <a:pPr>
              <a:lnSpc>
                <a:spcPct val="120000"/>
              </a:lnSpc>
            </a:pPr>
            <a:r>
              <a:rPr lang="en-US" sz="4600" noProof="1" b="1">
                <a:solidFill>
                  <a:srgbClr val="22303A"/>
                </a:solidFill>
                <a:latin typeface="MiSans"/>
                <a:ea typeface="MiSans"/>
              </a:rPr>
              <a:t>电学</a:t>
            </a:r>
            <a:endParaRPr lang="en-US" sz="4600" noProof="1"/>
          </a:p>
        </p:txBody>
      </p:sp>
      <p:sp>
        <p:nvSpPr>
          <p:cNvPr id="5" name="title-en"/>
          <p:cNvSpPr txBox="1"/>
          <p:nvPr/>
        </p:nvSpPr>
        <p:spPr>
          <a:xfrm>
            <a:off x="1219200" y="2565400"/>
            <a:ext cx="9652000" cy="508000"/>
          </a:xfrm>
          <a:prstGeom prst="rect">
            <a:avLst/>
          </a:prstGeom>
          <a:noFill/>
          <a:ln>
            <a:noFill/>
          </a:ln>
        </p:spPr>
        <p:txBody>
          <a:bodyPr lIns="0" rIns="0" tIns="0" bIns="0" wrap="none" rtlCol="0"/>
          <a:lstStyle/>
          <a:p>
            <a:pPr>
              <a:lnSpc>
                <a:spcPct val="120000"/>
              </a:lnSpc>
            </a:pPr>
            <a:r>
              <a:rPr lang="en-US" sz="2400" noProof="1" b="1">
                <a:solidFill>
                  <a:srgbClr val="0E5A55"/>
                </a:solidFill>
                <a:latin typeface="MiSans"/>
                <a:ea typeface="MiSans"/>
              </a:rPr>
              <a:t>Electricity</a:t>
            </a:r>
            <a:endParaRPr lang="en-US" sz="2400" noProof="1"/>
          </a:p>
        </p:txBody>
      </p:sp>
      <p:sp>
        <p:nvSpPr>
          <p:cNvPr id="6" name="cover-rule"/>
          <p:cNvSpPr/>
          <p:nvPr/>
        </p:nvSpPr>
        <p:spPr>
          <a:xfrm>
            <a:off x="1219200" y="3327400"/>
            <a:ext cx="1524000" cy="38100"/>
          </a:xfrm>
          <a:prstGeom prst="rect">
            <a:avLst/>
          </a:prstGeom>
          <a:solidFill>
            <a:srgbClr val="C96F16"/>
          </a:solidFill>
          <a:ln>
            <a:noFill/>
          </a:ln>
        </p:spPr>
      </p:sp>
      <p:sp>
        <p:nvSpPr>
          <p:cNvPr id="7" name="cover-sub"/>
          <p:cNvSpPr txBox="1"/>
          <p:nvPr/>
        </p:nvSpPr>
        <p:spPr>
          <a:xfrm>
            <a:off x="1219200" y="3632200"/>
            <a:ext cx="8890000" cy="762000"/>
          </a:xfrm>
          <a:prstGeom prst="rect">
            <a:avLst/>
          </a:prstGeom>
          <a:noFill/>
          <a:ln>
            <a:noFill/>
          </a:ln>
        </p:spPr>
        <p:txBody>
          <a:bodyPr lIns="0" rIns="0" tIns="0" bIns="0" wrap="square" rtlCol="0"/>
          <a:lstStyle/>
          <a:p>
            <a:pPr>
              <a:lnSpc>
                <a:spcPct val="170000"/>
              </a:lnSpc>
            </a:pPr>
            <a:r>
              <a:rPr lang="en-US" sz="1400" noProof="1">
                <a:solidFill>
                  <a:srgbClr val="6E6A62"/>
                </a:solidFill>
                <a:latin typeface="MiSans"/>
                <a:ea typeface="MiSans"/>
              </a:rPr>
              <a:t>AS Level 自学课件 · 中英双语</a:t>
            </a:r>
            <a:endParaRPr lang="en-US" sz="1400" noProof="1"/>
          </a:p>
          <a:p>
            <a:pPr>
              <a:lnSpc>
                <a:spcPct val="170000"/>
              </a:lnSpc>
            </a:pPr>
            <a:r>
              <a:rPr lang="en-US" sz="1400" noProof="1">
                <a:solidFill>
                  <a:srgbClr val="6E6A62"/>
                </a:solidFill>
                <a:latin typeface="MiSans"/>
                <a:ea typeface="MiSans"/>
              </a:rPr>
              <a:t>依据 CAIE 考纲 · 参考 PMT Education 笔记与 Cambridge 官方教材（Crundell, 3rd edition）</a:t>
            </a:r>
            <a:endParaRPr lang="en-US" sz="1400" noProof="1"/>
          </a:p>
        </p:txBody>
      </p:sp>
      <p:sp>
        <p:nvSpPr>
          <p:cNvPr id="8" name="formula-strip"/>
          <p:cNvSpPr txBox="1"/>
          <p:nvPr/>
        </p:nvSpPr>
        <p:spPr>
          <a:xfrm>
            <a:off x="1219200" y="5130800"/>
            <a:ext cx="9753600" cy="381000"/>
          </a:xfrm>
          <a:prstGeom prst="rect">
            <a:avLst/>
          </a:prstGeom>
          <a:noFill/>
          <a:ln>
            <a:noFill/>
          </a:ln>
        </p:spPr>
        <p:txBody>
          <a:bodyPr lIns="0" rIns="0" tIns="0" bIns="0" wrap="none" rtlCol="0"/>
          <a:lstStyle/>
          <a:p>
            <a:pPr>
              <a:lnSpc>
                <a:spcPct val="120000"/>
              </a:lnSpc>
            </a:pPr>
            <a:r>
              <a:rPr lang="en-US" sz="1500" noProof="1">
                <a:solidFill>
                  <a:srgbClr val="22303A"/>
                </a:solidFill>
                <a:latin typeface="MiSans"/>
                <a:ea typeface="MiSans"/>
              </a:rPr>
              <a:t>Q = It  ·  I = nAvq  ·  V = W/Q  ·  P = VI = I²R = V²/R  ·  ρ = RA/l</a:t>
            </a:r>
            <a:endParaRPr lang="en-US" sz="1500" noProof="1"/>
          </a:p>
        </p:txBody>
      </p:sp>
      <p:sp>
        <p:nvSpPr>
          <p:cNvPr id="9" name="formula-strip-label"/>
          <p:cNvSpPr txBox="1"/>
          <p:nvPr/>
        </p:nvSpPr>
        <p:spPr>
          <a:xfrm>
            <a:off x="1219200" y="5537200"/>
            <a:ext cx="7620000" cy="254000"/>
          </a:xfrm>
          <a:prstGeom prst="rect">
            <a:avLst/>
          </a:prstGeom>
          <a:noFill/>
          <a:ln>
            <a:noFill/>
          </a:ln>
        </p:spPr>
        <p:txBody>
          <a:bodyPr lIns="0" rIns="0" tIns="0" bIns="0" wrap="none" rtlCol="0"/>
          <a:lstStyle/>
          <a:p>
            <a:pPr>
              <a:lnSpc>
                <a:spcPct val="140000"/>
              </a:lnSpc>
            </a:pPr>
            <a:r>
              <a:rPr lang="en-US" sz="1100" noProof="1">
                <a:solidFill>
                  <a:srgbClr val="6E6A62"/>
                </a:solidFill>
                <a:latin typeface="MiSans"/>
                <a:ea typeface="MiSans"/>
              </a:rPr>
              <a:t>电流、电势差、功率与电阻率 —— 电学的地基公式</a:t>
            </a:r>
            <a:endParaRPr lang="en-US" sz="1100" noProof="1"/>
          </a:p>
        </p:txBody>
      </p:sp>
    </p:spTree>
  </p:cSld>
  <p:clrMapOvr>
    <a:masterClrMapping/>
  </p:clrMapOvr>
</p:sld>
</file>

<file path=ppt/slides/slide2.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8F4"/>
        </a:solidFill>
      </p:bgPr>
    </p:bg>
    <p:spTree>
      <p:nvGrpSpPr>
        <p:cNvPr id="1" name=""/>
        <p:cNvGrpSpPr/>
        <p:nvPr/>
      </p:nvGrpSpPr>
      <p:grpSpPr>
        <a:xfrm>
          <a:off x="0" y="0"/>
          <a:ext cx="0" cy="0"/>
          <a:chOff x="0" y="0"/>
          <a:chExt cx="0" cy="0"/>
        </a:xfrm>
      </p:grpSpPr>
      <p:sp>
        <p:nvSpPr>
          <p:cNvPr id="2" name="kicker"/>
          <p:cNvSpPr txBox="1"/>
          <p:nvPr/>
        </p:nvSpPr>
        <p:spPr>
          <a:xfrm>
            <a:off x="762000" y="330200"/>
            <a:ext cx="6350000" cy="203200"/>
          </a:xfrm>
          <a:prstGeom prst="rect">
            <a:avLst/>
          </a:prstGeom>
          <a:noFill/>
          <a:ln>
            <a:noFill/>
          </a:ln>
        </p:spPr>
        <p:txBody>
          <a:bodyPr lIns="0" rIns="0" tIns="0" bIns="0" wrap="none" rtlCol="0"/>
          <a:lstStyle/>
          <a:p>
            <a:pPr>
              <a:lnSpc>
                <a:spcPct val="120000"/>
              </a:lnSpc>
            </a:pPr>
            <a:r>
              <a:rPr lang="en-US" sz="1100" noProof="1" b="1" spc="200" kern="0">
                <a:solidFill>
                  <a:srgbClr val="0E5A55"/>
                </a:solidFill>
                <a:latin typeface="MiSans"/>
                <a:ea typeface="MiSans"/>
              </a:rPr>
              <a:t>CIE A-LEVEL PHYSICS · TOPIC 9</a:t>
            </a:r>
            <a:endParaRPr lang="en-US" sz="1100" noProof="1"/>
          </a:p>
        </p:txBody>
      </p:sp>
      <p:sp>
        <p:nvSpPr>
          <p:cNvPr id="3" name="title"/>
          <p:cNvSpPr txBox="1"/>
          <p:nvPr/>
        </p:nvSpPr>
        <p:spPr>
          <a:xfrm>
            <a:off x="762000" y="584200"/>
            <a:ext cx="10668000" cy="457200"/>
          </a:xfrm>
          <a:prstGeom prst="rect">
            <a:avLst/>
          </a:prstGeom>
          <a:noFill/>
          <a:ln>
            <a:noFill/>
          </a:ln>
        </p:spPr>
        <p:txBody>
          <a:bodyPr lIns="0" rIns="0" tIns="0" bIns="0" wrap="none" rtlCol="0"/>
          <a:lstStyle/>
          <a:p>
            <a:pPr>
              <a:lnSpc>
                <a:spcPct val="120000"/>
              </a:lnSpc>
            </a:pPr>
            <a:r>
              <a:rPr lang="en-US" sz="2600" noProof="1" b="1">
                <a:solidFill>
                  <a:srgbClr val="22303A"/>
                </a:solidFill>
                <a:latin typeface="MiSans"/>
                <a:ea typeface="MiSans"/>
              </a:rPr>
              <a:t>本章学完后，你能做到什么？</a:t>
            </a:r>
            <a:endParaRPr lang="en-US" sz="2600" noProof="1"/>
          </a:p>
        </p:txBody>
      </p:sp>
      <p:sp>
        <p:nvSpPr>
          <p:cNvPr id="4" name="title-en"/>
          <p:cNvSpPr txBox="1"/>
          <p:nvPr/>
        </p:nvSpPr>
        <p:spPr>
          <a:xfrm>
            <a:off x="762000" y="1066800"/>
            <a:ext cx="10668000" cy="254000"/>
          </a:xfrm>
          <a:prstGeom prst="rect">
            <a:avLst/>
          </a:prstGeom>
          <a:noFill/>
          <a:ln>
            <a:noFill/>
          </a:ln>
        </p:spPr>
        <p:txBody>
          <a:bodyPr lIns="0" rIns="0" tIns="0" bIns="0" wrap="none" rtlCol="0"/>
          <a:lstStyle/>
          <a:p>
            <a:pPr>
              <a:lnSpc>
                <a:spcPct val="120000"/>
              </a:lnSpc>
            </a:pPr>
            <a:r>
              <a:rPr lang="en-US" sz="1300" noProof="1">
                <a:solidFill>
                  <a:srgbClr val="6E6A62"/>
                </a:solidFill>
                <a:latin typeface="MiSans"/>
                <a:ea typeface="MiSans"/>
              </a:rPr>
              <a:t>Learning route — four stops from charge flow to sensors</a:t>
            </a:r>
            <a:endParaRPr lang="en-US" sz="1300" noProof="1"/>
          </a:p>
        </p:txBody>
      </p:sp>
      <p:sp>
        <p:nvSpPr>
          <p:cNvPr id="5" name="rule-top"/>
          <p:cNvSpPr/>
          <p:nvPr/>
        </p:nvSpPr>
        <p:spPr>
          <a:xfrm>
            <a:off x="762000" y="1422400"/>
            <a:ext cx="10668000" cy="19050"/>
          </a:xfrm>
          <a:prstGeom prst="rect">
            <a:avLst/>
          </a:prstGeom>
          <a:solidFill>
            <a:srgbClr val="D8D2C8"/>
          </a:solidFill>
          <a:ln>
            <a:noFill/>
          </a:ln>
        </p:spPr>
      </p:sp>
      <p:sp>
        <p:nvSpPr>
          <p:cNvPr id="6" name="spine"/>
          <p:cNvSpPr/>
          <p:nvPr/>
        </p:nvSpPr>
        <p:spPr>
          <a:xfrm>
            <a:off x="1117600" y="2032000"/>
            <a:ext cx="25400" cy="3556000"/>
          </a:xfrm>
          <a:prstGeom prst="rect">
            <a:avLst/>
          </a:prstGeom>
          <a:solidFill>
            <a:srgbClr val="0E5A55"/>
          </a:solidFill>
          <a:ln>
            <a:noFill/>
          </a:ln>
        </p:spPr>
      </p:sp>
      <p:sp>
        <p:nvSpPr>
          <p:cNvPr id="7" name="n1"/>
          <p:cNvSpPr txBox="1"/>
          <p:nvPr/>
        </p:nvSpPr>
        <p:spPr>
          <a:xfrm>
            <a:off x="762000" y="1752600"/>
            <a:ext cx="762000" cy="431800"/>
          </a:xfrm>
          <a:prstGeom prst="rect">
            <a:avLst/>
          </a:prstGeom>
          <a:noFill/>
          <a:ln>
            <a:noFill/>
          </a:ln>
        </p:spPr>
        <p:txBody>
          <a:bodyPr lIns="0" rIns="0" tIns="0" bIns="0" wrap="none" rtlCol="0" anchor="ctr"/>
          <a:lstStyle/>
          <a:p>
            <a:pPr algn="ctr">
              <a:lnSpc>
                <a:spcPct val="120000"/>
              </a:lnSpc>
            </a:pPr>
            <a:r>
              <a:rPr lang="en-US" sz="2400" noProof="1" b="1">
                <a:solidFill>
                  <a:srgbClr val="0E5A55"/>
                </a:solidFill>
                <a:latin typeface="MiSans"/>
                <a:ea typeface="MiSans"/>
              </a:rPr>
              <a:t>①</a:t>
            </a:r>
            <a:endParaRPr lang="en-US" sz="2400" noProof="1"/>
          </a:p>
        </p:txBody>
      </p:sp>
      <p:sp>
        <p:nvSpPr>
          <p:cNvPr id="8" name="s1"/>
          <p:cNvSpPr txBox="1"/>
          <p:nvPr/>
        </p:nvSpPr>
        <p:spPr>
          <a:xfrm>
            <a:off x="1625600" y="1778000"/>
            <a:ext cx="9652000" cy="762000"/>
          </a:xfrm>
          <a:prstGeom prst="rect">
            <a:avLst/>
          </a:prstGeom>
          <a:noFill/>
          <a:ln>
            <a:noFill/>
          </a:ln>
        </p:spPr>
        <p:txBody>
          <a:bodyPr lIns="0" rIns="0" tIns="0" bIns="0" wrap="square" rtlCol="0"/>
          <a:lstStyle/>
          <a:p>
            <a:pPr>
              <a:lnSpc>
                <a:spcPct val="155000"/>
              </a:lnSpc>
            </a:pPr>
            <a:r>
              <a:rPr lang="en-US" sz="1350" noProof="1" b="1">
                <a:solidFill>
                  <a:srgbClr val="22303A"/>
                </a:solidFill>
                <a:latin typeface="MiSans"/>
                <a:ea typeface="MiSans"/>
              </a:rPr>
              <a:t>电流与漂移速度</a:t>
            </a:r>
            <a:r>
              <a:rPr lang="en-US" sz="1350" noProof="1">
                <a:solidFill>
                  <a:srgbClr val="22303A"/>
                </a:solidFill>
                <a:latin typeface="MiSans"/>
                <a:ea typeface="MiSans"/>
              </a:rPr>
              <a:t>　Q = It 的定义，载流子与元电荷 e；用 I = nAvq 解释导线里电子"慢慢漂"却能瞬间点亮灯。</a:t>
            </a:r>
            <a:endParaRPr lang="en-US" sz="1350" noProof="1"/>
          </a:p>
          <a:p>
            <a:pPr>
              <a:lnSpc>
                <a:spcPct val="155000"/>
              </a:lnSpc>
            </a:pPr>
            <a:r>
              <a:rPr lang="en-US" sz="1150" noProof="1">
                <a:solidFill>
                  <a:srgbClr val="6E6A62"/>
                </a:solidFill>
                <a:latin typeface="MiSans"/>
                <a:ea typeface="MiSans"/>
              </a:rPr>
              <a:t>Charge flow · charge carriers · the drift velocity equation I = nAvq</a:t>
            </a:r>
            <a:endParaRPr lang="en-US" sz="1350" noProof="1"/>
          </a:p>
        </p:txBody>
      </p:sp>
      <p:sp>
        <p:nvSpPr>
          <p:cNvPr id="9" name="n2"/>
          <p:cNvSpPr txBox="1"/>
          <p:nvPr/>
        </p:nvSpPr>
        <p:spPr>
          <a:xfrm>
            <a:off x="762000" y="2641600"/>
            <a:ext cx="762000" cy="431800"/>
          </a:xfrm>
          <a:prstGeom prst="rect">
            <a:avLst/>
          </a:prstGeom>
          <a:noFill/>
          <a:ln>
            <a:noFill/>
          </a:ln>
        </p:spPr>
        <p:txBody>
          <a:bodyPr lIns="0" rIns="0" tIns="0" bIns="0" wrap="none" rtlCol="0" anchor="ctr"/>
          <a:lstStyle/>
          <a:p>
            <a:pPr algn="ctr">
              <a:lnSpc>
                <a:spcPct val="120000"/>
              </a:lnSpc>
            </a:pPr>
            <a:r>
              <a:rPr lang="en-US" sz="2400" noProof="1" b="1">
                <a:solidFill>
                  <a:srgbClr val="0E5A55"/>
                </a:solidFill>
                <a:latin typeface="MiSans"/>
                <a:ea typeface="MiSans"/>
              </a:rPr>
              <a:t>②</a:t>
            </a:r>
            <a:endParaRPr lang="en-US" sz="2400" noProof="1"/>
          </a:p>
        </p:txBody>
      </p:sp>
      <p:sp>
        <p:nvSpPr>
          <p:cNvPr id="10" name="s2"/>
          <p:cNvSpPr txBox="1"/>
          <p:nvPr/>
        </p:nvSpPr>
        <p:spPr>
          <a:xfrm>
            <a:off x="1625600" y="2667000"/>
            <a:ext cx="9652000" cy="762000"/>
          </a:xfrm>
          <a:prstGeom prst="rect">
            <a:avLst/>
          </a:prstGeom>
          <a:noFill/>
          <a:ln>
            <a:noFill/>
          </a:ln>
        </p:spPr>
        <p:txBody>
          <a:bodyPr lIns="0" rIns="0" tIns="0" bIns="0" wrap="square" rtlCol="0"/>
          <a:lstStyle/>
          <a:p>
            <a:pPr>
              <a:lnSpc>
                <a:spcPct val="155000"/>
              </a:lnSpc>
            </a:pPr>
            <a:r>
              <a:rPr lang="en-US" sz="1350" noProof="1" b="1">
                <a:solidFill>
                  <a:srgbClr val="22303A"/>
                </a:solidFill>
                <a:latin typeface="MiSans"/>
                <a:ea typeface="MiSans"/>
              </a:rPr>
              <a:t>电势差与功率</a:t>
            </a:r>
            <a:r>
              <a:rPr lang="en-US" sz="1350" noProof="1">
                <a:solidFill>
                  <a:srgbClr val="22303A"/>
                </a:solidFill>
                <a:latin typeface="MiSans"/>
                <a:ea typeface="MiSans"/>
              </a:rPr>
              <a:t>　V = W/Q 的能量视角；功率三兄弟 P = VI = I²R = V²/R，串并联场合各选哪一条。</a:t>
            </a:r>
            <a:endParaRPr lang="en-US" sz="1350" noProof="1"/>
          </a:p>
          <a:p>
            <a:pPr>
              <a:lnSpc>
                <a:spcPct val="155000"/>
              </a:lnSpc>
            </a:pPr>
            <a:r>
              <a:rPr lang="en-US" sz="1150" noProof="1">
                <a:solidFill>
                  <a:srgbClr val="6E6A62"/>
                </a:solidFill>
                <a:latin typeface="MiSans"/>
                <a:ea typeface="MiSans"/>
              </a:rPr>
              <a:t>Potential difference as energy per charge · three versions of electrical power</a:t>
            </a:r>
            <a:endParaRPr lang="en-US" sz="1350" noProof="1"/>
          </a:p>
        </p:txBody>
      </p:sp>
      <p:sp>
        <p:nvSpPr>
          <p:cNvPr id="11" name="n3"/>
          <p:cNvSpPr txBox="1"/>
          <p:nvPr/>
        </p:nvSpPr>
        <p:spPr>
          <a:xfrm>
            <a:off x="762000" y="3530600"/>
            <a:ext cx="762000" cy="431800"/>
          </a:xfrm>
          <a:prstGeom prst="rect">
            <a:avLst/>
          </a:prstGeom>
          <a:noFill/>
          <a:ln>
            <a:noFill/>
          </a:ln>
        </p:spPr>
        <p:txBody>
          <a:bodyPr lIns="0" rIns="0" tIns="0" bIns="0" wrap="none" rtlCol="0" anchor="ctr"/>
          <a:lstStyle/>
          <a:p>
            <a:pPr algn="ctr">
              <a:lnSpc>
                <a:spcPct val="120000"/>
              </a:lnSpc>
            </a:pPr>
            <a:r>
              <a:rPr lang="en-US" sz="2400" noProof="1" b="1">
                <a:solidFill>
                  <a:srgbClr val="0E5A55"/>
                </a:solidFill>
                <a:latin typeface="MiSans"/>
                <a:ea typeface="MiSans"/>
              </a:rPr>
              <a:t>③</a:t>
            </a:r>
            <a:endParaRPr lang="en-US" sz="2400" noProof="1"/>
          </a:p>
        </p:txBody>
      </p:sp>
      <p:sp>
        <p:nvSpPr>
          <p:cNvPr id="12" name="s3"/>
          <p:cNvSpPr txBox="1"/>
          <p:nvPr/>
        </p:nvSpPr>
        <p:spPr>
          <a:xfrm>
            <a:off x="1625600" y="3556000"/>
            <a:ext cx="9652000" cy="762000"/>
          </a:xfrm>
          <a:prstGeom prst="rect">
            <a:avLst/>
          </a:prstGeom>
          <a:noFill/>
          <a:ln>
            <a:noFill/>
          </a:ln>
        </p:spPr>
        <p:txBody>
          <a:bodyPr lIns="0" rIns="0" tIns="0" bIns="0" wrap="square" rtlCol="0"/>
          <a:lstStyle/>
          <a:p>
            <a:pPr>
              <a:lnSpc>
                <a:spcPct val="155000"/>
              </a:lnSpc>
            </a:pPr>
            <a:r>
              <a:rPr lang="en-US" sz="1350" noProof="1" b="1">
                <a:solidFill>
                  <a:srgbClr val="22303A"/>
                </a:solidFill>
                <a:latin typeface="MiSans"/>
                <a:ea typeface="MiSans"/>
              </a:rPr>
              <a:t>I-V 图象三元件</a:t>
            </a:r>
            <a:r>
              <a:rPr lang="en-US" sz="1350" noProof="1">
                <a:solidFill>
                  <a:srgbClr val="22303A"/>
                </a:solidFill>
                <a:latin typeface="MiSans"/>
                <a:ea typeface="MiSans"/>
              </a:rPr>
              <a:t>　欧姆导体、半导体二极管、灯丝的 I-V 特征曲线；斜率 = 1/R，不是 R。</a:t>
            </a:r>
            <a:endParaRPr lang="en-US" sz="1350" noProof="1"/>
          </a:p>
          <a:p>
            <a:pPr>
              <a:lnSpc>
                <a:spcPct val="155000"/>
              </a:lnSpc>
            </a:pPr>
            <a:r>
              <a:rPr lang="en-US" sz="1150" noProof="1">
                <a:solidFill>
                  <a:srgbClr val="6E6A62"/>
                </a:solidFill>
                <a:latin typeface="MiSans"/>
                <a:ea typeface="MiSans"/>
              </a:rPr>
              <a:t>I-V characteristics of ohmic conductors, diodes and filament lamps</a:t>
            </a:r>
            <a:endParaRPr lang="en-US" sz="1350" noProof="1"/>
          </a:p>
        </p:txBody>
      </p:sp>
      <p:sp>
        <p:nvSpPr>
          <p:cNvPr id="13" name="n4"/>
          <p:cNvSpPr txBox="1"/>
          <p:nvPr/>
        </p:nvSpPr>
        <p:spPr>
          <a:xfrm>
            <a:off x="762000" y="4419600"/>
            <a:ext cx="762000" cy="431800"/>
          </a:xfrm>
          <a:prstGeom prst="rect">
            <a:avLst/>
          </a:prstGeom>
          <a:noFill/>
          <a:ln>
            <a:noFill/>
          </a:ln>
        </p:spPr>
        <p:txBody>
          <a:bodyPr lIns="0" rIns="0" tIns="0" bIns="0" wrap="none" rtlCol="0" anchor="ctr"/>
          <a:lstStyle/>
          <a:p>
            <a:pPr algn="ctr">
              <a:lnSpc>
                <a:spcPct val="120000"/>
              </a:lnSpc>
            </a:pPr>
            <a:r>
              <a:rPr lang="en-US" sz="2400" noProof="1" b="1">
                <a:solidFill>
                  <a:srgbClr val="0E5A55"/>
                </a:solidFill>
                <a:latin typeface="MiSans"/>
                <a:ea typeface="MiSans"/>
              </a:rPr>
              <a:t>④</a:t>
            </a:r>
            <a:endParaRPr lang="en-US" sz="2400" noProof="1"/>
          </a:p>
        </p:txBody>
      </p:sp>
      <p:sp>
        <p:nvSpPr>
          <p:cNvPr id="14" name="s4"/>
          <p:cNvSpPr txBox="1"/>
          <p:nvPr/>
        </p:nvSpPr>
        <p:spPr>
          <a:xfrm>
            <a:off x="1625600" y="4445000"/>
            <a:ext cx="9652000" cy="762000"/>
          </a:xfrm>
          <a:prstGeom prst="rect">
            <a:avLst/>
          </a:prstGeom>
          <a:noFill/>
          <a:ln>
            <a:noFill/>
          </a:ln>
        </p:spPr>
        <p:txBody>
          <a:bodyPr lIns="0" rIns="0" tIns="0" bIns="0" wrap="square" rtlCol="0"/>
          <a:lstStyle/>
          <a:p>
            <a:pPr>
              <a:lnSpc>
                <a:spcPct val="155000"/>
              </a:lnSpc>
            </a:pPr>
            <a:r>
              <a:rPr lang="en-US" sz="1350" noProof="1" b="1">
                <a:solidFill>
                  <a:srgbClr val="22303A"/>
                </a:solidFill>
                <a:latin typeface="MiSans"/>
                <a:ea typeface="MiSans"/>
              </a:rPr>
              <a:t>电阻率与传感器</a:t>
            </a:r>
            <a:r>
              <a:rPr lang="en-US" sz="1350" noProof="1">
                <a:solidFill>
                  <a:srgbClr val="22303A"/>
                </a:solidFill>
                <a:latin typeface="MiSans"/>
                <a:ea typeface="MiSans"/>
              </a:rPr>
              <a:t>　ρ = RA/l 区分"材料属性"与"物体属性"；温度、光照如何改变电阻——热敏电阻、LDR 与超导体。</a:t>
            </a:r>
            <a:endParaRPr lang="en-US" sz="1350" noProof="1"/>
          </a:p>
          <a:p>
            <a:pPr>
              <a:lnSpc>
                <a:spcPct val="155000"/>
              </a:lnSpc>
            </a:pPr>
            <a:r>
              <a:rPr lang="en-US" sz="1150" noProof="1">
                <a:solidFill>
                  <a:srgbClr val="6E6A62"/>
                </a:solidFill>
                <a:latin typeface="MiSans"/>
                <a:ea typeface="MiSans"/>
              </a:rPr>
              <a:t>Resistivity vs resistance · thermistors, LDRs and superconductors</a:t>
            </a:r>
            <a:endParaRPr lang="en-US" sz="1350" noProof="1"/>
          </a:p>
        </p:txBody>
      </p:sp>
      <p:sp>
        <p:nvSpPr>
          <p:cNvPr id="15" name="exit-box"/>
          <p:cNvSpPr/>
          <p:nvPr/>
        </p:nvSpPr>
        <p:spPr>
          <a:xfrm>
            <a:off x="762000" y="5486400"/>
            <a:ext cx="10668000" cy="660400"/>
          </a:xfrm>
          <a:prstGeom prst="rect">
            <a:avLst/>
          </a:prstGeom>
          <a:solidFill>
            <a:srgbClr val="EFE9DF"/>
          </a:solidFill>
          <a:ln>
            <a:noFill/>
          </a:ln>
        </p:spPr>
      </p:sp>
      <p:sp>
        <p:nvSpPr>
          <p:cNvPr id="16" name="exit-text"/>
          <p:cNvSpPr txBox="1"/>
          <p:nvPr/>
        </p:nvSpPr>
        <p:spPr>
          <a:xfrm>
            <a:off x="965200" y="5588000"/>
            <a:ext cx="10261600" cy="482600"/>
          </a:xfrm>
          <a:prstGeom prst="rect">
            <a:avLst/>
          </a:prstGeom>
          <a:noFill/>
          <a:ln>
            <a:noFill/>
          </a:ln>
        </p:spPr>
        <p:txBody>
          <a:bodyPr lIns="0" rIns="0" tIns="0" bIns="0" wrap="square" rtlCol="0" anchor="ctr"/>
          <a:lstStyle/>
          <a:p>
            <a:pPr algn="l">
              <a:lnSpc>
                <a:spcPct val="150000"/>
              </a:lnSpc>
            </a:pPr>
            <a:r>
              <a:rPr lang="en-US" sz="1250" noProof="1" b="1">
                <a:solidFill>
                  <a:srgbClr val="22303A"/>
                </a:solidFill>
                <a:latin typeface="MiSans"/>
                <a:ea typeface="MiSans"/>
              </a:rPr>
              <a:t>出口能力 Exit capability：</a:t>
            </a:r>
            <a:r>
              <a:rPr lang="en-US" sz="1250" noProof="1">
                <a:solidFill>
                  <a:srgbClr val="22303A"/>
                </a:solidFill>
                <a:latin typeface="MiSans"/>
                <a:ea typeface="MiSans"/>
              </a:rPr>
              <a:t>看到电流题会用 I = nAvq 做定性与定量分析；看到 I-V 图能一眼认出元件并说出斜率含义；能用载流子碰撞与释放的微观图象解释温度对金属和热敏电阻的相反影响。</a:t>
            </a:r>
            <a:endParaRPr lang="en-US" sz="1250" noProof="1"/>
          </a:p>
        </p:txBody>
      </p:sp>
      <p:sp>
        <p:nvSpPr>
          <p:cNvPr id="17" name="footer-rule"/>
          <p:cNvSpPr/>
          <p:nvPr/>
        </p:nvSpPr>
        <p:spPr>
          <a:xfrm>
            <a:off x="762000" y="6451600"/>
            <a:ext cx="10668000" cy="12700"/>
          </a:xfrm>
          <a:prstGeom prst="rect">
            <a:avLst/>
          </a:prstGeom>
          <a:solidFill>
            <a:srgbClr val="D8D2C8"/>
          </a:solidFill>
          <a:ln>
            <a:noFill/>
          </a:ln>
        </p:spPr>
      </p:sp>
      <p:sp>
        <p:nvSpPr>
          <p:cNvPr id="18" name="footer-left"/>
          <p:cNvSpPr txBox="1"/>
          <p:nvPr/>
        </p:nvSpPr>
        <p:spPr>
          <a:xfrm>
            <a:off x="762000" y="6553200"/>
            <a:ext cx="5080000" cy="203200"/>
          </a:xfrm>
          <a:prstGeom prst="rect">
            <a:avLst/>
          </a:prstGeom>
          <a:noFill/>
          <a:ln>
            <a:noFill/>
          </a:ln>
        </p:spPr>
        <p:txBody>
          <a:bodyPr lIns="0" rIns="0" tIns="0" bIns="0" wrap="none" rtlCol="0"/>
          <a:lstStyle/>
          <a:p>
            <a:pPr>
              <a:lnSpc>
                <a:spcPct val="120000"/>
              </a:lnSpc>
            </a:pPr>
            <a:r>
              <a:rPr lang="en-US" sz="1000" noProof="1">
                <a:solidFill>
                  <a:srgbClr val="6E6A62"/>
                </a:solidFill>
                <a:latin typeface="MiSans"/>
                <a:ea typeface="MiSans"/>
              </a:rPr>
              <a:t>CIE A-Level Physics 9702 · Topic 9 电学</a:t>
            </a:r>
            <a:endParaRPr lang="en-US" sz="1000" noProof="1"/>
          </a:p>
        </p:txBody>
      </p:sp>
      <p:sp>
        <p:nvSpPr>
          <p:cNvPr id="19" name="page-num"/>
          <p:cNvSpPr txBox="1"/>
          <p:nvPr/>
        </p:nvSpPr>
        <p:spPr>
          <a:xfrm>
            <a:off x="10922000" y="6553200"/>
            <a:ext cx="508000" cy="203200"/>
          </a:xfrm>
          <a:prstGeom prst="rect">
            <a:avLst/>
          </a:prstGeom>
          <a:noFill/>
          <a:ln>
            <a:noFill/>
          </a:ln>
        </p:spPr>
        <p:txBody>
          <a:bodyPr lIns="0" rIns="0" tIns="0" bIns="0" wrap="none" rtlCol="0" anchor="t"/>
          <a:lstStyle/>
          <a:p>
            <a:pPr algn="r">
              <a:lnSpc>
                <a:spcPct val="120000"/>
              </a:lnSpc>
            </a:pPr>
            <a:r>
              <a:rPr lang="en-US" sz="1000" noProof="1">
                <a:solidFill>
                  <a:srgbClr val="6E6A62"/>
                </a:solidFill>
                <a:latin typeface="MiSans"/>
                <a:ea typeface="MiSans"/>
              </a:rPr>
              <a:t>02</a:t>
            </a:r>
            <a:endParaRPr lang="en-US" sz="1000" noProof="1"/>
          </a:p>
        </p:txBody>
      </p:sp>
    </p:spTree>
  </p:cSld>
  <p:clrMapOvr>
    <a:masterClrMapping/>
  </p:clrMapOvr>
</p:sld>
</file>

<file path=ppt/slides/slide3.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8F4"/>
        </a:solidFill>
      </p:bgPr>
    </p:bg>
    <p:spTree>
      <p:nvGrpSpPr>
        <p:cNvPr id="1" name=""/>
        <p:cNvGrpSpPr/>
        <p:nvPr/>
      </p:nvGrpSpPr>
      <p:grpSpPr>
        <a:xfrm>
          <a:off x="0" y="0"/>
          <a:ext cx="0" cy="0"/>
          <a:chOff x="0" y="0"/>
          <a:chExt cx="0" cy="0"/>
        </a:xfrm>
      </p:grpSpPr>
      <p:sp>
        <p:nvSpPr>
          <p:cNvPr id="2" name="kicker"/>
          <p:cNvSpPr txBox="1"/>
          <p:nvPr/>
        </p:nvSpPr>
        <p:spPr>
          <a:xfrm>
            <a:off x="762000" y="330200"/>
            <a:ext cx="6350000" cy="203200"/>
          </a:xfrm>
          <a:prstGeom prst="rect">
            <a:avLst/>
          </a:prstGeom>
          <a:noFill/>
          <a:ln>
            <a:noFill/>
          </a:ln>
        </p:spPr>
        <p:txBody>
          <a:bodyPr lIns="0" rIns="0" tIns="0" bIns="0" wrap="none" rtlCol="0"/>
          <a:lstStyle/>
          <a:p>
            <a:pPr>
              <a:lnSpc>
                <a:spcPct val="120000"/>
              </a:lnSpc>
            </a:pPr>
            <a:r>
              <a:rPr lang="en-US" sz="1100" noProof="1" b="1" spc="200" kern="0">
                <a:solidFill>
                  <a:srgbClr val="0E5A55"/>
                </a:solidFill>
                <a:latin typeface="MiSans"/>
                <a:ea typeface="MiSans"/>
              </a:rPr>
              <a:t>9.1 · ELECTRIC CURRENT</a:t>
            </a:r>
            <a:endParaRPr lang="en-US" sz="1100" noProof="1"/>
          </a:p>
        </p:txBody>
      </p:sp>
      <p:sp>
        <p:nvSpPr>
          <p:cNvPr id="3" name="title"/>
          <p:cNvSpPr txBox="1"/>
          <p:nvPr/>
        </p:nvSpPr>
        <p:spPr>
          <a:xfrm>
            <a:off x="762000" y="584200"/>
            <a:ext cx="10668000" cy="457200"/>
          </a:xfrm>
          <a:prstGeom prst="rect">
            <a:avLst/>
          </a:prstGeom>
          <a:noFill/>
          <a:ln>
            <a:noFill/>
          </a:ln>
        </p:spPr>
        <p:txBody>
          <a:bodyPr lIns="0" rIns="0" tIns="0" bIns="0" wrap="none" rtlCol="0"/>
          <a:lstStyle/>
          <a:p>
            <a:pPr>
              <a:lnSpc>
                <a:spcPct val="120000"/>
              </a:lnSpc>
            </a:pPr>
            <a:r>
              <a:rPr lang="en-US" sz="2600" noProof="1" b="1">
                <a:solidFill>
                  <a:srgbClr val="22303A"/>
                </a:solidFill>
                <a:latin typeface="MiSans"/>
                <a:ea typeface="MiSans"/>
              </a:rPr>
              <a:t>电流：单位时间流过多少电荷</a:t>
            </a:r>
            <a:endParaRPr lang="en-US" sz="2600" noProof="1"/>
          </a:p>
        </p:txBody>
      </p:sp>
      <p:sp>
        <p:nvSpPr>
          <p:cNvPr id="4" name="title-en"/>
          <p:cNvSpPr txBox="1"/>
          <p:nvPr/>
        </p:nvSpPr>
        <p:spPr>
          <a:xfrm>
            <a:off x="762000" y="1066800"/>
            <a:ext cx="10668000" cy="254000"/>
          </a:xfrm>
          <a:prstGeom prst="rect">
            <a:avLst/>
          </a:prstGeom>
          <a:noFill/>
          <a:ln>
            <a:noFill/>
          </a:ln>
        </p:spPr>
        <p:txBody>
          <a:bodyPr lIns="0" rIns="0" tIns="0" bIns="0" wrap="none" rtlCol="0"/>
          <a:lstStyle/>
          <a:p>
            <a:pPr>
              <a:lnSpc>
                <a:spcPct val="120000"/>
              </a:lnSpc>
            </a:pPr>
            <a:r>
              <a:rPr lang="en-US" sz="1300" noProof="1">
                <a:solidFill>
                  <a:srgbClr val="6E6A62"/>
                </a:solidFill>
                <a:latin typeface="MiSans"/>
                <a:ea typeface="MiSans"/>
              </a:rPr>
              <a:t>Current is the rate of flow of charge</a:t>
            </a:r>
            <a:endParaRPr lang="en-US" sz="1300" noProof="1"/>
          </a:p>
        </p:txBody>
      </p:sp>
      <p:sp>
        <p:nvSpPr>
          <p:cNvPr id="5" name="rule-top"/>
          <p:cNvSpPr/>
          <p:nvPr/>
        </p:nvSpPr>
        <p:spPr>
          <a:xfrm>
            <a:off x="762000" y="1422400"/>
            <a:ext cx="10668000" cy="19050"/>
          </a:xfrm>
          <a:prstGeom prst="rect">
            <a:avLst/>
          </a:prstGeom>
          <a:solidFill>
            <a:srgbClr val="D8D2C8"/>
          </a:solidFill>
          <a:ln>
            <a:noFill/>
          </a:ln>
        </p:spPr>
      </p:sp>
      <p:sp>
        <p:nvSpPr>
          <p:cNvPr id="6" name="def-box"/>
          <p:cNvSpPr/>
          <p:nvPr/>
        </p:nvSpPr>
        <p:spPr>
          <a:xfrm>
            <a:off x="762000" y="1701800"/>
            <a:ext cx="5969000" cy="939800"/>
          </a:xfrm>
          <a:prstGeom prst="rect">
            <a:avLst/>
          </a:prstGeom>
          <a:solidFill>
            <a:srgbClr val="EFE9DF"/>
          </a:solidFill>
          <a:ln>
            <a:noFill/>
          </a:ln>
        </p:spPr>
      </p:sp>
      <p:sp>
        <p:nvSpPr>
          <p:cNvPr id="7" name="def-text"/>
          <p:cNvSpPr txBox="1"/>
          <p:nvPr/>
        </p:nvSpPr>
        <p:spPr>
          <a:xfrm>
            <a:off x="965200" y="1803400"/>
            <a:ext cx="5562600" cy="736600"/>
          </a:xfrm>
          <a:prstGeom prst="rect">
            <a:avLst/>
          </a:prstGeom>
          <a:noFill/>
          <a:ln>
            <a:noFill/>
          </a:ln>
        </p:spPr>
        <p:txBody>
          <a:bodyPr lIns="0" rIns="0" tIns="0" bIns="0" wrap="square" rtlCol="0"/>
          <a:lstStyle/>
          <a:p>
            <a:pPr>
              <a:lnSpc>
                <a:spcPct val="155000"/>
              </a:lnSpc>
            </a:pPr>
            <a:r>
              <a:rPr lang="en-US" sz="1350" noProof="1" b="1">
                <a:solidFill>
                  <a:srgbClr val="22303A"/>
                </a:solidFill>
                <a:latin typeface="MiSans"/>
                <a:ea typeface="MiSans"/>
              </a:rPr>
              <a:t>Electric current 电流 (I)</a:t>
            </a:r>
            <a:r>
              <a:rPr lang="en-US" sz="1350" noProof="1">
                <a:solidFill>
                  <a:srgbClr val="22303A"/>
                </a:solidFill>
                <a:latin typeface="MiSans"/>
                <a:ea typeface="MiSans"/>
              </a:rPr>
              <a:t>：the rate of flow of charge 电荷流动的速率。</a:t>
            </a:r>
            <a:endParaRPr lang="en-US" sz="1350" noProof="1"/>
          </a:p>
          <a:p>
            <a:pPr>
              <a:lnSpc>
                <a:spcPct val="155000"/>
              </a:lnSpc>
            </a:pPr>
            <a:r>
              <a:rPr lang="en-US" sz="1350" noProof="1" b="1">
                <a:solidFill>
                  <a:srgbClr val="0E5A55"/>
                </a:solidFill>
                <a:latin typeface="MiSans"/>
                <a:ea typeface="MiSans"/>
              </a:rPr>
              <a:t>Q = It</a:t>
            </a:r>
            <a:r>
              <a:rPr lang="en-US" sz="1350" noProof="1">
                <a:solidFill>
                  <a:srgbClr val="22303A"/>
                </a:solidFill>
                <a:latin typeface="MiSans"/>
                <a:ea typeface="MiSans"/>
              </a:rPr>
              <a:t>　Q 单位 C，I 单位 A，t 单位 s。1 A = 1 C s</a:t>
            </a:r>
            <a:r>
              <a:rPr lang="en-US" sz="1350" noProof="1" baseline="30000">
                <a:solidFill>
                  <a:srgbClr val="22303A"/>
                </a:solidFill>
                <a:latin typeface="MiSans"/>
                <a:ea typeface="MiSans"/>
              </a:rPr>
              <a:t>−1</a:t>
            </a:r>
            <a:r>
              <a:rPr lang="en-US" sz="1350" noProof="1">
                <a:solidFill>
                  <a:srgbClr val="22303A"/>
                </a:solidFill>
                <a:latin typeface="MiSans"/>
                <a:ea typeface="MiSans"/>
              </a:rPr>
              <a:t>。</a:t>
            </a:r>
            <a:endParaRPr lang="en-US" sz="1350" noProof="1"/>
          </a:p>
        </p:txBody>
      </p:sp>
      <p:sp>
        <p:nvSpPr>
          <p:cNvPr id="8" name="def-note"/>
          <p:cNvSpPr txBox="1"/>
          <p:nvPr/>
        </p:nvSpPr>
        <p:spPr>
          <a:xfrm>
            <a:off x="762000" y="2819400"/>
            <a:ext cx="5969000" cy="838200"/>
          </a:xfrm>
          <a:prstGeom prst="rect">
            <a:avLst/>
          </a:prstGeom>
          <a:noFill/>
          <a:ln>
            <a:noFill/>
          </a:ln>
        </p:spPr>
        <p:txBody>
          <a:bodyPr lIns="0" rIns="0" tIns="0" bIns="0" wrap="square" rtlCol="0"/>
          <a:lstStyle/>
          <a:p>
            <a:pPr>
              <a:lnSpc>
                <a:spcPct val="150000"/>
              </a:lnSpc>
            </a:pPr>
            <a:r>
              <a:rPr lang="en-US" sz="1250" noProof="1">
                <a:solidFill>
                  <a:srgbClr val="22303A"/>
                </a:solidFill>
                <a:latin typeface="MiSans"/>
                <a:ea typeface="MiSans"/>
              </a:rPr>
              <a:t>电流的定义要说 </a:t>
            </a:r>
            <a:r>
              <a:rPr lang="en-US" sz="1250" noProof="1" b="1">
                <a:solidFill>
                  <a:srgbClr val="22303A"/>
                </a:solidFill>
                <a:latin typeface="MiSans"/>
                <a:ea typeface="MiSans"/>
              </a:rPr>
              <a:t>rate of flow of charge</a:t>
            </a:r>
            <a:r>
              <a:rPr lang="en-US" sz="1250" noProof="1">
                <a:solidFill>
                  <a:srgbClr val="22303A"/>
                </a:solidFill>
                <a:latin typeface="MiSans"/>
                <a:ea typeface="MiSans"/>
              </a:rPr>
              <a:t>，"1 A = 1 C s</a:t>
            </a:r>
            <a:r>
              <a:rPr lang="en-US" sz="1250" noProof="1" baseline="30000">
                <a:solidFill>
                  <a:srgbClr val="22303A"/>
                </a:solidFill>
                <a:latin typeface="MiSans"/>
                <a:ea typeface="MiSans"/>
              </a:rPr>
              <a:t>−1</a:t>
            </a:r>
            <a:r>
              <a:rPr lang="en-US" sz="1250" noProof="1">
                <a:solidFill>
                  <a:srgbClr val="22303A"/>
                </a:solidFill>
                <a:latin typeface="MiSans"/>
                <a:ea typeface="MiSans"/>
              </a:rPr>
              <a:t>" 是它的直接推论——定义式题常考这两句。</a:t>
            </a:r>
            <a:endParaRPr lang="en-US" sz="1250" noProof="1"/>
          </a:p>
        </p:txBody>
      </p:sp>
      <p:sp>
        <p:nvSpPr>
          <p:cNvPr id="9" name="carrier-head"/>
          <p:cNvSpPr txBox="1"/>
          <p:nvPr/>
        </p:nvSpPr>
        <p:spPr>
          <a:xfrm>
            <a:off x="762000" y="3810000"/>
            <a:ext cx="5969000" cy="304800"/>
          </a:xfrm>
          <a:prstGeom prst="rect">
            <a:avLst/>
          </a:prstGeom>
          <a:noFill/>
          <a:ln>
            <a:noFill/>
          </a:ln>
        </p:spPr>
        <p:txBody>
          <a:bodyPr lIns="0" rIns="0" tIns="0" bIns="0" wrap="none" rtlCol="0"/>
          <a:lstStyle/>
          <a:p>
            <a:pPr>
              <a:lnSpc>
                <a:spcPct val="120000"/>
              </a:lnSpc>
            </a:pPr>
            <a:r>
              <a:rPr lang="en-US" sz="1500" noProof="1" b="1">
                <a:solidFill>
                  <a:srgbClr val="0E5A55"/>
                </a:solidFill>
                <a:latin typeface="MiSans"/>
                <a:ea typeface="MiSans"/>
              </a:rPr>
              <a:t>载流子 Charge carriers</a:t>
            </a:r>
            <a:endParaRPr lang="en-US" sz="1500" noProof="1"/>
          </a:p>
        </p:txBody>
      </p:sp>
      <p:sp>
        <p:nvSpPr>
          <p:cNvPr id="10" name="carrier-body"/>
          <p:cNvSpPr txBox="1"/>
          <p:nvPr/>
        </p:nvSpPr>
        <p:spPr>
          <a:xfrm>
            <a:off x="762000" y="4165600"/>
            <a:ext cx="5969000" cy="1524000"/>
          </a:xfrm>
          <a:prstGeom prst="rect">
            <a:avLst/>
          </a:prstGeom>
          <a:noFill/>
          <a:ln>
            <a:noFill/>
          </a:ln>
        </p:spPr>
        <p:txBody>
          <a:bodyPr lIns="0" rIns="0" tIns="0" bIns="0" wrap="square" rtlCol="0"/>
          <a:lstStyle/>
          <a:p>
            <a:pPr>
              <a:lnSpc>
                <a:spcPct val="155000"/>
              </a:lnSpc>
            </a:pPr>
            <a:r>
              <a:rPr lang="en-US" sz="1350" noProof="1">
                <a:solidFill>
                  <a:srgbClr val="22303A"/>
                </a:solidFill>
                <a:latin typeface="MiSans"/>
                <a:ea typeface="MiSans"/>
              </a:rPr>
              <a:t>· 金属中：</a:t>
            </a:r>
            <a:r>
              <a:rPr lang="en-US" sz="1350" noProof="1" b="1">
                <a:solidFill>
                  <a:srgbClr val="22303A"/>
                </a:solidFill>
                <a:latin typeface="MiSans"/>
                <a:ea typeface="MiSans"/>
              </a:rPr>
              <a:t>自由电子</a:t>
            </a:r>
            <a:r>
              <a:rPr lang="en-US" sz="1350" noProof="1">
                <a:solidFill>
                  <a:srgbClr val="22303A"/>
                </a:solidFill>
                <a:latin typeface="MiSans"/>
                <a:ea typeface="MiSans"/>
              </a:rPr>
              <a:t> free electrons（带负电，向正极移动）。</a:t>
            </a:r>
            <a:endParaRPr lang="en-US" sz="1350" noProof="1"/>
          </a:p>
          <a:p>
            <a:pPr>
              <a:lnSpc>
                <a:spcPct val="155000"/>
              </a:lnSpc>
            </a:pPr>
            <a:r>
              <a:rPr lang="en-US" sz="1350" noProof="1">
                <a:solidFill>
                  <a:srgbClr val="22303A"/>
                </a:solidFill>
                <a:latin typeface="MiSans"/>
                <a:ea typeface="MiSans"/>
              </a:rPr>
              <a:t>· 电解液中：正、负</a:t>
            </a:r>
            <a:r>
              <a:rPr lang="en-US" sz="1350" noProof="1" b="1">
                <a:solidFill>
                  <a:srgbClr val="22303A"/>
                </a:solidFill>
                <a:latin typeface="MiSans"/>
                <a:ea typeface="MiSans"/>
              </a:rPr>
              <a:t>离子</a:t>
            </a:r>
            <a:r>
              <a:rPr lang="en-US" sz="1350" noProof="1">
                <a:solidFill>
                  <a:srgbClr val="22303A"/>
                </a:solidFill>
                <a:latin typeface="MiSans"/>
                <a:ea typeface="MiSans"/>
              </a:rPr>
              <a:t> ions 双向移动。</a:t>
            </a:r>
            <a:endParaRPr lang="en-US" sz="1350" noProof="1"/>
          </a:p>
          <a:p>
            <a:pPr>
              <a:lnSpc>
                <a:spcPct val="155000"/>
              </a:lnSpc>
            </a:pPr>
            <a:r>
              <a:rPr lang="en-US" sz="1350" noProof="1">
                <a:solidFill>
                  <a:srgbClr val="22303A"/>
                </a:solidFill>
                <a:latin typeface="MiSans"/>
                <a:ea typeface="MiSans"/>
              </a:rPr>
              <a:t>· 电荷是</a:t>
            </a:r>
            <a:r>
              <a:rPr lang="en-US" sz="1350" noProof="1" b="1">
                <a:solidFill>
                  <a:srgbClr val="22303A"/>
                </a:solidFill>
                <a:latin typeface="MiSans"/>
                <a:ea typeface="MiSans"/>
              </a:rPr>
              <a:t>量子化</a:t>
            </a:r>
            <a:r>
              <a:rPr lang="en-US" sz="1350" noProof="1">
                <a:solidFill>
                  <a:srgbClr val="22303A"/>
                </a:solidFill>
                <a:latin typeface="MiSans"/>
                <a:ea typeface="MiSans"/>
              </a:rPr>
              <a:t> quantised 的——基本单元是元电荷</a:t>
            </a:r>
            <a:endParaRPr lang="en-US" sz="1350" noProof="1"/>
          </a:p>
          <a:p>
            <a:pPr>
              <a:lnSpc>
                <a:spcPct val="155000"/>
              </a:lnSpc>
            </a:pPr>
            <a:r>
              <a:rPr lang="en-US" sz="1350" noProof="1">
                <a:solidFill>
                  <a:srgbClr val="22303A"/>
                </a:solidFill>
                <a:latin typeface="MiSans"/>
                <a:ea typeface="MiSans"/>
              </a:rPr>
              <a:t>　</a:t>
            </a:r>
            <a:r>
              <a:rPr lang="en-US" sz="1350" noProof="1" b="1">
                <a:solidFill>
                  <a:srgbClr val="0E5A55"/>
                </a:solidFill>
                <a:latin typeface="MiSans"/>
                <a:ea typeface="MiSans"/>
              </a:rPr>
              <a:t>e = 1.60 × 10</a:t>
            </a:r>
            <a:r>
              <a:rPr lang="en-US" sz="1350" noProof="1" b="1" baseline="30000">
                <a:solidFill>
                  <a:srgbClr val="0E5A55"/>
                </a:solidFill>
                <a:latin typeface="MiSans"/>
                <a:ea typeface="MiSans"/>
              </a:rPr>
              <a:t>−19</a:t>
            </a:r>
            <a:r>
              <a:rPr lang="en-US" sz="1350" noProof="1" b="1">
                <a:solidFill>
                  <a:srgbClr val="0E5A55"/>
                </a:solidFill>
                <a:latin typeface="MiSans"/>
                <a:ea typeface="MiSans"/>
              </a:rPr>
              <a:t> C</a:t>
            </a:r>
            <a:r>
              <a:rPr lang="en-US" sz="1350" noProof="1">
                <a:solidFill>
                  <a:srgbClr val="22303A"/>
                </a:solidFill>
                <a:latin typeface="MiSans"/>
                <a:ea typeface="MiSans"/>
              </a:rPr>
              <a:t>，任何电量都是它的整数倍。</a:t>
            </a:r>
            <a:endParaRPr lang="en-US" sz="1350" noProof="1"/>
          </a:p>
        </p:txBody>
      </p:sp>
      <p:sp>
        <p:nvSpPr>
          <p:cNvPr id="11" name="right-box"/>
          <p:cNvSpPr/>
          <p:nvPr/>
        </p:nvSpPr>
        <p:spPr>
          <a:xfrm>
            <a:off x="7239000" y="1701800"/>
            <a:ext cx="4191000" cy="2540000"/>
          </a:xfrm>
          <a:prstGeom prst="rect">
            <a:avLst/>
          </a:prstGeom>
          <a:solidFill>
            <a:srgbClr val="FFFFFF"/>
          </a:solidFill>
          <a:ln>
            <a:noFill/>
          </a:ln>
        </p:spPr>
      </p:sp>
      <p:sp>
        <p:nvSpPr>
          <p:cNvPr id="12" name="right-head"/>
          <p:cNvSpPr txBox="1"/>
          <p:nvPr/>
        </p:nvSpPr>
        <p:spPr>
          <a:xfrm>
            <a:off x="7442200" y="1854200"/>
            <a:ext cx="3810000" cy="279400"/>
          </a:xfrm>
          <a:prstGeom prst="rect">
            <a:avLst/>
          </a:prstGeom>
          <a:noFill/>
          <a:ln>
            <a:noFill/>
          </a:ln>
        </p:spPr>
        <p:txBody>
          <a:bodyPr lIns="0" rIns="0" tIns="0" bIns="0" wrap="none" rtlCol="0"/>
          <a:lstStyle/>
          <a:p>
            <a:pPr>
              <a:lnSpc>
                <a:spcPct val="120000"/>
              </a:lnSpc>
            </a:pPr>
            <a:r>
              <a:rPr lang="en-US" sz="1500" noProof="1" b="1">
                <a:solidFill>
                  <a:srgbClr val="0E5A55"/>
                </a:solidFill>
                <a:latin typeface="MiSans"/>
                <a:ea typeface="MiSans"/>
              </a:rPr>
              <a:t>例：数电子个数</a:t>
            </a:r>
            <a:endParaRPr lang="en-US" sz="1500" noProof="1"/>
          </a:p>
        </p:txBody>
      </p:sp>
      <p:sp>
        <p:nvSpPr>
          <p:cNvPr id="13" name="right-body"/>
          <p:cNvSpPr txBox="1"/>
          <p:nvPr/>
        </p:nvSpPr>
        <p:spPr>
          <a:xfrm>
            <a:off x="7442200" y="2209800"/>
            <a:ext cx="3810000" cy="1879600"/>
          </a:xfrm>
          <a:prstGeom prst="rect">
            <a:avLst/>
          </a:prstGeom>
          <a:noFill/>
          <a:ln>
            <a:noFill/>
          </a:ln>
        </p:spPr>
        <p:txBody>
          <a:bodyPr lIns="0" rIns="0" tIns="0" bIns="0" wrap="square" rtlCol="0"/>
          <a:lstStyle/>
          <a:p>
            <a:pPr>
              <a:lnSpc>
                <a:spcPct val="155000"/>
              </a:lnSpc>
            </a:pPr>
            <a:r>
              <a:rPr lang="en-US" sz="1250" noProof="1">
                <a:solidFill>
                  <a:srgbClr val="22303A"/>
                </a:solidFill>
                <a:latin typeface="MiSans"/>
                <a:ea typeface="MiSans"/>
              </a:rPr>
              <a:t>5.0 A 的电流通 10 s：</a:t>
            </a:r>
            <a:endParaRPr lang="en-US" sz="1250" noProof="1"/>
          </a:p>
          <a:p>
            <a:pPr>
              <a:lnSpc>
                <a:spcPct val="155000"/>
              </a:lnSpc>
            </a:pPr>
            <a:r>
              <a:rPr lang="en-US" sz="1250" noProof="1">
                <a:solidFill>
                  <a:srgbClr val="22303A"/>
                </a:solidFill>
                <a:latin typeface="MiSans"/>
                <a:ea typeface="MiSans"/>
              </a:rPr>
              <a:t>Q = It = 5.0 × 10 = 50 C</a:t>
            </a:r>
            <a:endParaRPr lang="en-US" sz="1250" noProof="1"/>
          </a:p>
          <a:p>
            <a:pPr>
              <a:lnSpc>
                <a:spcPct val="155000"/>
              </a:lnSpc>
            </a:pPr>
            <a:r>
              <a:rPr lang="en-US" sz="1250" noProof="1">
                <a:solidFill>
                  <a:srgbClr val="22303A"/>
                </a:solidFill>
                <a:latin typeface="MiSans"/>
                <a:ea typeface="MiSans"/>
              </a:rPr>
              <a:t>电子数 N = Q/e</a:t>
            </a:r>
            <a:endParaRPr lang="en-US" sz="1250" noProof="1"/>
          </a:p>
          <a:p>
            <a:pPr>
              <a:lnSpc>
                <a:spcPct val="155000"/>
              </a:lnSpc>
            </a:pPr>
            <a:r>
              <a:rPr lang="en-US" sz="1250" noProof="1">
                <a:solidFill>
                  <a:srgbClr val="22303A"/>
                </a:solidFill>
                <a:latin typeface="MiSans"/>
                <a:ea typeface="MiSans"/>
              </a:rPr>
              <a:t>= 50 ÷ 1.60×10</a:t>
            </a:r>
            <a:r>
              <a:rPr lang="en-US" sz="1250" noProof="1" baseline="30000">
                <a:solidFill>
                  <a:srgbClr val="22303A"/>
                </a:solidFill>
                <a:latin typeface="MiSans"/>
                <a:ea typeface="MiSans"/>
              </a:rPr>
              <a:t>−19</a:t>
            </a:r>
            <a:endParaRPr lang="en-US" sz="1250" noProof="1"/>
          </a:p>
          <a:p>
            <a:pPr>
              <a:lnSpc>
                <a:spcPct val="155000"/>
              </a:lnSpc>
            </a:pPr>
            <a:r>
              <a:rPr lang="en-US" sz="1250" noProof="1">
                <a:solidFill>
                  <a:srgbClr val="22303A"/>
                </a:solidFill>
                <a:latin typeface="MiSans"/>
                <a:ea typeface="MiSans"/>
              </a:rPr>
              <a:t>= </a:t>
            </a:r>
            <a:r>
              <a:rPr lang="en-US" sz="1250" noProof="1" b="1">
                <a:solidFill>
                  <a:srgbClr val="22303A"/>
                </a:solidFill>
                <a:latin typeface="MiSans"/>
                <a:ea typeface="MiSans"/>
              </a:rPr>
              <a:t>3.1 × 10</a:t>
            </a:r>
            <a:r>
              <a:rPr lang="en-US" sz="1250" noProof="1" b="1" baseline="30000">
                <a:solidFill>
                  <a:srgbClr val="22303A"/>
                </a:solidFill>
                <a:latin typeface="MiSans"/>
                <a:ea typeface="MiSans"/>
              </a:rPr>
              <a:t>20</a:t>
            </a:r>
            <a:r>
              <a:rPr lang="en-US" sz="1250" noProof="1" b="1">
                <a:solidFill>
                  <a:srgbClr val="22303A"/>
                </a:solidFill>
                <a:latin typeface="MiSans"/>
                <a:ea typeface="MiSans"/>
              </a:rPr>
              <a:t> 个</a:t>
            </a:r>
            <a:endParaRPr lang="en-US" sz="1250" noProof="1"/>
          </a:p>
          <a:p>
            <a:pPr>
              <a:lnSpc>
                <a:spcPct val="155000"/>
              </a:lnSpc>
            </a:pPr>
            <a:r>
              <a:rPr lang="en-US" sz="1150" noProof="1">
                <a:solidFill>
                  <a:srgbClr val="6E6A62"/>
                </a:solidFill>
                <a:latin typeface="MiSans"/>
                <a:ea typeface="MiSans"/>
              </a:rPr>
              <a:t>宏观电流背后是天文数字的载流子。</a:t>
            </a:r>
            <a:endParaRPr lang="en-US" sz="1250" noProof="1"/>
          </a:p>
        </p:txBody>
      </p:sp>
      <p:sp>
        <p:nvSpPr>
          <p:cNvPr id="14" name="tip-box"/>
          <p:cNvSpPr/>
          <p:nvPr/>
        </p:nvSpPr>
        <p:spPr>
          <a:xfrm>
            <a:off x="7239000" y="4470400"/>
            <a:ext cx="4191000" cy="1219200"/>
          </a:xfrm>
          <a:prstGeom prst="rect">
            <a:avLst/>
          </a:prstGeom>
          <a:solidFill>
            <a:srgbClr val="EFE9DF"/>
          </a:solidFill>
          <a:ln>
            <a:noFill/>
          </a:ln>
        </p:spPr>
      </p:sp>
      <p:sp>
        <p:nvSpPr>
          <p:cNvPr id="15" name="tip-text"/>
          <p:cNvSpPr txBox="1"/>
          <p:nvPr/>
        </p:nvSpPr>
        <p:spPr>
          <a:xfrm>
            <a:off x="7442200" y="4597400"/>
            <a:ext cx="3784600" cy="965200"/>
          </a:xfrm>
          <a:prstGeom prst="rect">
            <a:avLst/>
          </a:prstGeom>
          <a:noFill/>
          <a:ln>
            <a:noFill/>
          </a:ln>
        </p:spPr>
        <p:txBody>
          <a:bodyPr lIns="0" rIns="0" tIns="0" bIns="0" wrap="square" rtlCol="0"/>
          <a:lstStyle/>
          <a:p>
            <a:pPr>
              <a:lnSpc>
                <a:spcPct val="150000"/>
              </a:lnSpc>
            </a:pPr>
            <a:r>
              <a:rPr lang="en-US" sz="1250" noProof="1" b="1">
                <a:solidFill>
                  <a:srgbClr val="C96F16"/>
                </a:solidFill>
                <a:latin typeface="MiSans"/>
                <a:ea typeface="MiSans"/>
              </a:rPr>
              <a:t>易错提醒：</a:t>
            </a:r>
            <a:r>
              <a:rPr lang="en-US" sz="1250" noProof="1">
                <a:solidFill>
                  <a:srgbClr val="22303A"/>
                </a:solidFill>
                <a:latin typeface="MiSans"/>
                <a:ea typeface="MiSans"/>
              </a:rPr>
              <a:t>电流方向规定为</a:t>
            </a:r>
            <a:r>
              <a:rPr lang="en-US" sz="1250" noProof="1" b="1">
                <a:solidFill>
                  <a:srgbClr val="22303A"/>
                </a:solidFill>
                <a:latin typeface="MiSans"/>
                <a:ea typeface="MiSans"/>
              </a:rPr>
              <a:t>正电荷</a:t>
            </a:r>
            <a:r>
              <a:rPr lang="en-US" sz="1250" noProof="1">
                <a:solidFill>
                  <a:srgbClr val="22303A"/>
                </a:solidFill>
                <a:latin typeface="MiSans"/>
                <a:ea typeface="MiSans"/>
              </a:rPr>
              <a:t>移动方向（conventional current），与金属中电子实际移动方向</a:t>
            </a:r>
            <a:r>
              <a:rPr lang="en-US" sz="1250" noProof="1" b="1">
                <a:solidFill>
                  <a:srgbClr val="22303A"/>
                </a:solidFill>
                <a:latin typeface="MiSans"/>
                <a:ea typeface="MiSans"/>
              </a:rPr>
              <a:t>相反</a:t>
            </a:r>
            <a:r>
              <a:rPr lang="en-US" sz="1250" noProof="1">
                <a:solidFill>
                  <a:srgbClr val="22303A"/>
                </a:solidFill>
                <a:latin typeface="MiSans"/>
                <a:ea typeface="MiSans"/>
              </a:rPr>
              <a:t>。</a:t>
            </a:r>
            <a:endParaRPr lang="en-US" sz="1250" noProof="1"/>
          </a:p>
        </p:txBody>
      </p:sp>
      <p:sp>
        <p:nvSpPr>
          <p:cNvPr id="16" name="footer-rule"/>
          <p:cNvSpPr/>
          <p:nvPr/>
        </p:nvSpPr>
        <p:spPr>
          <a:xfrm>
            <a:off x="762000" y="6451600"/>
            <a:ext cx="10668000" cy="12700"/>
          </a:xfrm>
          <a:prstGeom prst="rect">
            <a:avLst/>
          </a:prstGeom>
          <a:solidFill>
            <a:srgbClr val="D8D2C8"/>
          </a:solidFill>
          <a:ln>
            <a:noFill/>
          </a:ln>
        </p:spPr>
      </p:sp>
      <p:sp>
        <p:nvSpPr>
          <p:cNvPr id="17" name="footer-left"/>
          <p:cNvSpPr txBox="1"/>
          <p:nvPr/>
        </p:nvSpPr>
        <p:spPr>
          <a:xfrm>
            <a:off x="762000" y="6553200"/>
            <a:ext cx="5080000" cy="203200"/>
          </a:xfrm>
          <a:prstGeom prst="rect">
            <a:avLst/>
          </a:prstGeom>
          <a:noFill/>
          <a:ln>
            <a:noFill/>
          </a:ln>
        </p:spPr>
        <p:txBody>
          <a:bodyPr lIns="0" rIns="0" tIns="0" bIns="0" wrap="none" rtlCol="0"/>
          <a:lstStyle/>
          <a:p>
            <a:pPr>
              <a:lnSpc>
                <a:spcPct val="120000"/>
              </a:lnSpc>
            </a:pPr>
            <a:r>
              <a:rPr lang="en-US" sz="1000" noProof="1">
                <a:solidFill>
                  <a:srgbClr val="6E6A62"/>
                </a:solidFill>
                <a:latin typeface="MiSans"/>
                <a:ea typeface="MiSans"/>
              </a:rPr>
              <a:t>CIE A-Level Physics 9702 · Topic 9 电学</a:t>
            </a:r>
            <a:endParaRPr lang="en-US" sz="1000" noProof="1"/>
          </a:p>
        </p:txBody>
      </p:sp>
      <p:sp>
        <p:nvSpPr>
          <p:cNvPr id="18" name="page-num"/>
          <p:cNvSpPr txBox="1"/>
          <p:nvPr/>
        </p:nvSpPr>
        <p:spPr>
          <a:xfrm>
            <a:off x="10922000" y="6553200"/>
            <a:ext cx="508000" cy="203200"/>
          </a:xfrm>
          <a:prstGeom prst="rect">
            <a:avLst/>
          </a:prstGeom>
          <a:noFill/>
          <a:ln>
            <a:noFill/>
          </a:ln>
        </p:spPr>
        <p:txBody>
          <a:bodyPr lIns="0" rIns="0" tIns="0" bIns="0" wrap="none" rtlCol="0" anchor="t"/>
          <a:lstStyle/>
          <a:p>
            <a:pPr algn="r">
              <a:lnSpc>
                <a:spcPct val="120000"/>
              </a:lnSpc>
            </a:pPr>
            <a:r>
              <a:rPr lang="en-US" sz="1000" noProof="1">
                <a:solidFill>
                  <a:srgbClr val="6E6A62"/>
                </a:solidFill>
                <a:latin typeface="MiSans"/>
                <a:ea typeface="MiSans"/>
              </a:rPr>
              <a:t>03</a:t>
            </a:r>
            <a:endParaRPr lang="en-US" sz="1000" noProof="1"/>
          </a:p>
        </p:txBody>
      </p:sp>
    </p:spTree>
  </p:cSld>
  <p:clrMapOvr>
    <a:masterClrMapping/>
  </p:clrMapOvr>
</p:sld>
</file>

<file path=ppt/slides/slide4.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8F4"/>
        </a:solidFill>
      </p:bgPr>
    </p:bg>
    <p:spTree>
      <p:nvGrpSpPr>
        <p:cNvPr id="1" name=""/>
        <p:cNvGrpSpPr/>
        <p:nvPr/>
      </p:nvGrpSpPr>
      <p:grpSpPr>
        <a:xfrm>
          <a:off x="0" y="0"/>
          <a:ext cx="0" cy="0"/>
          <a:chOff x="0" y="0"/>
          <a:chExt cx="0" cy="0"/>
        </a:xfrm>
      </p:grpSpPr>
      <p:sp>
        <p:nvSpPr>
          <p:cNvPr id="2" name="kicker"/>
          <p:cNvSpPr txBox="1"/>
          <p:nvPr/>
        </p:nvSpPr>
        <p:spPr>
          <a:xfrm>
            <a:off x="762000" y="330200"/>
            <a:ext cx="6350000" cy="203200"/>
          </a:xfrm>
          <a:prstGeom prst="rect">
            <a:avLst/>
          </a:prstGeom>
          <a:noFill/>
          <a:ln>
            <a:noFill/>
          </a:ln>
        </p:spPr>
        <p:txBody>
          <a:bodyPr lIns="0" rIns="0" tIns="0" bIns="0" wrap="none" rtlCol="0"/>
          <a:lstStyle/>
          <a:p>
            <a:pPr>
              <a:lnSpc>
                <a:spcPct val="120000"/>
              </a:lnSpc>
            </a:pPr>
            <a:r>
              <a:rPr lang="en-US" sz="1100" noProof="1" b="1" spc="200" kern="0">
                <a:solidFill>
                  <a:srgbClr val="0E5A55"/>
                </a:solidFill>
                <a:latin typeface="MiSans"/>
                <a:ea typeface="MiSans"/>
              </a:rPr>
              <a:t>9.1 · DRIFT VELOCITY</a:t>
            </a:r>
            <a:endParaRPr lang="en-US" sz="1100" noProof="1"/>
          </a:p>
        </p:txBody>
      </p:sp>
      <p:sp>
        <p:nvSpPr>
          <p:cNvPr id="3" name="title"/>
          <p:cNvSpPr txBox="1"/>
          <p:nvPr/>
        </p:nvSpPr>
        <p:spPr>
          <a:xfrm>
            <a:off x="762000" y="584200"/>
            <a:ext cx="10668000" cy="457200"/>
          </a:xfrm>
          <a:prstGeom prst="rect">
            <a:avLst/>
          </a:prstGeom>
          <a:noFill/>
          <a:ln>
            <a:noFill/>
          </a:ln>
        </p:spPr>
        <p:txBody>
          <a:bodyPr lIns="0" rIns="0" tIns="0" bIns="0" wrap="none" rtlCol="0"/>
          <a:lstStyle/>
          <a:p>
            <a:pPr>
              <a:lnSpc>
                <a:spcPct val="120000"/>
              </a:lnSpc>
            </a:pPr>
            <a:r>
              <a:rPr lang="en-US" sz="2600" noProof="1" b="1">
                <a:solidFill>
                  <a:srgbClr val="22303A"/>
                </a:solidFill>
                <a:latin typeface="MiSans"/>
                <a:ea typeface="MiSans"/>
              </a:rPr>
              <a:t>I = nAvq：电流的微观解释</a:t>
            </a:r>
            <a:endParaRPr lang="en-US" sz="2600" noProof="1"/>
          </a:p>
        </p:txBody>
      </p:sp>
      <p:sp>
        <p:nvSpPr>
          <p:cNvPr id="4" name="title-en"/>
          <p:cNvSpPr txBox="1"/>
          <p:nvPr/>
        </p:nvSpPr>
        <p:spPr>
          <a:xfrm>
            <a:off x="762000" y="1066800"/>
            <a:ext cx="10668000" cy="254000"/>
          </a:xfrm>
          <a:prstGeom prst="rect">
            <a:avLst/>
          </a:prstGeom>
          <a:noFill/>
          <a:ln>
            <a:noFill/>
          </a:ln>
        </p:spPr>
        <p:txBody>
          <a:bodyPr lIns="0" rIns="0" tIns="0" bIns="0" wrap="none" rtlCol="0"/>
          <a:lstStyle/>
          <a:p>
            <a:pPr>
              <a:lnSpc>
                <a:spcPct val="120000"/>
              </a:lnSpc>
            </a:pPr>
            <a:r>
              <a:rPr lang="en-US" sz="1300" noProof="1">
                <a:solidFill>
                  <a:srgbClr val="6E6A62"/>
                </a:solidFill>
                <a:latin typeface="MiSans"/>
                <a:ea typeface="MiSans"/>
              </a:rPr>
              <a:t>The drift velocity equation — a favourite for explain questions</a:t>
            </a:r>
            <a:endParaRPr lang="en-US" sz="1300" noProof="1"/>
          </a:p>
        </p:txBody>
      </p:sp>
      <p:sp>
        <p:nvSpPr>
          <p:cNvPr id="5" name="rule-top"/>
          <p:cNvSpPr/>
          <p:nvPr/>
        </p:nvSpPr>
        <p:spPr>
          <a:xfrm>
            <a:off x="762000" y="1422400"/>
            <a:ext cx="10668000" cy="19050"/>
          </a:xfrm>
          <a:prstGeom prst="rect">
            <a:avLst/>
          </a:prstGeom>
          <a:solidFill>
            <a:srgbClr val="D8D2C8"/>
          </a:solidFill>
          <a:ln>
            <a:noFill/>
          </a:ln>
        </p:spPr>
      </p:sp>
      <p:sp>
        <p:nvSpPr>
          <p:cNvPr id="6" name="formula-box"/>
          <p:cNvSpPr/>
          <p:nvPr/>
        </p:nvSpPr>
        <p:spPr>
          <a:xfrm>
            <a:off x="762000" y="1701800"/>
            <a:ext cx="5969000" cy="711200"/>
          </a:xfrm>
          <a:prstGeom prst="rect">
            <a:avLst/>
          </a:prstGeom>
          <a:solidFill>
            <a:srgbClr val="EFE9DF"/>
          </a:solidFill>
          <a:ln>
            <a:noFill/>
          </a:ln>
        </p:spPr>
      </p:sp>
      <p:sp>
        <p:nvSpPr>
          <p:cNvPr id="7" name="formula-text"/>
          <p:cNvSpPr txBox="1"/>
          <p:nvPr/>
        </p:nvSpPr>
        <p:spPr>
          <a:xfrm>
            <a:off x="965200" y="1803400"/>
            <a:ext cx="5562600" cy="508000"/>
          </a:xfrm>
          <a:prstGeom prst="rect">
            <a:avLst/>
          </a:prstGeom>
          <a:noFill/>
          <a:ln>
            <a:noFill/>
          </a:ln>
        </p:spPr>
        <p:txBody>
          <a:bodyPr lIns="0" rIns="0" tIns="0" bIns="0" wrap="none" rtlCol="0" anchor="ctr"/>
          <a:lstStyle/>
          <a:p>
            <a:pPr algn="l">
              <a:lnSpc>
                <a:spcPct val="120000"/>
              </a:lnSpc>
            </a:pPr>
            <a:r>
              <a:rPr lang="en-US" sz="1700" noProof="1" b="1">
                <a:solidFill>
                  <a:srgbClr val="0E5A55"/>
                </a:solidFill>
                <a:latin typeface="MiSans"/>
                <a:ea typeface="MiSans"/>
              </a:rPr>
              <a:t>I = n A v q</a:t>
            </a:r>
            <a:endParaRPr lang="en-US" sz="1700" noProof="1"/>
          </a:p>
        </p:txBody>
      </p:sp>
      <p:graphicFrame>
        <p:nvGraphicFramePr>
          <p:cNvPr id="8" name="letter-table"/>
          <p:cNvGraphicFramePr>
            <a:graphicFrameLocks noGrp="1"/>
          </p:cNvGraphicFramePr>
          <p:nvPr/>
        </p:nvGraphicFramePr>
        <p:xfrm>
          <a:off x="762000" y="2590800"/>
          <a:ext cx="5969000" cy="2235200"/>
        </p:xfrm>
        <a:graphic>
          <a:graphicData uri="http://schemas.openxmlformats.org/drawingml/2006/table">
            <a:tbl>
              <a:tblPr/>
              <a:tblGrid>
                <a:gridCol w="417830000"/>
                <a:gridCol w="2387600000"/>
              </a:tblGrid>
              <a:tr h="75996800">
                <a:tc>
                  <a:txBody>
                    <a:bodyPr wrap="square" rtlCol="0" anchor="ctr"/>
                    <a:lstStyle/>
                    <a:p>
                      <a:pPr algn="l"/>
                    </a:p>
                  </a:txBody>
                  <a:tcPr marL="91440" marR="91440" marT="45720" marB="45720" anchor="ctr">
                    <a:lnL>
                      <a:noFill/>
                    </a:lnL>
                    <a:lnR>
                      <a:noFill/>
                    </a:lnR>
                    <a:lnT>
                      <a:noFill/>
                    </a:lnT>
                    <a:lnB>
                      <a:noFill/>
                    </a:lnB>
                    <a:solidFill>
                      <a:srgbClr val="0E5A55"/>
                    </a:solidFill>
                  </a:tcPr>
                </a:tc>
                <a:tc>
                  <a:txBody>
                    <a:bodyPr wrap="square" rtlCol="0" anchor="ctr"/>
                    <a:lstStyle/>
                    <a:p>
                      <a:pPr algn="l"/>
                    </a:p>
                  </a:txBody>
                  <a:tcPr marL="91440" marR="91440" marT="45720" marB="45720" anchor="ctr">
                    <a:lnL>
                      <a:noFill/>
                    </a:lnL>
                    <a:lnR>
                      <a:noFill/>
                    </a:lnR>
                    <a:lnT>
                      <a:noFill/>
                    </a:lnT>
                    <a:lnB>
                      <a:noFill/>
                    </a:lnB>
                    <a:solidFill>
                      <a:srgbClr val="0E5A55"/>
                    </a:solidFill>
                  </a:tcPr>
                </a:tc>
              </a:tr>
              <a:tr h="75996800">
                <a:tc>
                  <a:txBody>
                    <a:bodyPr wrap="square" rtlCol="0" anchor="ctr"/>
                    <a:lstStyle/>
                    <a:p>
                      <a:pPr algn="l"/>
                    </a:p>
                  </a:txBody>
                  <a:tcPr marL="91440" marR="91440" marT="45720" marB="45720" anchor="ctr">
                    <a:lnL>
                      <a:noFill/>
                    </a:lnL>
                    <a:lnR>
                      <a:noFill/>
                    </a:lnR>
                    <a:lnT>
                      <a:noFill/>
                    </a:lnT>
                    <a:lnB>
                      <a:noFill/>
                    </a:lnB>
                    <a:solidFill>
                      <a:srgbClr val="FFFFFF"/>
                    </a:solidFill>
                  </a:tcPr>
                </a:tc>
                <a:tc>
                  <a:txBody>
                    <a:bodyPr wrap="square" rtlCol="0" anchor="ctr"/>
                    <a:lstStyle/>
                    <a:p>
                      <a:pPr algn="l"/>
                    </a:p>
                  </a:txBody>
                  <a:tcPr marL="91440" marR="91440" marT="45720" marB="45720" anchor="ctr">
                    <a:lnL>
                      <a:noFill/>
                    </a:lnL>
                    <a:lnR>
                      <a:noFill/>
                    </a:lnR>
                    <a:lnT>
                      <a:noFill/>
                    </a:lnT>
                    <a:lnB>
                      <a:noFill/>
                    </a:lnB>
                    <a:solidFill>
                      <a:srgbClr val="FFFFFF"/>
                    </a:solidFill>
                  </a:tcPr>
                </a:tc>
              </a:tr>
              <a:tr h="75996800">
                <a:tc>
                  <a:txBody>
                    <a:bodyPr wrap="square" rtlCol="0" anchor="ctr"/>
                    <a:lstStyle/>
                    <a:p>
                      <a:pPr algn="l"/>
                    </a:p>
                  </a:txBody>
                  <a:tcPr marL="91440" marR="91440" marT="45720" marB="45720" anchor="ctr">
                    <a:lnL>
                      <a:noFill/>
                    </a:lnL>
                    <a:lnR>
                      <a:noFill/>
                    </a:lnR>
                    <a:lnT>
                      <a:noFill/>
                    </a:lnT>
                    <a:lnB>
                      <a:noFill/>
                    </a:lnB>
                    <a:solidFill>
                      <a:srgbClr val="EFE9DF"/>
                    </a:solidFill>
                  </a:tcPr>
                </a:tc>
                <a:tc>
                  <a:txBody>
                    <a:bodyPr wrap="square" rtlCol="0" anchor="ctr"/>
                    <a:lstStyle/>
                    <a:p>
                      <a:pPr algn="l"/>
                    </a:p>
                  </a:txBody>
                  <a:tcPr marL="91440" marR="91440" marT="45720" marB="45720" anchor="ctr">
                    <a:lnL>
                      <a:noFill/>
                    </a:lnL>
                    <a:lnR>
                      <a:noFill/>
                    </a:lnR>
                    <a:lnT>
                      <a:noFill/>
                    </a:lnT>
                    <a:lnB>
                      <a:noFill/>
                    </a:lnB>
                    <a:solidFill>
                      <a:srgbClr val="EFE9DF"/>
                    </a:solidFill>
                  </a:tcPr>
                </a:tc>
              </a:tr>
              <a:tr h="75996800">
                <a:tc>
                  <a:txBody>
                    <a:bodyPr wrap="square" rtlCol="0" anchor="ctr"/>
                    <a:lstStyle/>
                    <a:p>
                      <a:pPr algn="l"/>
                    </a:p>
                  </a:txBody>
                  <a:tcPr marL="91440" marR="91440" marT="45720" marB="45720" anchor="ctr">
                    <a:lnL>
                      <a:noFill/>
                    </a:lnL>
                    <a:lnR>
                      <a:noFill/>
                    </a:lnR>
                    <a:lnT>
                      <a:noFill/>
                    </a:lnT>
                    <a:lnB>
                      <a:noFill/>
                    </a:lnB>
                    <a:solidFill>
                      <a:srgbClr val="FFFFFF"/>
                    </a:solidFill>
                  </a:tcPr>
                </a:tc>
                <a:tc>
                  <a:txBody>
                    <a:bodyPr wrap="square" rtlCol="0" anchor="ctr"/>
                    <a:lstStyle/>
                    <a:p>
                      <a:pPr algn="l"/>
                    </a:p>
                  </a:txBody>
                  <a:tcPr marL="91440" marR="91440" marT="45720" marB="45720" anchor="ctr">
                    <a:lnL>
                      <a:noFill/>
                    </a:lnL>
                    <a:lnR>
                      <a:noFill/>
                    </a:lnR>
                    <a:lnT>
                      <a:noFill/>
                    </a:lnT>
                    <a:lnB>
                      <a:noFill/>
                    </a:lnB>
                    <a:solidFill>
                      <a:srgbClr val="FFFFFF"/>
                    </a:solidFill>
                  </a:tcPr>
                </a:tc>
              </a:tr>
              <a:tr h="84937600">
                <a:tc>
                  <a:txBody>
                    <a:bodyPr wrap="square" rtlCol="0" anchor="ctr"/>
                    <a:lstStyle/>
                    <a:p>
                      <a:pPr algn="l"/>
                    </a:p>
                  </a:txBody>
                  <a:tcPr marL="91440" marR="91440" marT="45720" marB="45720" anchor="ctr">
                    <a:lnL>
                      <a:noFill/>
                    </a:lnL>
                    <a:lnR>
                      <a:noFill/>
                    </a:lnR>
                    <a:lnT>
                      <a:noFill/>
                    </a:lnT>
                    <a:lnB>
                      <a:noFill/>
                    </a:lnB>
                    <a:solidFill>
                      <a:srgbClr val="EFE9DF"/>
                    </a:solidFill>
                  </a:tcPr>
                </a:tc>
                <a:tc>
                  <a:txBody>
                    <a:bodyPr wrap="square" rtlCol="0" anchor="ctr"/>
                    <a:lstStyle/>
                    <a:p>
                      <a:pPr algn="l"/>
                    </a:p>
                  </a:txBody>
                  <a:tcPr marL="91440" marR="91440" marT="45720" marB="45720" anchor="ctr">
                    <a:lnL>
                      <a:noFill/>
                    </a:lnL>
                    <a:lnR>
                      <a:noFill/>
                    </a:lnR>
                    <a:lnT>
                      <a:noFill/>
                    </a:lnT>
                    <a:lnB>
                      <a:noFill/>
                    </a:lnB>
                    <a:solidFill>
                      <a:srgbClr val="EFE9DF"/>
                    </a:solidFill>
                  </a:tcPr>
                </a:tc>
              </a:tr>
            </a:tbl>
          </a:graphicData>
        </a:graphic>
      </p:graphicFrame>
      <p:sp>
        <p:nvSpPr>
          <p:cNvPr id="9" name="why-box"/>
          <p:cNvSpPr/>
          <p:nvPr/>
        </p:nvSpPr>
        <p:spPr>
          <a:xfrm>
            <a:off x="762000" y="5054600"/>
            <a:ext cx="5969000" cy="1143000"/>
          </a:xfrm>
          <a:prstGeom prst="rect">
            <a:avLst/>
          </a:prstGeom>
          <a:solidFill>
            <a:srgbClr val="FFFFFF"/>
          </a:solidFill>
          <a:ln>
            <a:noFill/>
          </a:ln>
        </p:spPr>
      </p:sp>
      <p:sp>
        <p:nvSpPr>
          <p:cNvPr id="10" name="why-text"/>
          <p:cNvSpPr txBox="1"/>
          <p:nvPr/>
        </p:nvSpPr>
        <p:spPr>
          <a:xfrm>
            <a:off x="965200" y="5156200"/>
            <a:ext cx="5562600" cy="939800"/>
          </a:xfrm>
          <a:prstGeom prst="rect">
            <a:avLst/>
          </a:prstGeom>
          <a:noFill/>
          <a:ln>
            <a:noFill/>
          </a:ln>
        </p:spPr>
        <p:txBody>
          <a:bodyPr lIns="0" rIns="0" tIns="0" bIns="0" wrap="square" rtlCol="0"/>
          <a:lstStyle/>
          <a:p>
            <a:pPr>
              <a:lnSpc>
                <a:spcPct val="150000"/>
              </a:lnSpc>
            </a:pPr>
            <a:r>
              <a:rPr lang="en-US" sz="1250" noProof="1" b="1">
                <a:solidFill>
                  <a:srgbClr val="22303A"/>
                </a:solidFill>
                <a:latin typeface="MiSans"/>
                <a:ea typeface="MiSans"/>
              </a:rPr>
              <a:t>为什么重要？</a:t>
            </a:r>
            <a:r>
              <a:rPr lang="en-US" sz="1250" noProof="1">
                <a:solidFill>
                  <a:srgbClr val="22303A"/>
                </a:solidFill>
                <a:latin typeface="MiSans"/>
                <a:ea typeface="MiSans"/>
              </a:rPr>
              <a:t>同一电流 I 下，线越细（A 小）漂移速度 v 越大；n 是材料属性（铜很大、半导体很小）——简答题的采分逻辑全在这四个字母上。</a:t>
            </a:r>
            <a:endParaRPr lang="en-US" sz="1250" noProof="1"/>
          </a:p>
        </p:txBody>
      </p:sp>
      <p:sp>
        <p:nvSpPr>
          <p:cNvPr id="11" name="wire-body"/>
          <p:cNvSpPr/>
          <p:nvPr/>
        </p:nvSpPr>
        <p:spPr>
          <a:xfrm>
            <a:off x="7620000" y="2413000"/>
            <a:ext cx="3556000" cy="1143000"/>
          </a:xfrm>
          <a:prstGeom prst="roundRect">
            <a:avLst/>
          </a:prstGeom>
          <a:solidFill>
            <a:srgbClr val="EFE9DF"/>
          </a:solidFill>
          <a:ln>
            <a:noFill/>
          </a:ln>
        </p:spPr>
      </p:sp>
      <p:sp>
        <p:nvSpPr>
          <p:cNvPr id="12" name="e1"/>
          <p:cNvSpPr/>
          <p:nvPr/>
        </p:nvSpPr>
        <p:spPr>
          <a:xfrm>
            <a:off x="7899400" y="2641600"/>
            <a:ext cx="177800" cy="177800"/>
          </a:xfrm>
          <a:prstGeom prst="ellipse">
            <a:avLst/>
          </a:prstGeom>
          <a:solidFill>
            <a:srgbClr val="0E5A55"/>
          </a:solidFill>
          <a:ln>
            <a:noFill/>
          </a:ln>
        </p:spPr>
      </p:sp>
      <p:sp>
        <p:nvSpPr>
          <p:cNvPr id="13" name="e2"/>
          <p:cNvSpPr/>
          <p:nvPr/>
        </p:nvSpPr>
        <p:spPr>
          <a:xfrm>
            <a:off x="8483600" y="2997200"/>
            <a:ext cx="177800" cy="177800"/>
          </a:xfrm>
          <a:prstGeom prst="ellipse">
            <a:avLst/>
          </a:prstGeom>
          <a:solidFill>
            <a:srgbClr val="0E5A55"/>
          </a:solidFill>
          <a:ln>
            <a:noFill/>
          </a:ln>
        </p:spPr>
      </p:sp>
      <p:sp>
        <p:nvSpPr>
          <p:cNvPr id="14" name="e3"/>
          <p:cNvSpPr/>
          <p:nvPr/>
        </p:nvSpPr>
        <p:spPr>
          <a:xfrm>
            <a:off x="9042400" y="2616200"/>
            <a:ext cx="177800" cy="177800"/>
          </a:xfrm>
          <a:prstGeom prst="ellipse">
            <a:avLst/>
          </a:prstGeom>
          <a:solidFill>
            <a:srgbClr val="0E5A55"/>
          </a:solidFill>
          <a:ln>
            <a:noFill/>
          </a:ln>
        </p:spPr>
      </p:sp>
      <p:sp>
        <p:nvSpPr>
          <p:cNvPr id="15" name="e4"/>
          <p:cNvSpPr/>
          <p:nvPr/>
        </p:nvSpPr>
        <p:spPr>
          <a:xfrm>
            <a:off x="9626600" y="3022600"/>
            <a:ext cx="177800" cy="177800"/>
          </a:xfrm>
          <a:prstGeom prst="ellipse">
            <a:avLst/>
          </a:prstGeom>
          <a:solidFill>
            <a:srgbClr val="0E5A55"/>
          </a:solidFill>
          <a:ln>
            <a:noFill/>
          </a:ln>
        </p:spPr>
      </p:sp>
      <p:sp>
        <p:nvSpPr>
          <p:cNvPr id="16" name="e5"/>
          <p:cNvSpPr/>
          <p:nvPr/>
        </p:nvSpPr>
        <p:spPr>
          <a:xfrm>
            <a:off x="10236200" y="2667000"/>
            <a:ext cx="177800" cy="177800"/>
          </a:xfrm>
          <a:prstGeom prst="ellipse">
            <a:avLst/>
          </a:prstGeom>
          <a:solidFill>
            <a:srgbClr val="0E5A55"/>
          </a:solidFill>
          <a:ln>
            <a:noFill/>
          </a:ln>
        </p:spPr>
      </p:sp>
      <p:sp>
        <p:nvSpPr>
          <p:cNvPr id="17" name="v-arrow"/>
          <p:cNvSpPr/>
          <p:nvPr>
            <p:extLst>
              <p:ext uri="{F5677B7D-0D2A-4D9B-9A5C-6D8D7D0E5A5D}">
                <pptd:line encoding="base64url">eyJ2aWV3Qm94IjpbMjgwLDIwXSwicG9pbnRzIjoiMCwxMCAyODAsMTAiLCJjdXJ2ZSI6InNoYXJwIn0</pptd:line>
              </p:ext>
            </p:extLst>
          </p:nvPr>
        </p:nvSpPr>
        <p:spPr>
          <a:xfrm>
            <a:off x="7620000" y="1905000"/>
            <a:ext cx="3556000" cy="254000"/>
          </a:xfrm>
          <a:custGeom>
            <a:avLst/>
            <a:gdLst/>
            <a:ahLst/>
            <a:cxnLst/>
            <a:rect l="l" t="t" r="r" b="b"/>
            <a:pathLst>
              <a:path w="280" h="20">
                <a:moveTo>
                  <a:pt x="0" y="10"/>
                </a:moveTo>
                <a:lnTo>
                  <a:pt x="280" y="10"/>
                </a:lnTo>
              </a:path>
            </a:pathLst>
          </a:custGeom>
          <a:noFill/>
          <a:ln w="31750">
            <a:solidFill>
              <a:srgbClr val="C96F16"/>
            </a:solidFill>
            <a:tailEnd type="arrow"/>
          </a:ln>
        </p:spPr>
      </p:sp>
      <p:sp>
        <p:nvSpPr>
          <p:cNvPr id="18" name="v-label"/>
          <p:cNvSpPr txBox="1"/>
          <p:nvPr/>
        </p:nvSpPr>
        <p:spPr>
          <a:xfrm>
            <a:off x="8128000" y="1600200"/>
            <a:ext cx="2540000" cy="254000"/>
          </a:xfrm>
          <a:prstGeom prst="rect">
            <a:avLst/>
          </a:prstGeom>
          <a:noFill/>
          <a:ln>
            <a:noFill/>
          </a:ln>
        </p:spPr>
        <p:txBody>
          <a:bodyPr lIns="0" rIns="0" tIns="0" bIns="0" wrap="none" rtlCol="0"/>
          <a:lstStyle/>
          <a:p>
            <a:pPr>
              <a:lnSpc>
                <a:spcPct val="120000"/>
              </a:lnSpc>
            </a:pPr>
            <a:r>
              <a:rPr lang="en-US" sz="1250" noProof="1" b="1">
                <a:solidFill>
                  <a:srgbClr val="C96F16"/>
                </a:solidFill>
                <a:latin typeface="MiSans"/>
                <a:ea typeface="MiSans"/>
              </a:rPr>
              <a:t>漂移速度 v（电子定向移动）</a:t>
            </a:r>
            <a:endParaRPr lang="en-US" sz="1250" noProof="1"/>
          </a:p>
        </p:txBody>
      </p:sp>
      <p:sp>
        <p:nvSpPr>
          <p:cNvPr id="19" name="wire-label"/>
          <p:cNvSpPr txBox="1"/>
          <p:nvPr/>
        </p:nvSpPr>
        <p:spPr>
          <a:xfrm>
            <a:off x="7620000" y="3708400"/>
            <a:ext cx="3556000" cy="508000"/>
          </a:xfrm>
          <a:prstGeom prst="rect">
            <a:avLst/>
          </a:prstGeom>
          <a:noFill/>
          <a:ln>
            <a:noFill/>
          </a:ln>
        </p:spPr>
        <p:txBody>
          <a:bodyPr lIns="0" rIns="0" tIns="0" bIns="0" wrap="square" rtlCol="0" anchor="t"/>
          <a:lstStyle/>
          <a:p>
            <a:pPr algn="ctr">
              <a:lnSpc>
                <a:spcPct val="140000"/>
              </a:lnSpc>
            </a:pPr>
            <a:r>
              <a:rPr lang="en-US" sz="1100" noProof="1">
                <a:solidFill>
                  <a:srgbClr val="6E6A62"/>
                </a:solidFill>
                <a:latin typeface="MiSans"/>
                <a:ea typeface="MiSans"/>
              </a:rPr>
              <a:t>横截面积 A 内，数密度 n 的电子</a:t>
            </a:r>
            <a:endParaRPr lang="en-US" sz="1100" noProof="1"/>
          </a:p>
          <a:p>
            <a:pPr algn="ctr">
              <a:lnSpc>
                <a:spcPct val="140000"/>
              </a:lnSpc>
            </a:pPr>
            <a:r>
              <a:rPr lang="en-US" sz="1100" noProof="1">
                <a:solidFill>
                  <a:srgbClr val="6E6A62"/>
                </a:solidFill>
                <a:latin typeface="MiSans"/>
                <a:ea typeface="MiSans"/>
              </a:rPr>
              <a:t>以平均漂移速度 v 定向移动</a:t>
            </a:r>
            <a:endParaRPr lang="en-US" sz="1100" noProof="1"/>
          </a:p>
        </p:txBody>
      </p:sp>
      <p:sp>
        <p:nvSpPr>
          <p:cNvPr id="20" name="fact-box"/>
          <p:cNvSpPr/>
          <p:nvPr/>
        </p:nvSpPr>
        <p:spPr>
          <a:xfrm>
            <a:off x="7239000" y="4470400"/>
            <a:ext cx="4191000" cy="1727200"/>
          </a:xfrm>
          <a:prstGeom prst="rect">
            <a:avLst/>
          </a:prstGeom>
          <a:solidFill>
            <a:srgbClr val="EFE9DF"/>
          </a:solidFill>
          <a:ln>
            <a:noFill/>
          </a:ln>
        </p:spPr>
      </p:sp>
      <p:sp>
        <p:nvSpPr>
          <p:cNvPr id="21" name="fact-text"/>
          <p:cNvSpPr txBox="1"/>
          <p:nvPr/>
        </p:nvSpPr>
        <p:spPr>
          <a:xfrm>
            <a:off x="7442200" y="4597400"/>
            <a:ext cx="3784600" cy="1473200"/>
          </a:xfrm>
          <a:prstGeom prst="rect">
            <a:avLst/>
          </a:prstGeom>
          <a:noFill/>
          <a:ln>
            <a:noFill/>
          </a:ln>
        </p:spPr>
        <p:txBody>
          <a:bodyPr lIns="0" rIns="0" tIns="0" bIns="0" wrap="square" rtlCol="0"/>
          <a:lstStyle/>
          <a:p>
            <a:pPr>
              <a:lnSpc>
                <a:spcPct val="150000"/>
              </a:lnSpc>
            </a:pPr>
            <a:r>
              <a:rPr lang="en-US" sz="1250" noProof="1" b="1">
                <a:solidFill>
                  <a:srgbClr val="22303A"/>
                </a:solidFill>
                <a:latin typeface="MiSans"/>
                <a:ea typeface="MiSans"/>
              </a:rPr>
              <a:t>量级直觉：</a:t>
            </a:r>
            <a:r>
              <a:rPr lang="en-US" sz="1250" noProof="1">
                <a:solidFill>
                  <a:srgbClr val="22303A"/>
                </a:solidFill>
                <a:latin typeface="MiSans"/>
                <a:ea typeface="MiSans"/>
              </a:rPr>
              <a:t>铜线里 v 只有约 10</a:t>
            </a:r>
            <a:r>
              <a:rPr lang="en-US" sz="1250" noProof="1" baseline="30000">
                <a:solidFill>
                  <a:srgbClr val="22303A"/>
                </a:solidFill>
                <a:latin typeface="MiSans"/>
                <a:ea typeface="MiSans"/>
              </a:rPr>
              <a:t>−4</a:t>
            </a:r>
            <a:r>
              <a:rPr lang="en-US" sz="1250" noProof="1">
                <a:solidFill>
                  <a:srgbClr val="22303A"/>
                </a:solidFill>
                <a:latin typeface="MiSans"/>
                <a:ea typeface="MiSans"/>
              </a:rPr>
              <a:t> m s</a:t>
            </a:r>
            <a:r>
              <a:rPr lang="en-US" sz="1250" noProof="1" baseline="30000">
                <a:solidFill>
                  <a:srgbClr val="22303A"/>
                </a:solidFill>
                <a:latin typeface="MiSans"/>
                <a:ea typeface="MiSans"/>
              </a:rPr>
              <a:t>−1</a:t>
            </a:r>
            <a:r>
              <a:rPr lang="en-US" sz="1250" noProof="1">
                <a:solidFill>
                  <a:srgbClr val="22303A"/>
                </a:solidFill>
                <a:latin typeface="MiSans"/>
                <a:ea typeface="MiSans"/>
              </a:rPr>
              <a:t>——比蜗牛还慢！</a:t>
            </a:r>
            <a:endParaRPr lang="en-US" sz="1250" noProof="1"/>
          </a:p>
          <a:p>
            <a:pPr>
              <a:lnSpc>
                <a:spcPct val="150000"/>
              </a:lnSpc>
            </a:pPr>
            <a:r>
              <a:rPr lang="en-US" sz="1250" noProof="1">
                <a:solidFill>
                  <a:srgbClr val="22303A"/>
                </a:solidFill>
                <a:latin typeface="MiSans"/>
                <a:ea typeface="MiSans"/>
              </a:rPr>
              <a:t>灯却"立刻"亮：电场以近光速建立，</a:t>
            </a:r>
            <a:r>
              <a:rPr lang="en-US" sz="1250" noProof="1" b="1">
                <a:solidFill>
                  <a:srgbClr val="22303A"/>
                </a:solidFill>
                <a:latin typeface="MiSans"/>
                <a:ea typeface="MiSans"/>
              </a:rPr>
              <a:t>所有电子同时开始漂移</a:t>
            </a:r>
            <a:r>
              <a:rPr lang="en-US" sz="1250" noProof="1">
                <a:solidFill>
                  <a:srgbClr val="22303A"/>
                </a:solidFill>
                <a:latin typeface="MiSans"/>
                <a:ea typeface="MiSans"/>
              </a:rPr>
              <a:t>，不是等一个电子从开关跑到灯泡。</a:t>
            </a:r>
            <a:endParaRPr lang="en-US" sz="1250" noProof="1"/>
          </a:p>
        </p:txBody>
      </p:sp>
      <p:sp>
        <p:nvSpPr>
          <p:cNvPr id="22" name="footer-rule"/>
          <p:cNvSpPr/>
          <p:nvPr/>
        </p:nvSpPr>
        <p:spPr>
          <a:xfrm>
            <a:off x="762000" y="6451600"/>
            <a:ext cx="10668000" cy="12700"/>
          </a:xfrm>
          <a:prstGeom prst="rect">
            <a:avLst/>
          </a:prstGeom>
          <a:solidFill>
            <a:srgbClr val="D8D2C8"/>
          </a:solidFill>
          <a:ln>
            <a:noFill/>
          </a:ln>
        </p:spPr>
      </p:sp>
      <p:sp>
        <p:nvSpPr>
          <p:cNvPr id="23" name="footer-left"/>
          <p:cNvSpPr txBox="1"/>
          <p:nvPr/>
        </p:nvSpPr>
        <p:spPr>
          <a:xfrm>
            <a:off x="762000" y="6553200"/>
            <a:ext cx="5080000" cy="203200"/>
          </a:xfrm>
          <a:prstGeom prst="rect">
            <a:avLst/>
          </a:prstGeom>
          <a:noFill/>
          <a:ln>
            <a:noFill/>
          </a:ln>
        </p:spPr>
        <p:txBody>
          <a:bodyPr lIns="0" rIns="0" tIns="0" bIns="0" wrap="none" rtlCol="0"/>
          <a:lstStyle/>
          <a:p>
            <a:pPr>
              <a:lnSpc>
                <a:spcPct val="120000"/>
              </a:lnSpc>
            </a:pPr>
            <a:r>
              <a:rPr lang="en-US" sz="1000" noProof="1">
                <a:solidFill>
                  <a:srgbClr val="6E6A62"/>
                </a:solidFill>
                <a:latin typeface="MiSans"/>
                <a:ea typeface="MiSans"/>
              </a:rPr>
              <a:t>CIE A-Level Physics 9702 · Topic 9 电学</a:t>
            </a:r>
            <a:endParaRPr lang="en-US" sz="1000" noProof="1"/>
          </a:p>
        </p:txBody>
      </p:sp>
      <p:sp>
        <p:nvSpPr>
          <p:cNvPr id="24" name="page-num"/>
          <p:cNvSpPr txBox="1"/>
          <p:nvPr/>
        </p:nvSpPr>
        <p:spPr>
          <a:xfrm>
            <a:off x="10922000" y="6553200"/>
            <a:ext cx="508000" cy="203200"/>
          </a:xfrm>
          <a:prstGeom prst="rect">
            <a:avLst/>
          </a:prstGeom>
          <a:noFill/>
          <a:ln>
            <a:noFill/>
          </a:ln>
        </p:spPr>
        <p:txBody>
          <a:bodyPr lIns="0" rIns="0" tIns="0" bIns="0" wrap="none" rtlCol="0" anchor="t"/>
          <a:lstStyle/>
          <a:p>
            <a:pPr algn="r">
              <a:lnSpc>
                <a:spcPct val="120000"/>
              </a:lnSpc>
            </a:pPr>
            <a:r>
              <a:rPr lang="en-US" sz="1000" noProof="1">
                <a:solidFill>
                  <a:srgbClr val="6E6A62"/>
                </a:solidFill>
                <a:latin typeface="MiSans"/>
                <a:ea typeface="MiSans"/>
              </a:rPr>
              <a:t>04</a:t>
            </a:r>
            <a:endParaRPr lang="en-US" sz="1000" noProof="1"/>
          </a:p>
        </p:txBody>
      </p:sp>
    </p:spTree>
  </p:cSld>
  <p:clrMapOvr>
    <a:masterClrMapping/>
  </p:clrMapOvr>
</p:sld>
</file>

<file path=ppt/slides/slide5.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8F4"/>
        </a:solidFill>
      </p:bgPr>
    </p:bg>
    <p:spTree>
      <p:nvGrpSpPr>
        <p:cNvPr id="1" name=""/>
        <p:cNvGrpSpPr/>
        <p:nvPr/>
      </p:nvGrpSpPr>
      <p:grpSpPr>
        <a:xfrm>
          <a:off x="0" y="0"/>
          <a:ext cx="0" cy="0"/>
          <a:chOff x="0" y="0"/>
          <a:chExt cx="0" cy="0"/>
        </a:xfrm>
      </p:grpSpPr>
      <p:sp>
        <p:nvSpPr>
          <p:cNvPr id="2" name="kicker"/>
          <p:cNvSpPr txBox="1"/>
          <p:nvPr/>
        </p:nvSpPr>
        <p:spPr>
          <a:xfrm>
            <a:off x="762000" y="330200"/>
            <a:ext cx="6350000" cy="203200"/>
          </a:xfrm>
          <a:prstGeom prst="rect">
            <a:avLst/>
          </a:prstGeom>
          <a:noFill/>
          <a:ln>
            <a:noFill/>
          </a:ln>
        </p:spPr>
        <p:txBody>
          <a:bodyPr lIns="0" rIns="0" tIns="0" bIns="0" wrap="none" rtlCol="0"/>
          <a:lstStyle/>
          <a:p>
            <a:pPr>
              <a:lnSpc>
                <a:spcPct val="120000"/>
              </a:lnSpc>
            </a:pPr>
            <a:r>
              <a:rPr lang="en-US" sz="1100" noProof="1" b="1" spc="200" kern="0">
                <a:solidFill>
                  <a:srgbClr val="0E5A55"/>
                </a:solidFill>
                <a:latin typeface="MiSans"/>
                <a:ea typeface="MiSans"/>
              </a:rPr>
              <a:t>9.2 · POTENTIAL DIFFERENCE AND POWER</a:t>
            </a:r>
            <a:endParaRPr lang="en-US" sz="1100" noProof="1"/>
          </a:p>
        </p:txBody>
      </p:sp>
      <p:sp>
        <p:nvSpPr>
          <p:cNvPr id="3" name="title"/>
          <p:cNvSpPr txBox="1"/>
          <p:nvPr/>
        </p:nvSpPr>
        <p:spPr>
          <a:xfrm>
            <a:off x="762000" y="584200"/>
            <a:ext cx="10668000" cy="457200"/>
          </a:xfrm>
          <a:prstGeom prst="rect">
            <a:avLst/>
          </a:prstGeom>
          <a:noFill/>
          <a:ln>
            <a:noFill/>
          </a:ln>
        </p:spPr>
        <p:txBody>
          <a:bodyPr lIns="0" rIns="0" tIns="0" bIns="0" wrap="none" rtlCol="0"/>
          <a:lstStyle/>
          <a:p>
            <a:pPr>
              <a:lnSpc>
                <a:spcPct val="120000"/>
              </a:lnSpc>
            </a:pPr>
            <a:r>
              <a:rPr lang="en-US" sz="2600" noProof="1" b="1">
                <a:solidFill>
                  <a:srgbClr val="22303A"/>
                </a:solidFill>
                <a:latin typeface="MiSans"/>
                <a:ea typeface="MiSans"/>
              </a:rPr>
              <a:t>电势差是能量账，功率有三副面孔</a:t>
            </a:r>
            <a:endParaRPr lang="en-US" sz="2600" noProof="1"/>
          </a:p>
        </p:txBody>
      </p:sp>
      <p:sp>
        <p:nvSpPr>
          <p:cNvPr id="4" name="title-en"/>
          <p:cNvSpPr txBox="1"/>
          <p:nvPr/>
        </p:nvSpPr>
        <p:spPr>
          <a:xfrm>
            <a:off x="762000" y="1066800"/>
            <a:ext cx="10668000" cy="254000"/>
          </a:xfrm>
          <a:prstGeom prst="rect">
            <a:avLst/>
          </a:prstGeom>
          <a:noFill/>
          <a:ln>
            <a:noFill/>
          </a:ln>
        </p:spPr>
        <p:txBody>
          <a:bodyPr lIns="0" rIns="0" tIns="0" bIns="0" wrap="none" rtlCol="0"/>
          <a:lstStyle/>
          <a:p>
            <a:pPr>
              <a:lnSpc>
                <a:spcPct val="120000"/>
              </a:lnSpc>
            </a:pPr>
            <a:r>
              <a:rPr lang="en-US" sz="1300" noProof="1">
                <a:solidFill>
                  <a:srgbClr val="6E6A62"/>
                </a:solidFill>
                <a:latin typeface="MiSans"/>
                <a:ea typeface="MiSans"/>
              </a:rPr>
              <a:t>V = W/Q and the three faces of electrical power</a:t>
            </a:r>
            <a:endParaRPr lang="en-US" sz="1300" noProof="1"/>
          </a:p>
        </p:txBody>
      </p:sp>
      <p:sp>
        <p:nvSpPr>
          <p:cNvPr id="5" name="rule-top"/>
          <p:cNvSpPr/>
          <p:nvPr/>
        </p:nvSpPr>
        <p:spPr>
          <a:xfrm>
            <a:off x="762000" y="1422400"/>
            <a:ext cx="10668000" cy="19050"/>
          </a:xfrm>
          <a:prstGeom prst="rect">
            <a:avLst/>
          </a:prstGeom>
          <a:solidFill>
            <a:srgbClr val="D8D2C8"/>
          </a:solidFill>
          <a:ln>
            <a:noFill/>
          </a:ln>
        </p:spPr>
      </p:sp>
      <p:sp>
        <p:nvSpPr>
          <p:cNvPr id="6" name="v-box"/>
          <p:cNvSpPr/>
          <p:nvPr/>
        </p:nvSpPr>
        <p:spPr>
          <a:xfrm>
            <a:off x="762000" y="1701800"/>
            <a:ext cx="5969000" cy="1219200"/>
          </a:xfrm>
          <a:prstGeom prst="rect">
            <a:avLst/>
          </a:prstGeom>
          <a:solidFill>
            <a:srgbClr val="EFE9DF"/>
          </a:solidFill>
          <a:ln>
            <a:noFill/>
          </a:ln>
        </p:spPr>
      </p:sp>
      <p:sp>
        <p:nvSpPr>
          <p:cNvPr id="7" name="v-text"/>
          <p:cNvSpPr txBox="1"/>
          <p:nvPr/>
        </p:nvSpPr>
        <p:spPr>
          <a:xfrm>
            <a:off x="965200" y="1803400"/>
            <a:ext cx="5562600" cy="1016000"/>
          </a:xfrm>
          <a:prstGeom prst="rect">
            <a:avLst/>
          </a:prstGeom>
          <a:noFill/>
          <a:ln>
            <a:noFill/>
          </a:ln>
        </p:spPr>
        <p:txBody>
          <a:bodyPr lIns="0" rIns="0" tIns="0" bIns="0" wrap="square" rtlCol="0"/>
          <a:lstStyle/>
          <a:p>
            <a:pPr>
              <a:lnSpc>
                <a:spcPct val="155000"/>
              </a:lnSpc>
            </a:pPr>
            <a:r>
              <a:rPr lang="en-US" sz="1350" noProof="1" b="1">
                <a:solidFill>
                  <a:srgbClr val="22303A"/>
                </a:solidFill>
                <a:latin typeface="MiSans"/>
                <a:ea typeface="MiSans"/>
              </a:rPr>
              <a:t>Potential difference 电势差 (V)</a:t>
            </a:r>
            <a:r>
              <a:rPr lang="en-US" sz="1350" noProof="1">
                <a:solidFill>
                  <a:srgbClr val="22303A"/>
                </a:solidFill>
                <a:latin typeface="MiSans"/>
                <a:ea typeface="MiSans"/>
              </a:rPr>
              <a:t>：the energy transferred per unit charge 单位电荷转移的能量。</a:t>
            </a:r>
            <a:endParaRPr lang="en-US" sz="1350" noProof="1"/>
          </a:p>
          <a:p>
            <a:pPr>
              <a:lnSpc>
                <a:spcPct val="155000"/>
              </a:lnSpc>
            </a:pPr>
            <a:r>
              <a:rPr lang="en-US" sz="1350" noProof="1" b="1">
                <a:solidFill>
                  <a:srgbClr val="0E5A55"/>
                </a:solidFill>
                <a:latin typeface="MiSans"/>
                <a:ea typeface="MiSans"/>
              </a:rPr>
              <a:t>V = W/Q</a:t>
            </a:r>
            <a:r>
              <a:rPr lang="en-US" sz="1350" noProof="1">
                <a:solidFill>
                  <a:srgbClr val="22303A"/>
                </a:solidFill>
                <a:latin typeface="MiSans"/>
                <a:ea typeface="MiSans"/>
              </a:rPr>
              <a:t>　W 单位 J，Q 单位 C → 1 V = 1 J C</a:t>
            </a:r>
            <a:r>
              <a:rPr lang="en-US" sz="1350" noProof="1" baseline="30000">
                <a:solidFill>
                  <a:srgbClr val="22303A"/>
                </a:solidFill>
                <a:latin typeface="MiSans"/>
                <a:ea typeface="MiSans"/>
              </a:rPr>
              <a:t>−1</a:t>
            </a:r>
            <a:r>
              <a:rPr lang="en-US" sz="1350" noProof="1">
                <a:solidFill>
                  <a:srgbClr val="22303A"/>
                </a:solidFill>
                <a:latin typeface="MiSans"/>
                <a:ea typeface="MiSans"/>
              </a:rPr>
              <a:t>。</a:t>
            </a:r>
            <a:endParaRPr lang="en-US" sz="1350" noProof="1"/>
          </a:p>
          <a:p>
            <a:pPr>
              <a:lnSpc>
                <a:spcPct val="155000"/>
              </a:lnSpc>
            </a:pPr>
            <a:r>
              <a:rPr lang="en-US" sz="1150" noProof="1">
                <a:solidFill>
                  <a:srgbClr val="6E6A62"/>
                </a:solidFill>
                <a:latin typeface="MiSans"/>
                <a:ea typeface="MiSans"/>
              </a:rPr>
              <a:t>"两点之间，每库仑电荷转化多少焦耳能量"。</a:t>
            </a:r>
            <a:endParaRPr lang="en-US" sz="1350" noProof="1"/>
          </a:p>
        </p:txBody>
      </p:sp>
      <p:graphicFrame>
        <p:nvGraphicFramePr>
          <p:cNvPr id="8" name="p-table"/>
          <p:cNvGraphicFramePr>
            <a:graphicFrameLocks noGrp="1"/>
          </p:cNvGraphicFramePr>
          <p:nvPr/>
        </p:nvGraphicFramePr>
        <p:xfrm>
          <a:off x="762000" y="3149600"/>
          <a:ext cx="5969000" cy="1930400"/>
        </p:xfrm>
        <a:graphic>
          <a:graphicData uri="http://schemas.openxmlformats.org/drawingml/2006/table">
            <a:tbl>
              <a:tblPr/>
              <a:tblGrid>
                <a:gridCol w="895350000"/>
                <a:gridCol w="1910080000"/>
              </a:tblGrid>
              <a:tr h="65633600">
                <a:tc>
                  <a:txBody>
                    <a:bodyPr wrap="square" rtlCol="0" anchor="ctr"/>
                    <a:lstStyle/>
                    <a:p>
                      <a:pPr algn="l"/>
                    </a:p>
                  </a:txBody>
                  <a:tcPr marL="91440" marR="91440" marT="45720" marB="45720" anchor="ctr">
                    <a:lnL>
                      <a:noFill/>
                    </a:lnL>
                    <a:lnR>
                      <a:noFill/>
                    </a:lnR>
                    <a:lnT>
                      <a:noFill/>
                    </a:lnT>
                    <a:lnB>
                      <a:noFill/>
                    </a:lnB>
                    <a:solidFill>
                      <a:srgbClr val="0E5A55"/>
                    </a:solidFill>
                  </a:tcPr>
                </a:tc>
                <a:tc>
                  <a:txBody>
                    <a:bodyPr wrap="square" rtlCol="0" anchor="ctr"/>
                    <a:lstStyle/>
                    <a:p>
                      <a:pPr algn="l"/>
                    </a:p>
                  </a:txBody>
                  <a:tcPr marL="91440" marR="91440" marT="45720" marB="45720" anchor="ctr">
                    <a:lnL>
                      <a:noFill/>
                    </a:lnL>
                    <a:lnR>
                      <a:noFill/>
                    </a:lnR>
                    <a:lnT>
                      <a:noFill/>
                    </a:lnT>
                    <a:lnB>
                      <a:noFill/>
                    </a:lnB>
                    <a:solidFill>
                      <a:srgbClr val="0E5A55"/>
                    </a:solidFill>
                  </a:tcPr>
                </a:tc>
              </a:tr>
              <a:tr h="73355200">
                <a:tc>
                  <a:txBody>
                    <a:bodyPr wrap="square" rtlCol="0" anchor="ctr"/>
                    <a:lstStyle/>
                    <a:p>
                      <a:pPr algn="l"/>
                    </a:p>
                  </a:txBody>
                  <a:tcPr marL="91440" marR="91440" marT="45720" marB="45720" anchor="ctr">
                    <a:lnL>
                      <a:noFill/>
                    </a:lnL>
                    <a:lnR>
                      <a:noFill/>
                    </a:lnR>
                    <a:lnT>
                      <a:noFill/>
                    </a:lnT>
                    <a:lnB>
                      <a:noFill/>
                    </a:lnB>
                    <a:solidFill>
                      <a:srgbClr val="FFFFFF"/>
                    </a:solidFill>
                  </a:tcPr>
                </a:tc>
                <a:tc>
                  <a:txBody>
                    <a:bodyPr wrap="square" rtlCol="0" anchor="ctr"/>
                    <a:lstStyle/>
                    <a:p>
                      <a:pPr algn="l"/>
                    </a:p>
                  </a:txBody>
                  <a:tcPr marL="91440" marR="91440" marT="45720" marB="45720" anchor="ctr">
                    <a:lnL>
                      <a:noFill/>
                    </a:lnL>
                    <a:lnR>
                      <a:noFill/>
                    </a:lnR>
                    <a:lnT>
                      <a:noFill/>
                    </a:lnT>
                    <a:lnB>
                      <a:noFill/>
                    </a:lnB>
                    <a:solidFill>
                      <a:srgbClr val="FFFFFF"/>
                    </a:solidFill>
                  </a:tcPr>
                </a:tc>
              </a:tr>
              <a:tr h="77216000">
                <a:tc>
                  <a:txBody>
                    <a:bodyPr wrap="square" rtlCol="0" anchor="ctr"/>
                    <a:lstStyle/>
                    <a:p>
                      <a:pPr algn="l"/>
                    </a:p>
                  </a:txBody>
                  <a:tcPr marL="91440" marR="91440" marT="45720" marB="45720" anchor="ctr">
                    <a:lnL>
                      <a:noFill/>
                    </a:lnL>
                    <a:lnR>
                      <a:noFill/>
                    </a:lnR>
                    <a:lnT>
                      <a:noFill/>
                    </a:lnT>
                    <a:lnB>
                      <a:noFill/>
                    </a:lnB>
                    <a:solidFill>
                      <a:srgbClr val="EFE9DF"/>
                    </a:solidFill>
                  </a:tcPr>
                </a:tc>
                <a:tc>
                  <a:txBody>
                    <a:bodyPr wrap="square" rtlCol="0" anchor="ctr"/>
                    <a:lstStyle/>
                    <a:p>
                      <a:pPr algn="l"/>
                    </a:p>
                  </a:txBody>
                  <a:tcPr marL="91440" marR="91440" marT="45720" marB="45720" anchor="ctr">
                    <a:lnL>
                      <a:noFill/>
                    </a:lnL>
                    <a:lnR>
                      <a:noFill/>
                    </a:lnR>
                    <a:lnT>
                      <a:noFill/>
                    </a:lnT>
                    <a:lnB>
                      <a:noFill/>
                    </a:lnB>
                    <a:solidFill>
                      <a:srgbClr val="EFE9DF"/>
                    </a:solidFill>
                  </a:tcPr>
                </a:tc>
              </a:tr>
              <a:tr h="77216000">
                <a:tc>
                  <a:txBody>
                    <a:bodyPr wrap="square" rtlCol="0" anchor="ctr"/>
                    <a:lstStyle/>
                    <a:p>
                      <a:pPr algn="l"/>
                    </a:p>
                  </a:txBody>
                  <a:tcPr marL="91440" marR="91440" marT="45720" marB="45720" anchor="ctr">
                    <a:lnL>
                      <a:noFill/>
                    </a:lnL>
                    <a:lnR>
                      <a:noFill/>
                    </a:lnR>
                    <a:lnT>
                      <a:noFill/>
                    </a:lnT>
                    <a:lnB>
                      <a:noFill/>
                    </a:lnB>
                    <a:solidFill>
                      <a:srgbClr val="FFFFFF"/>
                    </a:solidFill>
                  </a:tcPr>
                </a:tc>
                <a:tc>
                  <a:txBody>
                    <a:bodyPr wrap="square" rtlCol="0" anchor="ctr"/>
                    <a:lstStyle/>
                    <a:p>
                      <a:pPr algn="l"/>
                    </a:p>
                  </a:txBody>
                  <a:tcPr marL="91440" marR="91440" marT="45720" marB="45720" anchor="ctr">
                    <a:lnL>
                      <a:noFill/>
                    </a:lnL>
                    <a:lnR>
                      <a:noFill/>
                    </a:lnR>
                    <a:lnT>
                      <a:noFill/>
                    </a:lnT>
                    <a:lnB>
                      <a:noFill/>
                    </a:lnB>
                    <a:solidFill>
                      <a:srgbClr val="FFFFFF"/>
                    </a:solidFill>
                  </a:tcPr>
                </a:tc>
              </a:tr>
            </a:tbl>
          </a:graphicData>
        </a:graphic>
      </p:graphicFrame>
      <p:sp>
        <p:nvSpPr>
          <p:cNvPr id="9" name="p-note"/>
          <p:cNvSpPr txBox="1"/>
          <p:nvPr/>
        </p:nvSpPr>
        <p:spPr>
          <a:xfrm>
            <a:off x="762000" y="5257800"/>
            <a:ext cx="5969000" cy="939800"/>
          </a:xfrm>
          <a:prstGeom prst="rect">
            <a:avLst/>
          </a:prstGeom>
          <a:noFill/>
          <a:ln>
            <a:noFill/>
          </a:ln>
        </p:spPr>
        <p:txBody>
          <a:bodyPr lIns="0" rIns="0" tIns="0" bIns="0" wrap="square" rtlCol="0"/>
          <a:lstStyle/>
          <a:p>
            <a:pPr>
              <a:lnSpc>
                <a:spcPct val="150000"/>
              </a:lnSpc>
            </a:pPr>
            <a:r>
              <a:rPr lang="en-US" sz="1250" noProof="1">
                <a:solidFill>
                  <a:srgbClr val="22303A"/>
                </a:solidFill>
                <a:latin typeface="MiSans"/>
                <a:ea typeface="MiSans"/>
              </a:rPr>
              <a:t>能量版本：</a:t>
            </a:r>
            <a:r>
              <a:rPr lang="en-US" sz="1250" noProof="1" b="1">
                <a:solidFill>
                  <a:srgbClr val="22303A"/>
                </a:solidFill>
                <a:latin typeface="MiSans"/>
                <a:ea typeface="MiSans"/>
              </a:rPr>
              <a:t>E = VIt</a:t>
            </a:r>
            <a:r>
              <a:rPr lang="en-US" sz="1250" noProof="1">
                <a:solidFill>
                  <a:srgbClr val="22303A"/>
                </a:solidFill>
                <a:latin typeface="MiSans"/>
                <a:ea typeface="MiSans"/>
              </a:rPr>
              <a:t>（功率 × 时间）。</a:t>
            </a:r>
            <a:endParaRPr lang="en-US" sz="1250" noProof="1"/>
          </a:p>
          <a:p>
            <a:pPr>
              <a:lnSpc>
                <a:spcPct val="150000"/>
              </a:lnSpc>
            </a:pPr>
            <a:r>
              <a:rPr lang="en-US" sz="1250" noProof="1">
                <a:solidFill>
                  <a:srgbClr val="22303A"/>
                </a:solidFill>
                <a:latin typeface="MiSans"/>
                <a:ea typeface="MiSans"/>
              </a:rPr>
              <a:t>后两条是把欧姆定律 V = IR 代入 P = VI 得到的，只对</a:t>
            </a:r>
            <a:r>
              <a:rPr lang="en-US" sz="1250" noProof="1" b="1">
                <a:solidFill>
                  <a:srgbClr val="22303A"/>
                </a:solidFill>
                <a:latin typeface="MiSans"/>
                <a:ea typeface="MiSans"/>
              </a:rPr>
              <a:t>欧姆元件</a:t>
            </a:r>
            <a:r>
              <a:rPr lang="en-US" sz="1250" noProof="1">
                <a:solidFill>
                  <a:srgbClr val="22303A"/>
                </a:solidFill>
                <a:latin typeface="MiSans"/>
                <a:ea typeface="MiSans"/>
              </a:rPr>
              <a:t>才能互相推导。</a:t>
            </a:r>
            <a:endParaRPr lang="en-US" sz="1250" noProof="1"/>
          </a:p>
        </p:txBody>
      </p:sp>
      <p:sp>
        <p:nvSpPr>
          <p:cNvPr id="10" name="ex-box"/>
          <p:cNvSpPr/>
          <p:nvPr/>
        </p:nvSpPr>
        <p:spPr>
          <a:xfrm>
            <a:off x="7239000" y="1701800"/>
            <a:ext cx="4191000" cy="2286000"/>
          </a:xfrm>
          <a:prstGeom prst="rect">
            <a:avLst/>
          </a:prstGeom>
          <a:solidFill>
            <a:srgbClr val="FFFFFF"/>
          </a:solidFill>
          <a:ln>
            <a:noFill/>
          </a:ln>
        </p:spPr>
      </p:sp>
      <p:sp>
        <p:nvSpPr>
          <p:cNvPr id="11" name="ex-head"/>
          <p:cNvSpPr txBox="1"/>
          <p:nvPr/>
        </p:nvSpPr>
        <p:spPr>
          <a:xfrm>
            <a:off x="7442200" y="1854200"/>
            <a:ext cx="3810000" cy="279400"/>
          </a:xfrm>
          <a:prstGeom prst="rect">
            <a:avLst/>
          </a:prstGeom>
          <a:noFill/>
          <a:ln>
            <a:noFill/>
          </a:ln>
        </p:spPr>
        <p:txBody>
          <a:bodyPr lIns="0" rIns="0" tIns="0" bIns="0" wrap="none" rtlCol="0"/>
          <a:lstStyle/>
          <a:p>
            <a:pPr>
              <a:lnSpc>
                <a:spcPct val="120000"/>
              </a:lnSpc>
            </a:pPr>
            <a:r>
              <a:rPr lang="en-US" sz="1500" noProof="1" b="1">
                <a:solidFill>
                  <a:srgbClr val="0E5A55"/>
                </a:solidFill>
                <a:latin typeface="MiSans"/>
                <a:ea typeface="MiSans"/>
              </a:rPr>
              <a:t>例：电热水壶</a:t>
            </a:r>
            <a:endParaRPr lang="en-US" sz="1500" noProof="1"/>
          </a:p>
        </p:txBody>
      </p:sp>
      <p:sp>
        <p:nvSpPr>
          <p:cNvPr id="12" name="ex-body"/>
          <p:cNvSpPr txBox="1"/>
          <p:nvPr/>
        </p:nvSpPr>
        <p:spPr>
          <a:xfrm>
            <a:off x="7442200" y="2209800"/>
            <a:ext cx="3810000" cy="1651000"/>
          </a:xfrm>
          <a:prstGeom prst="rect">
            <a:avLst/>
          </a:prstGeom>
          <a:noFill/>
          <a:ln>
            <a:noFill/>
          </a:ln>
        </p:spPr>
        <p:txBody>
          <a:bodyPr lIns="0" rIns="0" tIns="0" bIns="0" wrap="square" rtlCol="0"/>
          <a:lstStyle/>
          <a:p>
            <a:pPr>
              <a:lnSpc>
                <a:spcPct val="155000"/>
              </a:lnSpc>
            </a:pPr>
            <a:r>
              <a:rPr lang="en-US" sz="1250" noProof="1">
                <a:solidFill>
                  <a:srgbClr val="22303A"/>
                </a:solidFill>
                <a:latin typeface="MiSans"/>
                <a:ea typeface="MiSans"/>
              </a:rPr>
              <a:t>230 V、电流 10 A 的水壶：</a:t>
            </a:r>
            <a:endParaRPr lang="en-US" sz="1250" noProof="1"/>
          </a:p>
          <a:p>
            <a:pPr>
              <a:lnSpc>
                <a:spcPct val="155000"/>
              </a:lnSpc>
            </a:pPr>
            <a:r>
              <a:rPr lang="en-US" sz="1250" noProof="1">
                <a:solidFill>
                  <a:srgbClr val="22303A"/>
                </a:solidFill>
                <a:latin typeface="MiSans"/>
                <a:ea typeface="MiSans"/>
              </a:rPr>
              <a:t>P = VI = 230 × 10 = </a:t>
            </a:r>
            <a:r>
              <a:rPr lang="en-US" sz="1250" noProof="1" b="1">
                <a:solidFill>
                  <a:srgbClr val="22303A"/>
                </a:solidFill>
                <a:latin typeface="MiSans"/>
                <a:ea typeface="MiSans"/>
              </a:rPr>
              <a:t>2300 W</a:t>
            </a:r>
            <a:endParaRPr lang="en-US" sz="1250" noProof="1"/>
          </a:p>
          <a:p>
            <a:pPr>
              <a:lnSpc>
                <a:spcPct val="155000"/>
              </a:lnSpc>
            </a:pPr>
            <a:r>
              <a:rPr lang="en-US" sz="1250" noProof="1">
                <a:solidFill>
                  <a:srgbClr val="22303A"/>
                </a:solidFill>
                <a:latin typeface="MiSans"/>
                <a:ea typeface="MiSans"/>
              </a:rPr>
              <a:t>工作 3 分钟耗能</a:t>
            </a:r>
            <a:endParaRPr lang="en-US" sz="1250" noProof="1"/>
          </a:p>
          <a:p>
            <a:pPr>
              <a:lnSpc>
                <a:spcPct val="155000"/>
              </a:lnSpc>
            </a:pPr>
            <a:r>
              <a:rPr lang="en-US" sz="1250" noProof="1">
                <a:solidFill>
                  <a:srgbClr val="22303A"/>
                </a:solidFill>
                <a:latin typeface="MiSans"/>
                <a:ea typeface="MiSans"/>
              </a:rPr>
              <a:t>E = Pt = 2300 × 180</a:t>
            </a:r>
            <a:endParaRPr lang="en-US" sz="1250" noProof="1"/>
          </a:p>
          <a:p>
            <a:pPr>
              <a:lnSpc>
                <a:spcPct val="155000"/>
              </a:lnSpc>
            </a:pPr>
            <a:r>
              <a:rPr lang="en-US" sz="1250" noProof="1">
                <a:solidFill>
                  <a:srgbClr val="22303A"/>
                </a:solidFill>
                <a:latin typeface="MiSans"/>
                <a:ea typeface="MiSans"/>
              </a:rPr>
              <a:t>= 4.1 × 10</a:t>
            </a:r>
            <a:r>
              <a:rPr lang="en-US" sz="1250" noProof="1" baseline="30000">
                <a:solidFill>
                  <a:srgbClr val="22303A"/>
                </a:solidFill>
                <a:latin typeface="MiSans"/>
                <a:ea typeface="MiSans"/>
              </a:rPr>
              <a:t>5</a:t>
            </a:r>
            <a:r>
              <a:rPr lang="en-US" sz="1250" noProof="1">
                <a:solidFill>
                  <a:srgbClr val="22303A"/>
                </a:solidFill>
                <a:latin typeface="MiSans"/>
                <a:ea typeface="MiSans"/>
              </a:rPr>
              <a:t> J</a:t>
            </a:r>
            <a:endParaRPr lang="en-US" sz="1250" noProof="1"/>
          </a:p>
        </p:txBody>
      </p:sp>
      <p:sp>
        <p:nvSpPr>
          <p:cNvPr id="13" name="trap-box"/>
          <p:cNvSpPr/>
          <p:nvPr/>
        </p:nvSpPr>
        <p:spPr>
          <a:xfrm>
            <a:off x="7239000" y="4216400"/>
            <a:ext cx="4191000" cy="1981200"/>
          </a:xfrm>
          <a:prstGeom prst="rect">
            <a:avLst/>
          </a:prstGeom>
          <a:solidFill>
            <a:srgbClr val="EFE9DF"/>
          </a:solidFill>
          <a:ln>
            <a:noFill/>
          </a:ln>
        </p:spPr>
      </p:sp>
      <p:sp>
        <p:nvSpPr>
          <p:cNvPr id="14" name="trap-text"/>
          <p:cNvSpPr txBox="1"/>
          <p:nvPr/>
        </p:nvSpPr>
        <p:spPr>
          <a:xfrm>
            <a:off x="7442200" y="4343400"/>
            <a:ext cx="3784600" cy="1727200"/>
          </a:xfrm>
          <a:prstGeom prst="rect">
            <a:avLst/>
          </a:prstGeom>
          <a:noFill/>
          <a:ln>
            <a:noFill/>
          </a:ln>
        </p:spPr>
        <p:txBody>
          <a:bodyPr lIns="0" rIns="0" tIns="0" bIns="0" wrap="square" rtlCol="0"/>
          <a:lstStyle/>
          <a:p>
            <a:pPr>
              <a:lnSpc>
                <a:spcPct val="150000"/>
              </a:lnSpc>
            </a:pPr>
            <a:r>
              <a:rPr lang="en-US" sz="1250" noProof="1" b="1">
                <a:solidFill>
                  <a:srgbClr val="C96F16"/>
                </a:solidFill>
                <a:latin typeface="MiSans"/>
                <a:ea typeface="MiSans"/>
              </a:rPr>
              <a:t>考试提示：</a:t>
            </a:r>
            <a:endParaRPr lang="en-US" sz="1250" noProof="1"/>
          </a:p>
          <a:p>
            <a:pPr>
              <a:lnSpc>
                <a:spcPct val="150000"/>
              </a:lnSpc>
            </a:pPr>
            <a:r>
              <a:rPr lang="en-US" sz="1250" noProof="1">
                <a:solidFill>
                  <a:srgbClr val="22303A"/>
                </a:solidFill>
                <a:latin typeface="MiSans"/>
                <a:ea typeface="MiSans"/>
              </a:rPr>
              <a:t>· 定义题：p.d. 定义必须说 per unit </a:t>
            </a:r>
            <a:r>
              <a:rPr lang="en-US" sz="1250" noProof="1" b="1">
                <a:solidFill>
                  <a:srgbClr val="22303A"/>
                </a:solidFill>
                <a:latin typeface="MiSans"/>
                <a:ea typeface="MiSans"/>
              </a:rPr>
              <a:t>charge</a:t>
            </a:r>
            <a:r>
              <a:rPr lang="en-US" sz="1250" noProof="1">
                <a:solidFill>
                  <a:srgbClr val="22303A"/>
                </a:solidFill>
                <a:latin typeface="MiSans"/>
                <a:ea typeface="MiSans"/>
              </a:rPr>
              <a:t>，别说成 per unit current。</a:t>
            </a:r>
            <a:endParaRPr lang="en-US" sz="1250" noProof="1"/>
          </a:p>
          <a:p>
            <a:pPr>
              <a:lnSpc>
                <a:spcPct val="150000"/>
              </a:lnSpc>
            </a:pPr>
            <a:r>
              <a:rPr lang="en-US" sz="1250" noProof="1">
                <a:solidFill>
                  <a:srgbClr val="22303A"/>
                </a:solidFill>
                <a:latin typeface="MiSans"/>
                <a:ea typeface="MiSans"/>
              </a:rPr>
              <a:t>· 串联比功率选 I²R（I 相同）；并联比功率选 V²/R（V 相同）——选对公式一眼出答案。</a:t>
            </a:r>
            <a:endParaRPr lang="en-US" sz="1250" noProof="1"/>
          </a:p>
        </p:txBody>
      </p:sp>
      <p:sp>
        <p:nvSpPr>
          <p:cNvPr id="15" name="footer-rule"/>
          <p:cNvSpPr/>
          <p:nvPr/>
        </p:nvSpPr>
        <p:spPr>
          <a:xfrm>
            <a:off x="762000" y="6451600"/>
            <a:ext cx="10668000" cy="12700"/>
          </a:xfrm>
          <a:prstGeom prst="rect">
            <a:avLst/>
          </a:prstGeom>
          <a:solidFill>
            <a:srgbClr val="D8D2C8"/>
          </a:solidFill>
          <a:ln>
            <a:noFill/>
          </a:ln>
        </p:spPr>
      </p:sp>
      <p:sp>
        <p:nvSpPr>
          <p:cNvPr id="16" name="footer-left"/>
          <p:cNvSpPr txBox="1"/>
          <p:nvPr/>
        </p:nvSpPr>
        <p:spPr>
          <a:xfrm>
            <a:off x="762000" y="6553200"/>
            <a:ext cx="5080000" cy="203200"/>
          </a:xfrm>
          <a:prstGeom prst="rect">
            <a:avLst/>
          </a:prstGeom>
          <a:noFill/>
          <a:ln>
            <a:noFill/>
          </a:ln>
        </p:spPr>
        <p:txBody>
          <a:bodyPr lIns="0" rIns="0" tIns="0" bIns="0" wrap="none" rtlCol="0"/>
          <a:lstStyle/>
          <a:p>
            <a:pPr>
              <a:lnSpc>
                <a:spcPct val="120000"/>
              </a:lnSpc>
            </a:pPr>
            <a:r>
              <a:rPr lang="en-US" sz="1000" noProof="1">
                <a:solidFill>
                  <a:srgbClr val="6E6A62"/>
                </a:solidFill>
                <a:latin typeface="MiSans"/>
                <a:ea typeface="MiSans"/>
              </a:rPr>
              <a:t>CIE A-Level Physics 9702 · Topic 9 电学</a:t>
            </a:r>
            <a:endParaRPr lang="en-US" sz="1000" noProof="1"/>
          </a:p>
        </p:txBody>
      </p:sp>
      <p:sp>
        <p:nvSpPr>
          <p:cNvPr id="17" name="page-num"/>
          <p:cNvSpPr txBox="1"/>
          <p:nvPr/>
        </p:nvSpPr>
        <p:spPr>
          <a:xfrm>
            <a:off x="10922000" y="6553200"/>
            <a:ext cx="508000" cy="203200"/>
          </a:xfrm>
          <a:prstGeom prst="rect">
            <a:avLst/>
          </a:prstGeom>
          <a:noFill/>
          <a:ln>
            <a:noFill/>
          </a:ln>
        </p:spPr>
        <p:txBody>
          <a:bodyPr lIns="0" rIns="0" tIns="0" bIns="0" wrap="none" rtlCol="0" anchor="t"/>
          <a:lstStyle/>
          <a:p>
            <a:pPr algn="r">
              <a:lnSpc>
                <a:spcPct val="120000"/>
              </a:lnSpc>
            </a:pPr>
            <a:r>
              <a:rPr lang="en-US" sz="1000" noProof="1">
                <a:solidFill>
                  <a:srgbClr val="6E6A62"/>
                </a:solidFill>
                <a:latin typeface="MiSans"/>
                <a:ea typeface="MiSans"/>
              </a:rPr>
              <a:t>05</a:t>
            </a:r>
            <a:endParaRPr lang="en-US" sz="1000" noProof="1"/>
          </a:p>
        </p:txBody>
      </p:sp>
    </p:spTree>
  </p:cSld>
  <p:clrMapOvr>
    <a:masterClrMapping/>
  </p:clrMapOvr>
</p:sld>
</file>

<file path=ppt/slides/slide6.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8F4"/>
        </a:solidFill>
      </p:bgPr>
    </p:bg>
    <p:spTree>
      <p:nvGrpSpPr>
        <p:cNvPr id="1" name=""/>
        <p:cNvGrpSpPr/>
        <p:nvPr/>
      </p:nvGrpSpPr>
      <p:grpSpPr>
        <a:xfrm>
          <a:off x="0" y="0"/>
          <a:ext cx="0" cy="0"/>
          <a:chOff x="0" y="0"/>
          <a:chExt cx="0" cy="0"/>
        </a:xfrm>
      </p:grpSpPr>
      <p:sp>
        <p:nvSpPr>
          <p:cNvPr id="2" name="kicker"/>
          <p:cNvSpPr txBox="1"/>
          <p:nvPr/>
        </p:nvSpPr>
        <p:spPr>
          <a:xfrm>
            <a:off x="762000" y="330200"/>
            <a:ext cx="6350000" cy="203200"/>
          </a:xfrm>
          <a:prstGeom prst="rect">
            <a:avLst/>
          </a:prstGeom>
          <a:noFill/>
          <a:ln>
            <a:noFill/>
          </a:ln>
        </p:spPr>
        <p:txBody>
          <a:bodyPr lIns="0" rIns="0" tIns="0" bIns="0" wrap="none" rtlCol="0"/>
          <a:lstStyle/>
          <a:p>
            <a:pPr>
              <a:lnSpc>
                <a:spcPct val="120000"/>
              </a:lnSpc>
            </a:pPr>
            <a:r>
              <a:rPr lang="en-US" sz="1100" noProof="1" b="1" spc="200" kern="0">
                <a:solidFill>
                  <a:srgbClr val="0E5A55"/>
                </a:solidFill>
                <a:latin typeface="MiSans"/>
                <a:ea typeface="MiSans"/>
              </a:rPr>
              <a:t>9.3 · I-V CHARACTERISTICS</a:t>
            </a:r>
            <a:endParaRPr lang="en-US" sz="1100" noProof="1"/>
          </a:p>
        </p:txBody>
      </p:sp>
      <p:sp>
        <p:nvSpPr>
          <p:cNvPr id="3" name="title"/>
          <p:cNvSpPr txBox="1"/>
          <p:nvPr/>
        </p:nvSpPr>
        <p:spPr>
          <a:xfrm>
            <a:off x="762000" y="584200"/>
            <a:ext cx="10668000" cy="457200"/>
          </a:xfrm>
          <a:prstGeom prst="rect">
            <a:avLst/>
          </a:prstGeom>
          <a:noFill/>
          <a:ln>
            <a:noFill/>
          </a:ln>
        </p:spPr>
        <p:txBody>
          <a:bodyPr lIns="0" rIns="0" tIns="0" bIns="0" wrap="none" rtlCol="0"/>
          <a:lstStyle/>
          <a:p>
            <a:pPr>
              <a:lnSpc>
                <a:spcPct val="120000"/>
              </a:lnSpc>
            </a:pPr>
            <a:r>
              <a:rPr lang="en-US" sz="2600" noProof="1" b="1">
                <a:solidFill>
                  <a:srgbClr val="22303A"/>
                </a:solidFill>
                <a:latin typeface="MiSans"/>
                <a:ea typeface="MiSans"/>
              </a:rPr>
              <a:t>三种元件的 I-V 图：形状就是考点</a:t>
            </a:r>
            <a:endParaRPr lang="en-US" sz="2600" noProof="1"/>
          </a:p>
        </p:txBody>
      </p:sp>
      <p:sp>
        <p:nvSpPr>
          <p:cNvPr id="4" name="title-en"/>
          <p:cNvSpPr txBox="1"/>
          <p:nvPr/>
        </p:nvSpPr>
        <p:spPr>
          <a:xfrm>
            <a:off x="762000" y="1066800"/>
            <a:ext cx="10668000" cy="254000"/>
          </a:xfrm>
          <a:prstGeom prst="rect">
            <a:avLst/>
          </a:prstGeom>
          <a:noFill/>
          <a:ln>
            <a:noFill/>
          </a:ln>
        </p:spPr>
        <p:txBody>
          <a:bodyPr lIns="0" rIns="0" tIns="0" bIns="0" wrap="none" rtlCol="0"/>
          <a:lstStyle/>
          <a:p>
            <a:pPr>
              <a:lnSpc>
                <a:spcPct val="120000"/>
              </a:lnSpc>
            </a:pPr>
            <a:r>
              <a:rPr lang="en-US" sz="1300" noProof="1">
                <a:solidFill>
                  <a:srgbClr val="6E6A62"/>
                </a:solidFill>
                <a:latin typeface="MiSans"/>
                <a:ea typeface="MiSans"/>
              </a:rPr>
              <a:t>Ohmic conductor, semiconductor diode, filament lamp — know the shapes cold</a:t>
            </a:r>
            <a:endParaRPr lang="en-US" sz="1300" noProof="1"/>
          </a:p>
        </p:txBody>
      </p:sp>
      <p:sp>
        <p:nvSpPr>
          <p:cNvPr id="5" name="rule-top"/>
          <p:cNvSpPr/>
          <p:nvPr/>
        </p:nvSpPr>
        <p:spPr>
          <a:xfrm>
            <a:off x="762000" y="1422400"/>
            <a:ext cx="10668000" cy="19050"/>
          </a:xfrm>
          <a:prstGeom prst="rect">
            <a:avLst/>
          </a:prstGeom>
          <a:solidFill>
            <a:srgbClr val="D8D2C8"/>
          </a:solidFill>
          <a:ln>
            <a:noFill/>
          </a:ln>
        </p:spPr>
      </p:sp>
      <p:sp>
        <p:nvSpPr>
          <p:cNvPr id="6" name="g1-title"/>
          <p:cNvSpPr txBox="1"/>
          <p:nvPr/>
        </p:nvSpPr>
        <p:spPr>
          <a:xfrm>
            <a:off x="762000" y="1625600"/>
            <a:ext cx="3302000" cy="279400"/>
          </a:xfrm>
          <a:prstGeom prst="rect">
            <a:avLst/>
          </a:prstGeom>
          <a:noFill/>
          <a:ln>
            <a:noFill/>
          </a:ln>
        </p:spPr>
        <p:txBody>
          <a:bodyPr lIns="0" rIns="0" tIns="0" bIns="0" wrap="none" rtlCol="0"/>
          <a:lstStyle/>
          <a:p>
            <a:pPr>
              <a:lnSpc>
                <a:spcPct val="120000"/>
              </a:lnSpc>
            </a:pPr>
            <a:r>
              <a:rPr lang="en-US" sz="1500" noProof="1" b="1">
                <a:solidFill>
                  <a:srgbClr val="0E5A55"/>
                </a:solidFill>
                <a:latin typeface="MiSans"/>
                <a:ea typeface="MiSans"/>
              </a:rPr>
              <a:t>① 欧姆导体 Ohmic</a:t>
            </a:r>
            <a:endParaRPr lang="en-US" sz="1500" noProof="1"/>
          </a:p>
        </p:txBody>
      </p:sp>
      <p:sp>
        <p:nvSpPr>
          <p:cNvPr id="7" name="g1-ay"/>
          <p:cNvSpPr/>
          <p:nvPr>
            <p:extLst>
              <p:ext uri="{F5677B7D-0D2A-4D9B-9A5C-6D8D7D0E5A5D}">
                <pptd:line encoding="base64url">eyJ2aWV3Qm94IjpbNCwxNjhdLCJwb2ludHMiOiIyLDE2OCAyLDAiLCJjdXJ2ZSI6InNoYXJwIn0</pptd:line>
              </p:ext>
            </p:extLst>
          </p:nvPr>
        </p:nvSpPr>
        <p:spPr>
          <a:xfrm>
            <a:off x="1143000" y="1930400"/>
            <a:ext cx="50800" cy="2133600"/>
          </a:xfrm>
          <a:custGeom>
            <a:avLst/>
            <a:gdLst/>
            <a:ahLst/>
            <a:cxnLst/>
            <a:rect l="l" t="t" r="r" b="b"/>
            <a:pathLst>
              <a:path w="4" h="168">
                <a:moveTo>
                  <a:pt x="2" y="168"/>
                </a:moveTo>
                <a:lnTo>
                  <a:pt x="2" y="0"/>
                </a:lnTo>
              </a:path>
            </a:pathLst>
          </a:custGeom>
          <a:noFill/>
          <a:ln w="25400">
            <a:solidFill>
              <a:srgbClr val="22303A"/>
            </a:solidFill>
            <a:tailEnd type="arrow"/>
          </a:ln>
        </p:spPr>
      </p:sp>
      <p:sp>
        <p:nvSpPr>
          <p:cNvPr id="8" name="g1-ax"/>
          <p:cNvSpPr/>
          <p:nvPr>
            <p:extLst>
              <p:ext uri="{F5677B7D-0D2A-4D9B-9A5C-6D8D7D0E5A5D}">
                <pptd:line encoding="base64url">eyJ2aWV3Qm94IjpbMjAwLDRdLCJwb2ludHMiOiIwLDIgMjAwLDIiLCJjdXJ2ZSI6InNoYXJwIn0</pptd:line>
              </p:ext>
            </p:extLst>
          </p:nvPr>
        </p:nvSpPr>
        <p:spPr>
          <a:xfrm>
            <a:off x="1143000" y="4013200"/>
            <a:ext cx="2540000" cy="50800"/>
          </a:xfrm>
          <a:custGeom>
            <a:avLst/>
            <a:gdLst/>
            <a:ahLst/>
            <a:cxnLst/>
            <a:rect l="l" t="t" r="r" b="b"/>
            <a:pathLst>
              <a:path w="200" h="4">
                <a:moveTo>
                  <a:pt x="0" y="2"/>
                </a:moveTo>
                <a:lnTo>
                  <a:pt x="200" y="2"/>
                </a:lnTo>
              </a:path>
            </a:pathLst>
          </a:custGeom>
          <a:noFill/>
          <a:ln w="25400">
            <a:solidFill>
              <a:srgbClr val="22303A"/>
            </a:solidFill>
            <a:tailEnd type="arrow"/>
          </a:ln>
        </p:spPr>
      </p:sp>
      <p:sp>
        <p:nvSpPr>
          <p:cNvPr id="9" name="g1-li"/>
          <p:cNvSpPr txBox="1"/>
          <p:nvPr/>
        </p:nvSpPr>
        <p:spPr>
          <a:xfrm>
            <a:off x="838200" y="1930400"/>
            <a:ext cx="254000" cy="203200"/>
          </a:xfrm>
          <a:prstGeom prst="rect">
            <a:avLst/>
          </a:prstGeom>
          <a:noFill/>
          <a:ln>
            <a:noFill/>
          </a:ln>
        </p:spPr>
        <p:txBody>
          <a:bodyPr lIns="0" rIns="0" tIns="0" bIns="0" wrap="none" rtlCol="0"/>
          <a:lstStyle/>
          <a:p>
            <a:pPr>
              <a:lnSpc>
                <a:spcPct val="120000"/>
              </a:lnSpc>
            </a:pPr>
            <a:r>
              <a:rPr lang="en-US" sz="1300" noProof="1" b="1">
                <a:solidFill>
                  <a:srgbClr val="22303A"/>
                </a:solidFill>
                <a:latin typeface="MiSans"/>
                <a:ea typeface="MiSans"/>
              </a:rPr>
              <a:t>I</a:t>
            </a:r>
            <a:endParaRPr lang="en-US" sz="1300" noProof="1"/>
          </a:p>
        </p:txBody>
      </p:sp>
      <p:sp>
        <p:nvSpPr>
          <p:cNvPr id="10" name="g1-lv"/>
          <p:cNvSpPr txBox="1"/>
          <p:nvPr/>
        </p:nvSpPr>
        <p:spPr>
          <a:xfrm>
            <a:off x="3733800" y="4089400"/>
            <a:ext cx="254000" cy="203200"/>
          </a:xfrm>
          <a:prstGeom prst="rect">
            <a:avLst/>
          </a:prstGeom>
          <a:noFill/>
          <a:ln>
            <a:noFill/>
          </a:ln>
        </p:spPr>
        <p:txBody>
          <a:bodyPr lIns="0" rIns="0" tIns="0" bIns="0" wrap="none" rtlCol="0"/>
          <a:lstStyle/>
          <a:p>
            <a:pPr>
              <a:lnSpc>
                <a:spcPct val="120000"/>
              </a:lnSpc>
            </a:pPr>
            <a:r>
              <a:rPr lang="en-US" sz="1300" noProof="1" b="1">
                <a:solidFill>
                  <a:srgbClr val="22303A"/>
                </a:solidFill>
                <a:latin typeface="MiSans"/>
                <a:ea typeface="MiSans"/>
              </a:rPr>
              <a:t>V</a:t>
            </a:r>
            <a:endParaRPr lang="en-US" sz="1300" noProof="1"/>
          </a:p>
        </p:txBody>
      </p:sp>
      <p:sp>
        <p:nvSpPr>
          <p:cNvPr id="11" name="g1-curve"/>
          <p:cNvSpPr/>
          <p:nvPr>
            <p:extLst>
              <p:ext uri="{F5677B7D-0D2A-4D9B-9A5C-6D8D7D0E5A5D}">
                <pptd:line encoding="base64url">eyJ2aWV3Qm94IjpbMTkwLDE0Nl0sInBvaW50cyI6IjAsMTQ2IDE5MCwwIiwiY3VydmUiOiJzaGFycCJ9</pptd:line>
              </p:ext>
            </p:extLst>
          </p:nvPr>
        </p:nvSpPr>
        <p:spPr>
          <a:xfrm>
            <a:off x="1168400" y="2133600"/>
            <a:ext cx="2413000" cy="1854200"/>
          </a:xfrm>
          <a:custGeom>
            <a:avLst/>
            <a:gdLst/>
            <a:ahLst/>
            <a:cxnLst/>
            <a:rect l="l" t="t" r="r" b="b"/>
            <a:pathLst>
              <a:path w="190" h="146">
                <a:moveTo>
                  <a:pt x="0" y="146"/>
                </a:moveTo>
                <a:lnTo>
                  <a:pt x="190" y="0"/>
                </a:lnTo>
              </a:path>
            </a:pathLst>
          </a:custGeom>
          <a:noFill/>
          <a:ln w="38100">
            <a:solidFill>
              <a:srgbClr val="0E5A55"/>
            </a:solidFill>
          </a:ln>
        </p:spPr>
      </p:sp>
      <p:sp>
        <p:nvSpPr>
          <p:cNvPr id="12" name="g1-cap"/>
          <p:cNvSpPr txBox="1"/>
          <p:nvPr/>
        </p:nvSpPr>
        <p:spPr>
          <a:xfrm>
            <a:off x="762000" y="4368800"/>
            <a:ext cx="3302000" cy="609600"/>
          </a:xfrm>
          <a:prstGeom prst="rect">
            <a:avLst/>
          </a:prstGeom>
          <a:noFill/>
          <a:ln>
            <a:noFill/>
          </a:ln>
        </p:spPr>
        <p:txBody>
          <a:bodyPr lIns="0" rIns="0" tIns="0" bIns="0" wrap="square" rtlCol="0"/>
          <a:lstStyle/>
          <a:p>
            <a:pPr>
              <a:lnSpc>
                <a:spcPct val="140000"/>
              </a:lnSpc>
            </a:pPr>
            <a:r>
              <a:rPr lang="en-US" sz="1100" noProof="1">
                <a:solidFill>
                  <a:srgbClr val="6E6A62"/>
                </a:solidFill>
                <a:latin typeface="MiSans"/>
                <a:ea typeface="MiSans"/>
              </a:rPr>
              <a:t>过原点的直线 → 遵守欧姆定律，R 恒定（如定值电阻、恒温金属线）。</a:t>
            </a:r>
            <a:endParaRPr lang="en-US" sz="1100" noProof="1"/>
          </a:p>
        </p:txBody>
      </p:sp>
      <p:sp>
        <p:nvSpPr>
          <p:cNvPr id="13" name="g2-title"/>
          <p:cNvSpPr txBox="1"/>
          <p:nvPr/>
        </p:nvSpPr>
        <p:spPr>
          <a:xfrm>
            <a:off x="4445000" y="1625600"/>
            <a:ext cx="3302000" cy="279400"/>
          </a:xfrm>
          <a:prstGeom prst="rect">
            <a:avLst/>
          </a:prstGeom>
          <a:noFill/>
          <a:ln>
            <a:noFill/>
          </a:ln>
        </p:spPr>
        <p:txBody>
          <a:bodyPr lIns="0" rIns="0" tIns="0" bIns="0" wrap="none" rtlCol="0"/>
          <a:lstStyle/>
          <a:p>
            <a:pPr>
              <a:lnSpc>
                <a:spcPct val="120000"/>
              </a:lnSpc>
            </a:pPr>
            <a:r>
              <a:rPr lang="en-US" sz="1500" noProof="1" b="1">
                <a:solidFill>
                  <a:srgbClr val="0E5A55"/>
                </a:solidFill>
                <a:latin typeface="MiSans"/>
                <a:ea typeface="MiSans"/>
              </a:rPr>
              <a:t>② 半导体二极管 Diode</a:t>
            </a:r>
            <a:endParaRPr lang="en-US" sz="1500" noProof="1"/>
          </a:p>
        </p:txBody>
      </p:sp>
      <p:sp>
        <p:nvSpPr>
          <p:cNvPr id="14" name="g2-ay"/>
          <p:cNvSpPr/>
          <p:nvPr>
            <p:extLst>
              <p:ext uri="{F5677B7D-0D2A-4D9B-9A5C-6D8D7D0E5A5D}">
                <pptd:line encoding="base64url">eyJ2aWV3Qm94IjpbNCwxNjhdLCJwb2ludHMiOiIyLDE2OCAyLDAiLCJjdXJ2ZSI6InNoYXJwIn0</pptd:line>
              </p:ext>
            </p:extLst>
          </p:nvPr>
        </p:nvSpPr>
        <p:spPr>
          <a:xfrm>
            <a:off x="4826000" y="1930400"/>
            <a:ext cx="50800" cy="2133600"/>
          </a:xfrm>
          <a:custGeom>
            <a:avLst/>
            <a:gdLst/>
            <a:ahLst/>
            <a:cxnLst/>
            <a:rect l="l" t="t" r="r" b="b"/>
            <a:pathLst>
              <a:path w="4" h="168">
                <a:moveTo>
                  <a:pt x="2" y="168"/>
                </a:moveTo>
                <a:lnTo>
                  <a:pt x="2" y="0"/>
                </a:lnTo>
              </a:path>
            </a:pathLst>
          </a:custGeom>
          <a:noFill/>
          <a:ln w="25400">
            <a:solidFill>
              <a:srgbClr val="22303A"/>
            </a:solidFill>
            <a:tailEnd type="arrow"/>
          </a:ln>
        </p:spPr>
      </p:sp>
      <p:sp>
        <p:nvSpPr>
          <p:cNvPr id="15" name="g2-ax"/>
          <p:cNvSpPr/>
          <p:nvPr>
            <p:extLst>
              <p:ext uri="{F5677B7D-0D2A-4D9B-9A5C-6D8D7D0E5A5D}">
                <pptd:line encoding="base64url">eyJ2aWV3Qm94IjpbMjAwLDRdLCJwb2ludHMiOiIwLDIgMjAwLDIiLCJjdXJ2ZSI6InNoYXJwIn0</pptd:line>
              </p:ext>
            </p:extLst>
          </p:nvPr>
        </p:nvSpPr>
        <p:spPr>
          <a:xfrm>
            <a:off x="4826000" y="4013200"/>
            <a:ext cx="2540000" cy="50800"/>
          </a:xfrm>
          <a:custGeom>
            <a:avLst/>
            <a:gdLst/>
            <a:ahLst/>
            <a:cxnLst/>
            <a:rect l="l" t="t" r="r" b="b"/>
            <a:pathLst>
              <a:path w="200" h="4">
                <a:moveTo>
                  <a:pt x="0" y="2"/>
                </a:moveTo>
                <a:lnTo>
                  <a:pt x="200" y="2"/>
                </a:lnTo>
              </a:path>
            </a:pathLst>
          </a:custGeom>
          <a:noFill/>
          <a:ln w="25400">
            <a:solidFill>
              <a:srgbClr val="22303A"/>
            </a:solidFill>
            <a:tailEnd type="arrow"/>
          </a:ln>
        </p:spPr>
      </p:sp>
      <p:sp>
        <p:nvSpPr>
          <p:cNvPr id="16" name="g2-li"/>
          <p:cNvSpPr txBox="1"/>
          <p:nvPr/>
        </p:nvSpPr>
        <p:spPr>
          <a:xfrm>
            <a:off x="4521200" y="1930400"/>
            <a:ext cx="254000" cy="203200"/>
          </a:xfrm>
          <a:prstGeom prst="rect">
            <a:avLst/>
          </a:prstGeom>
          <a:noFill/>
          <a:ln>
            <a:noFill/>
          </a:ln>
        </p:spPr>
        <p:txBody>
          <a:bodyPr lIns="0" rIns="0" tIns="0" bIns="0" wrap="none" rtlCol="0"/>
          <a:lstStyle/>
          <a:p>
            <a:pPr>
              <a:lnSpc>
                <a:spcPct val="120000"/>
              </a:lnSpc>
            </a:pPr>
            <a:r>
              <a:rPr lang="en-US" sz="1300" noProof="1" b="1">
                <a:solidFill>
                  <a:srgbClr val="22303A"/>
                </a:solidFill>
                <a:latin typeface="MiSans"/>
                <a:ea typeface="MiSans"/>
              </a:rPr>
              <a:t>I</a:t>
            </a:r>
            <a:endParaRPr lang="en-US" sz="1300" noProof="1"/>
          </a:p>
        </p:txBody>
      </p:sp>
      <p:sp>
        <p:nvSpPr>
          <p:cNvPr id="17" name="g2-lv"/>
          <p:cNvSpPr txBox="1"/>
          <p:nvPr/>
        </p:nvSpPr>
        <p:spPr>
          <a:xfrm>
            <a:off x="7416800" y="4089400"/>
            <a:ext cx="254000" cy="203200"/>
          </a:xfrm>
          <a:prstGeom prst="rect">
            <a:avLst/>
          </a:prstGeom>
          <a:noFill/>
          <a:ln>
            <a:noFill/>
          </a:ln>
        </p:spPr>
        <p:txBody>
          <a:bodyPr lIns="0" rIns="0" tIns="0" bIns="0" wrap="none" rtlCol="0"/>
          <a:lstStyle/>
          <a:p>
            <a:pPr>
              <a:lnSpc>
                <a:spcPct val="120000"/>
              </a:lnSpc>
            </a:pPr>
            <a:r>
              <a:rPr lang="en-US" sz="1300" noProof="1" b="1">
                <a:solidFill>
                  <a:srgbClr val="22303A"/>
                </a:solidFill>
                <a:latin typeface="MiSans"/>
                <a:ea typeface="MiSans"/>
              </a:rPr>
              <a:t>V</a:t>
            </a:r>
            <a:endParaRPr lang="en-US" sz="1300" noProof="1"/>
          </a:p>
        </p:txBody>
      </p:sp>
      <p:sp>
        <p:nvSpPr>
          <p:cNvPr id="18" name="g2-curve"/>
          <p:cNvSpPr/>
          <p:nvPr>
            <p:extLst>
              <p:ext uri="{F5677B7D-0D2A-4D9B-9A5C-6D8D7D0E5A5D}">
                <pptd:line encoding="base64url">eyJ2aWV3Qm94IjpbMTkwLDE0Nl0sInBvaW50cyI6IjAsMTQ0IDcwLDE0MiAxMTAsMTM4IDE0NSwxMjAgMTY4LDg2IDE4MiwzOCAxOTAsMCIsImN1cnZlIjoic2hhcnAifQ</pptd:line>
              </p:ext>
            </p:extLst>
          </p:nvPr>
        </p:nvSpPr>
        <p:spPr>
          <a:xfrm>
            <a:off x="4851400" y="2133600"/>
            <a:ext cx="2413000" cy="1854200"/>
          </a:xfrm>
          <a:custGeom>
            <a:avLst/>
            <a:gdLst/>
            <a:ahLst/>
            <a:cxnLst/>
            <a:rect l="l" t="t" r="r" b="b"/>
            <a:pathLst>
              <a:path w="190" h="146">
                <a:moveTo>
                  <a:pt x="0" y="144"/>
                </a:moveTo>
                <a:lnTo>
                  <a:pt x="70" y="142"/>
                </a:lnTo>
                <a:lnTo>
                  <a:pt x="110" y="138"/>
                </a:lnTo>
                <a:lnTo>
                  <a:pt x="145" y="120"/>
                </a:lnTo>
                <a:lnTo>
                  <a:pt x="168" y="86"/>
                </a:lnTo>
                <a:lnTo>
                  <a:pt x="182" y="38"/>
                </a:lnTo>
                <a:lnTo>
                  <a:pt x="190" y="0"/>
                </a:lnTo>
              </a:path>
            </a:pathLst>
          </a:custGeom>
          <a:noFill/>
          <a:ln w="38100">
            <a:solidFill>
              <a:srgbClr val="0E5A55"/>
            </a:solidFill>
          </a:ln>
        </p:spPr>
      </p:sp>
      <p:sp>
        <p:nvSpPr>
          <p:cNvPr id="19" name="g2-th"/>
          <p:cNvSpPr txBox="1"/>
          <p:nvPr/>
        </p:nvSpPr>
        <p:spPr>
          <a:xfrm>
            <a:off x="5740400" y="3759200"/>
            <a:ext cx="1524000" cy="203200"/>
          </a:xfrm>
          <a:prstGeom prst="rect">
            <a:avLst/>
          </a:prstGeom>
          <a:solidFill>
            <a:srgbClr val="FAF8F4"/>
          </a:solidFill>
          <a:ln>
            <a:noFill/>
          </a:ln>
        </p:spPr>
        <p:txBody>
          <a:bodyPr lIns="0" rIns="0" tIns="0" bIns="0" wrap="none" rtlCol="0"/>
          <a:lstStyle/>
          <a:p>
            <a:pPr>
              <a:lnSpc>
                <a:spcPct val="120000"/>
              </a:lnSpc>
            </a:pPr>
            <a:r>
              <a:rPr lang="en-US" sz="1100" noProof="1" b="1">
                <a:solidFill>
                  <a:srgbClr val="C96F16"/>
                </a:solidFill>
                <a:latin typeface="MiSans"/>
                <a:ea typeface="MiSans"/>
              </a:rPr>
              <a:t>阈值电压 threshold</a:t>
            </a:r>
            <a:endParaRPr lang="en-US" sz="1100" noProof="1"/>
          </a:p>
        </p:txBody>
      </p:sp>
      <p:sp>
        <p:nvSpPr>
          <p:cNvPr id="20" name="g2-cap"/>
          <p:cNvSpPr txBox="1"/>
          <p:nvPr/>
        </p:nvSpPr>
        <p:spPr>
          <a:xfrm>
            <a:off x="4445000" y="4368800"/>
            <a:ext cx="3302000" cy="609600"/>
          </a:xfrm>
          <a:prstGeom prst="rect">
            <a:avLst/>
          </a:prstGeom>
          <a:noFill/>
          <a:ln>
            <a:noFill/>
          </a:ln>
        </p:spPr>
        <p:txBody>
          <a:bodyPr lIns="0" rIns="0" tIns="0" bIns="0" wrap="square" rtlCol="0"/>
          <a:lstStyle/>
          <a:p>
            <a:pPr>
              <a:lnSpc>
                <a:spcPct val="140000"/>
              </a:lnSpc>
            </a:pPr>
            <a:r>
              <a:rPr lang="en-US" sz="1100" noProof="1">
                <a:solidFill>
                  <a:srgbClr val="6E6A62"/>
                </a:solidFill>
                <a:latin typeface="MiSans"/>
                <a:ea typeface="MiSans"/>
              </a:rPr>
              <a:t>正向超过阈值电压后电流骤升；反向（左段）几乎无电流——单向导电。</a:t>
            </a:r>
            <a:endParaRPr lang="en-US" sz="1100" noProof="1"/>
          </a:p>
        </p:txBody>
      </p:sp>
      <p:sp>
        <p:nvSpPr>
          <p:cNvPr id="21" name="g3-title"/>
          <p:cNvSpPr txBox="1"/>
          <p:nvPr/>
        </p:nvSpPr>
        <p:spPr>
          <a:xfrm>
            <a:off x="8128000" y="1625600"/>
            <a:ext cx="3302000" cy="279400"/>
          </a:xfrm>
          <a:prstGeom prst="rect">
            <a:avLst/>
          </a:prstGeom>
          <a:noFill/>
          <a:ln>
            <a:noFill/>
          </a:ln>
        </p:spPr>
        <p:txBody>
          <a:bodyPr lIns="0" rIns="0" tIns="0" bIns="0" wrap="none" rtlCol="0"/>
          <a:lstStyle/>
          <a:p>
            <a:pPr>
              <a:lnSpc>
                <a:spcPct val="120000"/>
              </a:lnSpc>
            </a:pPr>
            <a:r>
              <a:rPr lang="en-US" sz="1500" noProof="1" b="1">
                <a:solidFill>
                  <a:srgbClr val="0E5A55"/>
                </a:solidFill>
                <a:latin typeface="MiSans"/>
                <a:ea typeface="MiSans"/>
              </a:rPr>
              <a:t>③ 灯丝 Filament lamp</a:t>
            </a:r>
            <a:endParaRPr lang="en-US" sz="1500" noProof="1"/>
          </a:p>
        </p:txBody>
      </p:sp>
      <p:sp>
        <p:nvSpPr>
          <p:cNvPr id="22" name="g3-ay"/>
          <p:cNvSpPr/>
          <p:nvPr>
            <p:extLst>
              <p:ext uri="{F5677B7D-0D2A-4D9B-9A5C-6D8D7D0E5A5D}">
                <pptd:line encoding="base64url">eyJ2aWV3Qm94IjpbNCwxNjhdLCJwb2ludHMiOiIyLDE2OCAyLDAiLCJjdXJ2ZSI6InNoYXJwIn0</pptd:line>
              </p:ext>
            </p:extLst>
          </p:nvPr>
        </p:nvSpPr>
        <p:spPr>
          <a:xfrm>
            <a:off x="8509000" y="1930400"/>
            <a:ext cx="50800" cy="2133600"/>
          </a:xfrm>
          <a:custGeom>
            <a:avLst/>
            <a:gdLst/>
            <a:ahLst/>
            <a:cxnLst/>
            <a:rect l="l" t="t" r="r" b="b"/>
            <a:pathLst>
              <a:path w="4" h="168">
                <a:moveTo>
                  <a:pt x="2" y="168"/>
                </a:moveTo>
                <a:lnTo>
                  <a:pt x="2" y="0"/>
                </a:lnTo>
              </a:path>
            </a:pathLst>
          </a:custGeom>
          <a:noFill/>
          <a:ln w="25400">
            <a:solidFill>
              <a:srgbClr val="22303A"/>
            </a:solidFill>
            <a:tailEnd type="arrow"/>
          </a:ln>
        </p:spPr>
      </p:sp>
      <p:sp>
        <p:nvSpPr>
          <p:cNvPr id="23" name="g3-ax"/>
          <p:cNvSpPr/>
          <p:nvPr>
            <p:extLst>
              <p:ext uri="{F5677B7D-0D2A-4D9B-9A5C-6D8D7D0E5A5D}">
                <pptd:line encoding="base64url">eyJ2aWV3Qm94IjpbMjAwLDRdLCJwb2ludHMiOiIwLDIgMjAwLDIiLCJjdXJ2ZSI6InNoYXJwIn0</pptd:line>
              </p:ext>
            </p:extLst>
          </p:nvPr>
        </p:nvSpPr>
        <p:spPr>
          <a:xfrm>
            <a:off x="8509000" y="4013200"/>
            <a:ext cx="2540000" cy="50800"/>
          </a:xfrm>
          <a:custGeom>
            <a:avLst/>
            <a:gdLst/>
            <a:ahLst/>
            <a:cxnLst/>
            <a:rect l="l" t="t" r="r" b="b"/>
            <a:pathLst>
              <a:path w="200" h="4">
                <a:moveTo>
                  <a:pt x="0" y="2"/>
                </a:moveTo>
                <a:lnTo>
                  <a:pt x="200" y="2"/>
                </a:lnTo>
              </a:path>
            </a:pathLst>
          </a:custGeom>
          <a:noFill/>
          <a:ln w="25400">
            <a:solidFill>
              <a:srgbClr val="22303A"/>
            </a:solidFill>
            <a:tailEnd type="arrow"/>
          </a:ln>
        </p:spPr>
      </p:sp>
      <p:sp>
        <p:nvSpPr>
          <p:cNvPr id="24" name="g3-li"/>
          <p:cNvSpPr txBox="1"/>
          <p:nvPr/>
        </p:nvSpPr>
        <p:spPr>
          <a:xfrm>
            <a:off x="8204200" y="1930400"/>
            <a:ext cx="254000" cy="203200"/>
          </a:xfrm>
          <a:prstGeom prst="rect">
            <a:avLst/>
          </a:prstGeom>
          <a:noFill/>
          <a:ln>
            <a:noFill/>
          </a:ln>
        </p:spPr>
        <p:txBody>
          <a:bodyPr lIns="0" rIns="0" tIns="0" bIns="0" wrap="none" rtlCol="0"/>
          <a:lstStyle/>
          <a:p>
            <a:pPr>
              <a:lnSpc>
                <a:spcPct val="120000"/>
              </a:lnSpc>
            </a:pPr>
            <a:r>
              <a:rPr lang="en-US" sz="1300" noProof="1" b="1">
                <a:solidFill>
                  <a:srgbClr val="22303A"/>
                </a:solidFill>
                <a:latin typeface="MiSans"/>
                <a:ea typeface="MiSans"/>
              </a:rPr>
              <a:t>I</a:t>
            </a:r>
            <a:endParaRPr lang="en-US" sz="1300" noProof="1"/>
          </a:p>
        </p:txBody>
      </p:sp>
      <p:sp>
        <p:nvSpPr>
          <p:cNvPr id="25" name="g3-lv"/>
          <p:cNvSpPr txBox="1"/>
          <p:nvPr/>
        </p:nvSpPr>
        <p:spPr>
          <a:xfrm>
            <a:off x="11099800" y="4089400"/>
            <a:ext cx="254000" cy="203200"/>
          </a:xfrm>
          <a:prstGeom prst="rect">
            <a:avLst/>
          </a:prstGeom>
          <a:noFill/>
          <a:ln>
            <a:noFill/>
          </a:ln>
        </p:spPr>
        <p:txBody>
          <a:bodyPr lIns="0" rIns="0" tIns="0" bIns="0" wrap="none" rtlCol="0"/>
          <a:lstStyle/>
          <a:p>
            <a:pPr>
              <a:lnSpc>
                <a:spcPct val="120000"/>
              </a:lnSpc>
            </a:pPr>
            <a:r>
              <a:rPr lang="en-US" sz="1300" noProof="1" b="1">
                <a:solidFill>
                  <a:srgbClr val="22303A"/>
                </a:solidFill>
                <a:latin typeface="MiSans"/>
                <a:ea typeface="MiSans"/>
              </a:rPr>
              <a:t>V</a:t>
            </a:r>
            <a:endParaRPr lang="en-US" sz="1300" noProof="1"/>
          </a:p>
        </p:txBody>
      </p:sp>
      <p:sp>
        <p:nvSpPr>
          <p:cNvPr id="26" name="g3-curve"/>
          <p:cNvSpPr/>
          <p:nvPr>
            <p:extLst>
              <p:ext uri="{F5677B7D-0D2A-4D9B-9A5C-6D8D7D0E5A5D}">
                <pptd:line encoding="base64url">eyJ2aWV3Qm94IjpbMTkwLDE0Nl0sInBvaW50cyI6IjAsMTQ2IDI1LDk0IDU1LDU2IDk1LDMwIDE0MCwxNCAxOTAsNiIsImN1cnZlIjoic2hhcnAifQ</pptd:line>
              </p:ext>
            </p:extLst>
          </p:nvPr>
        </p:nvSpPr>
        <p:spPr>
          <a:xfrm>
            <a:off x="8534400" y="2133600"/>
            <a:ext cx="2413000" cy="1854200"/>
          </a:xfrm>
          <a:custGeom>
            <a:avLst/>
            <a:gdLst/>
            <a:ahLst/>
            <a:cxnLst/>
            <a:rect l="l" t="t" r="r" b="b"/>
            <a:pathLst>
              <a:path w="190" h="146">
                <a:moveTo>
                  <a:pt x="0" y="146"/>
                </a:moveTo>
                <a:lnTo>
                  <a:pt x="25" y="94"/>
                </a:lnTo>
                <a:lnTo>
                  <a:pt x="55" y="56"/>
                </a:lnTo>
                <a:lnTo>
                  <a:pt x="95" y="30"/>
                </a:lnTo>
                <a:lnTo>
                  <a:pt x="140" y="14"/>
                </a:lnTo>
                <a:lnTo>
                  <a:pt x="190" y="6"/>
                </a:lnTo>
              </a:path>
            </a:pathLst>
          </a:custGeom>
          <a:noFill/>
          <a:ln w="38100">
            <a:solidFill>
              <a:srgbClr val="0E5A55"/>
            </a:solidFill>
          </a:ln>
        </p:spPr>
      </p:sp>
      <p:sp>
        <p:nvSpPr>
          <p:cNvPr id="27" name="g3-cap"/>
          <p:cNvSpPr txBox="1"/>
          <p:nvPr/>
        </p:nvSpPr>
        <p:spPr>
          <a:xfrm>
            <a:off x="8128000" y="4368800"/>
            <a:ext cx="3302000" cy="609600"/>
          </a:xfrm>
          <a:prstGeom prst="rect">
            <a:avLst/>
          </a:prstGeom>
          <a:noFill/>
          <a:ln>
            <a:noFill/>
          </a:ln>
        </p:spPr>
        <p:txBody>
          <a:bodyPr lIns="0" rIns="0" tIns="0" bIns="0" wrap="square" rtlCol="0"/>
          <a:lstStyle/>
          <a:p>
            <a:pPr>
              <a:lnSpc>
                <a:spcPct val="140000"/>
              </a:lnSpc>
            </a:pPr>
            <a:r>
              <a:rPr lang="en-US" sz="1100" noProof="1">
                <a:solidFill>
                  <a:srgbClr val="6E6A62"/>
                </a:solidFill>
                <a:latin typeface="MiSans"/>
                <a:ea typeface="MiSans"/>
              </a:rPr>
              <a:t>电压大 → 灯丝发热 → R 增大 → 曲线变平（斜率减小）。非欧姆元件。</a:t>
            </a:r>
            <a:endParaRPr lang="en-US" sz="1100" noProof="1"/>
          </a:p>
        </p:txBody>
      </p:sp>
      <p:sp>
        <p:nvSpPr>
          <p:cNvPr id="28" name="key-box"/>
          <p:cNvSpPr/>
          <p:nvPr/>
        </p:nvSpPr>
        <p:spPr>
          <a:xfrm>
            <a:off x="762000" y="5130800"/>
            <a:ext cx="10668000" cy="1066800"/>
          </a:xfrm>
          <a:prstGeom prst="rect">
            <a:avLst/>
          </a:prstGeom>
          <a:solidFill>
            <a:srgbClr val="EFE9DF"/>
          </a:solidFill>
          <a:ln>
            <a:noFill/>
          </a:ln>
        </p:spPr>
      </p:sp>
      <p:sp>
        <p:nvSpPr>
          <p:cNvPr id="29" name="key-text"/>
          <p:cNvSpPr txBox="1"/>
          <p:nvPr/>
        </p:nvSpPr>
        <p:spPr>
          <a:xfrm>
            <a:off x="965200" y="5257800"/>
            <a:ext cx="10261600" cy="812800"/>
          </a:xfrm>
          <a:prstGeom prst="rect">
            <a:avLst/>
          </a:prstGeom>
          <a:noFill/>
          <a:ln>
            <a:noFill/>
          </a:ln>
        </p:spPr>
        <p:txBody>
          <a:bodyPr lIns="0" rIns="0" tIns="0" bIns="0" wrap="square" rtlCol="0" anchor="ctr"/>
          <a:lstStyle/>
          <a:p>
            <a:pPr algn="l">
              <a:lnSpc>
                <a:spcPct val="155000"/>
              </a:lnSpc>
            </a:pPr>
            <a:r>
              <a:rPr lang="en-US" sz="1300" noProof="1" b="1">
                <a:solidFill>
                  <a:srgbClr val="C96F16"/>
                </a:solidFill>
                <a:latin typeface="MiSans"/>
                <a:ea typeface="MiSans"/>
              </a:rPr>
              <a:t>关键提醒：</a:t>
            </a:r>
            <a:r>
              <a:rPr lang="en-US" sz="1300" noProof="1">
                <a:solidFill>
                  <a:srgbClr val="22303A"/>
                </a:solidFill>
                <a:latin typeface="MiSans"/>
                <a:ea typeface="MiSans"/>
              </a:rPr>
              <a:t>I-V 图的斜率 = </a:t>
            </a:r>
            <a:r>
              <a:rPr lang="en-US" sz="1300" noProof="1" b="1">
                <a:solidFill>
                  <a:srgbClr val="22303A"/>
                </a:solidFill>
                <a:latin typeface="MiSans"/>
                <a:ea typeface="MiSans"/>
              </a:rPr>
              <a:t>1/R</a:t>
            </a:r>
            <a:r>
              <a:rPr lang="en-US" sz="1300" noProof="1">
                <a:solidFill>
                  <a:srgbClr val="22303A"/>
                </a:solidFill>
                <a:latin typeface="MiSans"/>
                <a:ea typeface="MiSans"/>
              </a:rPr>
              <a:t>（不是 R！）。斜率变小 ⇔ 电阻变大。</a:t>
            </a:r>
            <a:endParaRPr lang="en-US" sz="1300" noProof="1"/>
          </a:p>
          <a:p>
            <a:pPr algn="l">
              <a:lnSpc>
                <a:spcPct val="155000"/>
              </a:lnSpc>
            </a:pPr>
            <a:r>
              <a:rPr lang="en-US" sz="1300" noProof="1">
                <a:solidFill>
                  <a:srgbClr val="22303A"/>
                </a:solidFill>
                <a:latin typeface="MiSans"/>
                <a:ea typeface="MiSans"/>
              </a:rPr>
              <a:t>描述题模板：形状（直线/弯曲）→ 是否过原点 → 随 V 增大 R 怎么变 → 用发热或载流子机理解释。</a:t>
            </a:r>
            <a:endParaRPr lang="en-US" sz="1300" noProof="1"/>
          </a:p>
        </p:txBody>
      </p:sp>
      <p:sp>
        <p:nvSpPr>
          <p:cNvPr id="30" name="footer-rule"/>
          <p:cNvSpPr/>
          <p:nvPr/>
        </p:nvSpPr>
        <p:spPr>
          <a:xfrm>
            <a:off x="762000" y="6451600"/>
            <a:ext cx="10668000" cy="12700"/>
          </a:xfrm>
          <a:prstGeom prst="rect">
            <a:avLst/>
          </a:prstGeom>
          <a:solidFill>
            <a:srgbClr val="D8D2C8"/>
          </a:solidFill>
          <a:ln>
            <a:noFill/>
          </a:ln>
        </p:spPr>
      </p:sp>
      <p:sp>
        <p:nvSpPr>
          <p:cNvPr id="31" name="footer-left"/>
          <p:cNvSpPr txBox="1"/>
          <p:nvPr/>
        </p:nvSpPr>
        <p:spPr>
          <a:xfrm>
            <a:off x="762000" y="6553200"/>
            <a:ext cx="5080000" cy="203200"/>
          </a:xfrm>
          <a:prstGeom prst="rect">
            <a:avLst/>
          </a:prstGeom>
          <a:noFill/>
          <a:ln>
            <a:noFill/>
          </a:ln>
        </p:spPr>
        <p:txBody>
          <a:bodyPr lIns="0" rIns="0" tIns="0" bIns="0" wrap="none" rtlCol="0"/>
          <a:lstStyle/>
          <a:p>
            <a:pPr>
              <a:lnSpc>
                <a:spcPct val="120000"/>
              </a:lnSpc>
            </a:pPr>
            <a:r>
              <a:rPr lang="en-US" sz="1000" noProof="1">
                <a:solidFill>
                  <a:srgbClr val="6E6A62"/>
                </a:solidFill>
                <a:latin typeface="MiSans"/>
                <a:ea typeface="MiSans"/>
              </a:rPr>
              <a:t>CIE A-Level Physics 9702 · Topic 9 电学</a:t>
            </a:r>
            <a:endParaRPr lang="en-US" sz="1000" noProof="1"/>
          </a:p>
        </p:txBody>
      </p:sp>
      <p:sp>
        <p:nvSpPr>
          <p:cNvPr id="32" name="page-num"/>
          <p:cNvSpPr txBox="1"/>
          <p:nvPr/>
        </p:nvSpPr>
        <p:spPr>
          <a:xfrm>
            <a:off x="10922000" y="6553200"/>
            <a:ext cx="508000" cy="203200"/>
          </a:xfrm>
          <a:prstGeom prst="rect">
            <a:avLst/>
          </a:prstGeom>
          <a:noFill/>
          <a:ln>
            <a:noFill/>
          </a:ln>
        </p:spPr>
        <p:txBody>
          <a:bodyPr lIns="0" rIns="0" tIns="0" bIns="0" wrap="none" rtlCol="0" anchor="t"/>
          <a:lstStyle/>
          <a:p>
            <a:pPr algn="r">
              <a:lnSpc>
                <a:spcPct val="120000"/>
              </a:lnSpc>
            </a:pPr>
            <a:r>
              <a:rPr lang="en-US" sz="1000" noProof="1">
                <a:solidFill>
                  <a:srgbClr val="6E6A62"/>
                </a:solidFill>
                <a:latin typeface="MiSans"/>
                <a:ea typeface="MiSans"/>
              </a:rPr>
              <a:t>06</a:t>
            </a:r>
            <a:endParaRPr lang="en-US" sz="1000" noProof="1"/>
          </a:p>
        </p:txBody>
      </p:sp>
    </p:spTree>
  </p:cSld>
  <p:clrMapOvr>
    <a:masterClrMapping/>
  </p:clrMapOvr>
</p:sld>
</file>

<file path=ppt/slides/slide7.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8F4"/>
        </a:solidFill>
      </p:bgPr>
    </p:bg>
    <p:spTree>
      <p:nvGrpSpPr>
        <p:cNvPr id="1" name=""/>
        <p:cNvGrpSpPr/>
        <p:nvPr/>
      </p:nvGrpSpPr>
      <p:grpSpPr>
        <a:xfrm>
          <a:off x="0" y="0"/>
          <a:ext cx="0" cy="0"/>
          <a:chOff x="0" y="0"/>
          <a:chExt cx="0" cy="0"/>
        </a:xfrm>
      </p:grpSpPr>
      <p:sp>
        <p:nvSpPr>
          <p:cNvPr id="2" name="kicker"/>
          <p:cNvSpPr txBox="1"/>
          <p:nvPr/>
        </p:nvSpPr>
        <p:spPr>
          <a:xfrm>
            <a:off x="762000" y="330200"/>
            <a:ext cx="6350000" cy="203200"/>
          </a:xfrm>
          <a:prstGeom prst="rect">
            <a:avLst/>
          </a:prstGeom>
          <a:noFill/>
          <a:ln>
            <a:noFill/>
          </a:ln>
        </p:spPr>
        <p:txBody>
          <a:bodyPr lIns="0" rIns="0" tIns="0" bIns="0" wrap="none" rtlCol="0"/>
          <a:lstStyle/>
          <a:p>
            <a:pPr>
              <a:lnSpc>
                <a:spcPct val="120000"/>
              </a:lnSpc>
            </a:pPr>
            <a:r>
              <a:rPr lang="en-US" sz="1100" noProof="1" b="1" spc="200" kern="0">
                <a:solidFill>
                  <a:srgbClr val="0E5A55"/>
                </a:solidFill>
                <a:latin typeface="MiSans"/>
                <a:ea typeface="MiSans"/>
              </a:rPr>
              <a:t>9.3 · RESISTANCE AND IDEAL METERS</a:t>
            </a:r>
            <a:endParaRPr lang="en-US" sz="1100" noProof="1"/>
          </a:p>
        </p:txBody>
      </p:sp>
      <p:sp>
        <p:nvSpPr>
          <p:cNvPr id="3" name="title"/>
          <p:cNvSpPr txBox="1"/>
          <p:nvPr/>
        </p:nvSpPr>
        <p:spPr>
          <a:xfrm>
            <a:off x="762000" y="584200"/>
            <a:ext cx="10668000" cy="457200"/>
          </a:xfrm>
          <a:prstGeom prst="rect">
            <a:avLst/>
          </a:prstGeom>
          <a:noFill/>
          <a:ln>
            <a:noFill/>
          </a:ln>
        </p:spPr>
        <p:txBody>
          <a:bodyPr lIns="0" rIns="0" tIns="0" bIns="0" wrap="none" rtlCol="0"/>
          <a:lstStyle/>
          <a:p>
            <a:pPr>
              <a:lnSpc>
                <a:spcPct val="120000"/>
              </a:lnSpc>
            </a:pPr>
            <a:r>
              <a:rPr lang="en-US" sz="2600" noProof="1" b="1">
                <a:solidFill>
                  <a:srgbClr val="22303A"/>
                </a:solidFill>
                <a:latin typeface="MiSans"/>
                <a:ea typeface="MiSans"/>
              </a:rPr>
              <a:t>电阻的定义式与理想电表</a:t>
            </a:r>
            <a:endParaRPr lang="en-US" sz="2600" noProof="1"/>
          </a:p>
        </p:txBody>
      </p:sp>
      <p:sp>
        <p:nvSpPr>
          <p:cNvPr id="4" name="title-en"/>
          <p:cNvSpPr txBox="1"/>
          <p:nvPr/>
        </p:nvSpPr>
        <p:spPr>
          <a:xfrm>
            <a:off x="762000" y="1066800"/>
            <a:ext cx="10668000" cy="254000"/>
          </a:xfrm>
          <a:prstGeom prst="rect">
            <a:avLst/>
          </a:prstGeom>
          <a:noFill/>
          <a:ln>
            <a:noFill/>
          </a:ln>
        </p:spPr>
        <p:txBody>
          <a:bodyPr lIns="0" rIns="0" tIns="0" bIns="0" wrap="none" rtlCol="0"/>
          <a:lstStyle/>
          <a:p>
            <a:pPr>
              <a:lnSpc>
                <a:spcPct val="120000"/>
              </a:lnSpc>
            </a:pPr>
            <a:r>
              <a:rPr lang="en-US" sz="1300" noProof="1">
                <a:solidFill>
                  <a:srgbClr val="6E6A62"/>
                </a:solidFill>
                <a:latin typeface="MiSans"/>
                <a:ea typeface="MiSans"/>
              </a:rPr>
              <a:t>R = V/I defines resistance; Ohm's law is a special case</a:t>
            </a:r>
            <a:endParaRPr lang="en-US" sz="1300" noProof="1"/>
          </a:p>
        </p:txBody>
      </p:sp>
      <p:sp>
        <p:nvSpPr>
          <p:cNvPr id="5" name="rule-top"/>
          <p:cNvSpPr/>
          <p:nvPr/>
        </p:nvSpPr>
        <p:spPr>
          <a:xfrm>
            <a:off x="762000" y="1422400"/>
            <a:ext cx="10668000" cy="19050"/>
          </a:xfrm>
          <a:prstGeom prst="rect">
            <a:avLst/>
          </a:prstGeom>
          <a:solidFill>
            <a:srgbClr val="D8D2C8"/>
          </a:solidFill>
          <a:ln>
            <a:noFill/>
          </a:ln>
        </p:spPr>
      </p:sp>
      <p:sp>
        <p:nvSpPr>
          <p:cNvPr id="6" name="r-box"/>
          <p:cNvSpPr/>
          <p:nvPr/>
        </p:nvSpPr>
        <p:spPr>
          <a:xfrm>
            <a:off x="762000" y="1701800"/>
            <a:ext cx="5969000" cy="1270000"/>
          </a:xfrm>
          <a:prstGeom prst="rect">
            <a:avLst/>
          </a:prstGeom>
          <a:solidFill>
            <a:srgbClr val="EFE9DF"/>
          </a:solidFill>
          <a:ln>
            <a:noFill/>
          </a:ln>
        </p:spPr>
      </p:sp>
      <p:sp>
        <p:nvSpPr>
          <p:cNvPr id="7" name="r-text"/>
          <p:cNvSpPr txBox="1"/>
          <p:nvPr/>
        </p:nvSpPr>
        <p:spPr>
          <a:xfrm>
            <a:off x="965200" y="1803400"/>
            <a:ext cx="5562600" cy="1066800"/>
          </a:xfrm>
          <a:prstGeom prst="rect">
            <a:avLst/>
          </a:prstGeom>
          <a:noFill/>
          <a:ln>
            <a:noFill/>
          </a:ln>
        </p:spPr>
        <p:txBody>
          <a:bodyPr lIns="0" rIns="0" tIns="0" bIns="0" wrap="square" rtlCol="0"/>
          <a:lstStyle/>
          <a:p>
            <a:pPr>
              <a:lnSpc>
                <a:spcPct val="155000"/>
              </a:lnSpc>
            </a:pPr>
            <a:r>
              <a:rPr lang="en-US" sz="1350" noProof="1" b="1">
                <a:solidFill>
                  <a:srgbClr val="22303A"/>
                </a:solidFill>
                <a:latin typeface="MiSans"/>
                <a:ea typeface="MiSans"/>
              </a:rPr>
              <a:t>Resistance 电阻</a:t>
            </a:r>
            <a:r>
              <a:rPr lang="en-US" sz="1350" noProof="1">
                <a:solidFill>
                  <a:srgbClr val="22303A"/>
                </a:solidFill>
                <a:latin typeface="MiSans"/>
                <a:ea typeface="MiSans"/>
              </a:rPr>
              <a:t>：载流子通过元件的难易程度的度量。</a:t>
            </a:r>
            <a:endParaRPr lang="en-US" sz="1350" noProof="1"/>
          </a:p>
          <a:p>
            <a:pPr>
              <a:lnSpc>
                <a:spcPct val="155000"/>
              </a:lnSpc>
            </a:pPr>
            <a:r>
              <a:rPr lang="en-US" sz="1350" noProof="1" b="1">
                <a:solidFill>
                  <a:srgbClr val="0E5A55"/>
                </a:solidFill>
                <a:latin typeface="MiSans"/>
                <a:ea typeface="MiSans"/>
              </a:rPr>
              <a:t>R = V/I</a:t>
            </a:r>
            <a:r>
              <a:rPr lang="en-US" sz="1350" noProof="1">
                <a:solidFill>
                  <a:srgbClr val="22303A"/>
                </a:solidFill>
                <a:latin typeface="MiSans"/>
                <a:ea typeface="MiSans"/>
              </a:rPr>
              <a:t>　这是电阻的</a:t>
            </a:r>
            <a:r>
              <a:rPr lang="en-US" sz="1350" noProof="1" b="1">
                <a:solidFill>
                  <a:srgbClr val="22303A"/>
                </a:solidFill>
                <a:latin typeface="MiSans"/>
                <a:ea typeface="MiSans"/>
              </a:rPr>
              <a:t>定义式</a:t>
            </a:r>
            <a:r>
              <a:rPr lang="en-US" sz="1350" noProof="1">
                <a:solidFill>
                  <a:srgbClr val="22303A"/>
                </a:solidFill>
                <a:latin typeface="MiSans"/>
                <a:ea typeface="MiSans"/>
              </a:rPr>
              <a:t>，任何元件任何时刻都成立。</a:t>
            </a:r>
            <a:endParaRPr lang="en-US" sz="1350" noProof="1"/>
          </a:p>
          <a:p>
            <a:pPr>
              <a:lnSpc>
                <a:spcPct val="155000"/>
              </a:lnSpc>
            </a:pPr>
            <a:r>
              <a:rPr lang="en-US" sz="1150" noProof="1">
                <a:solidFill>
                  <a:srgbClr val="6E6A62"/>
                </a:solidFill>
                <a:latin typeface="MiSans"/>
                <a:ea typeface="MiSans"/>
              </a:rPr>
              <a:t>单位：欧姆 Ω。1 Ω = 1 V A</a:t>
            </a:r>
            <a:r>
              <a:rPr lang="en-US" sz="1150" noProof="1" baseline="30000">
                <a:solidFill>
                  <a:srgbClr val="6E6A62"/>
                </a:solidFill>
                <a:latin typeface="MiSans"/>
                <a:ea typeface="MiSans"/>
              </a:rPr>
              <a:t>−1</a:t>
            </a:r>
            <a:r>
              <a:rPr lang="en-US" sz="1150" noProof="1">
                <a:solidFill>
                  <a:srgbClr val="6E6A62"/>
                </a:solidFill>
                <a:latin typeface="MiSans"/>
                <a:ea typeface="MiSans"/>
              </a:rPr>
              <a:t>。</a:t>
            </a:r>
            <a:endParaRPr lang="en-US" sz="1350" noProof="1"/>
          </a:p>
        </p:txBody>
      </p:sp>
      <p:sp>
        <p:nvSpPr>
          <p:cNvPr id="8" name="ohm-text"/>
          <p:cNvSpPr txBox="1"/>
          <p:nvPr/>
        </p:nvSpPr>
        <p:spPr>
          <a:xfrm>
            <a:off x="762000" y="3175000"/>
            <a:ext cx="5969000" cy="1524000"/>
          </a:xfrm>
          <a:prstGeom prst="rect">
            <a:avLst/>
          </a:prstGeom>
          <a:noFill/>
          <a:ln>
            <a:noFill/>
          </a:ln>
        </p:spPr>
        <p:txBody>
          <a:bodyPr lIns="0" rIns="0" tIns="0" bIns="0" wrap="square" rtlCol="0"/>
          <a:lstStyle/>
          <a:p>
            <a:pPr>
              <a:lnSpc>
                <a:spcPct val="155000"/>
              </a:lnSpc>
            </a:pPr>
            <a:r>
              <a:rPr lang="en-US" sz="1350" noProof="1" b="1">
                <a:solidFill>
                  <a:srgbClr val="22303A"/>
                </a:solidFill>
                <a:latin typeface="MiSans"/>
                <a:ea typeface="MiSans"/>
              </a:rPr>
              <a:t>Ohm's law 欧姆定律</a:t>
            </a:r>
            <a:r>
              <a:rPr lang="en-US" sz="1350" noProof="1">
                <a:solidFill>
                  <a:srgbClr val="22303A"/>
                </a:solidFill>
                <a:latin typeface="MiSans"/>
                <a:ea typeface="MiSans"/>
              </a:rPr>
              <a:t>：在</a:t>
            </a:r>
            <a:r>
              <a:rPr lang="en-US" sz="1350" noProof="1" b="1">
                <a:solidFill>
                  <a:srgbClr val="22303A"/>
                </a:solidFill>
                <a:latin typeface="MiSans"/>
                <a:ea typeface="MiSans"/>
              </a:rPr>
              <a:t>物理条件（如温度）不变</a:t>
            </a:r>
            <a:r>
              <a:rPr lang="en-US" sz="1350" noProof="1">
                <a:solidFill>
                  <a:srgbClr val="22303A"/>
                </a:solidFill>
                <a:latin typeface="MiSans"/>
                <a:ea typeface="MiSans"/>
              </a:rPr>
              <a:t>时，欧姆导体的电流与电势差成正比（I ∝ V）。</a:t>
            </a:r>
            <a:endParaRPr lang="en-US" sz="1350" noProof="1"/>
          </a:p>
          <a:p>
            <a:pPr>
              <a:lnSpc>
                <a:spcPct val="155000"/>
              </a:lnSpc>
            </a:pPr>
            <a:r>
              <a:rPr lang="en-US" sz="1350" noProof="1">
                <a:solidFill>
                  <a:srgbClr val="C96F16"/>
                </a:solidFill>
                <a:latin typeface="MiSans"/>
                <a:ea typeface="MiSans"/>
              </a:rPr>
              <a:t>注意区分：</a:t>
            </a:r>
            <a:r>
              <a:rPr lang="en-US" sz="1350" noProof="1">
                <a:solidFill>
                  <a:srgbClr val="22303A"/>
                </a:solidFill>
                <a:latin typeface="MiSans"/>
                <a:ea typeface="MiSans"/>
              </a:rPr>
              <a:t>R = V/I 是定义，对灯丝、二极管也成立（算的是"那一点的比值"）；欧姆定律只在条件不变时对欧姆导体成立——两者别混为一谈。</a:t>
            </a:r>
            <a:endParaRPr lang="en-US" sz="1350" noProof="1"/>
          </a:p>
        </p:txBody>
      </p:sp>
      <p:graphicFrame>
        <p:nvGraphicFramePr>
          <p:cNvPr id="9" name="meter-table"/>
          <p:cNvGraphicFramePr>
            <a:graphicFrameLocks noGrp="1"/>
          </p:cNvGraphicFramePr>
          <p:nvPr/>
        </p:nvGraphicFramePr>
        <p:xfrm>
          <a:off x="7239000" y="1701800"/>
          <a:ext cx="4191000" cy="1905000"/>
        </p:xfrm>
        <a:graphic>
          <a:graphicData uri="http://schemas.openxmlformats.org/drawingml/2006/table">
            <a:tbl>
              <a:tblPr/>
              <a:tblGrid>
                <a:gridCol w="461010000"/>
                <a:gridCol w="922020000"/>
              </a:tblGrid>
              <a:tr h="68580000">
                <a:tc>
                  <a:txBody>
                    <a:bodyPr wrap="square" rtlCol="0" anchor="ctr"/>
                    <a:lstStyle/>
                    <a:p>
                      <a:pPr algn="l"/>
                    </a:p>
                  </a:txBody>
                  <a:tcPr marL="91440" marR="91440" marT="45720" marB="45720" anchor="ctr">
                    <a:lnL>
                      <a:noFill/>
                    </a:lnL>
                    <a:lnR>
                      <a:noFill/>
                    </a:lnR>
                    <a:lnT>
                      <a:noFill/>
                    </a:lnT>
                    <a:lnB>
                      <a:noFill/>
                    </a:lnB>
                    <a:solidFill>
                      <a:srgbClr val="0E5A55"/>
                    </a:solidFill>
                  </a:tcPr>
                </a:tc>
                <a:tc>
                  <a:txBody>
                    <a:bodyPr wrap="square" rtlCol="0" anchor="ctr"/>
                    <a:lstStyle/>
                    <a:p>
                      <a:pPr algn="l"/>
                    </a:p>
                  </a:txBody>
                  <a:tcPr marL="91440" marR="91440" marT="45720" marB="45720" anchor="ctr">
                    <a:lnL>
                      <a:noFill/>
                    </a:lnL>
                    <a:lnR>
                      <a:noFill/>
                    </a:lnR>
                    <a:lnT>
                      <a:noFill/>
                    </a:lnT>
                    <a:lnB>
                      <a:noFill/>
                    </a:lnB>
                    <a:solidFill>
                      <a:srgbClr val="0E5A55"/>
                    </a:solidFill>
                  </a:tcPr>
                </a:tc>
              </a:tr>
              <a:tr h="106680000">
                <a:tc>
                  <a:txBody>
                    <a:bodyPr wrap="square" rtlCol="0" anchor="ctr"/>
                    <a:lstStyle/>
                    <a:p>
                      <a:pPr algn="l"/>
                    </a:p>
                  </a:txBody>
                  <a:tcPr marL="91440" marR="91440" marT="45720" marB="45720" anchor="ctr">
                    <a:lnL>
                      <a:noFill/>
                    </a:lnL>
                    <a:lnR>
                      <a:noFill/>
                    </a:lnR>
                    <a:lnT>
                      <a:noFill/>
                    </a:lnT>
                    <a:lnB>
                      <a:noFill/>
                    </a:lnB>
                    <a:solidFill>
                      <a:srgbClr val="FFFFFF"/>
                    </a:solidFill>
                  </a:tcPr>
                </a:tc>
                <a:tc>
                  <a:txBody>
                    <a:bodyPr wrap="square" rtlCol="0" anchor="ctr"/>
                    <a:lstStyle/>
                    <a:p>
                      <a:pPr algn="l"/>
                    </a:p>
                  </a:txBody>
                  <a:tcPr marL="91440" marR="91440" marT="45720" marB="45720" anchor="ctr">
                    <a:lnL>
                      <a:noFill/>
                    </a:lnL>
                    <a:lnR>
                      <a:noFill/>
                    </a:lnR>
                    <a:lnT>
                      <a:noFill/>
                    </a:lnT>
                    <a:lnB>
                      <a:noFill/>
                    </a:lnB>
                    <a:solidFill>
                      <a:srgbClr val="FFFFFF"/>
                    </a:solidFill>
                  </a:tcPr>
                </a:tc>
              </a:tr>
              <a:tr h="110490000">
                <a:tc>
                  <a:txBody>
                    <a:bodyPr wrap="square" rtlCol="0" anchor="ctr"/>
                    <a:lstStyle/>
                    <a:p>
                      <a:pPr algn="l"/>
                    </a:p>
                  </a:txBody>
                  <a:tcPr marL="91440" marR="91440" marT="45720" marB="45720" anchor="ctr">
                    <a:lnL>
                      <a:noFill/>
                    </a:lnL>
                    <a:lnR>
                      <a:noFill/>
                    </a:lnR>
                    <a:lnT>
                      <a:noFill/>
                    </a:lnT>
                    <a:lnB>
                      <a:noFill/>
                    </a:lnB>
                    <a:solidFill>
                      <a:srgbClr val="EFE9DF"/>
                    </a:solidFill>
                  </a:tcPr>
                </a:tc>
                <a:tc>
                  <a:txBody>
                    <a:bodyPr wrap="square" rtlCol="0" anchor="ctr"/>
                    <a:lstStyle/>
                    <a:p>
                      <a:pPr algn="l"/>
                    </a:p>
                  </a:txBody>
                  <a:tcPr marL="91440" marR="91440" marT="45720" marB="45720" anchor="ctr">
                    <a:lnL>
                      <a:noFill/>
                    </a:lnL>
                    <a:lnR>
                      <a:noFill/>
                    </a:lnR>
                    <a:lnT>
                      <a:noFill/>
                    </a:lnT>
                    <a:lnB>
                      <a:noFill/>
                    </a:lnB>
                    <a:solidFill>
                      <a:srgbClr val="EFE9DF"/>
                    </a:solidFill>
                  </a:tcPr>
                </a:tc>
              </a:tr>
            </a:tbl>
          </a:graphicData>
        </a:graphic>
      </p:graphicFrame>
      <p:sp>
        <p:nvSpPr>
          <p:cNvPr id="10" name="meter-note"/>
          <p:cNvSpPr/>
          <p:nvPr/>
        </p:nvSpPr>
        <p:spPr>
          <a:xfrm>
            <a:off x="7239000" y="3835400"/>
            <a:ext cx="4191000" cy="1016000"/>
          </a:xfrm>
          <a:prstGeom prst="rect">
            <a:avLst/>
          </a:prstGeom>
          <a:solidFill>
            <a:srgbClr val="EFE9DF"/>
          </a:solidFill>
          <a:ln>
            <a:noFill/>
          </a:ln>
        </p:spPr>
      </p:sp>
      <p:sp>
        <p:nvSpPr>
          <p:cNvPr id="11" name="meter-note-text"/>
          <p:cNvSpPr txBox="1"/>
          <p:nvPr/>
        </p:nvSpPr>
        <p:spPr>
          <a:xfrm>
            <a:off x="7442200" y="3937000"/>
            <a:ext cx="3784600" cy="812800"/>
          </a:xfrm>
          <a:prstGeom prst="rect">
            <a:avLst/>
          </a:prstGeom>
          <a:noFill/>
          <a:ln>
            <a:noFill/>
          </a:ln>
        </p:spPr>
        <p:txBody>
          <a:bodyPr lIns="0" rIns="0" tIns="0" bIns="0" wrap="square" rtlCol="0"/>
          <a:lstStyle/>
          <a:p>
            <a:pPr>
              <a:lnSpc>
                <a:spcPct val="150000"/>
              </a:lnSpc>
            </a:pPr>
            <a:r>
              <a:rPr lang="en-US" sz="1250" noProof="1">
                <a:solidFill>
                  <a:srgbClr val="22303A"/>
                </a:solidFill>
                <a:latin typeface="MiSans"/>
                <a:ea typeface="MiSans"/>
              </a:rPr>
              <a:t>简答题句式：理想电表</a:t>
            </a:r>
            <a:r>
              <a:rPr lang="en-US" sz="1250" noProof="1" b="1">
                <a:solidFill>
                  <a:srgbClr val="22303A"/>
                </a:solidFill>
                <a:latin typeface="MiSans"/>
                <a:ea typeface="MiSans"/>
              </a:rPr>
              <a:t>不影响被测电路</a:t>
            </a:r>
            <a:r>
              <a:rPr lang="en-US" sz="1250" noProof="1">
                <a:solidFill>
                  <a:srgbClr val="22303A"/>
                </a:solidFill>
                <a:latin typeface="MiSans"/>
                <a:ea typeface="MiSans"/>
              </a:rPr>
              <a:t>——电流表无压降、电压表无分流。</a:t>
            </a:r>
            <a:endParaRPr lang="en-US" sz="1250" noProof="1"/>
          </a:p>
        </p:txBody>
      </p:sp>
      <p:sp>
        <p:nvSpPr>
          <p:cNvPr id="12" name="sum-box"/>
          <p:cNvSpPr/>
          <p:nvPr/>
        </p:nvSpPr>
        <p:spPr>
          <a:xfrm>
            <a:off x="762000" y="5130800"/>
            <a:ext cx="10668000" cy="1066800"/>
          </a:xfrm>
          <a:prstGeom prst="rect">
            <a:avLst/>
          </a:prstGeom>
          <a:solidFill>
            <a:srgbClr val="FFFFFF"/>
          </a:solidFill>
          <a:ln>
            <a:noFill/>
          </a:ln>
        </p:spPr>
      </p:sp>
      <p:sp>
        <p:nvSpPr>
          <p:cNvPr id="13" name="sum-head"/>
          <p:cNvSpPr txBox="1"/>
          <p:nvPr/>
        </p:nvSpPr>
        <p:spPr>
          <a:xfrm>
            <a:off x="965200" y="5257800"/>
            <a:ext cx="5080000" cy="279400"/>
          </a:xfrm>
          <a:prstGeom prst="rect">
            <a:avLst/>
          </a:prstGeom>
          <a:noFill/>
          <a:ln>
            <a:noFill/>
          </a:ln>
        </p:spPr>
        <p:txBody>
          <a:bodyPr lIns="0" rIns="0" tIns="0" bIns="0" wrap="none" rtlCol="0"/>
          <a:lstStyle/>
          <a:p>
            <a:pPr>
              <a:lnSpc>
                <a:spcPct val="120000"/>
              </a:lnSpc>
            </a:pPr>
            <a:r>
              <a:rPr lang="en-US" sz="1500" noProof="1" b="1">
                <a:solidFill>
                  <a:srgbClr val="0E5A55"/>
                </a:solidFill>
                <a:latin typeface="MiSans"/>
                <a:ea typeface="MiSans"/>
              </a:rPr>
              <a:t>一页记住三个"定义 vs 定律"</a:t>
            </a:r>
            <a:endParaRPr lang="en-US" sz="1500" noProof="1"/>
          </a:p>
        </p:txBody>
      </p:sp>
      <p:sp>
        <p:nvSpPr>
          <p:cNvPr id="14" name="sum-text"/>
          <p:cNvSpPr txBox="1"/>
          <p:nvPr/>
        </p:nvSpPr>
        <p:spPr>
          <a:xfrm>
            <a:off x="965200" y="5588000"/>
            <a:ext cx="10261600" cy="533400"/>
          </a:xfrm>
          <a:prstGeom prst="rect">
            <a:avLst/>
          </a:prstGeom>
          <a:noFill/>
          <a:ln>
            <a:noFill/>
          </a:ln>
        </p:spPr>
        <p:txBody>
          <a:bodyPr lIns="0" rIns="0" tIns="0" bIns="0" wrap="square" rtlCol="0"/>
          <a:lstStyle/>
          <a:p>
            <a:pPr>
              <a:lnSpc>
                <a:spcPct val="150000"/>
              </a:lnSpc>
            </a:pPr>
            <a:r>
              <a:rPr lang="en-US" sz="1250" noProof="1">
                <a:solidFill>
                  <a:srgbClr val="22303A"/>
                </a:solidFill>
                <a:latin typeface="MiSans"/>
                <a:ea typeface="MiSans"/>
              </a:rPr>
              <a:t>① I = Q/t 定义电流；② V = W/Q 定义电势差；③ R = V/I 定义电阻——三者都是</a:t>
            </a:r>
            <a:r>
              <a:rPr lang="en-US" sz="1250" noProof="1" b="1">
                <a:solidFill>
                  <a:srgbClr val="22303A"/>
                </a:solidFill>
                <a:latin typeface="MiSans"/>
                <a:ea typeface="MiSans"/>
              </a:rPr>
              <a:t>定义式</a:t>
            </a:r>
            <a:r>
              <a:rPr lang="en-US" sz="1250" noProof="1">
                <a:solidFill>
                  <a:srgbClr val="22303A"/>
                </a:solidFill>
                <a:latin typeface="MiSans"/>
                <a:ea typeface="MiSans"/>
              </a:rPr>
              <a:t>，永远成立；欧姆定律是有条件的</a:t>
            </a:r>
            <a:r>
              <a:rPr lang="en-US" sz="1250" noProof="1" b="1">
                <a:solidFill>
                  <a:srgbClr val="22303A"/>
                </a:solidFill>
                <a:latin typeface="MiSans"/>
                <a:ea typeface="MiSans"/>
              </a:rPr>
              <a:t>实验定律</a:t>
            </a:r>
            <a:r>
              <a:rPr lang="en-US" sz="1250" noProof="1">
                <a:solidFill>
                  <a:srgbClr val="22303A"/>
                </a:solidFill>
                <a:latin typeface="MiSans"/>
                <a:ea typeface="MiSans"/>
              </a:rPr>
              <a:t>，只适用欧姆导体。</a:t>
            </a:r>
            <a:endParaRPr lang="en-US" sz="1250" noProof="1"/>
          </a:p>
        </p:txBody>
      </p:sp>
      <p:sp>
        <p:nvSpPr>
          <p:cNvPr id="15" name="footer-rule"/>
          <p:cNvSpPr/>
          <p:nvPr/>
        </p:nvSpPr>
        <p:spPr>
          <a:xfrm>
            <a:off x="762000" y="6451600"/>
            <a:ext cx="10668000" cy="12700"/>
          </a:xfrm>
          <a:prstGeom prst="rect">
            <a:avLst/>
          </a:prstGeom>
          <a:solidFill>
            <a:srgbClr val="D8D2C8"/>
          </a:solidFill>
          <a:ln>
            <a:noFill/>
          </a:ln>
        </p:spPr>
      </p:sp>
      <p:sp>
        <p:nvSpPr>
          <p:cNvPr id="16" name="footer-left"/>
          <p:cNvSpPr txBox="1"/>
          <p:nvPr/>
        </p:nvSpPr>
        <p:spPr>
          <a:xfrm>
            <a:off x="762000" y="6553200"/>
            <a:ext cx="5080000" cy="203200"/>
          </a:xfrm>
          <a:prstGeom prst="rect">
            <a:avLst/>
          </a:prstGeom>
          <a:noFill/>
          <a:ln>
            <a:noFill/>
          </a:ln>
        </p:spPr>
        <p:txBody>
          <a:bodyPr lIns="0" rIns="0" tIns="0" bIns="0" wrap="none" rtlCol="0"/>
          <a:lstStyle/>
          <a:p>
            <a:pPr>
              <a:lnSpc>
                <a:spcPct val="120000"/>
              </a:lnSpc>
            </a:pPr>
            <a:r>
              <a:rPr lang="en-US" sz="1000" noProof="1">
                <a:solidFill>
                  <a:srgbClr val="6E6A62"/>
                </a:solidFill>
                <a:latin typeface="MiSans"/>
                <a:ea typeface="MiSans"/>
              </a:rPr>
              <a:t>CIE A-Level Physics 9702 · Topic 9 电学</a:t>
            </a:r>
            <a:endParaRPr lang="en-US" sz="1000" noProof="1"/>
          </a:p>
        </p:txBody>
      </p:sp>
      <p:sp>
        <p:nvSpPr>
          <p:cNvPr id="17" name="page-num"/>
          <p:cNvSpPr txBox="1"/>
          <p:nvPr/>
        </p:nvSpPr>
        <p:spPr>
          <a:xfrm>
            <a:off x="10922000" y="6553200"/>
            <a:ext cx="508000" cy="203200"/>
          </a:xfrm>
          <a:prstGeom prst="rect">
            <a:avLst/>
          </a:prstGeom>
          <a:noFill/>
          <a:ln>
            <a:noFill/>
          </a:ln>
        </p:spPr>
        <p:txBody>
          <a:bodyPr lIns="0" rIns="0" tIns="0" bIns="0" wrap="none" rtlCol="0" anchor="t"/>
          <a:lstStyle/>
          <a:p>
            <a:pPr algn="r">
              <a:lnSpc>
                <a:spcPct val="120000"/>
              </a:lnSpc>
            </a:pPr>
            <a:r>
              <a:rPr lang="en-US" sz="1000" noProof="1">
                <a:solidFill>
                  <a:srgbClr val="6E6A62"/>
                </a:solidFill>
                <a:latin typeface="MiSans"/>
                <a:ea typeface="MiSans"/>
              </a:rPr>
              <a:t>07</a:t>
            </a:r>
            <a:endParaRPr lang="en-US" sz="1000" noProof="1"/>
          </a:p>
        </p:txBody>
      </p:sp>
    </p:spTree>
  </p:cSld>
  <p:clrMapOvr>
    <a:masterClrMapping/>
  </p:clrMapOvr>
</p:sld>
</file>

<file path=ppt/slides/slide8.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8F4"/>
        </a:solidFill>
      </p:bgPr>
    </p:bg>
    <p:spTree>
      <p:nvGrpSpPr>
        <p:cNvPr id="1" name=""/>
        <p:cNvGrpSpPr/>
        <p:nvPr/>
      </p:nvGrpSpPr>
      <p:grpSpPr>
        <a:xfrm>
          <a:off x="0" y="0"/>
          <a:ext cx="0" cy="0"/>
          <a:chOff x="0" y="0"/>
          <a:chExt cx="0" cy="0"/>
        </a:xfrm>
      </p:grpSpPr>
      <p:sp>
        <p:nvSpPr>
          <p:cNvPr id="2" name="kicker"/>
          <p:cNvSpPr txBox="1"/>
          <p:nvPr/>
        </p:nvSpPr>
        <p:spPr>
          <a:xfrm>
            <a:off x="762000" y="330200"/>
            <a:ext cx="6350000" cy="203200"/>
          </a:xfrm>
          <a:prstGeom prst="rect">
            <a:avLst/>
          </a:prstGeom>
          <a:noFill/>
          <a:ln>
            <a:noFill/>
          </a:ln>
        </p:spPr>
        <p:txBody>
          <a:bodyPr lIns="0" rIns="0" tIns="0" bIns="0" wrap="none" rtlCol="0"/>
          <a:lstStyle/>
          <a:p>
            <a:pPr>
              <a:lnSpc>
                <a:spcPct val="120000"/>
              </a:lnSpc>
            </a:pPr>
            <a:r>
              <a:rPr lang="en-US" sz="1100" noProof="1" b="1" spc="200" kern="0">
                <a:solidFill>
                  <a:srgbClr val="0E5A55"/>
                </a:solidFill>
                <a:latin typeface="MiSans"/>
                <a:ea typeface="MiSans"/>
              </a:rPr>
              <a:t>9.3 · RESISTIVITY</a:t>
            </a:r>
            <a:endParaRPr lang="en-US" sz="1100" noProof="1"/>
          </a:p>
        </p:txBody>
      </p:sp>
      <p:sp>
        <p:nvSpPr>
          <p:cNvPr id="3" name="title"/>
          <p:cNvSpPr txBox="1"/>
          <p:nvPr/>
        </p:nvSpPr>
        <p:spPr>
          <a:xfrm>
            <a:off x="762000" y="584200"/>
            <a:ext cx="10668000" cy="457200"/>
          </a:xfrm>
          <a:prstGeom prst="rect">
            <a:avLst/>
          </a:prstGeom>
          <a:noFill/>
          <a:ln>
            <a:noFill/>
          </a:ln>
        </p:spPr>
        <p:txBody>
          <a:bodyPr lIns="0" rIns="0" tIns="0" bIns="0" wrap="none" rtlCol="0"/>
          <a:lstStyle/>
          <a:p>
            <a:pPr>
              <a:lnSpc>
                <a:spcPct val="120000"/>
              </a:lnSpc>
            </a:pPr>
            <a:r>
              <a:rPr lang="en-US" sz="2600" noProof="1" b="1">
                <a:solidFill>
                  <a:srgbClr val="22303A"/>
                </a:solidFill>
                <a:latin typeface="MiSans"/>
                <a:ea typeface="MiSans"/>
              </a:rPr>
              <a:t>电阻率 ρ：材料的"导电性格"</a:t>
            </a:r>
            <a:endParaRPr lang="en-US" sz="2600" noProof="1"/>
          </a:p>
        </p:txBody>
      </p:sp>
      <p:sp>
        <p:nvSpPr>
          <p:cNvPr id="4" name="title-en"/>
          <p:cNvSpPr txBox="1"/>
          <p:nvPr/>
        </p:nvSpPr>
        <p:spPr>
          <a:xfrm>
            <a:off x="762000" y="1066800"/>
            <a:ext cx="10668000" cy="254000"/>
          </a:xfrm>
          <a:prstGeom prst="rect">
            <a:avLst/>
          </a:prstGeom>
          <a:noFill/>
          <a:ln>
            <a:noFill/>
          </a:ln>
        </p:spPr>
        <p:txBody>
          <a:bodyPr lIns="0" rIns="0" tIns="0" bIns="0" wrap="none" rtlCol="0"/>
          <a:lstStyle/>
          <a:p>
            <a:pPr>
              <a:lnSpc>
                <a:spcPct val="120000"/>
              </a:lnSpc>
            </a:pPr>
            <a:r>
              <a:rPr lang="en-US" sz="1300" noProof="1">
                <a:solidFill>
                  <a:srgbClr val="6E6A62"/>
                </a:solidFill>
                <a:latin typeface="MiSans"/>
                <a:ea typeface="MiSans"/>
              </a:rPr>
              <a:t>Resistivity is a property of the material, not the object</a:t>
            </a:r>
            <a:endParaRPr lang="en-US" sz="1300" noProof="1"/>
          </a:p>
        </p:txBody>
      </p:sp>
      <p:sp>
        <p:nvSpPr>
          <p:cNvPr id="5" name="rule-top"/>
          <p:cNvSpPr/>
          <p:nvPr/>
        </p:nvSpPr>
        <p:spPr>
          <a:xfrm>
            <a:off x="762000" y="1422400"/>
            <a:ext cx="10668000" cy="19050"/>
          </a:xfrm>
          <a:prstGeom prst="rect">
            <a:avLst/>
          </a:prstGeom>
          <a:solidFill>
            <a:srgbClr val="D8D2C8"/>
          </a:solidFill>
          <a:ln>
            <a:noFill/>
          </a:ln>
        </p:spPr>
      </p:sp>
      <p:sp>
        <p:nvSpPr>
          <p:cNvPr id="6" name="formula-box"/>
          <p:cNvSpPr/>
          <p:nvPr/>
        </p:nvSpPr>
        <p:spPr>
          <a:xfrm>
            <a:off x="762000" y="1701800"/>
            <a:ext cx="5969000" cy="762000"/>
          </a:xfrm>
          <a:prstGeom prst="rect">
            <a:avLst/>
          </a:prstGeom>
          <a:solidFill>
            <a:srgbClr val="EFE9DF"/>
          </a:solidFill>
          <a:ln>
            <a:noFill/>
          </a:ln>
        </p:spPr>
      </p:sp>
      <p:sp>
        <p:nvSpPr>
          <p:cNvPr id="7" name="formula-text"/>
          <p:cNvSpPr txBox="1"/>
          <p:nvPr/>
        </p:nvSpPr>
        <p:spPr>
          <a:xfrm>
            <a:off x="965200" y="1803400"/>
            <a:ext cx="5562600" cy="558800"/>
          </a:xfrm>
          <a:prstGeom prst="rect">
            <a:avLst/>
          </a:prstGeom>
          <a:noFill/>
          <a:ln>
            <a:noFill/>
          </a:ln>
        </p:spPr>
        <p:txBody>
          <a:bodyPr lIns="0" rIns="0" tIns="0" bIns="0" wrap="none" rtlCol="0" anchor="ctr"/>
          <a:lstStyle/>
          <a:p>
            <a:pPr algn="l">
              <a:lnSpc>
                <a:spcPct val="120000"/>
              </a:lnSpc>
            </a:pPr>
            <a:r>
              <a:rPr lang="en-US" sz="1700" noProof="1" b="1">
                <a:solidFill>
                  <a:srgbClr val="0E5A55"/>
                </a:solidFill>
                <a:latin typeface="MiSans"/>
                <a:ea typeface="MiSans"/>
              </a:rPr>
              <a:t>ρ = RA / l　（单位：Ω·m）</a:t>
            </a:r>
            <a:endParaRPr lang="en-US" sz="1700" noProof="1"/>
          </a:p>
        </p:txBody>
      </p:sp>
      <p:sp>
        <p:nvSpPr>
          <p:cNvPr id="8" name="letter-body"/>
          <p:cNvSpPr txBox="1"/>
          <p:nvPr/>
        </p:nvSpPr>
        <p:spPr>
          <a:xfrm>
            <a:off x="762000" y="2641600"/>
            <a:ext cx="5969000" cy="1270000"/>
          </a:xfrm>
          <a:prstGeom prst="rect">
            <a:avLst/>
          </a:prstGeom>
          <a:noFill/>
          <a:ln>
            <a:noFill/>
          </a:ln>
        </p:spPr>
        <p:txBody>
          <a:bodyPr lIns="0" rIns="0" tIns="0" bIns="0" wrap="square" rtlCol="0"/>
          <a:lstStyle/>
          <a:p>
            <a:pPr>
              <a:lnSpc>
                <a:spcPct val="155000"/>
              </a:lnSpc>
            </a:pPr>
            <a:r>
              <a:rPr lang="en-US" sz="1350" noProof="1">
                <a:solidFill>
                  <a:srgbClr val="22303A"/>
                </a:solidFill>
                <a:latin typeface="MiSans"/>
                <a:ea typeface="MiSans"/>
              </a:rPr>
              <a:t>R：电阻（Ω）；A：横截面积（m²）；l：长度（m）。</a:t>
            </a:r>
            <a:endParaRPr lang="en-US" sz="1350" noProof="1"/>
          </a:p>
          <a:p>
            <a:pPr>
              <a:lnSpc>
                <a:spcPct val="155000"/>
              </a:lnSpc>
            </a:pPr>
            <a:r>
              <a:rPr lang="en-US" sz="1350" noProof="1">
                <a:solidFill>
                  <a:srgbClr val="22303A"/>
                </a:solidFill>
                <a:latin typeface="MiSans"/>
                <a:ea typeface="MiSans"/>
              </a:rPr>
              <a:t>物理意义：</a:t>
            </a:r>
            <a:r>
              <a:rPr lang="en-US" sz="1350" noProof="1" b="1">
                <a:solidFill>
                  <a:srgbClr val="22303A"/>
                </a:solidFill>
                <a:latin typeface="MiSans"/>
                <a:ea typeface="MiSans"/>
              </a:rPr>
              <a:t>长 1 m、横截面积 1 m²</a:t>
            </a:r>
            <a:r>
              <a:rPr lang="en-US" sz="1350" noProof="1">
                <a:solidFill>
                  <a:srgbClr val="22303A"/>
                </a:solidFill>
                <a:latin typeface="MiSans"/>
                <a:ea typeface="MiSans"/>
              </a:rPr>
              <a:t> 的该材料样品的电阻。</a:t>
            </a:r>
            <a:endParaRPr lang="en-US" sz="1350" noProof="1"/>
          </a:p>
          <a:p>
            <a:pPr>
              <a:lnSpc>
                <a:spcPct val="155000"/>
              </a:lnSpc>
            </a:pPr>
            <a:r>
              <a:rPr lang="en-US" sz="1350" noProof="1">
                <a:solidFill>
                  <a:srgbClr val="22303A"/>
                </a:solidFill>
                <a:latin typeface="MiSans"/>
                <a:ea typeface="MiSans"/>
              </a:rPr>
              <a:t>导体越长 R 越大（l ↑），线越粗 R 越小（A ↑）——与直觉一致。</a:t>
            </a:r>
            <a:endParaRPr lang="en-US" sz="1350" noProof="1"/>
          </a:p>
        </p:txBody>
      </p:sp>
      <p:graphicFrame>
        <p:nvGraphicFramePr>
          <p:cNvPr id="9" name="vs-table"/>
          <p:cNvGraphicFramePr>
            <a:graphicFrameLocks noGrp="1"/>
          </p:cNvGraphicFramePr>
          <p:nvPr/>
        </p:nvGraphicFramePr>
        <p:xfrm>
          <a:off x="762000" y="4089400"/>
          <a:ext cx="5969000" cy="1524000"/>
        </p:xfrm>
        <a:graphic>
          <a:graphicData uri="http://schemas.openxmlformats.org/drawingml/2006/table">
            <a:tbl>
              <a:tblPr/>
              <a:tblGrid>
                <a:gridCol w="835660000"/>
                <a:gridCol w="984885000"/>
                <a:gridCol w="984885000"/>
              </a:tblGrid>
              <a:tr h="51816000">
                <a:tc>
                  <a:txBody>
                    <a:bodyPr wrap="square" rtlCol="0" anchor="ctr"/>
                    <a:lstStyle/>
                    <a:p>
                      <a:pPr algn="l"/>
                    </a:p>
                  </a:txBody>
                  <a:tcPr marL="91440" marR="91440" marT="45720" marB="45720" anchor="ctr">
                    <a:lnL>
                      <a:noFill/>
                    </a:lnL>
                    <a:lnR>
                      <a:noFill/>
                    </a:lnR>
                    <a:lnT>
                      <a:noFill/>
                    </a:lnT>
                    <a:lnB>
                      <a:noFill/>
                    </a:lnB>
                    <a:solidFill>
                      <a:srgbClr val="0E5A55"/>
                    </a:solidFill>
                  </a:tcPr>
                </a:tc>
                <a:tc>
                  <a:txBody>
                    <a:bodyPr wrap="square" rtlCol="0" anchor="ctr"/>
                    <a:lstStyle/>
                    <a:p>
                      <a:pPr algn="l"/>
                    </a:p>
                  </a:txBody>
                  <a:tcPr marL="91440" marR="91440" marT="45720" marB="45720" anchor="ctr">
                    <a:lnL>
                      <a:noFill/>
                    </a:lnL>
                    <a:lnR>
                      <a:noFill/>
                    </a:lnR>
                    <a:lnT>
                      <a:noFill/>
                    </a:lnT>
                    <a:lnB>
                      <a:noFill/>
                    </a:lnB>
                    <a:solidFill>
                      <a:srgbClr val="0E5A55"/>
                    </a:solidFill>
                  </a:tcPr>
                </a:tc>
                <a:tc>
                  <a:txBody>
                    <a:bodyPr wrap="square" rtlCol="0" anchor="ctr"/>
                    <a:lstStyle/>
                    <a:p>
                      <a:pPr algn="l"/>
                    </a:p>
                  </a:txBody>
                  <a:tcPr marL="91440" marR="91440" marT="45720" marB="45720" anchor="ctr">
                    <a:lnL>
                      <a:noFill/>
                    </a:lnL>
                    <a:lnR>
                      <a:noFill/>
                    </a:lnR>
                    <a:lnT>
                      <a:noFill/>
                    </a:lnT>
                    <a:lnB>
                      <a:noFill/>
                    </a:lnB>
                    <a:solidFill>
                      <a:srgbClr val="0E5A55"/>
                    </a:solidFill>
                  </a:tcPr>
                </a:tc>
              </a:tr>
              <a:tr h="64008000">
                <a:tc>
                  <a:txBody>
                    <a:bodyPr wrap="square" rtlCol="0" anchor="ctr"/>
                    <a:lstStyle/>
                    <a:p>
                      <a:pPr algn="l"/>
                    </a:p>
                  </a:txBody>
                  <a:tcPr marL="91440" marR="91440" marT="45720" marB="45720" anchor="ctr">
                    <a:lnL>
                      <a:noFill/>
                    </a:lnL>
                    <a:lnR>
                      <a:noFill/>
                    </a:lnR>
                    <a:lnT>
                      <a:noFill/>
                    </a:lnT>
                    <a:lnB>
                      <a:noFill/>
                    </a:lnB>
                    <a:solidFill>
                      <a:srgbClr val="FFFFFF"/>
                    </a:solidFill>
                  </a:tcPr>
                </a:tc>
                <a:tc>
                  <a:txBody>
                    <a:bodyPr wrap="square" rtlCol="0" anchor="ctr"/>
                    <a:lstStyle/>
                    <a:p>
                      <a:pPr algn="l"/>
                    </a:p>
                  </a:txBody>
                  <a:tcPr marL="91440" marR="91440" marT="45720" marB="45720" anchor="ctr">
                    <a:lnL>
                      <a:noFill/>
                    </a:lnL>
                    <a:lnR>
                      <a:noFill/>
                    </a:lnR>
                    <a:lnT>
                      <a:noFill/>
                    </a:lnT>
                    <a:lnB>
                      <a:noFill/>
                    </a:lnB>
                    <a:solidFill>
                      <a:srgbClr val="FFFFFF"/>
                    </a:solidFill>
                  </a:tcPr>
                </a:tc>
                <a:tc>
                  <a:txBody>
                    <a:bodyPr wrap="square" rtlCol="0" anchor="ctr"/>
                    <a:lstStyle/>
                    <a:p>
                      <a:pPr algn="l"/>
                    </a:p>
                  </a:txBody>
                  <a:tcPr marL="91440" marR="91440" marT="45720" marB="45720" anchor="ctr">
                    <a:lnL>
                      <a:noFill/>
                    </a:lnL>
                    <a:lnR>
                      <a:noFill/>
                    </a:lnR>
                    <a:lnT>
                      <a:noFill/>
                    </a:lnT>
                    <a:lnB>
                      <a:noFill/>
                    </a:lnB>
                    <a:solidFill>
                      <a:srgbClr val="FFFFFF"/>
                    </a:solidFill>
                  </a:tcPr>
                </a:tc>
              </a:tr>
              <a:tr h="67056000">
                <a:tc>
                  <a:txBody>
                    <a:bodyPr wrap="square" rtlCol="0" anchor="ctr"/>
                    <a:lstStyle/>
                    <a:p>
                      <a:pPr algn="l"/>
                    </a:p>
                  </a:txBody>
                  <a:tcPr marL="91440" marR="91440" marT="45720" marB="45720" anchor="ctr">
                    <a:lnL>
                      <a:noFill/>
                    </a:lnL>
                    <a:lnR>
                      <a:noFill/>
                    </a:lnR>
                    <a:lnT>
                      <a:noFill/>
                    </a:lnT>
                    <a:lnB>
                      <a:noFill/>
                    </a:lnB>
                    <a:solidFill>
                      <a:srgbClr val="EFE9DF"/>
                    </a:solidFill>
                  </a:tcPr>
                </a:tc>
                <a:tc>
                  <a:txBody>
                    <a:bodyPr wrap="square" rtlCol="0" anchor="ctr"/>
                    <a:lstStyle/>
                    <a:p>
                      <a:pPr algn="l"/>
                    </a:p>
                  </a:txBody>
                  <a:tcPr marL="91440" marR="91440" marT="45720" marB="45720" anchor="ctr">
                    <a:lnL>
                      <a:noFill/>
                    </a:lnL>
                    <a:lnR>
                      <a:noFill/>
                    </a:lnR>
                    <a:lnT>
                      <a:noFill/>
                    </a:lnT>
                    <a:lnB>
                      <a:noFill/>
                    </a:lnB>
                    <a:solidFill>
                      <a:srgbClr val="EFE9DF"/>
                    </a:solidFill>
                  </a:tcPr>
                </a:tc>
                <a:tc>
                  <a:txBody>
                    <a:bodyPr wrap="square" rtlCol="0" anchor="ctr"/>
                    <a:lstStyle/>
                    <a:p>
                      <a:pPr algn="l"/>
                    </a:p>
                  </a:txBody>
                  <a:tcPr marL="91440" marR="91440" marT="45720" marB="45720" anchor="ctr">
                    <a:lnL>
                      <a:noFill/>
                    </a:lnL>
                    <a:lnR>
                      <a:noFill/>
                    </a:lnR>
                    <a:lnT>
                      <a:noFill/>
                    </a:lnT>
                    <a:lnB>
                      <a:noFill/>
                    </a:lnB>
                    <a:solidFill>
                      <a:srgbClr val="EFE9DF"/>
                    </a:solidFill>
                  </a:tcPr>
                </a:tc>
              </a:tr>
            </a:tbl>
          </a:graphicData>
        </a:graphic>
      </p:graphicFrame>
      <p:sp>
        <p:nvSpPr>
          <p:cNvPr id="10" name="ex-box"/>
          <p:cNvSpPr/>
          <p:nvPr/>
        </p:nvSpPr>
        <p:spPr>
          <a:xfrm>
            <a:off x="7239000" y="1701800"/>
            <a:ext cx="4191000" cy="2413000"/>
          </a:xfrm>
          <a:prstGeom prst="rect">
            <a:avLst/>
          </a:prstGeom>
          <a:solidFill>
            <a:srgbClr val="FFFFFF"/>
          </a:solidFill>
          <a:ln>
            <a:noFill/>
          </a:ln>
        </p:spPr>
      </p:sp>
      <p:sp>
        <p:nvSpPr>
          <p:cNvPr id="11" name="ex-head"/>
          <p:cNvSpPr txBox="1"/>
          <p:nvPr/>
        </p:nvSpPr>
        <p:spPr>
          <a:xfrm>
            <a:off x="7442200" y="1854200"/>
            <a:ext cx="3810000" cy="279400"/>
          </a:xfrm>
          <a:prstGeom prst="rect">
            <a:avLst/>
          </a:prstGeom>
          <a:noFill/>
          <a:ln>
            <a:noFill/>
          </a:ln>
        </p:spPr>
        <p:txBody>
          <a:bodyPr lIns="0" rIns="0" tIns="0" bIns="0" wrap="none" rtlCol="0"/>
          <a:lstStyle/>
          <a:p>
            <a:pPr>
              <a:lnSpc>
                <a:spcPct val="120000"/>
              </a:lnSpc>
            </a:pPr>
            <a:r>
              <a:rPr lang="en-US" sz="1500" noProof="1" b="1">
                <a:solidFill>
                  <a:srgbClr val="0E5A55"/>
                </a:solidFill>
                <a:latin typeface="MiSans"/>
                <a:ea typeface="MiSans"/>
              </a:rPr>
              <a:t>例：铜导线的电阻</a:t>
            </a:r>
            <a:endParaRPr lang="en-US" sz="1500" noProof="1"/>
          </a:p>
        </p:txBody>
      </p:sp>
      <p:sp>
        <p:nvSpPr>
          <p:cNvPr id="12" name="ex-body"/>
          <p:cNvSpPr txBox="1"/>
          <p:nvPr/>
        </p:nvSpPr>
        <p:spPr>
          <a:xfrm>
            <a:off x="7442200" y="2209800"/>
            <a:ext cx="3810000" cy="1778000"/>
          </a:xfrm>
          <a:prstGeom prst="rect">
            <a:avLst/>
          </a:prstGeom>
          <a:noFill/>
          <a:ln>
            <a:noFill/>
          </a:ln>
        </p:spPr>
        <p:txBody>
          <a:bodyPr lIns="0" rIns="0" tIns="0" bIns="0" wrap="square" rtlCol="0"/>
          <a:lstStyle/>
          <a:p>
            <a:pPr>
              <a:lnSpc>
                <a:spcPct val="155000"/>
              </a:lnSpc>
            </a:pPr>
            <a:r>
              <a:rPr lang="en-US" sz="1250" noProof="1">
                <a:solidFill>
                  <a:srgbClr val="22303A"/>
                </a:solidFill>
                <a:latin typeface="MiSans"/>
                <a:ea typeface="MiSans"/>
              </a:rPr>
              <a:t>铜 ρ = 1.7×10</a:t>
            </a:r>
            <a:r>
              <a:rPr lang="en-US" sz="1250" noProof="1" baseline="30000">
                <a:solidFill>
                  <a:srgbClr val="22303A"/>
                </a:solidFill>
                <a:latin typeface="MiSans"/>
                <a:ea typeface="MiSans"/>
              </a:rPr>
              <a:t>−8</a:t>
            </a:r>
            <a:r>
              <a:rPr lang="en-US" sz="1250" noProof="1">
                <a:solidFill>
                  <a:srgbClr val="22303A"/>
                </a:solidFill>
                <a:latin typeface="MiSans"/>
                <a:ea typeface="MiSans"/>
              </a:rPr>
              <a:t> Ω·m，线长 l = 2.0 m，A = 5.0×10</a:t>
            </a:r>
            <a:r>
              <a:rPr lang="en-US" sz="1250" noProof="1" baseline="30000">
                <a:solidFill>
                  <a:srgbClr val="22303A"/>
                </a:solidFill>
                <a:latin typeface="MiSans"/>
                <a:ea typeface="MiSans"/>
              </a:rPr>
              <a:t>−7</a:t>
            </a:r>
            <a:r>
              <a:rPr lang="en-US" sz="1250" noProof="1">
                <a:solidFill>
                  <a:srgbClr val="22303A"/>
                </a:solidFill>
                <a:latin typeface="MiSans"/>
                <a:ea typeface="MiSans"/>
              </a:rPr>
              <a:t> m²：</a:t>
            </a:r>
            <a:endParaRPr lang="en-US" sz="1250" noProof="1"/>
          </a:p>
          <a:p>
            <a:pPr>
              <a:lnSpc>
                <a:spcPct val="155000"/>
              </a:lnSpc>
            </a:pPr>
            <a:r>
              <a:rPr lang="en-US" sz="1250" noProof="1">
                <a:solidFill>
                  <a:srgbClr val="22303A"/>
                </a:solidFill>
                <a:latin typeface="MiSans"/>
                <a:ea typeface="MiSans"/>
              </a:rPr>
              <a:t>R = ρl/A</a:t>
            </a:r>
            <a:endParaRPr lang="en-US" sz="1250" noProof="1"/>
          </a:p>
          <a:p>
            <a:pPr>
              <a:lnSpc>
                <a:spcPct val="155000"/>
              </a:lnSpc>
            </a:pPr>
            <a:r>
              <a:rPr lang="en-US" sz="1250" noProof="1">
                <a:solidFill>
                  <a:srgbClr val="22303A"/>
                </a:solidFill>
                <a:latin typeface="MiSans"/>
                <a:ea typeface="MiSans"/>
              </a:rPr>
              <a:t>= (1.7×10</a:t>
            </a:r>
            <a:r>
              <a:rPr lang="en-US" sz="1250" noProof="1" baseline="30000">
                <a:solidFill>
                  <a:srgbClr val="22303A"/>
                </a:solidFill>
                <a:latin typeface="MiSans"/>
                <a:ea typeface="MiSans"/>
              </a:rPr>
              <a:t>−8</a:t>
            </a:r>
            <a:r>
              <a:rPr lang="en-US" sz="1250" noProof="1">
                <a:solidFill>
                  <a:srgbClr val="22303A"/>
                </a:solidFill>
                <a:latin typeface="MiSans"/>
                <a:ea typeface="MiSans"/>
              </a:rPr>
              <a:t> × 2.0) ÷ 5.0×10</a:t>
            </a:r>
            <a:r>
              <a:rPr lang="en-US" sz="1250" noProof="1" baseline="30000">
                <a:solidFill>
                  <a:srgbClr val="22303A"/>
                </a:solidFill>
                <a:latin typeface="MiSans"/>
                <a:ea typeface="MiSans"/>
              </a:rPr>
              <a:t>−7</a:t>
            </a:r>
            <a:endParaRPr lang="en-US" sz="1250" noProof="1"/>
          </a:p>
          <a:p>
            <a:pPr>
              <a:lnSpc>
                <a:spcPct val="155000"/>
              </a:lnSpc>
            </a:pPr>
            <a:r>
              <a:rPr lang="en-US" sz="1250" noProof="1">
                <a:solidFill>
                  <a:srgbClr val="22303A"/>
                </a:solidFill>
                <a:latin typeface="MiSans"/>
                <a:ea typeface="MiSans"/>
              </a:rPr>
              <a:t>= </a:t>
            </a:r>
            <a:r>
              <a:rPr lang="en-US" sz="1250" noProof="1" b="1">
                <a:solidFill>
                  <a:srgbClr val="22303A"/>
                </a:solidFill>
                <a:latin typeface="MiSans"/>
                <a:ea typeface="MiSans"/>
              </a:rPr>
              <a:t>0.068 Ω</a:t>
            </a:r>
            <a:endParaRPr lang="en-US" sz="1250" noProof="1"/>
          </a:p>
          <a:p>
            <a:pPr>
              <a:lnSpc>
                <a:spcPct val="155000"/>
              </a:lnSpc>
            </a:pPr>
            <a:r>
              <a:rPr lang="en-US" sz="1150" noProof="1">
                <a:solidFill>
                  <a:srgbClr val="6E6A62"/>
                </a:solidFill>
                <a:latin typeface="MiSans"/>
                <a:ea typeface="MiSans"/>
              </a:rPr>
              <a:t>导线电阻很小，所以通常可忽略。</a:t>
            </a:r>
            <a:endParaRPr lang="en-US" sz="1250" noProof="1"/>
          </a:p>
        </p:txBody>
      </p:sp>
      <p:sp>
        <p:nvSpPr>
          <p:cNvPr id="13" name="trap-box"/>
          <p:cNvSpPr/>
          <p:nvPr/>
        </p:nvSpPr>
        <p:spPr>
          <a:xfrm>
            <a:off x="7239000" y="4343400"/>
            <a:ext cx="4191000" cy="1854200"/>
          </a:xfrm>
          <a:prstGeom prst="rect">
            <a:avLst/>
          </a:prstGeom>
          <a:solidFill>
            <a:srgbClr val="EFE9DF"/>
          </a:solidFill>
          <a:ln>
            <a:noFill/>
          </a:ln>
        </p:spPr>
      </p:sp>
      <p:sp>
        <p:nvSpPr>
          <p:cNvPr id="14" name="trap-text"/>
          <p:cNvSpPr txBox="1"/>
          <p:nvPr/>
        </p:nvSpPr>
        <p:spPr>
          <a:xfrm>
            <a:off x="7442200" y="4470400"/>
            <a:ext cx="3784600" cy="1600200"/>
          </a:xfrm>
          <a:prstGeom prst="rect">
            <a:avLst/>
          </a:prstGeom>
          <a:noFill/>
          <a:ln>
            <a:noFill/>
          </a:ln>
        </p:spPr>
        <p:txBody>
          <a:bodyPr lIns="0" rIns="0" tIns="0" bIns="0" wrap="square" rtlCol="0"/>
          <a:lstStyle/>
          <a:p>
            <a:pPr>
              <a:lnSpc>
                <a:spcPct val="150000"/>
              </a:lnSpc>
            </a:pPr>
            <a:r>
              <a:rPr lang="en-US" sz="1250" noProof="1" b="1">
                <a:solidFill>
                  <a:srgbClr val="C96F16"/>
                </a:solidFill>
                <a:latin typeface="MiSans"/>
                <a:ea typeface="MiSans"/>
              </a:rPr>
              <a:t>易错提醒：</a:t>
            </a:r>
            <a:endParaRPr lang="en-US" sz="1250" noProof="1"/>
          </a:p>
          <a:p>
            <a:pPr>
              <a:lnSpc>
                <a:spcPct val="150000"/>
              </a:lnSpc>
            </a:pPr>
            <a:r>
              <a:rPr lang="en-US" sz="1250" noProof="1">
                <a:solidFill>
                  <a:srgbClr val="22303A"/>
                </a:solidFill>
                <a:latin typeface="MiSans"/>
                <a:ea typeface="MiSans"/>
              </a:rPr>
              <a:t>· 面积单位先换算：mm² → m² 要乘 10</a:t>
            </a:r>
            <a:r>
              <a:rPr lang="en-US" sz="1250" noProof="1" baseline="30000">
                <a:solidFill>
                  <a:srgbClr val="22303A"/>
                </a:solidFill>
                <a:latin typeface="MiSans"/>
                <a:ea typeface="MiSans"/>
              </a:rPr>
              <a:t>−6</a:t>
            </a:r>
            <a:r>
              <a:rPr lang="en-US" sz="1250" noProof="1">
                <a:solidFill>
                  <a:srgbClr val="22303A"/>
                </a:solidFill>
                <a:latin typeface="MiSans"/>
                <a:ea typeface="MiSans"/>
              </a:rPr>
              <a:t>。</a:t>
            </a:r>
            <a:endParaRPr lang="en-US" sz="1250" noProof="1"/>
          </a:p>
          <a:p>
            <a:pPr>
              <a:lnSpc>
                <a:spcPct val="150000"/>
              </a:lnSpc>
            </a:pPr>
            <a:r>
              <a:rPr lang="en-US" sz="1250" noProof="1">
                <a:solidFill>
                  <a:srgbClr val="22303A"/>
                </a:solidFill>
                <a:latin typeface="MiSans"/>
                <a:ea typeface="MiSans"/>
              </a:rPr>
              <a:t>· "拉长导线"题：l 变 2 倍、A 同时变 1/2（体积不变），R 变 </a:t>
            </a:r>
            <a:r>
              <a:rPr lang="en-US" sz="1250" noProof="1" b="1">
                <a:solidFill>
                  <a:srgbClr val="22303A"/>
                </a:solidFill>
                <a:latin typeface="MiSans"/>
                <a:ea typeface="MiSans"/>
              </a:rPr>
              <a:t>4 倍</a:t>
            </a:r>
            <a:r>
              <a:rPr lang="en-US" sz="1250" noProof="1">
                <a:solidFill>
                  <a:srgbClr val="22303A"/>
                </a:solidFill>
                <a:latin typeface="MiSans"/>
                <a:ea typeface="MiSans"/>
              </a:rPr>
              <a:t>——经典陷阱。</a:t>
            </a:r>
            <a:endParaRPr lang="en-US" sz="1250" noProof="1"/>
          </a:p>
        </p:txBody>
      </p:sp>
      <p:sp>
        <p:nvSpPr>
          <p:cNvPr id="15" name="footer-rule"/>
          <p:cNvSpPr/>
          <p:nvPr/>
        </p:nvSpPr>
        <p:spPr>
          <a:xfrm>
            <a:off x="762000" y="6451600"/>
            <a:ext cx="10668000" cy="12700"/>
          </a:xfrm>
          <a:prstGeom prst="rect">
            <a:avLst/>
          </a:prstGeom>
          <a:solidFill>
            <a:srgbClr val="D8D2C8"/>
          </a:solidFill>
          <a:ln>
            <a:noFill/>
          </a:ln>
        </p:spPr>
      </p:sp>
      <p:sp>
        <p:nvSpPr>
          <p:cNvPr id="16" name="footer-left"/>
          <p:cNvSpPr txBox="1"/>
          <p:nvPr/>
        </p:nvSpPr>
        <p:spPr>
          <a:xfrm>
            <a:off x="762000" y="6553200"/>
            <a:ext cx="5080000" cy="203200"/>
          </a:xfrm>
          <a:prstGeom prst="rect">
            <a:avLst/>
          </a:prstGeom>
          <a:noFill/>
          <a:ln>
            <a:noFill/>
          </a:ln>
        </p:spPr>
        <p:txBody>
          <a:bodyPr lIns="0" rIns="0" tIns="0" bIns="0" wrap="none" rtlCol="0"/>
          <a:lstStyle/>
          <a:p>
            <a:pPr>
              <a:lnSpc>
                <a:spcPct val="120000"/>
              </a:lnSpc>
            </a:pPr>
            <a:r>
              <a:rPr lang="en-US" sz="1000" noProof="1">
                <a:solidFill>
                  <a:srgbClr val="6E6A62"/>
                </a:solidFill>
                <a:latin typeface="MiSans"/>
                <a:ea typeface="MiSans"/>
              </a:rPr>
              <a:t>CIE A-Level Physics 9702 · Topic 9 电学</a:t>
            </a:r>
            <a:endParaRPr lang="en-US" sz="1000" noProof="1"/>
          </a:p>
        </p:txBody>
      </p:sp>
      <p:sp>
        <p:nvSpPr>
          <p:cNvPr id="17" name="page-num"/>
          <p:cNvSpPr txBox="1"/>
          <p:nvPr/>
        </p:nvSpPr>
        <p:spPr>
          <a:xfrm>
            <a:off x="10922000" y="6553200"/>
            <a:ext cx="508000" cy="203200"/>
          </a:xfrm>
          <a:prstGeom prst="rect">
            <a:avLst/>
          </a:prstGeom>
          <a:noFill/>
          <a:ln>
            <a:noFill/>
          </a:ln>
        </p:spPr>
        <p:txBody>
          <a:bodyPr lIns="0" rIns="0" tIns="0" bIns="0" wrap="none" rtlCol="0" anchor="t"/>
          <a:lstStyle/>
          <a:p>
            <a:pPr algn="r">
              <a:lnSpc>
                <a:spcPct val="120000"/>
              </a:lnSpc>
            </a:pPr>
            <a:r>
              <a:rPr lang="en-US" sz="1000" noProof="1">
                <a:solidFill>
                  <a:srgbClr val="6E6A62"/>
                </a:solidFill>
                <a:latin typeface="MiSans"/>
                <a:ea typeface="MiSans"/>
              </a:rPr>
              <a:t>08</a:t>
            </a:r>
            <a:endParaRPr lang="en-US" sz="1000" noProof="1"/>
          </a:p>
        </p:txBody>
      </p:sp>
    </p:spTree>
  </p:cSld>
  <p:clrMapOvr>
    <a:masterClrMapping/>
  </p:clrMapOvr>
</p:sld>
</file>

<file path=ppt/slides/slide9.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8F4"/>
        </a:solidFill>
      </p:bgPr>
    </p:bg>
    <p:spTree>
      <p:nvGrpSpPr>
        <p:cNvPr id="1" name=""/>
        <p:cNvGrpSpPr/>
        <p:nvPr/>
      </p:nvGrpSpPr>
      <p:grpSpPr>
        <a:xfrm>
          <a:off x="0" y="0"/>
          <a:ext cx="0" cy="0"/>
          <a:chOff x="0" y="0"/>
          <a:chExt cx="0" cy="0"/>
        </a:xfrm>
      </p:grpSpPr>
      <p:sp>
        <p:nvSpPr>
          <p:cNvPr id="2" name="kicker"/>
          <p:cNvSpPr txBox="1"/>
          <p:nvPr/>
        </p:nvSpPr>
        <p:spPr>
          <a:xfrm>
            <a:off x="762000" y="330200"/>
            <a:ext cx="6350000" cy="203200"/>
          </a:xfrm>
          <a:prstGeom prst="rect">
            <a:avLst/>
          </a:prstGeom>
          <a:noFill/>
          <a:ln>
            <a:noFill/>
          </a:ln>
        </p:spPr>
        <p:txBody>
          <a:bodyPr lIns="0" rIns="0" tIns="0" bIns="0" wrap="none" rtlCol="0"/>
          <a:lstStyle/>
          <a:p>
            <a:pPr>
              <a:lnSpc>
                <a:spcPct val="120000"/>
              </a:lnSpc>
            </a:pPr>
            <a:r>
              <a:rPr lang="en-US" sz="1100" noProof="1" b="1" spc="200" kern="0">
                <a:solidFill>
                  <a:srgbClr val="0E5A55"/>
                </a:solidFill>
                <a:latin typeface="MiSans"/>
                <a:ea typeface="MiSans"/>
              </a:rPr>
              <a:t>9.3 · TEMPERATURE EFFECTS</a:t>
            </a:r>
            <a:endParaRPr lang="en-US" sz="1100" noProof="1"/>
          </a:p>
        </p:txBody>
      </p:sp>
      <p:sp>
        <p:nvSpPr>
          <p:cNvPr id="3" name="title"/>
          <p:cNvSpPr txBox="1"/>
          <p:nvPr/>
        </p:nvSpPr>
        <p:spPr>
          <a:xfrm>
            <a:off x="762000" y="584200"/>
            <a:ext cx="10668000" cy="457200"/>
          </a:xfrm>
          <a:prstGeom prst="rect">
            <a:avLst/>
          </a:prstGeom>
          <a:noFill/>
          <a:ln>
            <a:noFill/>
          </a:ln>
        </p:spPr>
        <p:txBody>
          <a:bodyPr lIns="0" rIns="0" tIns="0" bIns="0" wrap="none" rtlCol="0"/>
          <a:lstStyle/>
          <a:p>
            <a:pPr>
              <a:lnSpc>
                <a:spcPct val="120000"/>
              </a:lnSpc>
            </a:pPr>
            <a:r>
              <a:rPr lang="en-US" sz="2600" noProof="1" b="1">
                <a:solidFill>
                  <a:srgbClr val="22303A"/>
                </a:solidFill>
                <a:latin typeface="MiSans"/>
                <a:ea typeface="MiSans"/>
              </a:rPr>
              <a:t>温度效应：金属与热敏电阻，方向相反</a:t>
            </a:r>
            <a:endParaRPr lang="en-US" sz="2600" noProof="1"/>
          </a:p>
        </p:txBody>
      </p:sp>
      <p:sp>
        <p:nvSpPr>
          <p:cNvPr id="4" name="title-en"/>
          <p:cNvSpPr txBox="1"/>
          <p:nvPr/>
        </p:nvSpPr>
        <p:spPr>
          <a:xfrm>
            <a:off x="762000" y="1066800"/>
            <a:ext cx="10668000" cy="254000"/>
          </a:xfrm>
          <a:prstGeom prst="rect">
            <a:avLst/>
          </a:prstGeom>
          <a:noFill/>
          <a:ln>
            <a:noFill/>
          </a:ln>
        </p:spPr>
        <p:txBody>
          <a:bodyPr lIns="0" rIns="0" tIns="0" bIns="0" wrap="none" rtlCol="0"/>
          <a:lstStyle/>
          <a:p>
            <a:pPr>
              <a:lnSpc>
                <a:spcPct val="120000"/>
              </a:lnSpc>
            </a:pPr>
            <a:r>
              <a:rPr lang="en-US" sz="1300" noProof="1">
                <a:solidFill>
                  <a:srgbClr val="6E6A62"/>
                </a:solidFill>
                <a:latin typeface="MiSans"/>
                <a:ea typeface="MiSans"/>
              </a:rPr>
              <a:t>Same heating, opposite effects — and the microscopic reasons</a:t>
            </a:r>
            <a:endParaRPr lang="en-US" sz="1300" noProof="1"/>
          </a:p>
        </p:txBody>
      </p:sp>
      <p:sp>
        <p:nvSpPr>
          <p:cNvPr id="5" name="rule-top"/>
          <p:cNvSpPr/>
          <p:nvPr/>
        </p:nvSpPr>
        <p:spPr>
          <a:xfrm>
            <a:off x="762000" y="1422400"/>
            <a:ext cx="10668000" cy="19050"/>
          </a:xfrm>
          <a:prstGeom prst="rect">
            <a:avLst/>
          </a:prstGeom>
          <a:solidFill>
            <a:srgbClr val="D8D2C8"/>
          </a:solidFill>
          <a:ln>
            <a:noFill/>
          </a:ln>
        </p:spPr>
      </p:sp>
      <p:sp>
        <p:nvSpPr>
          <p:cNvPr id="6" name="metal-box"/>
          <p:cNvSpPr/>
          <p:nvPr/>
        </p:nvSpPr>
        <p:spPr>
          <a:xfrm>
            <a:off x="762000" y="1701800"/>
            <a:ext cx="5143500" cy="2413000"/>
          </a:xfrm>
          <a:prstGeom prst="rect">
            <a:avLst/>
          </a:prstGeom>
          <a:solidFill>
            <a:srgbClr val="FFFFFF"/>
          </a:solidFill>
          <a:ln>
            <a:noFill/>
          </a:ln>
        </p:spPr>
      </p:sp>
      <p:sp>
        <p:nvSpPr>
          <p:cNvPr id="7" name="metal-head"/>
          <p:cNvSpPr txBox="1"/>
          <p:nvPr/>
        </p:nvSpPr>
        <p:spPr>
          <a:xfrm>
            <a:off x="965200" y="1854200"/>
            <a:ext cx="4699000" cy="304800"/>
          </a:xfrm>
          <a:prstGeom prst="rect">
            <a:avLst/>
          </a:prstGeom>
          <a:noFill/>
          <a:ln>
            <a:noFill/>
          </a:ln>
        </p:spPr>
        <p:txBody>
          <a:bodyPr lIns="0" rIns="0" tIns="0" bIns="0" wrap="none" rtlCol="0"/>
          <a:lstStyle/>
          <a:p>
            <a:pPr>
              <a:lnSpc>
                <a:spcPct val="120000"/>
              </a:lnSpc>
            </a:pPr>
            <a:r>
              <a:rPr lang="en-US" sz="1500" noProof="1" b="1">
                <a:solidFill>
                  <a:srgbClr val="0E5A55"/>
                </a:solidFill>
                <a:latin typeface="MiSans"/>
                <a:ea typeface="MiSans"/>
              </a:rPr>
              <a:t>金属 Metal：升温 → R 增大 ↑</a:t>
            </a:r>
            <a:endParaRPr lang="en-US" sz="1500" noProof="1"/>
          </a:p>
        </p:txBody>
      </p:sp>
      <p:sp>
        <p:nvSpPr>
          <p:cNvPr id="8" name="metal-body"/>
          <p:cNvSpPr txBox="1"/>
          <p:nvPr/>
        </p:nvSpPr>
        <p:spPr>
          <a:xfrm>
            <a:off x="965200" y="2260600"/>
            <a:ext cx="4699000" cy="1727200"/>
          </a:xfrm>
          <a:prstGeom prst="rect">
            <a:avLst/>
          </a:prstGeom>
          <a:noFill/>
          <a:ln>
            <a:noFill/>
          </a:ln>
        </p:spPr>
        <p:txBody>
          <a:bodyPr lIns="0" rIns="0" tIns="0" bIns="0" wrap="square" rtlCol="0"/>
          <a:lstStyle/>
          <a:p>
            <a:pPr>
              <a:lnSpc>
                <a:spcPct val="155000"/>
              </a:lnSpc>
            </a:pPr>
            <a:r>
              <a:rPr lang="en-US" sz="1350" noProof="1">
                <a:solidFill>
                  <a:srgbClr val="22303A"/>
                </a:solidFill>
                <a:latin typeface="MiSans"/>
                <a:ea typeface="MiSans"/>
              </a:rPr>
              <a:t>机理：升温 → 金属正离子振动更剧烈 → 自由电子与离子</a:t>
            </a:r>
            <a:r>
              <a:rPr lang="en-US" sz="1350" noProof="1" b="1">
                <a:solidFill>
                  <a:srgbClr val="22303A"/>
                </a:solidFill>
                <a:latin typeface="MiSans"/>
                <a:ea typeface="MiSans"/>
              </a:rPr>
              <a:t>碰撞更频繁</a:t>
            </a:r>
            <a:r>
              <a:rPr lang="en-US" sz="1350" noProof="1">
                <a:solidFill>
                  <a:srgbClr val="22303A"/>
                </a:solidFill>
                <a:latin typeface="MiSans"/>
                <a:ea typeface="MiSans"/>
              </a:rPr>
              <a:t> → 定向漂移受阻 → 电阻增大。</a:t>
            </a:r>
            <a:endParaRPr lang="en-US" sz="1350" noProof="1"/>
          </a:p>
          <a:p>
            <a:pPr>
              <a:lnSpc>
                <a:spcPct val="155000"/>
              </a:lnSpc>
            </a:pPr>
            <a:r>
              <a:rPr lang="en-US" sz="1350" noProof="1">
                <a:solidFill>
                  <a:srgbClr val="0E5A55"/>
                </a:solidFill>
                <a:latin typeface="MiSans"/>
                <a:ea typeface="MiSans"/>
              </a:rPr>
              <a:t>关键词：collisions 碰撞（n 不变，载流子数量不变）。</a:t>
            </a:r>
            <a:endParaRPr lang="en-US" sz="1350" noProof="1"/>
          </a:p>
          <a:p>
            <a:pPr>
              <a:lnSpc>
                <a:spcPct val="155000"/>
              </a:lnSpc>
            </a:pPr>
            <a:r>
              <a:rPr lang="en-US" sz="1150" noProof="1">
                <a:solidFill>
                  <a:srgbClr val="6E6A62"/>
                </a:solidFill>
                <a:latin typeface="MiSans"/>
                <a:ea typeface="MiSans"/>
              </a:rPr>
              <a:t>这就是灯丝 I-V 图变弯的原因。</a:t>
            </a:r>
            <a:endParaRPr lang="en-US" sz="1350" noProof="1"/>
          </a:p>
        </p:txBody>
      </p:sp>
      <p:sp>
        <p:nvSpPr>
          <p:cNvPr id="9" name="th-box"/>
          <p:cNvSpPr/>
          <p:nvPr/>
        </p:nvSpPr>
        <p:spPr>
          <a:xfrm>
            <a:off x="6286500" y="1701800"/>
            <a:ext cx="5143500" cy="2413000"/>
          </a:xfrm>
          <a:prstGeom prst="rect">
            <a:avLst/>
          </a:prstGeom>
          <a:solidFill>
            <a:srgbClr val="FFFFFF"/>
          </a:solidFill>
          <a:ln>
            <a:noFill/>
          </a:ln>
        </p:spPr>
      </p:sp>
      <p:sp>
        <p:nvSpPr>
          <p:cNvPr id="10" name="th-head"/>
          <p:cNvSpPr txBox="1"/>
          <p:nvPr/>
        </p:nvSpPr>
        <p:spPr>
          <a:xfrm>
            <a:off x="6489700" y="1854200"/>
            <a:ext cx="4699000" cy="304800"/>
          </a:xfrm>
          <a:prstGeom prst="rect">
            <a:avLst/>
          </a:prstGeom>
          <a:noFill/>
          <a:ln>
            <a:noFill/>
          </a:ln>
        </p:spPr>
        <p:txBody>
          <a:bodyPr lIns="0" rIns="0" tIns="0" bIns="0" wrap="none" rtlCol="0"/>
          <a:lstStyle/>
          <a:p>
            <a:pPr>
              <a:lnSpc>
                <a:spcPct val="120000"/>
              </a:lnSpc>
            </a:pPr>
            <a:r>
              <a:rPr lang="en-US" sz="1500" noProof="1" b="1">
                <a:solidFill>
                  <a:srgbClr val="0E5A55"/>
                </a:solidFill>
                <a:latin typeface="MiSans"/>
                <a:ea typeface="MiSans"/>
              </a:rPr>
              <a:t>热敏电阻 Thermistor：升温 → R 减小 ↓</a:t>
            </a:r>
            <a:endParaRPr lang="en-US" sz="1500" noProof="1"/>
          </a:p>
        </p:txBody>
      </p:sp>
      <p:sp>
        <p:nvSpPr>
          <p:cNvPr id="11" name="th-body"/>
          <p:cNvSpPr txBox="1"/>
          <p:nvPr/>
        </p:nvSpPr>
        <p:spPr>
          <a:xfrm>
            <a:off x="6489700" y="2260600"/>
            <a:ext cx="4699000" cy="1727200"/>
          </a:xfrm>
          <a:prstGeom prst="rect">
            <a:avLst/>
          </a:prstGeom>
          <a:noFill/>
          <a:ln>
            <a:noFill/>
          </a:ln>
        </p:spPr>
        <p:txBody>
          <a:bodyPr lIns="0" rIns="0" tIns="0" bIns="0" wrap="square" rtlCol="0"/>
          <a:lstStyle/>
          <a:p>
            <a:pPr>
              <a:lnSpc>
                <a:spcPct val="155000"/>
              </a:lnSpc>
            </a:pPr>
            <a:r>
              <a:rPr lang="en-US" sz="1350" noProof="1">
                <a:solidFill>
                  <a:srgbClr val="22303A"/>
                </a:solidFill>
                <a:latin typeface="MiSans"/>
                <a:ea typeface="MiSans"/>
              </a:rPr>
              <a:t>机理（半导体）：升温 → 更多电子获得能量</a:t>
            </a:r>
            <a:r>
              <a:rPr lang="en-US" sz="1350" noProof="1" b="1">
                <a:solidFill>
                  <a:srgbClr val="22303A"/>
                </a:solidFill>
                <a:latin typeface="MiSans"/>
                <a:ea typeface="MiSans"/>
              </a:rPr>
              <a:t>从原子中释放出来</a:t>
            </a:r>
            <a:r>
              <a:rPr lang="en-US" sz="1350" noProof="1">
                <a:solidFill>
                  <a:srgbClr val="22303A"/>
                </a:solidFill>
                <a:latin typeface="MiSans"/>
                <a:ea typeface="MiSans"/>
              </a:rPr>
              <a:t> → 载流子数密度 n 大增 → 导电能力增强 → 电阻减小。</a:t>
            </a:r>
            <a:endParaRPr lang="en-US" sz="1350" noProof="1"/>
          </a:p>
          <a:p>
            <a:pPr>
              <a:lnSpc>
                <a:spcPct val="155000"/>
              </a:lnSpc>
            </a:pPr>
            <a:r>
              <a:rPr lang="en-US" sz="1350" noProof="1">
                <a:solidFill>
                  <a:srgbClr val="0E5A55"/>
                </a:solidFill>
                <a:latin typeface="MiSans"/>
                <a:ea typeface="MiSans"/>
              </a:rPr>
              <a:t>关键词：charge carriers released 载流子被释放（n 变大）。</a:t>
            </a:r>
            <a:endParaRPr lang="en-US" sz="1350" noProof="1"/>
          </a:p>
          <a:p>
            <a:pPr>
              <a:lnSpc>
                <a:spcPct val="155000"/>
              </a:lnSpc>
            </a:pPr>
            <a:r>
              <a:rPr lang="en-US" sz="1150" noProof="1">
                <a:solidFill>
                  <a:srgbClr val="6E6A62"/>
                </a:solidFill>
                <a:latin typeface="MiSans"/>
                <a:ea typeface="MiSans"/>
              </a:rPr>
              <a:t>n 增大的效应盖过了碰撞增多的效应。</a:t>
            </a:r>
            <a:endParaRPr lang="en-US" sz="1350" noProof="1"/>
          </a:p>
        </p:txBody>
      </p:sp>
      <p:sp>
        <p:nvSpPr>
          <p:cNvPr id="12" name="cmp-box"/>
          <p:cNvSpPr/>
          <p:nvPr/>
        </p:nvSpPr>
        <p:spPr>
          <a:xfrm>
            <a:off x="762000" y="4343400"/>
            <a:ext cx="10668000" cy="838200"/>
          </a:xfrm>
          <a:prstGeom prst="rect">
            <a:avLst/>
          </a:prstGeom>
          <a:solidFill>
            <a:srgbClr val="EFE9DF"/>
          </a:solidFill>
          <a:ln>
            <a:noFill/>
          </a:ln>
        </p:spPr>
      </p:sp>
      <p:sp>
        <p:nvSpPr>
          <p:cNvPr id="13" name="cmp-text"/>
          <p:cNvSpPr txBox="1"/>
          <p:nvPr/>
        </p:nvSpPr>
        <p:spPr>
          <a:xfrm>
            <a:off x="965200" y="4445000"/>
            <a:ext cx="10261600" cy="635000"/>
          </a:xfrm>
          <a:prstGeom prst="rect">
            <a:avLst/>
          </a:prstGeom>
          <a:noFill/>
          <a:ln>
            <a:noFill/>
          </a:ln>
        </p:spPr>
        <p:txBody>
          <a:bodyPr lIns="0" rIns="0" tIns="0" bIns="0" wrap="square" rtlCol="0" anchor="ctr"/>
          <a:lstStyle/>
          <a:p>
            <a:pPr algn="l">
              <a:lnSpc>
                <a:spcPct val="150000"/>
              </a:lnSpc>
            </a:pPr>
            <a:r>
              <a:rPr lang="en-US" sz="1300" noProof="1" b="1">
                <a:solidFill>
                  <a:srgbClr val="22303A"/>
                </a:solidFill>
                <a:latin typeface="MiSans"/>
                <a:ea typeface="MiSans"/>
              </a:rPr>
              <a:t>对比记忆：</a:t>
            </a:r>
            <a:r>
              <a:rPr lang="en-US" sz="1300" noProof="1">
                <a:solidFill>
                  <a:srgbClr val="22303A"/>
                </a:solidFill>
                <a:latin typeface="MiSans"/>
                <a:ea typeface="MiSans"/>
              </a:rPr>
              <a:t>金属升温——碰撞主导 → R↑；热敏电阻（半导体）升温——载流子释放主导 → R↓。</a:t>
            </a:r>
            <a:endParaRPr lang="en-US" sz="1300" noProof="1"/>
          </a:p>
          <a:p>
            <a:pPr algn="l">
              <a:lnSpc>
                <a:spcPct val="150000"/>
              </a:lnSpc>
            </a:pPr>
            <a:r>
              <a:rPr lang="en-US" sz="1300" noProof="1">
                <a:solidFill>
                  <a:srgbClr val="22303A"/>
                </a:solidFill>
                <a:latin typeface="MiSans"/>
                <a:ea typeface="MiSans"/>
              </a:rPr>
              <a:t>简答题必须把"</a:t>
            </a:r>
            <a:r>
              <a:rPr lang="en-US" sz="1300" noProof="1" b="1">
                <a:solidFill>
                  <a:srgbClr val="22303A"/>
                </a:solidFill>
                <a:latin typeface="MiSans"/>
                <a:ea typeface="MiSans"/>
              </a:rPr>
              <a:t>碰撞频繁</a:t>
            </a:r>
            <a:r>
              <a:rPr lang="en-US" sz="1300" noProof="1">
                <a:solidFill>
                  <a:srgbClr val="22303A"/>
                </a:solidFill>
                <a:latin typeface="MiSans"/>
                <a:ea typeface="MiSans"/>
              </a:rPr>
              <a:t>"和"</a:t>
            </a:r>
            <a:r>
              <a:rPr lang="en-US" sz="1300" noProof="1" b="1">
                <a:solidFill>
                  <a:srgbClr val="22303A"/>
                </a:solidFill>
                <a:latin typeface="MiSans"/>
                <a:ea typeface="MiSans"/>
              </a:rPr>
              <a:t>载流子释放</a:t>
            </a:r>
            <a:r>
              <a:rPr lang="en-US" sz="1300" noProof="1">
                <a:solidFill>
                  <a:srgbClr val="22303A"/>
                </a:solidFill>
                <a:latin typeface="MiSans"/>
                <a:ea typeface="MiSans"/>
              </a:rPr>
              <a:t>"两套机理分开说，混用不得分。</a:t>
            </a:r>
            <a:endParaRPr lang="en-US" sz="1300" noProof="1"/>
          </a:p>
        </p:txBody>
      </p:sp>
      <p:sp>
        <p:nvSpPr>
          <p:cNvPr id="14" name="app-box"/>
          <p:cNvSpPr/>
          <p:nvPr/>
        </p:nvSpPr>
        <p:spPr>
          <a:xfrm>
            <a:off x="762000" y="5410200"/>
            <a:ext cx="10668000" cy="787400"/>
          </a:xfrm>
          <a:prstGeom prst="rect">
            <a:avLst/>
          </a:prstGeom>
          <a:solidFill>
            <a:srgbClr val="FFFFFF"/>
          </a:solidFill>
          <a:ln>
            <a:noFill/>
          </a:ln>
        </p:spPr>
      </p:sp>
      <p:sp>
        <p:nvSpPr>
          <p:cNvPr id="15" name="app-text"/>
          <p:cNvSpPr txBox="1"/>
          <p:nvPr/>
        </p:nvSpPr>
        <p:spPr>
          <a:xfrm>
            <a:off x="965200" y="5511800"/>
            <a:ext cx="10261600" cy="584200"/>
          </a:xfrm>
          <a:prstGeom prst="rect">
            <a:avLst/>
          </a:prstGeom>
          <a:noFill/>
          <a:ln>
            <a:noFill/>
          </a:ln>
        </p:spPr>
        <p:txBody>
          <a:bodyPr lIns="0" rIns="0" tIns="0" bIns="0" wrap="square" rtlCol="0"/>
          <a:lstStyle/>
          <a:p>
            <a:pPr>
              <a:lnSpc>
                <a:spcPct val="150000"/>
              </a:lnSpc>
            </a:pPr>
            <a:r>
              <a:rPr lang="en-US" sz="1250" noProof="1" b="1">
                <a:solidFill>
                  <a:srgbClr val="22303A"/>
                </a:solidFill>
                <a:latin typeface="MiSans"/>
                <a:ea typeface="MiSans"/>
              </a:rPr>
              <a:t>应用：</a:t>
            </a:r>
            <a:r>
              <a:rPr lang="en-US" sz="1250" noProof="1">
                <a:solidFill>
                  <a:srgbClr val="22303A"/>
                </a:solidFill>
                <a:latin typeface="MiSans"/>
                <a:ea typeface="MiSans"/>
              </a:rPr>
              <a:t>热敏电阻 = 温度传感器——温控开关、火灾报警、电子温度计；与定值电阻组成分压器，把"温度变化"转成"电压变化"输出（Topic 10 会详细算）。</a:t>
            </a:r>
            <a:endParaRPr lang="en-US" sz="1250" noProof="1"/>
          </a:p>
        </p:txBody>
      </p:sp>
      <p:sp>
        <p:nvSpPr>
          <p:cNvPr id="16" name="footer-rule"/>
          <p:cNvSpPr/>
          <p:nvPr/>
        </p:nvSpPr>
        <p:spPr>
          <a:xfrm>
            <a:off x="762000" y="6451600"/>
            <a:ext cx="10668000" cy="12700"/>
          </a:xfrm>
          <a:prstGeom prst="rect">
            <a:avLst/>
          </a:prstGeom>
          <a:solidFill>
            <a:srgbClr val="D8D2C8"/>
          </a:solidFill>
          <a:ln>
            <a:noFill/>
          </a:ln>
        </p:spPr>
      </p:sp>
      <p:sp>
        <p:nvSpPr>
          <p:cNvPr id="17" name="footer-left"/>
          <p:cNvSpPr txBox="1"/>
          <p:nvPr/>
        </p:nvSpPr>
        <p:spPr>
          <a:xfrm>
            <a:off x="762000" y="6553200"/>
            <a:ext cx="5080000" cy="203200"/>
          </a:xfrm>
          <a:prstGeom prst="rect">
            <a:avLst/>
          </a:prstGeom>
          <a:noFill/>
          <a:ln>
            <a:noFill/>
          </a:ln>
        </p:spPr>
        <p:txBody>
          <a:bodyPr lIns="0" rIns="0" tIns="0" bIns="0" wrap="none" rtlCol="0"/>
          <a:lstStyle/>
          <a:p>
            <a:pPr>
              <a:lnSpc>
                <a:spcPct val="120000"/>
              </a:lnSpc>
            </a:pPr>
            <a:r>
              <a:rPr lang="en-US" sz="1000" noProof="1">
                <a:solidFill>
                  <a:srgbClr val="6E6A62"/>
                </a:solidFill>
                <a:latin typeface="MiSans"/>
                <a:ea typeface="MiSans"/>
              </a:rPr>
              <a:t>CIE A-Level Physics 9702 · Topic 9 电学</a:t>
            </a:r>
            <a:endParaRPr lang="en-US" sz="1000" noProof="1"/>
          </a:p>
        </p:txBody>
      </p:sp>
      <p:sp>
        <p:nvSpPr>
          <p:cNvPr id="18" name="page-num"/>
          <p:cNvSpPr txBox="1"/>
          <p:nvPr/>
        </p:nvSpPr>
        <p:spPr>
          <a:xfrm>
            <a:off x="10922000" y="6553200"/>
            <a:ext cx="508000" cy="203200"/>
          </a:xfrm>
          <a:prstGeom prst="rect">
            <a:avLst/>
          </a:prstGeom>
          <a:noFill/>
          <a:ln>
            <a:noFill/>
          </a:ln>
        </p:spPr>
        <p:txBody>
          <a:bodyPr lIns="0" rIns="0" tIns="0" bIns="0" wrap="none" rtlCol="0" anchor="t"/>
          <a:lstStyle/>
          <a:p>
            <a:pPr algn="r">
              <a:lnSpc>
                <a:spcPct val="120000"/>
              </a:lnSpc>
            </a:pPr>
            <a:r>
              <a:rPr lang="en-US" sz="1000" noProof="1">
                <a:solidFill>
                  <a:srgbClr val="6E6A62"/>
                </a:solidFill>
                <a:latin typeface="MiSans"/>
                <a:ea typeface="MiSans"/>
              </a:rPr>
              <a:t>09</a:t>
            </a:r>
            <a:endParaRPr lang="en-US" sz="1000" noProof="1"/>
          </a:p>
        </p:txBody>
      </p:sp>
    </p:spTree>
  </p:cSld>
  <p:clrMapOvr>
    <a:masterClrMapping/>
  </p:clrMapOvr>
</p:sld>
</file>

<file path=ppt/slides/slide10.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8F4"/>
        </a:solidFill>
      </p:bgPr>
    </p:bg>
    <p:spTree>
      <p:nvGrpSpPr>
        <p:cNvPr id="1" name=""/>
        <p:cNvGrpSpPr/>
        <p:nvPr/>
      </p:nvGrpSpPr>
      <p:grpSpPr>
        <a:xfrm>
          <a:off x="0" y="0"/>
          <a:ext cx="0" cy="0"/>
          <a:chOff x="0" y="0"/>
          <a:chExt cx="0" cy="0"/>
        </a:xfrm>
      </p:grpSpPr>
      <p:sp>
        <p:nvSpPr>
          <p:cNvPr id="2" name="kicker"/>
          <p:cNvSpPr txBox="1"/>
          <p:nvPr/>
        </p:nvSpPr>
        <p:spPr>
          <a:xfrm>
            <a:off x="762000" y="330200"/>
            <a:ext cx="6350000" cy="203200"/>
          </a:xfrm>
          <a:prstGeom prst="rect">
            <a:avLst/>
          </a:prstGeom>
          <a:noFill/>
          <a:ln>
            <a:noFill/>
          </a:ln>
        </p:spPr>
        <p:txBody>
          <a:bodyPr lIns="0" rIns="0" tIns="0" bIns="0" wrap="none" rtlCol="0"/>
          <a:lstStyle/>
          <a:p>
            <a:pPr>
              <a:lnSpc>
                <a:spcPct val="120000"/>
              </a:lnSpc>
            </a:pPr>
            <a:r>
              <a:rPr lang="en-US" sz="1100" noProof="1" b="1" spc="200" kern="0">
                <a:solidFill>
                  <a:srgbClr val="0E5A55"/>
                </a:solidFill>
                <a:latin typeface="MiSans"/>
                <a:ea typeface="MiSans"/>
              </a:rPr>
              <a:t>9.3 · SUPERCONDUCTORS AND LDRs</a:t>
            </a:r>
            <a:endParaRPr lang="en-US" sz="1100" noProof="1"/>
          </a:p>
        </p:txBody>
      </p:sp>
      <p:sp>
        <p:nvSpPr>
          <p:cNvPr id="3" name="title"/>
          <p:cNvSpPr txBox="1"/>
          <p:nvPr/>
        </p:nvSpPr>
        <p:spPr>
          <a:xfrm>
            <a:off x="762000" y="584200"/>
            <a:ext cx="10668000" cy="457200"/>
          </a:xfrm>
          <a:prstGeom prst="rect">
            <a:avLst/>
          </a:prstGeom>
          <a:noFill/>
          <a:ln>
            <a:noFill/>
          </a:ln>
        </p:spPr>
        <p:txBody>
          <a:bodyPr lIns="0" rIns="0" tIns="0" bIns="0" wrap="none" rtlCol="0"/>
          <a:lstStyle/>
          <a:p>
            <a:pPr>
              <a:lnSpc>
                <a:spcPct val="120000"/>
              </a:lnSpc>
            </a:pPr>
            <a:r>
              <a:rPr lang="en-US" sz="2600" noProof="1" b="1">
                <a:solidFill>
                  <a:srgbClr val="22303A"/>
                </a:solidFill>
                <a:latin typeface="MiSans"/>
                <a:ea typeface="MiSans"/>
              </a:rPr>
              <a:t>超导体与光敏电阻 LDR</a:t>
            </a:r>
            <a:endParaRPr lang="en-US" sz="2600" noProof="1"/>
          </a:p>
        </p:txBody>
      </p:sp>
      <p:sp>
        <p:nvSpPr>
          <p:cNvPr id="4" name="title-en"/>
          <p:cNvSpPr txBox="1"/>
          <p:nvPr/>
        </p:nvSpPr>
        <p:spPr>
          <a:xfrm>
            <a:off x="762000" y="1066800"/>
            <a:ext cx="10668000" cy="254000"/>
          </a:xfrm>
          <a:prstGeom prst="rect">
            <a:avLst/>
          </a:prstGeom>
          <a:noFill/>
          <a:ln>
            <a:noFill/>
          </a:ln>
        </p:spPr>
        <p:txBody>
          <a:bodyPr lIns="0" rIns="0" tIns="0" bIns="0" wrap="none" rtlCol="0"/>
          <a:lstStyle/>
          <a:p>
            <a:pPr>
              <a:lnSpc>
                <a:spcPct val="120000"/>
              </a:lnSpc>
            </a:pPr>
            <a:r>
              <a:rPr lang="en-US" sz="1300" noProof="1">
                <a:solidFill>
                  <a:srgbClr val="6E6A62"/>
                </a:solidFill>
                <a:latin typeface="MiSans"/>
                <a:ea typeface="MiSans"/>
              </a:rPr>
              <a:t>Zero resistivity below the critical temperature · resistance that falls with light</a:t>
            </a:r>
            <a:endParaRPr lang="en-US" sz="1300" noProof="1"/>
          </a:p>
        </p:txBody>
      </p:sp>
      <p:sp>
        <p:nvSpPr>
          <p:cNvPr id="5" name="rule-top"/>
          <p:cNvSpPr/>
          <p:nvPr/>
        </p:nvSpPr>
        <p:spPr>
          <a:xfrm>
            <a:off x="762000" y="1422400"/>
            <a:ext cx="10668000" cy="19050"/>
          </a:xfrm>
          <a:prstGeom prst="rect">
            <a:avLst/>
          </a:prstGeom>
          <a:solidFill>
            <a:srgbClr val="D8D2C8"/>
          </a:solidFill>
          <a:ln>
            <a:noFill/>
          </a:ln>
        </p:spPr>
      </p:sp>
      <p:sp>
        <p:nvSpPr>
          <p:cNvPr id="6" name="sc-box"/>
          <p:cNvSpPr/>
          <p:nvPr/>
        </p:nvSpPr>
        <p:spPr>
          <a:xfrm>
            <a:off x="762000" y="1701800"/>
            <a:ext cx="5143500" cy="3048000"/>
          </a:xfrm>
          <a:prstGeom prst="rect">
            <a:avLst/>
          </a:prstGeom>
          <a:solidFill>
            <a:srgbClr val="FFFFFF"/>
          </a:solidFill>
          <a:ln>
            <a:noFill/>
          </a:ln>
        </p:spPr>
      </p:sp>
      <p:sp>
        <p:nvSpPr>
          <p:cNvPr id="7" name="sc-head"/>
          <p:cNvSpPr txBox="1"/>
          <p:nvPr/>
        </p:nvSpPr>
        <p:spPr>
          <a:xfrm>
            <a:off x="965200" y="1854200"/>
            <a:ext cx="4699000" cy="304800"/>
          </a:xfrm>
          <a:prstGeom prst="rect">
            <a:avLst/>
          </a:prstGeom>
          <a:noFill/>
          <a:ln>
            <a:noFill/>
          </a:ln>
        </p:spPr>
        <p:txBody>
          <a:bodyPr lIns="0" rIns="0" tIns="0" bIns="0" wrap="none" rtlCol="0"/>
          <a:lstStyle/>
          <a:p>
            <a:pPr>
              <a:lnSpc>
                <a:spcPct val="120000"/>
              </a:lnSpc>
            </a:pPr>
            <a:r>
              <a:rPr lang="en-US" sz="1500" noProof="1" b="1">
                <a:solidFill>
                  <a:srgbClr val="0E5A55"/>
                </a:solidFill>
                <a:latin typeface="MiSans"/>
                <a:ea typeface="MiSans"/>
              </a:rPr>
              <a:t>超导体 Superconductor</a:t>
            </a:r>
            <a:endParaRPr lang="en-US" sz="1500" noProof="1"/>
          </a:p>
        </p:txBody>
      </p:sp>
      <p:sp>
        <p:nvSpPr>
          <p:cNvPr id="8" name="sc-body"/>
          <p:cNvSpPr txBox="1"/>
          <p:nvPr/>
        </p:nvSpPr>
        <p:spPr>
          <a:xfrm>
            <a:off x="965200" y="2260600"/>
            <a:ext cx="4699000" cy="2362200"/>
          </a:xfrm>
          <a:prstGeom prst="rect">
            <a:avLst/>
          </a:prstGeom>
          <a:noFill/>
          <a:ln>
            <a:noFill/>
          </a:ln>
        </p:spPr>
        <p:txBody>
          <a:bodyPr lIns="0" rIns="0" tIns="0" bIns="0" wrap="square" rtlCol="0"/>
          <a:lstStyle/>
          <a:p>
            <a:pPr>
              <a:lnSpc>
                <a:spcPct val="155000"/>
              </a:lnSpc>
            </a:pPr>
            <a:r>
              <a:rPr lang="en-US" sz="1350" noProof="1">
                <a:solidFill>
                  <a:srgbClr val="22303A"/>
                </a:solidFill>
                <a:latin typeface="MiSans"/>
                <a:ea typeface="MiSans"/>
              </a:rPr>
              <a:t>温度低于</a:t>
            </a:r>
            <a:r>
              <a:rPr lang="en-US" sz="1350" noProof="1" b="1">
                <a:solidFill>
                  <a:srgbClr val="22303A"/>
                </a:solidFill>
                <a:latin typeface="MiSans"/>
                <a:ea typeface="MiSans"/>
              </a:rPr>
              <a:t>临界温度</a:t>
            </a:r>
            <a:r>
              <a:rPr lang="en-US" sz="1350" noProof="1">
                <a:solidFill>
                  <a:srgbClr val="22303A"/>
                </a:solidFill>
                <a:latin typeface="MiSans"/>
                <a:ea typeface="MiSans"/>
              </a:rPr>
              <a:t> critical temperature 时，电阻率突降为</a:t>
            </a:r>
            <a:r>
              <a:rPr lang="en-US" sz="1350" noProof="1" b="1">
                <a:solidFill>
                  <a:srgbClr val="22303A"/>
                </a:solidFill>
                <a:latin typeface="MiSans"/>
                <a:ea typeface="MiSans"/>
              </a:rPr>
              <a:t>零</a:t>
            </a:r>
            <a:r>
              <a:rPr lang="en-US" sz="1350" noProof="1">
                <a:solidFill>
                  <a:srgbClr val="22303A"/>
                </a:solidFill>
                <a:latin typeface="MiSans"/>
                <a:ea typeface="MiSans"/>
              </a:rPr>
              <a:t>的材料。</a:t>
            </a:r>
            <a:endParaRPr lang="en-US" sz="1350" noProof="1"/>
          </a:p>
          <a:p>
            <a:pPr>
              <a:lnSpc>
                <a:spcPct val="155000"/>
              </a:lnSpc>
            </a:pPr>
            <a:r>
              <a:rPr lang="en-US" sz="1350" noProof="1">
                <a:solidFill>
                  <a:srgbClr val="22303A"/>
                </a:solidFill>
                <a:latin typeface="MiSans"/>
                <a:ea typeface="MiSans"/>
              </a:rPr>
              <a:t>· 临界温度很低：多数材料要接近 0 K（−273 °C）。</a:t>
            </a:r>
            <a:endParaRPr lang="en-US" sz="1350" noProof="1"/>
          </a:p>
          <a:p>
            <a:pPr>
              <a:lnSpc>
                <a:spcPct val="155000"/>
              </a:lnSpc>
            </a:pPr>
            <a:r>
              <a:rPr lang="en-US" sz="1350" noProof="1" b="1">
                <a:solidFill>
                  <a:srgbClr val="22303A"/>
                </a:solidFill>
                <a:latin typeface="MiSans"/>
                <a:ea typeface="MiSans"/>
              </a:rPr>
              <a:t>应用：</a:t>
            </a:r>
            <a:endParaRPr lang="en-US" sz="1350" noProof="1"/>
          </a:p>
          <a:p>
            <a:pPr>
              <a:lnSpc>
                <a:spcPct val="155000"/>
              </a:lnSpc>
            </a:pPr>
            <a:r>
              <a:rPr lang="en-US" sz="1350" noProof="1">
                <a:solidFill>
                  <a:srgbClr val="22303A"/>
                </a:solidFill>
                <a:latin typeface="MiSans"/>
                <a:ea typeface="MiSans"/>
              </a:rPr>
              <a:t>· </a:t>
            </a:r>
            <a:r>
              <a:rPr lang="en-US" sz="1350" noProof="1" b="1">
                <a:solidFill>
                  <a:srgbClr val="22303A"/>
                </a:solidFill>
                <a:latin typeface="MiSans"/>
                <a:ea typeface="MiSans"/>
              </a:rPr>
              <a:t>输电线</a:t>
            </a:r>
            <a:r>
              <a:rPr lang="en-US" sz="1350" noProof="1">
                <a:solidFill>
                  <a:srgbClr val="22303A"/>
                </a:solidFill>
                <a:latin typeface="MiSans"/>
                <a:ea typeface="MiSans"/>
              </a:rPr>
              <a:t> power cables：零电阻 → 传输零发热损耗；</a:t>
            </a:r>
            <a:endParaRPr lang="en-US" sz="1350" noProof="1"/>
          </a:p>
          <a:p>
            <a:pPr>
              <a:lnSpc>
                <a:spcPct val="155000"/>
              </a:lnSpc>
            </a:pPr>
            <a:r>
              <a:rPr lang="en-US" sz="1350" noProof="1">
                <a:solidFill>
                  <a:srgbClr val="22303A"/>
                </a:solidFill>
                <a:latin typeface="MiSans"/>
                <a:ea typeface="MiSans"/>
              </a:rPr>
              <a:t>· </a:t>
            </a:r>
            <a:r>
              <a:rPr lang="en-US" sz="1350" noProof="1" b="1">
                <a:solidFill>
                  <a:srgbClr val="22303A"/>
                </a:solidFill>
                <a:latin typeface="MiSans"/>
                <a:ea typeface="MiSans"/>
              </a:rPr>
              <a:t>强电磁铁</a:t>
            </a:r>
            <a:r>
              <a:rPr lang="en-US" sz="1350" noProof="1">
                <a:solidFill>
                  <a:srgbClr val="22303A"/>
                </a:solidFill>
                <a:latin typeface="MiSans"/>
                <a:ea typeface="MiSans"/>
              </a:rPr>
              <a:t>：大电流不发热 → 磁悬浮列车 maglev trains、MRI 医疗成像。</a:t>
            </a:r>
            <a:endParaRPr lang="en-US" sz="1350" noProof="1"/>
          </a:p>
        </p:txBody>
      </p:sp>
      <p:sp>
        <p:nvSpPr>
          <p:cNvPr id="9" name="ldr-box"/>
          <p:cNvSpPr/>
          <p:nvPr/>
        </p:nvSpPr>
        <p:spPr>
          <a:xfrm>
            <a:off x="6286500" y="1701800"/>
            <a:ext cx="5143500" cy="3048000"/>
          </a:xfrm>
          <a:prstGeom prst="rect">
            <a:avLst/>
          </a:prstGeom>
          <a:solidFill>
            <a:srgbClr val="FFFFFF"/>
          </a:solidFill>
          <a:ln>
            <a:noFill/>
          </a:ln>
        </p:spPr>
      </p:sp>
      <p:sp>
        <p:nvSpPr>
          <p:cNvPr id="10" name="ldr-head"/>
          <p:cNvSpPr txBox="1"/>
          <p:nvPr/>
        </p:nvSpPr>
        <p:spPr>
          <a:xfrm>
            <a:off x="6489700" y="1854200"/>
            <a:ext cx="4699000" cy="304800"/>
          </a:xfrm>
          <a:prstGeom prst="rect">
            <a:avLst/>
          </a:prstGeom>
          <a:noFill/>
          <a:ln>
            <a:noFill/>
          </a:ln>
        </p:spPr>
        <p:txBody>
          <a:bodyPr lIns="0" rIns="0" tIns="0" bIns="0" wrap="none" rtlCol="0"/>
          <a:lstStyle/>
          <a:p>
            <a:pPr>
              <a:lnSpc>
                <a:spcPct val="120000"/>
              </a:lnSpc>
            </a:pPr>
            <a:r>
              <a:rPr lang="en-US" sz="1500" noProof="1" b="1">
                <a:solidFill>
                  <a:srgbClr val="0E5A55"/>
                </a:solidFill>
                <a:latin typeface="MiSans"/>
                <a:ea typeface="MiSans"/>
              </a:rPr>
              <a:t>光敏电阻 LDR</a:t>
            </a:r>
            <a:endParaRPr lang="en-US" sz="1500" noProof="1"/>
          </a:p>
        </p:txBody>
      </p:sp>
      <p:sp>
        <p:nvSpPr>
          <p:cNvPr id="11" name="ldr-body"/>
          <p:cNvSpPr txBox="1"/>
          <p:nvPr/>
        </p:nvSpPr>
        <p:spPr>
          <a:xfrm>
            <a:off x="6489700" y="2260600"/>
            <a:ext cx="4699000" cy="2362200"/>
          </a:xfrm>
          <a:prstGeom prst="rect">
            <a:avLst/>
          </a:prstGeom>
          <a:noFill/>
          <a:ln>
            <a:noFill/>
          </a:ln>
        </p:spPr>
        <p:txBody>
          <a:bodyPr lIns="0" rIns="0" tIns="0" bIns="0" wrap="square" rtlCol="0"/>
          <a:lstStyle/>
          <a:p>
            <a:pPr>
              <a:lnSpc>
                <a:spcPct val="155000"/>
              </a:lnSpc>
            </a:pPr>
            <a:r>
              <a:rPr lang="en-US" sz="1350" noProof="1">
                <a:solidFill>
                  <a:srgbClr val="22303A"/>
                </a:solidFill>
                <a:latin typeface="MiSans"/>
                <a:ea typeface="MiSans"/>
              </a:rPr>
              <a:t>Light dependent resistor：光照越强，电阻</a:t>
            </a:r>
            <a:r>
              <a:rPr lang="en-US" sz="1350" noProof="1" b="1">
                <a:solidFill>
                  <a:srgbClr val="22303A"/>
                </a:solidFill>
                <a:latin typeface="MiSans"/>
                <a:ea typeface="MiSans"/>
              </a:rPr>
              <a:t>越小</a:t>
            </a:r>
            <a:r>
              <a:rPr lang="en-US" sz="1350" noProof="1">
                <a:solidFill>
                  <a:srgbClr val="22303A"/>
                </a:solidFill>
                <a:latin typeface="MiSans"/>
                <a:ea typeface="MiSans"/>
              </a:rPr>
              <a:t>（光子能量释放更多载流子，与热敏电阻同机理）。</a:t>
            </a:r>
            <a:endParaRPr lang="en-US" sz="1350" noProof="1"/>
          </a:p>
          <a:p>
            <a:pPr>
              <a:lnSpc>
                <a:spcPct val="155000"/>
              </a:lnSpc>
            </a:pPr>
            <a:r>
              <a:rPr lang="en-US" sz="1350" noProof="1" b="1">
                <a:solidFill>
                  <a:srgbClr val="22303A"/>
                </a:solidFill>
                <a:latin typeface="MiSans"/>
                <a:ea typeface="MiSans"/>
              </a:rPr>
              <a:t>分压器分析三步推</a:t>
            </a:r>
            <a:r>
              <a:rPr lang="en-US" sz="1350" noProof="1">
                <a:solidFill>
                  <a:srgbClr val="22303A"/>
                </a:solidFill>
                <a:latin typeface="MiSans"/>
                <a:ea typeface="MiSans"/>
              </a:rPr>
              <a:t>（LDR 与定值电阻串联）：</a:t>
            </a:r>
            <a:endParaRPr lang="en-US" sz="1350" noProof="1"/>
          </a:p>
          <a:p>
            <a:pPr>
              <a:lnSpc>
                <a:spcPct val="155000"/>
              </a:lnSpc>
            </a:pPr>
            <a:r>
              <a:rPr lang="en-US" sz="1350" noProof="1">
                <a:solidFill>
                  <a:srgbClr val="22303A"/>
                </a:solidFill>
                <a:latin typeface="MiSans"/>
                <a:ea typeface="MiSans"/>
              </a:rPr>
              <a:t>光照↑ → R</a:t>
            </a:r>
            <a:r>
              <a:rPr lang="en-US" sz="1350" noProof="1" baseline="-25000">
                <a:solidFill>
                  <a:srgbClr val="22303A"/>
                </a:solidFill>
                <a:latin typeface="MiSans"/>
                <a:ea typeface="MiSans"/>
              </a:rPr>
              <a:t>LDR</a:t>
            </a:r>
            <a:r>
              <a:rPr lang="en-US" sz="1350" noProof="1">
                <a:solidFill>
                  <a:srgbClr val="22303A"/>
                </a:solidFill>
                <a:latin typeface="MiSans"/>
                <a:ea typeface="MiSans"/>
              </a:rPr>
              <a:t>↓ → 总电阻↓ → 电流 I↑ → 定值电阻分压 V = IR ↑。</a:t>
            </a:r>
            <a:endParaRPr lang="en-US" sz="1350" noProof="1"/>
          </a:p>
        </p:txBody>
      </p:sp>
      <p:sp>
        <p:nvSpPr>
          <p:cNvPr id="12" name="step-box"/>
          <p:cNvSpPr/>
          <p:nvPr/>
        </p:nvSpPr>
        <p:spPr>
          <a:xfrm>
            <a:off x="762000" y="4978400"/>
            <a:ext cx="10668000" cy="1219200"/>
          </a:xfrm>
          <a:prstGeom prst="rect">
            <a:avLst/>
          </a:prstGeom>
          <a:solidFill>
            <a:srgbClr val="EFE9DF"/>
          </a:solidFill>
          <a:ln>
            <a:noFill/>
          </a:ln>
        </p:spPr>
      </p:sp>
      <p:sp>
        <p:nvSpPr>
          <p:cNvPr id="13" name="step-head"/>
          <p:cNvSpPr txBox="1"/>
          <p:nvPr/>
        </p:nvSpPr>
        <p:spPr>
          <a:xfrm>
            <a:off x="965200" y="5105400"/>
            <a:ext cx="5080000" cy="279400"/>
          </a:xfrm>
          <a:prstGeom prst="rect">
            <a:avLst/>
          </a:prstGeom>
          <a:noFill/>
          <a:ln>
            <a:noFill/>
          </a:ln>
        </p:spPr>
        <p:txBody>
          <a:bodyPr lIns="0" rIns="0" tIns="0" bIns="0" wrap="none" rtlCol="0"/>
          <a:lstStyle/>
          <a:p>
            <a:pPr>
              <a:lnSpc>
                <a:spcPct val="120000"/>
              </a:lnSpc>
            </a:pPr>
            <a:r>
              <a:rPr lang="en-US" sz="1500" noProof="1" b="1">
                <a:solidFill>
                  <a:srgbClr val="0E5A55"/>
                </a:solidFill>
                <a:latin typeface="MiSans"/>
                <a:ea typeface="MiSans"/>
              </a:rPr>
              <a:t>传感器分压题 · 万能推理链</a:t>
            </a:r>
            <a:endParaRPr lang="en-US" sz="1500" noProof="1"/>
          </a:p>
        </p:txBody>
      </p:sp>
      <p:sp>
        <p:nvSpPr>
          <p:cNvPr id="14" name="step-text"/>
          <p:cNvSpPr txBox="1"/>
          <p:nvPr/>
        </p:nvSpPr>
        <p:spPr>
          <a:xfrm>
            <a:off x="965200" y="5435600"/>
            <a:ext cx="10261600" cy="685800"/>
          </a:xfrm>
          <a:prstGeom prst="rect">
            <a:avLst/>
          </a:prstGeom>
          <a:noFill/>
          <a:ln>
            <a:noFill/>
          </a:ln>
        </p:spPr>
        <p:txBody>
          <a:bodyPr lIns="0" rIns="0" tIns="0" bIns="0" wrap="square" rtlCol="0"/>
          <a:lstStyle/>
          <a:p>
            <a:pPr>
              <a:lnSpc>
                <a:spcPct val="150000"/>
              </a:lnSpc>
            </a:pPr>
            <a:r>
              <a:rPr lang="en-US" sz="1250" noProof="1">
                <a:solidFill>
                  <a:srgbClr val="22303A"/>
                </a:solidFill>
                <a:latin typeface="MiSans"/>
                <a:ea typeface="MiSans"/>
              </a:rPr>
              <a:t>环境变化（光/温度）→ </a:t>
            </a:r>
            <a:r>
              <a:rPr lang="en-US" sz="1250" noProof="1" b="1">
                <a:solidFill>
                  <a:srgbClr val="22303A"/>
                </a:solidFill>
                <a:latin typeface="MiSans"/>
                <a:ea typeface="MiSans"/>
              </a:rPr>
              <a:t>传感器电阻怎么变</a:t>
            </a:r>
            <a:r>
              <a:rPr lang="en-US" sz="1250" noProof="1">
                <a:solidFill>
                  <a:srgbClr val="22303A"/>
                </a:solidFill>
                <a:latin typeface="MiSans"/>
                <a:ea typeface="MiSans"/>
              </a:rPr>
              <a:t> → 串联总电阻 → 电流 I → </a:t>
            </a:r>
            <a:r>
              <a:rPr lang="en-US" sz="1250" noProof="1" b="1">
                <a:solidFill>
                  <a:srgbClr val="22303A"/>
                </a:solidFill>
                <a:latin typeface="MiSans"/>
                <a:ea typeface="MiSans"/>
              </a:rPr>
              <a:t>定值电阻上的电压 V = IR</a:t>
            </a:r>
            <a:r>
              <a:rPr lang="en-US" sz="1250" noProof="1">
                <a:solidFill>
                  <a:srgbClr val="22303A"/>
                </a:solidFill>
                <a:latin typeface="MiSans"/>
                <a:ea typeface="MiSans"/>
              </a:rPr>
              <a:t>。</a:t>
            </a:r>
            <a:endParaRPr lang="en-US" sz="1250" noProof="1"/>
          </a:p>
          <a:p>
            <a:pPr>
              <a:lnSpc>
                <a:spcPct val="150000"/>
              </a:lnSpc>
            </a:pPr>
            <a:r>
              <a:rPr lang="en-US" sz="1250" noProof="1">
                <a:solidFill>
                  <a:srgbClr val="C96F16"/>
                </a:solidFill>
                <a:latin typeface="MiSans"/>
                <a:ea typeface="MiSans"/>
              </a:rPr>
              <a:t>答题顺着链条写，每一步都有分；问"输出电压怎么变"先看输出接在哪个元件两端。</a:t>
            </a:r>
            <a:endParaRPr lang="en-US" sz="1250" noProof="1"/>
          </a:p>
        </p:txBody>
      </p:sp>
      <p:sp>
        <p:nvSpPr>
          <p:cNvPr id="15" name="footer-rule"/>
          <p:cNvSpPr/>
          <p:nvPr/>
        </p:nvSpPr>
        <p:spPr>
          <a:xfrm>
            <a:off x="762000" y="6451600"/>
            <a:ext cx="10668000" cy="12700"/>
          </a:xfrm>
          <a:prstGeom prst="rect">
            <a:avLst/>
          </a:prstGeom>
          <a:solidFill>
            <a:srgbClr val="D8D2C8"/>
          </a:solidFill>
          <a:ln>
            <a:noFill/>
          </a:ln>
        </p:spPr>
      </p:sp>
      <p:sp>
        <p:nvSpPr>
          <p:cNvPr id="16" name="footer-left"/>
          <p:cNvSpPr txBox="1"/>
          <p:nvPr/>
        </p:nvSpPr>
        <p:spPr>
          <a:xfrm>
            <a:off x="762000" y="6553200"/>
            <a:ext cx="5080000" cy="203200"/>
          </a:xfrm>
          <a:prstGeom prst="rect">
            <a:avLst/>
          </a:prstGeom>
          <a:noFill/>
          <a:ln>
            <a:noFill/>
          </a:ln>
        </p:spPr>
        <p:txBody>
          <a:bodyPr lIns="0" rIns="0" tIns="0" bIns="0" wrap="none" rtlCol="0"/>
          <a:lstStyle/>
          <a:p>
            <a:pPr>
              <a:lnSpc>
                <a:spcPct val="120000"/>
              </a:lnSpc>
            </a:pPr>
            <a:r>
              <a:rPr lang="en-US" sz="1000" noProof="1">
                <a:solidFill>
                  <a:srgbClr val="6E6A62"/>
                </a:solidFill>
                <a:latin typeface="MiSans"/>
                <a:ea typeface="MiSans"/>
              </a:rPr>
              <a:t>CIE A-Level Physics 9702 · Topic 9 电学</a:t>
            </a:r>
            <a:endParaRPr lang="en-US" sz="1000" noProof="1"/>
          </a:p>
        </p:txBody>
      </p:sp>
      <p:sp>
        <p:nvSpPr>
          <p:cNvPr id="17" name="page-num"/>
          <p:cNvSpPr txBox="1"/>
          <p:nvPr/>
        </p:nvSpPr>
        <p:spPr>
          <a:xfrm>
            <a:off x="10922000" y="6553200"/>
            <a:ext cx="508000" cy="203200"/>
          </a:xfrm>
          <a:prstGeom prst="rect">
            <a:avLst/>
          </a:prstGeom>
          <a:noFill/>
          <a:ln>
            <a:noFill/>
          </a:ln>
        </p:spPr>
        <p:txBody>
          <a:bodyPr lIns="0" rIns="0" tIns="0" bIns="0" wrap="none" rtlCol="0" anchor="t"/>
          <a:lstStyle/>
          <a:p>
            <a:pPr algn="r">
              <a:lnSpc>
                <a:spcPct val="120000"/>
              </a:lnSpc>
            </a:pPr>
            <a:r>
              <a:rPr lang="en-US" sz="1000" noProof="1">
                <a:solidFill>
                  <a:srgbClr val="6E6A62"/>
                </a:solidFill>
                <a:latin typeface="MiSans"/>
                <a:ea typeface="MiSans"/>
              </a:rPr>
              <a:t>10</a:t>
            </a:r>
            <a:endParaRPr lang="en-US" sz="1000" noProof="1"/>
          </a:p>
        </p:txBody>
      </p:sp>
    </p:spTree>
  </p:cSld>
  <p:clrMapOvr>
    <a:masterClrMapping/>
  </p:clrMapOvr>
</p:sld>
</file>

<file path=ppt/slides/slide11.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8F4"/>
        </a:solidFill>
      </p:bgPr>
    </p:bg>
    <p:spTree>
      <p:nvGrpSpPr>
        <p:cNvPr id="1" name=""/>
        <p:cNvGrpSpPr/>
        <p:nvPr/>
      </p:nvGrpSpPr>
      <p:grpSpPr>
        <a:xfrm>
          <a:off x="0" y="0"/>
          <a:ext cx="0" cy="0"/>
          <a:chOff x="0" y="0"/>
          <a:chExt cx="0" cy="0"/>
        </a:xfrm>
      </p:grpSpPr>
      <p:sp>
        <p:nvSpPr>
          <p:cNvPr id="2" name="kicker"/>
          <p:cNvSpPr txBox="1"/>
          <p:nvPr/>
        </p:nvSpPr>
        <p:spPr>
          <a:xfrm>
            <a:off x="762000" y="330200"/>
            <a:ext cx="6350000" cy="203200"/>
          </a:xfrm>
          <a:prstGeom prst="rect">
            <a:avLst/>
          </a:prstGeom>
          <a:noFill/>
          <a:ln>
            <a:noFill/>
          </a:ln>
        </p:spPr>
        <p:txBody>
          <a:bodyPr lIns="0" rIns="0" tIns="0" bIns="0" wrap="none" rtlCol="0"/>
          <a:lstStyle/>
          <a:p>
            <a:pPr>
              <a:lnSpc>
                <a:spcPct val="120000"/>
              </a:lnSpc>
            </a:pPr>
            <a:r>
              <a:rPr lang="en-US" sz="1100" noProof="1" b="1" spc="200" kern="0">
                <a:solidFill>
                  <a:srgbClr val="0E5A55"/>
                </a:solidFill>
                <a:latin typeface="MiSans"/>
                <a:ea typeface="MiSans"/>
              </a:rPr>
              <a:t>WORKED EXAMPLE · 例题精讲</a:t>
            </a:r>
            <a:endParaRPr lang="en-US" sz="1100" noProof="1"/>
          </a:p>
        </p:txBody>
      </p:sp>
      <p:sp>
        <p:nvSpPr>
          <p:cNvPr id="3" name="title"/>
          <p:cNvSpPr txBox="1"/>
          <p:nvPr/>
        </p:nvSpPr>
        <p:spPr>
          <a:xfrm>
            <a:off x="762000" y="584200"/>
            <a:ext cx="10668000" cy="457200"/>
          </a:xfrm>
          <a:prstGeom prst="rect">
            <a:avLst/>
          </a:prstGeom>
          <a:noFill/>
          <a:ln>
            <a:noFill/>
          </a:ln>
        </p:spPr>
        <p:txBody>
          <a:bodyPr lIns="0" rIns="0" tIns="0" bIns="0" wrap="none" rtlCol="0"/>
          <a:lstStyle/>
          <a:p>
            <a:pPr>
              <a:lnSpc>
                <a:spcPct val="120000"/>
              </a:lnSpc>
            </a:pPr>
            <a:r>
              <a:rPr lang="en-US" sz="2600" noProof="1" b="1">
                <a:solidFill>
                  <a:srgbClr val="22303A"/>
                </a:solidFill>
                <a:latin typeface="MiSans"/>
                <a:ea typeface="MiSans"/>
              </a:rPr>
              <a:t>例题：漂移速度到底有多慢？</a:t>
            </a:r>
            <a:endParaRPr lang="en-US" sz="2600" noProof="1"/>
          </a:p>
        </p:txBody>
      </p:sp>
      <p:sp>
        <p:nvSpPr>
          <p:cNvPr id="4" name="title-en"/>
          <p:cNvSpPr txBox="1"/>
          <p:nvPr/>
        </p:nvSpPr>
        <p:spPr>
          <a:xfrm>
            <a:off x="762000" y="1066800"/>
            <a:ext cx="10668000" cy="254000"/>
          </a:xfrm>
          <a:prstGeom prst="rect">
            <a:avLst/>
          </a:prstGeom>
          <a:noFill/>
          <a:ln>
            <a:noFill/>
          </a:ln>
        </p:spPr>
        <p:txBody>
          <a:bodyPr lIns="0" rIns="0" tIns="0" bIns="0" wrap="none" rtlCol="0"/>
          <a:lstStyle/>
          <a:p>
            <a:pPr>
              <a:lnSpc>
                <a:spcPct val="120000"/>
              </a:lnSpc>
            </a:pPr>
            <a:r>
              <a:rPr lang="en-US" sz="1300" noProof="1">
                <a:solidFill>
                  <a:srgbClr val="6E6A62"/>
                </a:solidFill>
                <a:latin typeface="MiSans"/>
                <a:ea typeface="MiSans"/>
              </a:rPr>
              <a:t>A full I = nAvq calculation, exam style</a:t>
            </a:r>
            <a:endParaRPr lang="en-US" sz="1300" noProof="1"/>
          </a:p>
        </p:txBody>
      </p:sp>
      <p:sp>
        <p:nvSpPr>
          <p:cNvPr id="5" name="rule-top"/>
          <p:cNvSpPr/>
          <p:nvPr/>
        </p:nvSpPr>
        <p:spPr>
          <a:xfrm>
            <a:off x="762000" y="1422400"/>
            <a:ext cx="10668000" cy="19050"/>
          </a:xfrm>
          <a:prstGeom prst="rect">
            <a:avLst/>
          </a:prstGeom>
          <a:solidFill>
            <a:srgbClr val="C96F16"/>
          </a:solidFill>
          <a:ln>
            <a:noFill/>
          </a:ln>
        </p:spPr>
      </p:sp>
      <p:sp>
        <p:nvSpPr>
          <p:cNvPr id="6" name="q-box"/>
          <p:cNvSpPr/>
          <p:nvPr/>
        </p:nvSpPr>
        <p:spPr>
          <a:xfrm>
            <a:off x="762000" y="1701800"/>
            <a:ext cx="10668000" cy="990600"/>
          </a:xfrm>
          <a:prstGeom prst="rect">
            <a:avLst/>
          </a:prstGeom>
          <a:solidFill>
            <a:srgbClr val="EFE9DF"/>
          </a:solidFill>
          <a:ln>
            <a:noFill/>
          </a:ln>
        </p:spPr>
      </p:sp>
      <p:sp>
        <p:nvSpPr>
          <p:cNvPr id="7" name="q-text"/>
          <p:cNvSpPr txBox="1"/>
          <p:nvPr/>
        </p:nvSpPr>
        <p:spPr>
          <a:xfrm>
            <a:off x="965200" y="1803400"/>
            <a:ext cx="10261600" cy="787400"/>
          </a:xfrm>
          <a:prstGeom prst="rect">
            <a:avLst/>
          </a:prstGeom>
          <a:noFill/>
          <a:ln>
            <a:noFill/>
          </a:ln>
        </p:spPr>
        <p:txBody>
          <a:bodyPr lIns="0" rIns="0" tIns="0" bIns="0" wrap="square" rtlCol="0"/>
          <a:lstStyle/>
          <a:p>
            <a:pPr>
              <a:lnSpc>
                <a:spcPct val="155000"/>
              </a:lnSpc>
            </a:pPr>
            <a:r>
              <a:rPr lang="en-US" sz="1300" noProof="1" b="1">
                <a:solidFill>
                  <a:srgbClr val="22303A"/>
                </a:solidFill>
                <a:latin typeface="MiSans"/>
                <a:ea typeface="MiSans"/>
              </a:rPr>
              <a:t>题目：</a:t>
            </a:r>
            <a:r>
              <a:rPr lang="en-US" sz="1300" noProof="1">
                <a:solidFill>
                  <a:srgbClr val="22303A"/>
                </a:solidFill>
                <a:latin typeface="MiSans"/>
                <a:ea typeface="MiSans"/>
              </a:rPr>
              <a:t>一根铜导线横截面积 1.0×10</a:t>
            </a:r>
            <a:r>
              <a:rPr lang="en-US" sz="1300" noProof="1" baseline="30000">
                <a:solidFill>
                  <a:srgbClr val="22303A"/>
                </a:solidFill>
                <a:latin typeface="MiSans"/>
                <a:ea typeface="MiSans"/>
              </a:rPr>
              <a:t>−6</a:t>
            </a:r>
            <a:r>
              <a:rPr lang="en-US" sz="1300" noProof="1">
                <a:solidFill>
                  <a:srgbClr val="22303A"/>
                </a:solidFill>
                <a:latin typeface="MiSans"/>
                <a:ea typeface="MiSans"/>
              </a:rPr>
              <a:t> m²，通有 2.0 A 电流。铜的载流子数密度 n = 8.5×10</a:t>
            </a:r>
            <a:r>
              <a:rPr lang="en-US" sz="1300" noProof="1" baseline="30000">
                <a:solidFill>
                  <a:srgbClr val="22303A"/>
                </a:solidFill>
                <a:latin typeface="MiSans"/>
                <a:ea typeface="MiSans"/>
              </a:rPr>
              <a:t>28</a:t>
            </a:r>
            <a:r>
              <a:rPr lang="en-US" sz="1300" noProof="1">
                <a:solidFill>
                  <a:srgbClr val="22303A"/>
                </a:solidFill>
                <a:latin typeface="MiSans"/>
                <a:ea typeface="MiSans"/>
              </a:rPr>
              <a:t> m</a:t>
            </a:r>
            <a:r>
              <a:rPr lang="en-US" sz="1300" noProof="1" baseline="30000">
                <a:solidFill>
                  <a:srgbClr val="22303A"/>
                </a:solidFill>
                <a:latin typeface="MiSans"/>
                <a:ea typeface="MiSans"/>
              </a:rPr>
              <a:t>−3</a:t>
            </a:r>
            <a:r>
              <a:rPr lang="en-US" sz="1300" noProof="1">
                <a:solidFill>
                  <a:srgbClr val="22303A"/>
                </a:solidFill>
                <a:latin typeface="MiSans"/>
                <a:ea typeface="MiSans"/>
              </a:rPr>
              <a:t>。求电子的平均漂移速度 v。</a:t>
            </a:r>
            <a:endParaRPr lang="en-US" sz="1300" noProof="1"/>
          </a:p>
          <a:p>
            <a:pPr>
              <a:lnSpc>
                <a:spcPct val="155000"/>
              </a:lnSpc>
            </a:pPr>
            <a:r>
              <a:rPr lang="en-US" sz="1300" noProof="1">
                <a:solidFill>
                  <a:srgbClr val="6E6A62"/>
                </a:solidFill>
                <a:latin typeface="MiSans"/>
                <a:ea typeface="MiSans"/>
              </a:rPr>
              <a:t>A copper wire of cross-sectional area 1.0×10⁻⁶ m² carries 2.0 A. Given n = 8.5×10²⁸ m⁻³, find the mean drift velocity.</a:t>
            </a:r>
            <a:endParaRPr lang="en-US" sz="1300" noProof="1"/>
          </a:p>
        </p:txBody>
      </p:sp>
      <p:sp>
        <p:nvSpPr>
          <p:cNvPr id="8" name="s1-head"/>
          <p:cNvSpPr txBox="1"/>
          <p:nvPr/>
        </p:nvSpPr>
        <p:spPr>
          <a:xfrm>
            <a:off x="762000" y="2946400"/>
            <a:ext cx="5969000" cy="304800"/>
          </a:xfrm>
          <a:prstGeom prst="rect">
            <a:avLst/>
          </a:prstGeom>
          <a:noFill/>
          <a:ln>
            <a:noFill/>
          </a:ln>
        </p:spPr>
        <p:txBody>
          <a:bodyPr lIns="0" rIns="0" tIns="0" bIns="0" wrap="none" rtlCol="0"/>
          <a:lstStyle/>
          <a:p>
            <a:pPr>
              <a:lnSpc>
                <a:spcPct val="120000"/>
              </a:lnSpc>
            </a:pPr>
            <a:r>
              <a:rPr lang="en-US" sz="1500" noProof="1" b="1">
                <a:solidFill>
                  <a:srgbClr val="0E5A55"/>
                </a:solidFill>
                <a:latin typeface="MiSans"/>
                <a:ea typeface="MiSans"/>
              </a:rPr>
              <a:t>第一步：整理已知量</a:t>
            </a:r>
            <a:endParaRPr lang="en-US" sz="1500" noProof="1"/>
          </a:p>
        </p:txBody>
      </p:sp>
      <p:sp>
        <p:nvSpPr>
          <p:cNvPr id="9" name="s1-body"/>
          <p:cNvSpPr txBox="1"/>
          <p:nvPr/>
        </p:nvSpPr>
        <p:spPr>
          <a:xfrm>
            <a:off x="762000" y="3302000"/>
            <a:ext cx="5969000" cy="1066800"/>
          </a:xfrm>
          <a:prstGeom prst="rect">
            <a:avLst/>
          </a:prstGeom>
          <a:noFill/>
          <a:ln>
            <a:noFill/>
          </a:ln>
        </p:spPr>
        <p:txBody>
          <a:bodyPr lIns="0" rIns="0" tIns="0" bIns="0" wrap="square" rtlCol="0"/>
          <a:lstStyle/>
          <a:p>
            <a:pPr>
              <a:lnSpc>
                <a:spcPct val="155000"/>
              </a:lnSpc>
            </a:pPr>
            <a:r>
              <a:rPr lang="en-US" sz="1350" noProof="1">
                <a:solidFill>
                  <a:srgbClr val="22303A"/>
                </a:solidFill>
                <a:latin typeface="MiSans"/>
                <a:ea typeface="MiSans"/>
              </a:rPr>
              <a:t>I = 2.0 A；A = 1.0×10</a:t>
            </a:r>
            <a:r>
              <a:rPr lang="en-US" sz="1350" noProof="1" baseline="30000">
                <a:solidFill>
                  <a:srgbClr val="22303A"/>
                </a:solidFill>
                <a:latin typeface="MiSans"/>
                <a:ea typeface="MiSans"/>
              </a:rPr>
              <a:t>−6</a:t>
            </a:r>
            <a:r>
              <a:rPr lang="en-US" sz="1350" noProof="1">
                <a:solidFill>
                  <a:srgbClr val="22303A"/>
                </a:solidFill>
                <a:latin typeface="MiSans"/>
                <a:ea typeface="MiSans"/>
              </a:rPr>
              <a:t> m²；</a:t>
            </a:r>
            <a:endParaRPr lang="en-US" sz="1350" noProof="1"/>
          </a:p>
          <a:p>
            <a:pPr>
              <a:lnSpc>
                <a:spcPct val="155000"/>
              </a:lnSpc>
            </a:pPr>
            <a:r>
              <a:rPr lang="en-US" sz="1350" noProof="1">
                <a:solidFill>
                  <a:srgbClr val="22303A"/>
                </a:solidFill>
                <a:latin typeface="MiSans"/>
                <a:ea typeface="MiSans"/>
              </a:rPr>
              <a:t>n = 8.5×10</a:t>
            </a:r>
            <a:r>
              <a:rPr lang="en-US" sz="1350" noProof="1" baseline="30000">
                <a:solidFill>
                  <a:srgbClr val="22303A"/>
                </a:solidFill>
                <a:latin typeface="MiSans"/>
                <a:ea typeface="MiSans"/>
              </a:rPr>
              <a:t>28</a:t>
            </a:r>
            <a:r>
              <a:rPr lang="en-US" sz="1350" noProof="1">
                <a:solidFill>
                  <a:srgbClr val="22303A"/>
                </a:solidFill>
                <a:latin typeface="MiSans"/>
                <a:ea typeface="MiSans"/>
              </a:rPr>
              <a:t> m</a:t>
            </a:r>
            <a:r>
              <a:rPr lang="en-US" sz="1350" noProof="1" baseline="30000">
                <a:solidFill>
                  <a:srgbClr val="22303A"/>
                </a:solidFill>
                <a:latin typeface="MiSans"/>
                <a:ea typeface="MiSans"/>
              </a:rPr>
              <a:t>−3</a:t>
            </a:r>
            <a:r>
              <a:rPr lang="en-US" sz="1350" noProof="1">
                <a:solidFill>
                  <a:srgbClr val="22303A"/>
                </a:solidFill>
                <a:latin typeface="MiSans"/>
                <a:ea typeface="MiSans"/>
              </a:rPr>
              <a:t>；q = e = 1.60×10</a:t>
            </a:r>
            <a:r>
              <a:rPr lang="en-US" sz="1350" noProof="1" baseline="30000">
                <a:solidFill>
                  <a:srgbClr val="22303A"/>
                </a:solidFill>
                <a:latin typeface="MiSans"/>
                <a:ea typeface="MiSans"/>
              </a:rPr>
              <a:t>−19</a:t>
            </a:r>
            <a:r>
              <a:rPr lang="en-US" sz="1350" noProof="1">
                <a:solidFill>
                  <a:srgbClr val="22303A"/>
                </a:solidFill>
                <a:latin typeface="MiSans"/>
                <a:ea typeface="MiSans"/>
              </a:rPr>
              <a:t> C。</a:t>
            </a:r>
            <a:endParaRPr lang="en-US" sz="1350" noProof="1"/>
          </a:p>
          <a:p>
            <a:pPr>
              <a:lnSpc>
                <a:spcPct val="155000"/>
              </a:lnSpc>
            </a:pPr>
            <a:r>
              <a:rPr lang="en-US" sz="1150" noProof="1">
                <a:solidFill>
                  <a:srgbClr val="6E6A62"/>
                </a:solidFill>
                <a:latin typeface="MiSans"/>
                <a:ea typeface="MiSans"/>
              </a:rPr>
              <a:t>全部已是 SI 单位，无需换算——先检查这一步能省掉一半计算错误。</a:t>
            </a:r>
            <a:endParaRPr lang="en-US" sz="1350" noProof="1"/>
          </a:p>
        </p:txBody>
      </p:sp>
      <p:sp>
        <p:nvSpPr>
          <p:cNvPr id="10" name="s2-head"/>
          <p:cNvSpPr txBox="1"/>
          <p:nvPr/>
        </p:nvSpPr>
        <p:spPr>
          <a:xfrm>
            <a:off x="762000" y="4521200"/>
            <a:ext cx="5969000" cy="304800"/>
          </a:xfrm>
          <a:prstGeom prst="rect">
            <a:avLst/>
          </a:prstGeom>
          <a:noFill/>
          <a:ln>
            <a:noFill/>
          </a:ln>
        </p:spPr>
        <p:txBody>
          <a:bodyPr lIns="0" rIns="0" tIns="0" bIns="0" wrap="none" rtlCol="0"/>
          <a:lstStyle/>
          <a:p>
            <a:pPr>
              <a:lnSpc>
                <a:spcPct val="120000"/>
              </a:lnSpc>
            </a:pPr>
            <a:r>
              <a:rPr lang="en-US" sz="1500" noProof="1" b="1">
                <a:solidFill>
                  <a:srgbClr val="0E5A55"/>
                </a:solidFill>
                <a:latin typeface="MiSans"/>
                <a:ea typeface="MiSans"/>
              </a:rPr>
              <a:t>第二步：代入 I = nAvq 求 v</a:t>
            </a:r>
            <a:endParaRPr lang="en-US" sz="1500" noProof="1"/>
          </a:p>
        </p:txBody>
      </p:sp>
      <p:sp>
        <p:nvSpPr>
          <p:cNvPr id="11" name="s2-body"/>
          <p:cNvSpPr txBox="1"/>
          <p:nvPr/>
        </p:nvSpPr>
        <p:spPr>
          <a:xfrm>
            <a:off x="762000" y="4876800"/>
            <a:ext cx="5969000" cy="1320800"/>
          </a:xfrm>
          <a:prstGeom prst="rect">
            <a:avLst/>
          </a:prstGeom>
          <a:noFill/>
          <a:ln>
            <a:noFill/>
          </a:ln>
        </p:spPr>
        <p:txBody>
          <a:bodyPr lIns="0" rIns="0" tIns="0" bIns="0" wrap="square" rtlCol="0"/>
          <a:lstStyle/>
          <a:p>
            <a:pPr>
              <a:lnSpc>
                <a:spcPct val="155000"/>
              </a:lnSpc>
            </a:pPr>
            <a:r>
              <a:rPr lang="en-US" sz="1350" noProof="1">
                <a:solidFill>
                  <a:srgbClr val="22303A"/>
                </a:solidFill>
                <a:latin typeface="MiSans"/>
                <a:ea typeface="MiSans"/>
              </a:rPr>
              <a:t>v = I ÷ (nAq)</a:t>
            </a:r>
            <a:endParaRPr lang="en-US" sz="1350" noProof="1"/>
          </a:p>
          <a:p>
            <a:pPr>
              <a:lnSpc>
                <a:spcPct val="155000"/>
              </a:lnSpc>
            </a:pPr>
            <a:r>
              <a:rPr lang="en-US" sz="1350" noProof="1">
                <a:solidFill>
                  <a:srgbClr val="22303A"/>
                </a:solidFill>
                <a:latin typeface="MiSans"/>
                <a:ea typeface="MiSans"/>
              </a:rPr>
              <a:t>= 2.0 ÷ (8.5×10</a:t>
            </a:r>
            <a:r>
              <a:rPr lang="en-US" sz="1350" noProof="1" baseline="30000">
                <a:solidFill>
                  <a:srgbClr val="22303A"/>
                </a:solidFill>
                <a:latin typeface="MiSans"/>
                <a:ea typeface="MiSans"/>
              </a:rPr>
              <a:t>28</a:t>
            </a:r>
            <a:r>
              <a:rPr lang="en-US" sz="1350" noProof="1">
                <a:solidFill>
                  <a:srgbClr val="22303A"/>
                </a:solidFill>
                <a:latin typeface="MiSans"/>
                <a:ea typeface="MiSans"/>
              </a:rPr>
              <a:t> × 1.0×10</a:t>
            </a:r>
            <a:r>
              <a:rPr lang="en-US" sz="1350" noProof="1" baseline="30000">
                <a:solidFill>
                  <a:srgbClr val="22303A"/>
                </a:solidFill>
                <a:latin typeface="MiSans"/>
                <a:ea typeface="MiSans"/>
              </a:rPr>
              <a:t>−6</a:t>
            </a:r>
            <a:r>
              <a:rPr lang="en-US" sz="1350" noProof="1">
                <a:solidFill>
                  <a:srgbClr val="22303A"/>
                </a:solidFill>
                <a:latin typeface="MiSans"/>
                <a:ea typeface="MiSans"/>
              </a:rPr>
              <a:t> × 1.60×10</a:t>
            </a:r>
            <a:r>
              <a:rPr lang="en-US" sz="1350" noProof="1" baseline="30000">
                <a:solidFill>
                  <a:srgbClr val="22303A"/>
                </a:solidFill>
                <a:latin typeface="MiSans"/>
                <a:ea typeface="MiSans"/>
              </a:rPr>
              <a:t>−19</a:t>
            </a:r>
            <a:r>
              <a:rPr lang="en-US" sz="1350" noProof="1">
                <a:solidFill>
                  <a:srgbClr val="22303A"/>
                </a:solidFill>
                <a:latin typeface="MiSans"/>
                <a:ea typeface="MiSans"/>
              </a:rPr>
              <a:t>)</a:t>
            </a:r>
            <a:endParaRPr lang="en-US" sz="1350" noProof="1"/>
          </a:p>
          <a:p>
            <a:pPr>
              <a:lnSpc>
                <a:spcPct val="155000"/>
              </a:lnSpc>
            </a:pPr>
            <a:r>
              <a:rPr lang="en-US" sz="1350" noProof="1">
                <a:solidFill>
                  <a:srgbClr val="22303A"/>
                </a:solidFill>
                <a:latin typeface="MiSans"/>
                <a:ea typeface="MiSans"/>
              </a:rPr>
              <a:t>= 2.0 ÷ (1.36×10</a:t>
            </a:r>
            <a:r>
              <a:rPr lang="en-US" sz="1350" noProof="1" baseline="30000">
                <a:solidFill>
                  <a:srgbClr val="22303A"/>
                </a:solidFill>
                <a:latin typeface="MiSans"/>
                <a:ea typeface="MiSans"/>
              </a:rPr>
              <a:t>10</a:t>
            </a:r>
            <a:r>
              <a:rPr lang="en-US" sz="1350" noProof="1">
                <a:solidFill>
                  <a:srgbClr val="22303A"/>
                </a:solidFill>
                <a:latin typeface="MiSans"/>
                <a:ea typeface="MiSans"/>
              </a:rPr>
              <a:t>)</a:t>
            </a:r>
            <a:endParaRPr lang="en-US" sz="1350" noProof="1"/>
          </a:p>
          <a:p>
            <a:pPr>
              <a:lnSpc>
                <a:spcPct val="155000"/>
              </a:lnSpc>
            </a:pPr>
            <a:r>
              <a:rPr lang="en-US" sz="1350" noProof="1">
                <a:solidFill>
                  <a:srgbClr val="22303A"/>
                </a:solidFill>
                <a:latin typeface="MiSans"/>
                <a:ea typeface="MiSans"/>
              </a:rPr>
              <a:t>= </a:t>
            </a:r>
            <a:r>
              <a:rPr lang="en-US" sz="1350" noProof="1" b="1">
                <a:solidFill>
                  <a:srgbClr val="22303A"/>
                </a:solidFill>
                <a:latin typeface="MiSans"/>
                <a:ea typeface="MiSans"/>
              </a:rPr>
              <a:t>1.5 × 10</a:t>
            </a:r>
            <a:r>
              <a:rPr lang="en-US" sz="1350" noProof="1" b="1" baseline="30000">
                <a:solidFill>
                  <a:srgbClr val="22303A"/>
                </a:solidFill>
                <a:latin typeface="MiSans"/>
                <a:ea typeface="MiSans"/>
              </a:rPr>
              <a:t>−4</a:t>
            </a:r>
            <a:r>
              <a:rPr lang="en-US" sz="1350" noProof="1" b="1">
                <a:solidFill>
                  <a:srgbClr val="22303A"/>
                </a:solidFill>
                <a:latin typeface="MiSans"/>
                <a:ea typeface="MiSans"/>
              </a:rPr>
              <a:t> m s</a:t>
            </a:r>
            <a:r>
              <a:rPr lang="en-US" sz="1350" noProof="1" b="1" baseline="30000">
                <a:solidFill>
                  <a:srgbClr val="22303A"/>
                </a:solidFill>
                <a:latin typeface="MiSans"/>
                <a:ea typeface="MiSans"/>
              </a:rPr>
              <a:t>−1</a:t>
            </a:r>
            <a:r>
              <a:rPr lang="en-US" sz="1350" noProof="1">
                <a:solidFill>
                  <a:srgbClr val="22303A"/>
                </a:solidFill>
                <a:latin typeface="MiSans"/>
                <a:ea typeface="MiSans"/>
              </a:rPr>
              <a:t>（约 0.15 mm s</a:t>
            </a:r>
            <a:r>
              <a:rPr lang="en-US" sz="1350" noProof="1" baseline="30000">
                <a:solidFill>
                  <a:srgbClr val="22303A"/>
                </a:solidFill>
                <a:latin typeface="MiSans"/>
                <a:ea typeface="MiSans"/>
              </a:rPr>
              <a:t>−1</a:t>
            </a:r>
            <a:r>
              <a:rPr lang="en-US" sz="1350" noProof="1">
                <a:solidFill>
                  <a:srgbClr val="22303A"/>
                </a:solidFill>
                <a:latin typeface="MiSans"/>
                <a:ea typeface="MiSans"/>
              </a:rPr>
              <a:t>）</a:t>
            </a:r>
            <a:endParaRPr lang="en-US" sz="1350" noProof="1"/>
          </a:p>
        </p:txBody>
      </p:sp>
      <p:sp>
        <p:nvSpPr>
          <p:cNvPr id="12" name="right-box"/>
          <p:cNvSpPr/>
          <p:nvPr/>
        </p:nvSpPr>
        <p:spPr>
          <a:xfrm>
            <a:off x="7239000" y="2946400"/>
            <a:ext cx="4191000" cy="3251200"/>
          </a:xfrm>
          <a:prstGeom prst="rect">
            <a:avLst/>
          </a:prstGeom>
          <a:solidFill>
            <a:srgbClr val="FFFFFF"/>
          </a:solidFill>
          <a:ln>
            <a:noFill/>
          </a:ln>
        </p:spPr>
      </p:sp>
      <p:sp>
        <p:nvSpPr>
          <p:cNvPr id="13" name="right-head"/>
          <p:cNvSpPr txBox="1"/>
          <p:nvPr/>
        </p:nvSpPr>
        <p:spPr>
          <a:xfrm>
            <a:off x="7442200" y="3098800"/>
            <a:ext cx="3810000" cy="279400"/>
          </a:xfrm>
          <a:prstGeom prst="rect">
            <a:avLst/>
          </a:prstGeom>
          <a:noFill/>
          <a:ln>
            <a:noFill/>
          </a:ln>
        </p:spPr>
        <p:txBody>
          <a:bodyPr lIns="0" rIns="0" tIns="0" bIns="0" wrap="none" rtlCol="0"/>
          <a:lstStyle/>
          <a:p>
            <a:pPr>
              <a:lnSpc>
                <a:spcPct val="120000"/>
              </a:lnSpc>
            </a:pPr>
            <a:r>
              <a:rPr lang="en-US" sz="1500" noProof="1" b="1">
                <a:solidFill>
                  <a:srgbClr val="0E5A55"/>
                </a:solidFill>
                <a:latin typeface="MiSans"/>
                <a:ea typeface="MiSans"/>
              </a:rPr>
              <a:t>评分点拆解 Mark scheme</a:t>
            </a:r>
            <a:endParaRPr lang="en-US" sz="1500" noProof="1"/>
          </a:p>
        </p:txBody>
      </p:sp>
      <p:sp>
        <p:nvSpPr>
          <p:cNvPr id="14" name="right-body"/>
          <p:cNvSpPr txBox="1"/>
          <p:nvPr/>
        </p:nvSpPr>
        <p:spPr>
          <a:xfrm>
            <a:off x="7442200" y="3454400"/>
            <a:ext cx="3784600" cy="2590800"/>
          </a:xfrm>
          <a:prstGeom prst="rect">
            <a:avLst/>
          </a:prstGeom>
          <a:noFill/>
          <a:ln>
            <a:noFill/>
          </a:ln>
        </p:spPr>
        <p:txBody>
          <a:bodyPr lIns="0" rIns="0" tIns="0" bIns="0" wrap="square" rtlCol="0"/>
          <a:lstStyle/>
          <a:p>
            <a:pPr>
              <a:lnSpc>
                <a:spcPct val="155000"/>
              </a:lnSpc>
            </a:pPr>
            <a:r>
              <a:rPr lang="en-US" sz="1250" noProof="1">
                <a:solidFill>
                  <a:srgbClr val="22303A"/>
                </a:solidFill>
                <a:latin typeface="MiSans"/>
                <a:ea typeface="MiSans"/>
              </a:rPr>
              <a:t>✔ 写出公式 I = nAvq（或变形 v = I/nAq）——公式分；</a:t>
            </a:r>
            <a:endParaRPr lang="en-US" sz="1250" noProof="1"/>
          </a:p>
          <a:p>
            <a:pPr>
              <a:lnSpc>
                <a:spcPct val="155000"/>
              </a:lnSpc>
            </a:pPr>
            <a:r>
              <a:rPr lang="en-US" sz="1250" noProof="1">
                <a:solidFill>
                  <a:srgbClr val="22303A"/>
                </a:solidFill>
                <a:latin typeface="MiSans"/>
                <a:ea typeface="MiSans"/>
              </a:rPr>
              <a:t>✔ 代入四个量且单位统一——代入分；</a:t>
            </a:r>
            <a:endParaRPr lang="en-US" sz="1250" noProof="1"/>
          </a:p>
          <a:p>
            <a:pPr>
              <a:lnSpc>
                <a:spcPct val="155000"/>
              </a:lnSpc>
            </a:pPr>
            <a:r>
              <a:rPr lang="en-US" sz="1250" noProof="1">
                <a:solidFill>
                  <a:srgbClr val="22303A"/>
                </a:solidFill>
                <a:latin typeface="MiSans"/>
                <a:ea typeface="MiSans"/>
              </a:rPr>
              <a:t>✔ 答案 1.5×10</a:t>
            </a:r>
            <a:r>
              <a:rPr lang="en-US" sz="1250" noProof="1" baseline="30000">
                <a:solidFill>
                  <a:srgbClr val="22303A"/>
                </a:solidFill>
                <a:latin typeface="MiSans"/>
                <a:ea typeface="MiSans"/>
              </a:rPr>
              <a:t>−4</a:t>
            </a:r>
            <a:r>
              <a:rPr lang="en-US" sz="1250" noProof="1">
                <a:solidFill>
                  <a:srgbClr val="22303A"/>
                </a:solidFill>
                <a:latin typeface="MiSans"/>
                <a:ea typeface="MiSans"/>
              </a:rPr>
              <a:t> m s</a:t>
            </a:r>
            <a:r>
              <a:rPr lang="en-US" sz="1250" noProof="1" baseline="30000">
                <a:solidFill>
                  <a:srgbClr val="22303A"/>
                </a:solidFill>
                <a:latin typeface="MiSans"/>
                <a:ea typeface="MiSans"/>
              </a:rPr>
              <a:t>−1</a:t>
            </a:r>
            <a:r>
              <a:rPr lang="en-US" sz="1250" noProof="1">
                <a:solidFill>
                  <a:srgbClr val="22303A"/>
                </a:solidFill>
                <a:latin typeface="MiSans"/>
                <a:ea typeface="MiSans"/>
              </a:rPr>
              <a:t>，带单位——答案分。</a:t>
            </a:r>
            <a:endParaRPr lang="en-US" sz="1250" noProof="1"/>
          </a:p>
          <a:p>
            <a:pPr>
              <a:lnSpc>
                <a:spcPct val="155000"/>
              </a:lnSpc>
            </a:pPr>
            <a:r>
              <a:rPr lang="en-US" sz="1250" noProof="1">
                <a:solidFill>
                  <a:srgbClr val="C96F16"/>
                </a:solidFill>
                <a:latin typeface="MiSans"/>
                <a:ea typeface="MiSans"/>
              </a:rPr>
              <a:t>追问常考：这个速度与"灯立刻亮"矛盾吗？——不矛盾：电场瞬间建立，全体电子同时开始漂移。</a:t>
            </a:r>
            <a:endParaRPr lang="en-US" sz="1250" noProof="1"/>
          </a:p>
        </p:txBody>
      </p:sp>
      <p:sp>
        <p:nvSpPr>
          <p:cNvPr id="15" name="footer-rule"/>
          <p:cNvSpPr/>
          <p:nvPr/>
        </p:nvSpPr>
        <p:spPr>
          <a:xfrm>
            <a:off x="762000" y="6451600"/>
            <a:ext cx="10668000" cy="12700"/>
          </a:xfrm>
          <a:prstGeom prst="rect">
            <a:avLst/>
          </a:prstGeom>
          <a:solidFill>
            <a:srgbClr val="D8D2C8"/>
          </a:solidFill>
          <a:ln>
            <a:noFill/>
          </a:ln>
        </p:spPr>
      </p:sp>
      <p:sp>
        <p:nvSpPr>
          <p:cNvPr id="16" name="footer-left"/>
          <p:cNvSpPr txBox="1"/>
          <p:nvPr/>
        </p:nvSpPr>
        <p:spPr>
          <a:xfrm>
            <a:off x="762000" y="6553200"/>
            <a:ext cx="5080000" cy="203200"/>
          </a:xfrm>
          <a:prstGeom prst="rect">
            <a:avLst/>
          </a:prstGeom>
          <a:noFill/>
          <a:ln>
            <a:noFill/>
          </a:ln>
        </p:spPr>
        <p:txBody>
          <a:bodyPr lIns="0" rIns="0" tIns="0" bIns="0" wrap="none" rtlCol="0"/>
          <a:lstStyle/>
          <a:p>
            <a:pPr>
              <a:lnSpc>
                <a:spcPct val="120000"/>
              </a:lnSpc>
            </a:pPr>
            <a:r>
              <a:rPr lang="en-US" sz="1000" noProof="1">
                <a:solidFill>
                  <a:srgbClr val="6E6A62"/>
                </a:solidFill>
                <a:latin typeface="MiSans"/>
                <a:ea typeface="MiSans"/>
              </a:rPr>
              <a:t>CIE A-Level Physics 9702 · Topic 9 电学</a:t>
            </a:r>
            <a:endParaRPr lang="en-US" sz="1000" noProof="1"/>
          </a:p>
        </p:txBody>
      </p:sp>
      <p:sp>
        <p:nvSpPr>
          <p:cNvPr id="17" name="page-num"/>
          <p:cNvSpPr txBox="1"/>
          <p:nvPr/>
        </p:nvSpPr>
        <p:spPr>
          <a:xfrm>
            <a:off x="10922000" y="6553200"/>
            <a:ext cx="508000" cy="203200"/>
          </a:xfrm>
          <a:prstGeom prst="rect">
            <a:avLst/>
          </a:prstGeom>
          <a:noFill/>
          <a:ln>
            <a:noFill/>
          </a:ln>
        </p:spPr>
        <p:txBody>
          <a:bodyPr lIns="0" rIns="0" tIns="0" bIns="0" wrap="none" rtlCol="0" anchor="t"/>
          <a:lstStyle/>
          <a:p>
            <a:pPr algn="r">
              <a:lnSpc>
                <a:spcPct val="120000"/>
              </a:lnSpc>
            </a:pPr>
            <a:r>
              <a:rPr lang="en-US" sz="1000" noProof="1">
                <a:solidFill>
                  <a:srgbClr val="6E6A62"/>
                </a:solidFill>
                <a:latin typeface="MiSans"/>
                <a:ea typeface="MiSans"/>
              </a:rPr>
              <a:t>11</a:t>
            </a:r>
            <a:endParaRPr lang="en-US" sz="1000" noProof="1"/>
          </a:p>
        </p:txBody>
      </p:sp>
    </p:spTree>
  </p:cSld>
  <p:clrMapOvr>
    <a:masterClrMapping/>
  </p:clrMapOvr>
</p:sld>
</file>

<file path=ppt/slides/slide12.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8F4"/>
        </a:solidFill>
      </p:bgPr>
    </p:bg>
    <p:spTree>
      <p:nvGrpSpPr>
        <p:cNvPr id="1" name=""/>
        <p:cNvGrpSpPr/>
        <p:nvPr/>
      </p:nvGrpSpPr>
      <p:grpSpPr>
        <a:xfrm>
          <a:off x="0" y="0"/>
          <a:ext cx="0" cy="0"/>
          <a:chOff x="0" y="0"/>
          <a:chExt cx="0" cy="0"/>
        </a:xfrm>
      </p:grpSpPr>
      <p:sp>
        <p:nvSpPr>
          <p:cNvPr id="2" name="kicker"/>
          <p:cNvSpPr txBox="1"/>
          <p:nvPr/>
        </p:nvSpPr>
        <p:spPr>
          <a:xfrm>
            <a:off x="762000" y="330200"/>
            <a:ext cx="6350000" cy="203200"/>
          </a:xfrm>
          <a:prstGeom prst="rect">
            <a:avLst/>
          </a:prstGeom>
          <a:noFill/>
          <a:ln>
            <a:noFill/>
          </a:ln>
        </p:spPr>
        <p:txBody>
          <a:bodyPr lIns="0" rIns="0" tIns="0" bIns="0" wrap="none" rtlCol="0"/>
          <a:lstStyle/>
          <a:p>
            <a:pPr>
              <a:lnSpc>
                <a:spcPct val="120000"/>
              </a:lnSpc>
            </a:pPr>
            <a:r>
              <a:rPr lang="en-US" sz="1100" noProof="1" b="1" spc="200" kern="0">
                <a:solidFill>
                  <a:srgbClr val="0E5A55"/>
                </a:solidFill>
                <a:latin typeface="MiSans"/>
                <a:ea typeface="MiSans"/>
              </a:rPr>
              <a:t>PRACTICE · 课堂练习</a:t>
            </a:r>
            <a:endParaRPr lang="en-US" sz="1100" noProof="1"/>
          </a:p>
        </p:txBody>
      </p:sp>
      <p:sp>
        <p:nvSpPr>
          <p:cNvPr id="3" name="title"/>
          <p:cNvSpPr txBox="1"/>
          <p:nvPr/>
        </p:nvSpPr>
        <p:spPr>
          <a:xfrm>
            <a:off x="762000" y="584200"/>
            <a:ext cx="10668000" cy="457200"/>
          </a:xfrm>
          <a:prstGeom prst="rect">
            <a:avLst/>
          </a:prstGeom>
          <a:noFill/>
          <a:ln>
            <a:noFill/>
          </a:ln>
        </p:spPr>
        <p:txBody>
          <a:bodyPr lIns="0" rIns="0" tIns="0" bIns="0" wrap="none" rtlCol="0"/>
          <a:lstStyle/>
          <a:p>
            <a:pPr>
              <a:lnSpc>
                <a:spcPct val="120000"/>
              </a:lnSpc>
            </a:pPr>
            <a:r>
              <a:rPr lang="en-US" sz="2600" noProof="1" b="1">
                <a:solidFill>
                  <a:srgbClr val="22303A"/>
                </a:solidFill>
                <a:latin typeface="MiSans"/>
                <a:ea typeface="MiSans"/>
              </a:rPr>
              <a:t>动手试一试：三道题覆盖本章三大考点</a:t>
            </a:r>
            <a:endParaRPr lang="en-US" sz="2600" noProof="1"/>
          </a:p>
        </p:txBody>
      </p:sp>
      <p:sp>
        <p:nvSpPr>
          <p:cNvPr id="4" name="title-en"/>
          <p:cNvSpPr txBox="1"/>
          <p:nvPr/>
        </p:nvSpPr>
        <p:spPr>
          <a:xfrm>
            <a:off x="762000" y="1066800"/>
            <a:ext cx="10668000" cy="254000"/>
          </a:xfrm>
          <a:prstGeom prst="rect">
            <a:avLst/>
          </a:prstGeom>
          <a:noFill/>
          <a:ln>
            <a:noFill/>
          </a:ln>
        </p:spPr>
        <p:txBody>
          <a:bodyPr lIns="0" rIns="0" tIns="0" bIns="0" wrap="none" rtlCol="0"/>
          <a:lstStyle/>
          <a:p>
            <a:pPr>
              <a:lnSpc>
                <a:spcPct val="120000"/>
              </a:lnSpc>
            </a:pPr>
            <a:r>
              <a:rPr lang="en-US" sz="1300" noProof="1">
                <a:solidFill>
                  <a:srgbClr val="6E6A62"/>
                </a:solidFill>
                <a:latin typeface="MiSans"/>
                <a:ea typeface="MiSans"/>
              </a:rPr>
              <a:t>Drift velocity reasoning, resistivity calculation, I-V graph reading</a:t>
            </a:r>
            <a:endParaRPr lang="en-US" sz="1300" noProof="1"/>
          </a:p>
        </p:txBody>
      </p:sp>
      <p:sp>
        <p:nvSpPr>
          <p:cNvPr id="5" name="rule-top"/>
          <p:cNvSpPr/>
          <p:nvPr/>
        </p:nvSpPr>
        <p:spPr>
          <a:xfrm>
            <a:off x="762000" y="1422400"/>
            <a:ext cx="10668000" cy="19050"/>
          </a:xfrm>
          <a:prstGeom prst="rect">
            <a:avLst/>
          </a:prstGeom>
          <a:solidFill>
            <a:srgbClr val="D8D2C8"/>
          </a:solidFill>
          <a:ln>
            <a:noFill/>
          </a:ln>
        </p:spPr>
      </p:sp>
      <p:sp>
        <p:nvSpPr>
          <p:cNvPr id="6" name="q1-badge"/>
          <p:cNvSpPr/>
          <p:nvPr/>
        </p:nvSpPr>
        <p:spPr>
          <a:xfrm>
            <a:off x="762000" y="1676400"/>
            <a:ext cx="558800" cy="558800"/>
          </a:xfrm>
          <a:prstGeom prst="ellipse">
            <a:avLst/>
          </a:prstGeom>
          <a:solidFill>
            <a:srgbClr val="0E5A55"/>
          </a:solidFill>
          <a:ln>
            <a:noFill/>
          </a:ln>
        </p:spPr>
      </p:sp>
      <p:sp>
        <p:nvSpPr>
          <p:cNvPr id="7" name="q1-num"/>
          <p:cNvSpPr txBox="1"/>
          <p:nvPr/>
        </p:nvSpPr>
        <p:spPr>
          <a:xfrm>
            <a:off x="762000" y="1676400"/>
            <a:ext cx="558800" cy="558800"/>
          </a:xfrm>
          <a:prstGeom prst="rect">
            <a:avLst/>
          </a:prstGeom>
          <a:noFill/>
          <a:ln>
            <a:noFill/>
          </a:ln>
        </p:spPr>
        <p:txBody>
          <a:bodyPr lIns="0" rIns="0" tIns="0" bIns="0" wrap="none" rtlCol="0" anchor="ctr"/>
          <a:lstStyle/>
          <a:p>
            <a:pPr algn="ctr">
              <a:lnSpc>
                <a:spcPct val="120000"/>
              </a:lnSpc>
            </a:pPr>
            <a:r>
              <a:rPr lang="en-US" sz="1800" noProof="1" b="1">
                <a:solidFill>
                  <a:srgbClr val="FFFFFF"/>
                </a:solidFill>
                <a:latin typeface="MiSans"/>
                <a:ea typeface="MiSans"/>
              </a:rPr>
              <a:t>Q1</a:t>
            </a:r>
            <a:endParaRPr lang="en-US" sz="1800" noProof="1"/>
          </a:p>
        </p:txBody>
      </p:sp>
      <p:sp>
        <p:nvSpPr>
          <p:cNvPr id="8" name="q1-body"/>
          <p:cNvSpPr txBox="1"/>
          <p:nvPr/>
        </p:nvSpPr>
        <p:spPr>
          <a:xfrm>
            <a:off x="1549400" y="1676400"/>
            <a:ext cx="9880600" cy="838200"/>
          </a:xfrm>
          <a:prstGeom prst="rect">
            <a:avLst/>
          </a:prstGeom>
          <a:noFill/>
          <a:ln>
            <a:noFill/>
          </a:ln>
        </p:spPr>
        <p:txBody>
          <a:bodyPr lIns="0" rIns="0" tIns="0" bIns="0" wrap="square" rtlCol="0"/>
          <a:lstStyle/>
          <a:p>
            <a:pPr>
              <a:lnSpc>
                <a:spcPct val="155000"/>
              </a:lnSpc>
            </a:pPr>
            <a:r>
              <a:rPr lang="en-US" sz="1350" noProof="1" b="1">
                <a:solidFill>
                  <a:srgbClr val="22303A"/>
                </a:solidFill>
                <a:latin typeface="MiSans"/>
                <a:ea typeface="MiSans"/>
              </a:rPr>
              <a:t>【漂移速度】</a:t>
            </a:r>
            <a:r>
              <a:rPr lang="en-US" sz="1350" noProof="1">
                <a:solidFill>
                  <a:srgbClr val="22303A"/>
                </a:solidFill>
                <a:latin typeface="MiSans"/>
                <a:ea typeface="MiSans"/>
              </a:rPr>
              <a:t>两段同种材料（铜）的导线串联，细线横截面积是粗线的一半，通过相同电流。比较两段导线中电子的漂移速度，并用 I = nAvq 说明理由。</a:t>
            </a:r>
            <a:endParaRPr lang="en-US" sz="1350" noProof="1"/>
          </a:p>
          <a:p>
            <a:pPr>
              <a:lnSpc>
                <a:spcPct val="155000"/>
              </a:lnSpc>
            </a:pPr>
            <a:r>
              <a:rPr lang="en-US" sz="1150" noProof="1">
                <a:solidFill>
                  <a:srgbClr val="6E6A62"/>
                </a:solidFill>
                <a:latin typeface="MiSans"/>
                <a:ea typeface="MiSans"/>
              </a:rPr>
              <a:t>Same current, half the cross-sectional area — compare the drift velocities.</a:t>
            </a:r>
            <a:endParaRPr lang="en-US" sz="1350" noProof="1"/>
          </a:p>
        </p:txBody>
      </p:sp>
      <p:sp>
        <p:nvSpPr>
          <p:cNvPr id="9" name="q2-badge"/>
          <p:cNvSpPr/>
          <p:nvPr/>
        </p:nvSpPr>
        <p:spPr>
          <a:xfrm>
            <a:off x="762000" y="2743200"/>
            <a:ext cx="558800" cy="558800"/>
          </a:xfrm>
          <a:prstGeom prst="ellipse">
            <a:avLst/>
          </a:prstGeom>
          <a:solidFill>
            <a:srgbClr val="0E5A55"/>
          </a:solidFill>
          <a:ln>
            <a:noFill/>
          </a:ln>
        </p:spPr>
      </p:sp>
      <p:sp>
        <p:nvSpPr>
          <p:cNvPr id="10" name="q2-num"/>
          <p:cNvSpPr txBox="1"/>
          <p:nvPr/>
        </p:nvSpPr>
        <p:spPr>
          <a:xfrm>
            <a:off x="762000" y="2743200"/>
            <a:ext cx="558800" cy="558800"/>
          </a:xfrm>
          <a:prstGeom prst="rect">
            <a:avLst/>
          </a:prstGeom>
          <a:noFill/>
          <a:ln>
            <a:noFill/>
          </a:ln>
        </p:spPr>
        <p:txBody>
          <a:bodyPr lIns="0" rIns="0" tIns="0" bIns="0" wrap="none" rtlCol="0" anchor="ctr"/>
          <a:lstStyle/>
          <a:p>
            <a:pPr algn="ctr">
              <a:lnSpc>
                <a:spcPct val="120000"/>
              </a:lnSpc>
            </a:pPr>
            <a:r>
              <a:rPr lang="en-US" sz="1800" noProof="1" b="1">
                <a:solidFill>
                  <a:srgbClr val="FFFFFF"/>
                </a:solidFill>
                <a:latin typeface="MiSans"/>
                <a:ea typeface="MiSans"/>
              </a:rPr>
              <a:t>Q2</a:t>
            </a:r>
            <a:endParaRPr lang="en-US" sz="1800" noProof="1"/>
          </a:p>
        </p:txBody>
      </p:sp>
      <p:sp>
        <p:nvSpPr>
          <p:cNvPr id="11" name="q2-body"/>
          <p:cNvSpPr txBox="1"/>
          <p:nvPr/>
        </p:nvSpPr>
        <p:spPr>
          <a:xfrm>
            <a:off x="1549400" y="2743200"/>
            <a:ext cx="9880600" cy="838200"/>
          </a:xfrm>
          <a:prstGeom prst="rect">
            <a:avLst/>
          </a:prstGeom>
          <a:noFill/>
          <a:ln>
            <a:noFill/>
          </a:ln>
        </p:spPr>
        <p:txBody>
          <a:bodyPr lIns="0" rIns="0" tIns="0" bIns="0" wrap="square" rtlCol="0"/>
          <a:lstStyle/>
          <a:p>
            <a:pPr>
              <a:lnSpc>
                <a:spcPct val="155000"/>
              </a:lnSpc>
            </a:pPr>
            <a:r>
              <a:rPr lang="en-US" sz="1350" noProof="1" b="1">
                <a:solidFill>
                  <a:srgbClr val="22303A"/>
                </a:solidFill>
                <a:latin typeface="MiSans"/>
                <a:ea typeface="MiSans"/>
              </a:rPr>
              <a:t>【电阻率】</a:t>
            </a:r>
            <a:r>
              <a:rPr lang="en-US" sz="1350" noProof="1">
                <a:solidFill>
                  <a:srgbClr val="22303A"/>
                </a:solidFill>
                <a:latin typeface="MiSans"/>
                <a:ea typeface="MiSans"/>
              </a:rPr>
              <a:t>某合金丝长 2.0 m、横截面积 0.50 mm²，两端加 12 V 电压时电流为 3.0 A。求该合金的电阻率 ρ。</a:t>
            </a:r>
            <a:endParaRPr lang="en-US" sz="1350" noProof="1"/>
          </a:p>
          <a:p>
            <a:pPr>
              <a:lnSpc>
                <a:spcPct val="155000"/>
              </a:lnSpc>
            </a:pPr>
            <a:r>
              <a:rPr lang="en-US" sz="1150" noProof="1">
                <a:solidFill>
                  <a:srgbClr val="6E6A62"/>
                </a:solidFill>
                <a:latin typeface="MiSans"/>
                <a:ea typeface="MiSans"/>
              </a:rPr>
              <a:t>Find the resistivity of the alloy. Watch the unit conversion.</a:t>
            </a:r>
            <a:endParaRPr lang="en-US" sz="1350" noProof="1"/>
          </a:p>
        </p:txBody>
      </p:sp>
      <p:sp>
        <p:nvSpPr>
          <p:cNvPr id="12" name="q3-badge"/>
          <p:cNvSpPr/>
          <p:nvPr/>
        </p:nvSpPr>
        <p:spPr>
          <a:xfrm>
            <a:off x="762000" y="3810000"/>
            <a:ext cx="558800" cy="558800"/>
          </a:xfrm>
          <a:prstGeom prst="ellipse">
            <a:avLst/>
          </a:prstGeom>
          <a:solidFill>
            <a:srgbClr val="0E5A55"/>
          </a:solidFill>
          <a:ln>
            <a:noFill/>
          </a:ln>
        </p:spPr>
      </p:sp>
      <p:sp>
        <p:nvSpPr>
          <p:cNvPr id="13" name="q3-num"/>
          <p:cNvSpPr txBox="1"/>
          <p:nvPr/>
        </p:nvSpPr>
        <p:spPr>
          <a:xfrm>
            <a:off x="762000" y="3810000"/>
            <a:ext cx="558800" cy="558800"/>
          </a:xfrm>
          <a:prstGeom prst="rect">
            <a:avLst/>
          </a:prstGeom>
          <a:noFill/>
          <a:ln>
            <a:noFill/>
          </a:ln>
        </p:spPr>
        <p:txBody>
          <a:bodyPr lIns="0" rIns="0" tIns="0" bIns="0" wrap="none" rtlCol="0" anchor="ctr"/>
          <a:lstStyle/>
          <a:p>
            <a:pPr algn="ctr">
              <a:lnSpc>
                <a:spcPct val="120000"/>
              </a:lnSpc>
            </a:pPr>
            <a:r>
              <a:rPr lang="en-US" sz="1800" noProof="1" b="1">
                <a:solidFill>
                  <a:srgbClr val="FFFFFF"/>
                </a:solidFill>
                <a:latin typeface="MiSans"/>
                <a:ea typeface="MiSans"/>
              </a:rPr>
              <a:t>Q3</a:t>
            </a:r>
            <a:endParaRPr lang="en-US" sz="1800" noProof="1"/>
          </a:p>
        </p:txBody>
      </p:sp>
      <p:sp>
        <p:nvSpPr>
          <p:cNvPr id="14" name="q3-body"/>
          <p:cNvSpPr txBox="1"/>
          <p:nvPr/>
        </p:nvSpPr>
        <p:spPr>
          <a:xfrm>
            <a:off x="1549400" y="3810000"/>
            <a:ext cx="9880600" cy="838200"/>
          </a:xfrm>
          <a:prstGeom prst="rect">
            <a:avLst/>
          </a:prstGeom>
          <a:noFill/>
          <a:ln>
            <a:noFill/>
          </a:ln>
        </p:spPr>
        <p:txBody>
          <a:bodyPr lIns="0" rIns="0" tIns="0" bIns="0" wrap="square" rtlCol="0"/>
          <a:lstStyle/>
          <a:p>
            <a:pPr>
              <a:lnSpc>
                <a:spcPct val="155000"/>
              </a:lnSpc>
            </a:pPr>
            <a:r>
              <a:rPr lang="en-US" sz="1350" noProof="1" b="1">
                <a:solidFill>
                  <a:srgbClr val="22303A"/>
                </a:solidFill>
                <a:latin typeface="MiSans"/>
                <a:ea typeface="MiSans"/>
              </a:rPr>
              <a:t>【I-V 图与温度】</a:t>
            </a:r>
            <a:r>
              <a:rPr lang="en-US" sz="1350" noProof="1">
                <a:solidFill>
                  <a:srgbClr val="22303A"/>
                </a:solidFill>
                <a:latin typeface="MiSans"/>
                <a:ea typeface="MiSans"/>
              </a:rPr>
              <a:t>某元件的 I-V 图是过原点、随电压增大逐渐变平的曲线。它是什么元件？用微观机理解释为什么电压越大电阻越大。</a:t>
            </a:r>
            <a:endParaRPr lang="en-US" sz="1350" noProof="1"/>
          </a:p>
          <a:p>
            <a:pPr>
              <a:lnSpc>
                <a:spcPct val="155000"/>
              </a:lnSpc>
            </a:pPr>
            <a:r>
              <a:rPr lang="en-US" sz="1150" noProof="1">
                <a:solidFill>
                  <a:srgbClr val="6E6A62"/>
                </a:solidFill>
                <a:latin typeface="MiSans"/>
                <a:ea typeface="MiSans"/>
              </a:rPr>
              <a:t>Identify the component and explain why its resistance rises with voltage.</a:t>
            </a:r>
            <a:endParaRPr lang="en-US" sz="1350" noProof="1"/>
          </a:p>
        </p:txBody>
      </p:sp>
      <p:sp>
        <p:nvSpPr>
          <p:cNvPr id="15" name="crit-box"/>
          <p:cNvSpPr/>
          <p:nvPr/>
        </p:nvSpPr>
        <p:spPr>
          <a:xfrm>
            <a:off x="762000" y="5029200"/>
            <a:ext cx="10668000" cy="1168400"/>
          </a:xfrm>
          <a:prstGeom prst="rect">
            <a:avLst/>
          </a:prstGeom>
          <a:solidFill>
            <a:srgbClr val="EFE9DF"/>
          </a:solidFill>
          <a:ln>
            <a:noFill/>
          </a:ln>
        </p:spPr>
      </p:sp>
      <p:sp>
        <p:nvSpPr>
          <p:cNvPr id="16" name="crit-head"/>
          <p:cNvSpPr txBox="1"/>
          <p:nvPr/>
        </p:nvSpPr>
        <p:spPr>
          <a:xfrm>
            <a:off x="965200" y="5156200"/>
            <a:ext cx="5080000" cy="254000"/>
          </a:xfrm>
          <a:prstGeom prst="rect">
            <a:avLst/>
          </a:prstGeom>
          <a:noFill/>
          <a:ln>
            <a:noFill/>
          </a:ln>
        </p:spPr>
        <p:txBody>
          <a:bodyPr lIns="0" rIns="0" tIns="0" bIns="0" wrap="none" rtlCol="0"/>
          <a:lstStyle/>
          <a:p>
            <a:pPr>
              <a:lnSpc>
                <a:spcPct val="120000"/>
              </a:lnSpc>
            </a:pPr>
            <a:r>
              <a:rPr lang="en-US" sz="1500" noProof="1" b="1">
                <a:solidFill>
                  <a:srgbClr val="0E5A55"/>
                </a:solidFill>
                <a:latin typeface="MiSans"/>
                <a:ea typeface="MiSans"/>
              </a:rPr>
              <a:t>完成标准 Completion criteria</a:t>
            </a:r>
            <a:endParaRPr lang="en-US" sz="1500" noProof="1"/>
          </a:p>
        </p:txBody>
      </p:sp>
      <p:sp>
        <p:nvSpPr>
          <p:cNvPr id="17" name="crit-body"/>
          <p:cNvSpPr txBox="1"/>
          <p:nvPr/>
        </p:nvSpPr>
        <p:spPr>
          <a:xfrm>
            <a:off x="965200" y="5461000"/>
            <a:ext cx="10261600" cy="660400"/>
          </a:xfrm>
          <a:prstGeom prst="rect">
            <a:avLst/>
          </a:prstGeom>
          <a:noFill/>
          <a:ln>
            <a:noFill/>
          </a:ln>
        </p:spPr>
        <p:txBody>
          <a:bodyPr lIns="0" rIns="0" tIns="0" bIns="0" wrap="square" rtlCol="0"/>
          <a:lstStyle/>
          <a:p>
            <a:pPr>
              <a:lnSpc>
                <a:spcPct val="155000"/>
              </a:lnSpc>
            </a:pPr>
            <a:r>
              <a:rPr lang="en-US" sz="1250" noProof="1">
                <a:solidFill>
                  <a:srgbClr val="22303A"/>
                </a:solidFill>
                <a:latin typeface="MiSans"/>
                <a:ea typeface="MiSans"/>
              </a:rPr>
              <a:t>① Q1 结论 + 用 n、A、q 逐项说明哪个变哪个不变；② Q2 面积换算成 m²，先求 R 再求 ρ；③ Q3 机理解释必须出现"温度升高"和"碰撞更频繁"。</a:t>
            </a:r>
            <a:endParaRPr lang="en-US" sz="1250" noProof="1"/>
          </a:p>
          <a:p>
            <a:pPr>
              <a:lnSpc>
                <a:spcPct val="155000"/>
              </a:lnSpc>
            </a:pPr>
            <a:r>
              <a:rPr lang="en-US" sz="1250" noProof="1">
                <a:solidFill>
                  <a:srgbClr val="22303A"/>
                </a:solidFill>
                <a:latin typeface="MiSans"/>
                <a:ea typeface="MiSans"/>
              </a:rPr>
              <a:t>全部完成后，翻到下一页对答案。</a:t>
            </a:r>
            <a:endParaRPr lang="en-US" sz="1250" noProof="1"/>
          </a:p>
        </p:txBody>
      </p:sp>
      <p:sp>
        <p:nvSpPr>
          <p:cNvPr id="18" name="footer-rule"/>
          <p:cNvSpPr/>
          <p:nvPr/>
        </p:nvSpPr>
        <p:spPr>
          <a:xfrm>
            <a:off x="762000" y="6451600"/>
            <a:ext cx="10668000" cy="12700"/>
          </a:xfrm>
          <a:prstGeom prst="rect">
            <a:avLst/>
          </a:prstGeom>
          <a:solidFill>
            <a:srgbClr val="D8D2C8"/>
          </a:solidFill>
          <a:ln>
            <a:noFill/>
          </a:ln>
        </p:spPr>
      </p:sp>
      <p:sp>
        <p:nvSpPr>
          <p:cNvPr id="19" name="footer-left"/>
          <p:cNvSpPr txBox="1"/>
          <p:nvPr/>
        </p:nvSpPr>
        <p:spPr>
          <a:xfrm>
            <a:off x="762000" y="6553200"/>
            <a:ext cx="5080000" cy="203200"/>
          </a:xfrm>
          <a:prstGeom prst="rect">
            <a:avLst/>
          </a:prstGeom>
          <a:noFill/>
          <a:ln>
            <a:noFill/>
          </a:ln>
        </p:spPr>
        <p:txBody>
          <a:bodyPr lIns="0" rIns="0" tIns="0" bIns="0" wrap="none" rtlCol="0"/>
          <a:lstStyle/>
          <a:p>
            <a:pPr>
              <a:lnSpc>
                <a:spcPct val="120000"/>
              </a:lnSpc>
            </a:pPr>
            <a:r>
              <a:rPr lang="en-US" sz="1000" noProof="1">
                <a:solidFill>
                  <a:srgbClr val="6E6A62"/>
                </a:solidFill>
                <a:latin typeface="MiSans"/>
                <a:ea typeface="MiSans"/>
              </a:rPr>
              <a:t>CIE A-Level Physics 9702 · Topic 9 电学</a:t>
            </a:r>
            <a:endParaRPr lang="en-US" sz="1000" noProof="1"/>
          </a:p>
        </p:txBody>
      </p:sp>
      <p:sp>
        <p:nvSpPr>
          <p:cNvPr id="20" name="page-num"/>
          <p:cNvSpPr txBox="1"/>
          <p:nvPr/>
        </p:nvSpPr>
        <p:spPr>
          <a:xfrm>
            <a:off x="10922000" y="6553200"/>
            <a:ext cx="508000" cy="203200"/>
          </a:xfrm>
          <a:prstGeom prst="rect">
            <a:avLst/>
          </a:prstGeom>
          <a:noFill/>
          <a:ln>
            <a:noFill/>
          </a:ln>
        </p:spPr>
        <p:txBody>
          <a:bodyPr lIns="0" rIns="0" tIns="0" bIns="0" wrap="none" rtlCol="0" anchor="t"/>
          <a:lstStyle/>
          <a:p>
            <a:pPr algn="r">
              <a:lnSpc>
                <a:spcPct val="120000"/>
              </a:lnSpc>
            </a:pPr>
            <a:r>
              <a:rPr lang="en-US" sz="1000" noProof="1">
                <a:solidFill>
                  <a:srgbClr val="6E6A62"/>
                </a:solidFill>
                <a:latin typeface="MiSans"/>
                <a:ea typeface="MiSans"/>
              </a:rPr>
              <a:t>12</a:t>
            </a:r>
            <a:endParaRPr lang="en-US" sz="1000" noProof="1"/>
          </a:p>
        </p:txBody>
      </p:sp>
    </p:spTree>
  </p:cSld>
  <p:clrMapOvr>
    <a:masterClrMapping/>
  </p:clrMapOvr>
</p:sld>
</file>

<file path=ppt/slides/slide13.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8F4"/>
        </a:solidFill>
      </p:bgPr>
    </p:bg>
    <p:spTree>
      <p:nvGrpSpPr>
        <p:cNvPr id="1" name=""/>
        <p:cNvGrpSpPr/>
        <p:nvPr/>
      </p:nvGrpSpPr>
      <p:grpSpPr>
        <a:xfrm>
          <a:off x="0" y="0"/>
          <a:ext cx="0" cy="0"/>
          <a:chOff x="0" y="0"/>
          <a:chExt cx="0" cy="0"/>
        </a:xfrm>
      </p:grpSpPr>
      <p:sp>
        <p:nvSpPr>
          <p:cNvPr id="2" name="kicker"/>
          <p:cNvSpPr txBox="1"/>
          <p:nvPr/>
        </p:nvSpPr>
        <p:spPr>
          <a:xfrm>
            <a:off x="762000" y="330200"/>
            <a:ext cx="6350000" cy="203200"/>
          </a:xfrm>
          <a:prstGeom prst="rect">
            <a:avLst/>
          </a:prstGeom>
          <a:noFill/>
          <a:ln>
            <a:noFill/>
          </a:ln>
        </p:spPr>
        <p:txBody>
          <a:bodyPr lIns="0" rIns="0" tIns="0" bIns="0" wrap="none" rtlCol="0"/>
          <a:lstStyle/>
          <a:p>
            <a:pPr>
              <a:lnSpc>
                <a:spcPct val="120000"/>
              </a:lnSpc>
            </a:pPr>
            <a:r>
              <a:rPr lang="en-US" sz="1100" noProof="1" b="1" spc="200" kern="0">
                <a:solidFill>
                  <a:srgbClr val="0E5A55"/>
                </a:solidFill>
                <a:latin typeface="MiSans"/>
                <a:ea typeface="MiSans"/>
              </a:rPr>
              <a:t>FEEDBACK · 参考答案与解析</a:t>
            </a:r>
            <a:endParaRPr lang="en-US" sz="1100" noProof="1"/>
          </a:p>
        </p:txBody>
      </p:sp>
      <p:sp>
        <p:nvSpPr>
          <p:cNvPr id="3" name="title"/>
          <p:cNvSpPr txBox="1"/>
          <p:nvPr/>
        </p:nvSpPr>
        <p:spPr>
          <a:xfrm>
            <a:off x="762000" y="584200"/>
            <a:ext cx="10668000" cy="457200"/>
          </a:xfrm>
          <a:prstGeom prst="rect">
            <a:avLst/>
          </a:prstGeom>
          <a:noFill/>
          <a:ln>
            <a:noFill/>
          </a:ln>
        </p:spPr>
        <p:txBody>
          <a:bodyPr lIns="0" rIns="0" tIns="0" bIns="0" wrap="none" rtlCol="0"/>
          <a:lstStyle/>
          <a:p>
            <a:pPr>
              <a:lnSpc>
                <a:spcPct val="120000"/>
              </a:lnSpc>
            </a:pPr>
            <a:r>
              <a:rPr lang="en-US" sz="2600" noProof="1" b="1">
                <a:solidFill>
                  <a:srgbClr val="22303A"/>
                </a:solidFill>
                <a:latin typeface="MiSans"/>
                <a:ea typeface="MiSans"/>
              </a:rPr>
              <a:t>对答案：每一步为什么这样做</a:t>
            </a:r>
            <a:endParaRPr lang="en-US" sz="2600" noProof="1"/>
          </a:p>
        </p:txBody>
      </p:sp>
      <p:sp>
        <p:nvSpPr>
          <p:cNvPr id="4" name="title-en"/>
          <p:cNvSpPr txBox="1"/>
          <p:nvPr/>
        </p:nvSpPr>
        <p:spPr>
          <a:xfrm>
            <a:off x="762000" y="1066800"/>
            <a:ext cx="10668000" cy="254000"/>
          </a:xfrm>
          <a:prstGeom prst="rect">
            <a:avLst/>
          </a:prstGeom>
          <a:noFill/>
          <a:ln>
            <a:noFill/>
          </a:ln>
        </p:spPr>
        <p:txBody>
          <a:bodyPr lIns="0" rIns="0" tIns="0" bIns="0" wrap="none" rtlCol="0"/>
          <a:lstStyle/>
          <a:p>
            <a:pPr>
              <a:lnSpc>
                <a:spcPct val="120000"/>
              </a:lnSpc>
            </a:pPr>
            <a:r>
              <a:rPr lang="en-US" sz="1300" noProof="1">
                <a:solidFill>
                  <a:srgbClr val="6E6A62"/>
                </a:solidFill>
                <a:latin typeface="MiSans"/>
                <a:ea typeface="MiSans"/>
              </a:rPr>
              <a:t>Answers with reasons — check your working, not just the number</a:t>
            </a:r>
            <a:endParaRPr lang="en-US" sz="1300" noProof="1"/>
          </a:p>
        </p:txBody>
      </p:sp>
      <p:sp>
        <p:nvSpPr>
          <p:cNvPr id="5" name="rule-top"/>
          <p:cNvSpPr/>
          <p:nvPr/>
        </p:nvSpPr>
        <p:spPr>
          <a:xfrm>
            <a:off x="762000" y="1422400"/>
            <a:ext cx="10668000" cy="19050"/>
          </a:xfrm>
          <a:prstGeom prst="rect">
            <a:avLst/>
          </a:prstGeom>
          <a:solidFill>
            <a:srgbClr val="C96F16"/>
          </a:solidFill>
          <a:ln>
            <a:noFill/>
          </a:ln>
        </p:spPr>
      </p:sp>
      <p:sp>
        <p:nvSpPr>
          <p:cNvPr id="6" name="a1-head"/>
          <p:cNvSpPr txBox="1"/>
          <p:nvPr/>
        </p:nvSpPr>
        <p:spPr>
          <a:xfrm>
            <a:off x="762000" y="1625600"/>
            <a:ext cx="10668000" cy="279400"/>
          </a:xfrm>
          <a:prstGeom prst="rect">
            <a:avLst/>
          </a:prstGeom>
          <a:noFill/>
          <a:ln>
            <a:noFill/>
          </a:ln>
        </p:spPr>
        <p:txBody>
          <a:bodyPr lIns="0" rIns="0" tIns="0" bIns="0" wrap="none" rtlCol="0"/>
          <a:lstStyle/>
          <a:p>
            <a:pPr>
              <a:lnSpc>
                <a:spcPct val="120000"/>
              </a:lnSpc>
            </a:pPr>
            <a:r>
              <a:rPr lang="en-US" sz="1400" noProof="1" b="1">
                <a:solidFill>
                  <a:srgbClr val="0E5A55"/>
                </a:solidFill>
                <a:latin typeface="MiSans"/>
                <a:ea typeface="MiSans"/>
              </a:rPr>
              <a:t>Q1　细线中漂移速度是粗线的 2 倍</a:t>
            </a:r>
            <a:endParaRPr lang="en-US" sz="1400" noProof="1"/>
          </a:p>
        </p:txBody>
      </p:sp>
      <p:sp>
        <p:nvSpPr>
          <p:cNvPr id="7" name="a1-body"/>
          <p:cNvSpPr txBox="1"/>
          <p:nvPr/>
        </p:nvSpPr>
        <p:spPr>
          <a:xfrm>
            <a:off x="762000" y="1930400"/>
            <a:ext cx="10668000" cy="914400"/>
          </a:xfrm>
          <a:prstGeom prst="rect">
            <a:avLst/>
          </a:prstGeom>
          <a:noFill/>
          <a:ln>
            <a:noFill/>
          </a:ln>
        </p:spPr>
        <p:txBody>
          <a:bodyPr lIns="0" rIns="0" tIns="0" bIns="0" wrap="square" rtlCol="0"/>
          <a:lstStyle/>
          <a:p>
            <a:pPr>
              <a:lnSpc>
                <a:spcPct val="150000"/>
              </a:lnSpc>
            </a:pPr>
            <a:r>
              <a:rPr lang="en-US" sz="1250" noProof="1">
                <a:solidFill>
                  <a:srgbClr val="22303A"/>
                </a:solidFill>
                <a:latin typeface="MiSans"/>
                <a:ea typeface="MiSans"/>
              </a:rPr>
              <a:t>串联 → I 相同；同种材料 → n 相同；载流子都是电子 → q 相同。由 v = I/(nAq)，v 与 A 成反比。</a:t>
            </a:r>
            <a:endParaRPr lang="en-US" sz="1250" noProof="1"/>
          </a:p>
          <a:p>
            <a:pPr>
              <a:lnSpc>
                <a:spcPct val="150000"/>
              </a:lnSpc>
            </a:pPr>
            <a:r>
              <a:rPr lang="en-US" sz="1250" noProof="1">
                <a:solidFill>
                  <a:srgbClr val="22303A"/>
                </a:solidFill>
                <a:latin typeface="MiSans"/>
                <a:ea typeface="MiSans"/>
              </a:rPr>
              <a:t>A 减半 → </a:t>
            </a:r>
            <a:r>
              <a:rPr lang="en-US" sz="1250" noProof="1" b="1">
                <a:solidFill>
                  <a:srgbClr val="22303A"/>
                </a:solidFill>
                <a:latin typeface="MiSans"/>
                <a:ea typeface="MiSans"/>
              </a:rPr>
              <a:t>v 变 2 倍</a:t>
            </a:r>
            <a:r>
              <a:rPr lang="en-US" sz="1250" noProof="1">
                <a:solidFill>
                  <a:srgbClr val="22303A"/>
                </a:solidFill>
                <a:latin typeface="MiSans"/>
                <a:ea typeface="MiSans"/>
              </a:rPr>
              <a:t>。</a:t>
            </a:r>
            <a:endParaRPr lang="en-US" sz="1250" noProof="1"/>
          </a:p>
          <a:p>
            <a:pPr>
              <a:lnSpc>
                <a:spcPct val="150000"/>
              </a:lnSpc>
            </a:pPr>
            <a:r>
              <a:rPr lang="en-US" sz="1250" noProof="1">
                <a:solidFill>
                  <a:srgbClr val="C96F16"/>
                </a:solidFill>
                <a:latin typeface="MiSans"/>
                <a:ea typeface="MiSans"/>
              </a:rPr>
              <a:t>错因排查：以为"同一电路速度处处相同"；或忘记串联电流相同这个前提。</a:t>
            </a:r>
            <a:endParaRPr lang="en-US" sz="1250" noProof="1"/>
          </a:p>
        </p:txBody>
      </p:sp>
      <p:sp>
        <p:nvSpPr>
          <p:cNvPr id="8" name="a1-line"/>
          <p:cNvSpPr/>
          <p:nvPr/>
        </p:nvSpPr>
        <p:spPr>
          <a:xfrm>
            <a:off x="762000" y="2921000"/>
            <a:ext cx="10668000" cy="12700"/>
          </a:xfrm>
          <a:prstGeom prst="rect">
            <a:avLst/>
          </a:prstGeom>
          <a:solidFill>
            <a:srgbClr val="D8D2C8"/>
          </a:solidFill>
          <a:ln>
            <a:noFill/>
          </a:ln>
        </p:spPr>
      </p:sp>
      <p:sp>
        <p:nvSpPr>
          <p:cNvPr id="9" name="a2-head"/>
          <p:cNvSpPr txBox="1"/>
          <p:nvPr/>
        </p:nvSpPr>
        <p:spPr>
          <a:xfrm>
            <a:off x="762000" y="3073400"/>
            <a:ext cx="10668000" cy="279400"/>
          </a:xfrm>
          <a:prstGeom prst="rect">
            <a:avLst/>
          </a:prstGeom>
          <a:noFill/>
          <a:ln>
            <a:noFill/>
          </a:ln>
        </p:spPr>
        <p:txBody>
          <a:bodyPr lIns="0" rIns="0" tIns="0" bIns="0" wrap="none" rtlCol="0"/>
          <a:lstStyle/>
          <a:p>
            <a:pPr>
              <a:lnSpc>
                <a:spcPct val="120000"/>
              </a:lnSpc>
            </a:pPr>
            <a:r>
              <a:rPr lang="en-US" sz="1400" noProof="1" b="1">
                <a:solidFill>
                  <a:srgbClr val="0E5A55"/>
                </a:solidFill>
                <a:latin typeface="MiSans"/>
                <a:ea typeface="MiSans"/>
              </a:rPr>
              <a:t>Q2　ρ = 1.0 × 10⁻⁶ Ω·m</a:t>
            </a:r>
            <a:endParaRPr lang="en-US" sz="1400" noProof="1"/>
          </a:p>
        </p:txBody>
      </p:sp>
      <p:sp>
        <p:nvSpPr>
          <p:cNvPr id="10" name="a2-body"/>
          <p:cNvSpPr txBox="1"/>
          <p:nvPr/>
        </p:nvSpPr>
        <p:spPr>
          <a:xfrm>
            <a:off x="762000" y="3378200"/>
            <a:ext cx="10668000" cy="914400"/>
          </a:xfrm>
          <a:prstGeom prst="rect">
            <a:avLst/>
          </a:prstGeom>
          <a:noFill/>
          <a:ln>
            <a:noFill/>
          </a:ln>
        </p:spPr>
        <p:txBody>
          <a:bodyPr lIns="0" rIns="0" tIns="0" bIns="0" wrap="square" rtlCol="0"/>
          <a:lstStyle/>
          <a:p>
            <a:pPr>
              <a:lnSpc>
                <a:spcPct val="150000"/>
              </a:lnSpc>
            </a:pPr>
            <a:r>
              <a:rPr lang="en-US" sz="1250" noProof="1">
                <a:solidFill>
                  <a:srgbClr val="22303A"/>
                </a:solidFill>
                <a:latin typeface="MiSans"/>
                <a:ea typeface="MiSans"/>
              </a:rPr>
              <a:t>先求 R = V/I = 12 ÷ 3.0 = 4.0 Ω；换算 A = 0.50 mm² = 5.0×10</a:t>
            </a:r>
            <a:r>
              <a:rPr lang="en-US" sz="1250" noProof="1" baseline="30000">
                <a:solidFill>
                  <a:srgbClr val="22303A"/>
                </a:solidFill>
                <a:latin typeface="MiSans"/>
                <a:ea typeface="MiSans"/>
              </a:rPr>
              <a:t>−7</a:t>
            </a:r>
            <a:r>
              <a:rPr lang="en-US" sz="1250" noProof="1">
                <a:solidFill>
                  <a:srgbClr val="22303A"/>
                </a:solidFill>
                <a:latin typeface="MiSans"/>
                <a:ea typeface="MiSans"/>
              </a:rPr>
              <a:t> m²。</a:t>
            </a:r>
            <a:endParaRPr lang="en-US" sz="1250" noProof="1"/>
          </a:p>
          <a:p>
            <a:pPr>
              <a:lnSpc>
                <a:spcPct val="150000"/>
              </a:lnSpc>
            </a:pPr>
            <a:r>
              <a:rPr lang="en-US" sz="1250" noProof="1">
                <a:solidFill>
                  <a:srgbClr val="22303A"/>
                </a:solidFill>
                <a:latin typeface="MiSans"/>
                <a:ea typeface="MiSans"/>
              </a:rPr>
              <a:t>ρ = RA/l = 4.0 × 5.0×10</a:t>
            </a:r>
            <a:r>
              <a:rPr lang="en-US" sz="1250" noProof="1" baseline="30000">
                <a:solidFill>
                  <a:srgbClr val="22303A"/>
                </a:solidFill>
                <a:latin typeface="MiSans"/>
                <a:ea typeface="MiSans"/>
              </a:rPr>
              <a:t>−7</a:t>
            </a:r>
            <a:r>
              <a:rPr lang="en-US" sz="1250" noProof="1">
                <a:solidFill>
                  <a:srgbClr val="22303A"/>
                </a:solidFill>
                <a:latin typeface="MiSans"/>
                <a:ea typeface="MiSans"/>
              </a:rPr>
              <a:t> ÷ 2.0 = </a:t>
            </a:r>
            <a:r>
              <a:rPr lang="en-US" sz="1250" noProof="1" b="1">
                <a:solidFill>
                  <a:srgbClr val="22303A"/>
                </a:solidFill>
                <a:latin typeface="MiSans"/>
                <a:ea typeface="MiSans"/>
              </a:rPr>
              <a:t>1.0×10</a:t>
            </a:r>
            <a:r>
              <a:rPr lang="en-US" sz="1250" noProof="1" b="1" baseline="30000">
                <a:solidFill>
                  <a:srgbClr val="22303A"/>
                </a:solidFill>
                <a:latin typeface="MiSans"/>
                <a:ea typeface="MiSans"/>
              </a:rPr>
              <a:t>−6</a:t>
            </a:r>
            <a:r>
              <a:rPr lang="en-US" sz="1250" noProof="1" b="1">
                <a:solidFill>
                  <a:srgbClr val="22303A"/>
                </a:solidFill>
                <a:latin typeface="MiSans"/>
                <a:ea typeface="MiSans"/>
              </a:rPr>
              <a:t> Ω·m</a:t>
            </a:r>
            <a:r>
              <a:rPr lang="en-US" sz="1250" noProof="1">
                <a:solidFill>
                  <a:srgbClr val="22303A"/>
                </a:solidFill>
                <a:latin typeface="MiSans"/>
                <a:ea typeface="MiSans"/>
              </a:rPr>
              <a:t>。</a:t>
            </a:r>
            <a:endParaRPr lang="en-US" sz="1250" noProof="1"/>
          </a:p>
          <a:p>
            <a:pPr>
              <a:lnSpc>
                <a:spcPct val="150000"/>
              </a:lnSpc>
            </a:pPr>
            <a:r>
              <a:rPr lang="en-US" sz="1250" noProof="1">
                <a:solidFill>
                  <a:srgbClr val="C96F16"/>
                </a:solidFill>
                <a:latin typeface="MiSans"/>
                <a:ea typeface="MiSans"/>
              </a:rPr>
              <a:t>错因排查：mm² 没换算（差 10⁶ 倍）；或直接套 ρ = V/I 混淆了电阻与电阻率。</a:t>
            </a:r>
            <a:endParaRPr lang="en-US" sz="1250" noProof="1"/>
          </a:p>
        </p:txBody>
      </p:sp>
      <p:sp>
        <p:nvSpPr>
          <p:cNvPr id="11" name="a2-line"/>
          <p:cNvSpPr/>
          <p:nvPr/>
        </p:nvSpPr>
        <p:spPr>
          <a:xfrm>
            <a:off x="762000" y="4368800"/>
            <a:ext cx="10668000" cy="12700"/>
          </a:xfrm>
          <a:prstGeom prst="rect">
            <a:avLst/>
          </a:prstGeom>
          <a:solidFill>
            <a:srgbClr val="D8D2C8"/>
          </a:solidFill>
          <a:ln>
            <a:noFill/>
          </a:ln>
        </p:spPr>
      </p:sp>
      <p:sp>
        <p:nvSpPr>
          <p:cNvPr id="12" name="a3-head"/>
          <p:cNvSpPr txBox="1"/>
          <p:nvPr/>
        </p:nvSpPr>
        <p:spPr>
          <a:xfrm>
            <a:off x="762000" y="4521200"/>
            <a:ext cx="10668000" cy="279400"/>
          </a:xfrm>
          <a:prstGeom prst="rect">
            <a:avLst/>
          </a:prstGeom>
          <a:noFill/>
          <a:ln>
            <a:noFill/>
          </a:ln>
        </p:spPr>
        <p:txBody>
          <a:bodyPr lIns="0" rIns="0" tIns="0" bIns="0" wrap="none" rtlCol="0"/>
          <a:lstStyle/>
          <a:p>
            <a:pPr>
              <a:lnSpc>
                <a:spcPct val="120000"/>
              </a:lnSpc>
            </a:pPr>
            <a:r>
              <a:rPr lang="en-US" sz="1400" noProof="1" b="1">
                <a:solidFill>
                  <a:srgbClr val="0E5A55"/>
                </a:solidFill>
                <a:latin typeface="MiSans"/>
                <a:ea typeface="MiSans"/>
              </a:rPr>
              <a:t>Q3　灯丝；发热 → 碰撞频繁 → R 增大</a:t>
            </a:r>
            <a:endParaRPr lang="en-US" sz="1400" noProof="1"/>
          </a:p>
        </p:txBody>
      </p:sp>
      <p:sp>
        <p:nvSpPr>
          <p:cNvPr id="13" name="a3-body"/>
          <p:cNvSpPr txBox="1"/>
          <p:nvPr/>
        </p:nvSpPr>
        <p:spPr>
          <a:xfrm>
            <a:off x="762000" y="4826000"/>
            <a:ext cx="10668000" cy="914400"/>
          </a:xfrm>
          <a:prstGeom prst="rect">
            <a:avLst/>
          </a:prstGeom>
          <a:noFill/>
          <a:ln>
            <a:noFill/>
          </a:ln>
        </p:spPr>
        <p:txBody>
          <a:bodyPr lIns="0" rIns="0" tIns="0" bIns="0" wrap="square" rtlCol="0"/>
          <a:lstStyle/>
          <a:p>
            <a:pPr>
              <a:lnSpc>
                <a:spcPct val="150000"/>
              </a:lnSpc>
            </a:pPr>
            <a:r>
              <a:rPr lang="en-US" sz="1250" noProof="1">
                <a:solidFill>
                  <a:srgbClr val="22303A"/>
                </a:solidFill>
                <a:latin typeface="MiSans"/>
                <a:ea typeface="MiSans"/>
              </a:rPr>
              <a:t>曲线过原点但逐渐变平（斜率 = 1/R 减小 → R 增大）→ </a:t>
            </a:r>
            <a:r>
              <a:rPr lang="en-US" sz="1250" noProof="1" b="1">
                <a:solidFill>
                  <a:srgbClr val="22303A"/>
                </a:solidFill>
                <a:latin typeface="MiSans"/>
                <a:ea typeface="MiSans"/>
              </a:rPr>
              <a:t>灯丝</a:t>
            </a:r>
            <a:r>
              <a:rPr lang="en-US" sz="1250" noProof="1">
                <a:solidFill>
                  <a:srgbClr val="22303A"/>
                </a:solidFill>
                <a:latin typeface="MiSans"/>
                <a:ea typeface="MiSans"/>
              </a:rPr>
              <a:t> filament lamp。</a:t>
            </a:r>
            <a:endParaRPr lang="en-US" sz="1250" noProof="1"/>
          </a:p>
          <a:p>
            <a:pPr>
              <a:lnSpc>
                <a:spcPct val="150000"/>
              </a:lnSpc>
            </a:pPr>
            <a:r>
              <a:rPr lang="en-US" sz="1250" noProof="1">
                <a:solidFill>
                  <a:srgbClr val="22303A"/>
                </a:solidFill>
                <a:latin typeface="MiSans"/>
                <a:ea typeface="MiSans"/>
              </a:rPr>
              <a:t>机理：电压大 → 电流大 → 灯丝</a:t>
            </a:r>
            <a:r>
              <a:rPr lang="en-US" sz="1250" noProof="1" b="1">
                <a:solidFill>
                  <a:srgbClr val="22303A"/>
                </a:solidFill>
                <a:latin typeface="MiSans"/>
                <a:ea typeface="MiSans"/>
              </a:rPr>
              <a:t>温度升高</a:t>
            </a:r>
            <a:r>
              <a:rPr lang="en-US" sz="1250" noProof="1">
                <a:solidFill>
                  <a:srgbClr val="22303A"/>
                </a:solidFill>
                <a:latin typeface="MiSans"/>
                <a:ea typeface="MiSans"/>
              </a:rPr>
              <a:t> → 金属离子振动加剧 → 自由电子</a:t>
            </a:r>
            <a:r>
              <a:rPr lang="en-US" sz="1250" noProof="1" b="1">
                <a:solidFill>
                  <a:srgbClr val="22303A"/>
                </a:solidFill>
                <a:latin typeface="MiSans"/>
                <a:ea typeface="MiSans"/>
              </a:rPr>
              <a:t>碰撞更频繁</a:t>
            </a:r>
            <a:r>
              <a:rPr lang="en-US" sz="1250" noProof="1">
                <a:solidFill>
                  <a:srgbClr val="22303A"/>
                </a:solidFill>
                <a:latin typeface="MiSans"/>
                <a:ea typeface="MiSans"/>
              </a:rPr>
              <a:t> → 电阻增大。</a:t>
            </a:r>
            <a:endParaRPr lang="en-US" sz="1250" noProof="1"/>
          </a:p>
        </p:txBody>
      </p:sp>
      <p:sp>
        <p:nvSpPr>
          <p:cNvPr id="14" name="check-box"/>
          <p:cNvSpPr/>
          <p:nvPr/>
        </p:nvSpPr>
        <p:spPr>
          <a:xfrm>
            <a:off x="762000" y="5816600"/>
            <a:ext cx="10668000" cy="457200"/>
          </a:xfrm>
          <a:prstGeom prst="rect">
            <a:avLst/>
          </a:prstGeom>
          <a:solidFill>
            <a:srgbClr val="EFE9DF"/>
          </a:solidFill>
          <a:ln>
            <a:noFill/>
          </a:ln>
        </p:spPr>
      </p:sp>
      <p:sp>
        <p:nvSpPr>
          <p:cNvPr id="15" name="check-text"/>
          <p:cNvSpPr txBox="1"/>
          <p:nvPr/>
        </p:nvSpPr>
        <p:spPr>
          <a:xfrm>
            <a:off x="965200" y="5880100"/>
            <a:ext cx="10261600" cy="330200"/>
          </a:xfrm>
          <a:prstGeom prst="rect">
            <a:avLst/>
          </a:prstGeom>
          <a:noFill/>
          <a:ln>
            <a:noFill/>
          </a:ln>
        </p:spPr>
        <p:txBody>
          <a:bodyPr lIns="0" rIns="0" tIns="0" bIns="0" wrap="none" rtlCol="0" anchor="ctr"/>
          <a:lstStyle/>
          <a:p>
            <a:pPr algn="l">
              <a:lnSpc>
                <a:spcPct val="120000"/>
              </a:lnSpc>
            </a:pPr>
            <a:r>
              <a:rPr lang="en-US" sz="1250" noProof="1" b="1">
                <a:solidFill>
                  <a:srgbClr val="22303A"/>
                </a:solidFill>
                <a:latin typeface="MiSans"/>
                <a:ea typeface="MiSans"/>
              </a:rPr>
              <a:t>自查口令：</a:t>
            </a:r>
            <a:r>
              <a:rPr lang="en-US" sz="1250" noProof="1">
                <a:solidFill>
                  <a:srgbClr val="22303A"/>
                </a:solidFill>
                <a:latin typeface="MiSans"/>
                <a:ea typeface="MiSans"/>
              </a:rPr>
              <a:t>I = nAvq 里哪个量变了？面积换成 m² 了吗？斜率是 1/R 记住了吗？</a:t>
            </a:r>
            <a:endParaRPr lang="en-US" sz="1250" noProof="1"/>
          </a:p>
        </p:txBody>
      </p:sp>
      <p:sp>
        <p:nvSpPr>
          <p:cNvPr id="16" name="footer-rule"/>
          <p:cNvSpPr/>
          <p:nvPr/>
        </p:nvSpPr>
        <p:spPr>
          <a:xfrm>
            <a:off x="762000" y="6451600"/>
            <a:ext cx="10668000" cy="12700"/>
          </a:xfrm>
          <a:prstGeom prst="rect">
            <a:avLst/>
          </a:prstGeom>
          <a:solidFill>
            <a:srgbClr val="D8D2C8"/>
          </a:solidFill>
          <a:ln>
            <a:noFill/>
          </a:ln>
        </p:spPr>
      </p:sp>
      <p:sp>
        <p:nvSpPr>
          <p:cNvPr id="17" name="footer-left"/>
          <p:cNvSpPr txBox="1"/>
          <p:nvPr/>
        </p:nvSpPr>
        <p:spPr>
          <a:xfrm>
            <a:off x="762000" y="6553200"/>
            <a:ext cx="5080000" cy="203200"/>
          </a:xfrm>
          <a:prstGeom prst="rect">
            <a:avLst/>
          </a:prstGeom>
          <a:noFill/>
          <a:ln>
            <a:noFill/>
          </a:ln>
        </p:spPr>
        <p:txBody>
          <a:bodyPr lIns="0" rIns="0" tIns="0" bIns="0" wrap="none" rtlCol="0"/>
          <a:lstStyle/>
          <a:p>
            <a:pPr>
              <a:lnSpc>
                <a:spcPct val="120000"/>
              </a:lnSpc>
            </a:pPr>
            <a:r>
              <a:rPr lang="en-US" sz="1000" noProof="1">
                <a:solidFill>
                  <a:srgbClr val="6E6A62"/>
                </a:solidFill>
                <a:latin typeface="MiSans"/>
                <a:ea typeface="MiSans"/>
              </a:rPr>
              <a:t>CIE A-Level Physics 9702 · Topic 9 电学</a:t>
            </a:r>
            <a:endParaRPr lang="en-US" sz="1000" noProof="1"/>
          </a:p>
        </p:txBody>
      </p:sp>
      <p:sp>
        <p:nvSpPr>
          <p:cNvPr id="18" name="page-num"/>
          <p:cNvSpPr txBox="1"/>
          <p:nvPr/>
        </p:nvSpPr>
        <p:spPr>
          <a:xfrm>
            <a:off x="10922000" y="6553200"/>
            <a:ext cx="508000" cy="203200"/>
          </a:xfrm>
          <a:prstGeom prst="rect">
            <a:avLst/>
          </a:prstGeom>
          <a:noFill/>
          <a:ln>
            <a:noFill/>
          </a:ln>
        </p:spPr>
        <p:txBody>
          <a:bodyPr lIns="0" rIns="0" tIns="0" bIns="0" wrap="none" rtlCol="0" anchor="t"/>
          <a:lstStyle/>
          <a:p>
            <a:pPr algn="r">
              <a:lnSpc>
                <a:spcPct val="120000"/>
              </a:lnSpc>
            </a:pPr>
            <a:r>
              <a:rPr lang="en-US" sz="1000" noProof="1">
                <a:solidFill>
                  <a:srgbClr val="6E6A62"/>
                </a:solidFill>
                <a:latin typeface="MiSans"/>
                <a:ea typeface="MiSans"/>
              </a:rPr>
              <a:t>13</a:t>
            </a:r>
            <a:endParaRPr lang="en-US" sz="1000" noProof="1"/>
          </a:p>
        </p:txBody>
      </p:sp>
    </p:spTree>
  </p:cSld>
  <p:clrMapOvr>
    <a:masterClrMapping/>
  </p:clrMapOvr>
</p:sld>
</file>

<file path=ppt/slides/slide14.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8F4"/>
        </a:solidFill>
      </p:bgPr>
    </p:bg>
    <p:spTree>
      <p:nvGrpSpPr>
        <p:cNvPr id="1" name=""/>
        <p:cNvGrpSpPr/>
        <p:nvPr/>
      </p:nvGrpSpPr>
      <p:grpSpPr>
        <a:xfrm>
          <a:off x="0" y="0"/>
          <a:ext cx="0" cy="0"/>
          <a:chOff x="0" y="0"/>
          <a:chExt cx="0" cy="0"/>
        </a:xfrm>
      </p:grpSpPr>
      <p:sp>
        <p:nvSpPr>
          <p:cNvPr id="2" name="kicker"/>
          <p:cNvSpPr txBox="1"/>
          <p:nvPr/>
        </p:nvSpPr>
        <p:spPr>
          <a:xfrm>
            <a:off x="762000" y="330200"/>
            <a:ext cx="6350000" cy="203200"/>
          </a:xfrm>
          <a:prstGeom prst="rect">
            <a:avLst/>
          </a:prstGeom>
          <a:noFill/>
          <a:ln>
            <a:noFill/>
          </a:ln>
        </p:spPr>
        <p:txBody>
          <a:bodyPr lIns="0" rIns="0" tIns="0" bIns="0" wrap="none" rtlCol="0"/>
          <a:lstStyle/>
          <a:p>
            <a:pPr>
              <a:lnSpc>
                <a:spcPct val="120000"/>
              </a:lnSpc>
            </a:pPr>
            <a:r>
              <a:rPr lang="en-US" sz="1100" noProof="1" b="1" spc="200" kern="0">
                <a:solidFill>
                  <a:srgbClr val="0E5A55"/>
                </a:solidFill>
                <a:latin typeface="MiSans"/>
                <a:ea typeface="MiSans"/>
              </a:rPr>
              <a:t>SUMMARY · 本章小结</a:t>
            </a:r>
            <a:endParaRPr lang="en-US" sz="1100" noProof="1"/>
          </a:p>
        </p:txBody>
      </p:sp>
      <p:sp>
        <p:nvSpPr>
          <p:cNvPr id="3" name="title"/>
          <p:cNvSpPr txBox="1"/>
          <p:nvPr/>
        </p:nvSpPr>
        <p:spPr>
          <a:xfrm>
            <a:off x="762000" y="584200"/>
            <a:ext cx="10668000" cy="457200"/>
          </a:xfrm>
          <a:prstGeom prst="rect">
            <a:avLst/>
          </a:prstGeom>
          <a:noFill/>
          <a:ln>
            <a:noFill/>
          </a:ln>
        </p:spPr>
        <p:txBody>
          <a:bodyPr lIns="0" rIns="0" tIns="0" bIns="0" wrap="none" rtlCol="0"/>
          <a:lstStyle/>
          <a:p>
            <a:pPr>
              <a:lnSpc>
                <a:spcPct val="120000"/>
              </a:lnSpc>
            </a:pPr>
            <a:r>
              <a:rPr lang="en-US" sz="2600" noProof="1" b="1">
                <a:solidFill>
                  <a:srgbClr val="22303A"/>
                </a:solidFill>
                <a:latin typeface="MiSans"/>
                <a:ea typeface="MiSans"/>
              </a:rPr>
              <a:t>离开本章前，请带走这五件事</a:t>
            </a:r>
            <a:endParaRPr lang="en-US" sz="2600" noProof="1"/>
          </a:p>
        </p:txBody>
      </p:sp>
      <p:sp>
        <p:nvSpPr>
          <p:cNvPr id="4" name="title-en"/>
          <p:cNvSpPr txBox="1"/>
          <p:nvPr/>
        </p:nvSpPr>
        <p:spPr>
          <a:xfrm>
            <a:off x="762000" y="1066800"/>
            <a:ext cx="10668000" cy="254000"/>
          </a:xfrm>
          <a:prstGeom prst="rect">
            <a:avLst/>
          </a:prstGeom>
          <a:noFill/>
          <a:ln>
            <a:noFill/>
          </a:ln>
        </p:spPr>
        <p:txBody>
          <a:bodyPr lIns="0" rIns="0" tIns="0" bIns="0" wrap="none" rtlCol="0"/>
          <a:lstStyle/>
          <a:p>
            <a:pPr>
              <a:lnSpc>
                <a:spcPct val="120000"/>
              </a:lnSpc>
            </a:pPr>
            <a:r>
              <a:rPr lang="en-US" sz="1300" noProof="1">
                <a:solidFill>
                  <a:srgbClr val="6E6A62"/>
                </a:solidFill>
                <a:latin typeface="MiSans"/>
                <a:ea typeface="MiSans"/>
              </a:rPr>
              <a:t>Topic 9 checklist — the foundation of every circuit question</a:t>
            </a:r>
            <a:endParaRPr lang="en-US" sz="1300" noProof="1"/>
          </a:p>
        </p:txBody>
      </p:sp>
      <p:sp>
        <p:nvSpPr>
          <p:cNvPr id="5" name="rule-top"/>
          <p:cNvSpPr/>
          <p:nvPr/>
        </p:nvSpPr>
        <p:spPr>
          <a:xfrm>
            <a:off x="762000" y="1422400"/>
            <a:ext cx="10668000" cy="19050"/>
          </a:xfrm>
          <a:prstGeom prst="rect">
            <a:avLst/>
          </a:prstGeom>
          <a:solidFill>
            <a:srgbClr val="D8D2C8"/>
          </a:solidFill>
          <a:ln>
            <a:noFill/>
          </a:ln>
        </p:spPr>
      </p:sp>
      <p:sp>
        <p:nvSpPr>
          <p:cNvPr id="6" name="c1"/>
          <p:cNvSpPr txBox="1"/>
          <p:nvPr/>
        </p:nvSpPr>
        <p:spPr>
          <a:xfrm>
            <a:off x="762000" y="1676400"/>
            <a:ext cx="10668000" cy="381000"/>
          </a:xfrm>
          <a:prstGeom prst="rect">
            <a:avLst/>
          </a:prstGeom>
          <a:noFill/>
          <a:ln>
            <a:noFill/>
          </a:ln>
        </p:spPr>
        <p:txBody>
          <a:bodyPr lIns="0" rIns="0" tIns="0" bIns="0" wrap="none" rtlCol="0"/>
          <a:lstStyle/>
          <a:p>
            <a:pPr>
              <a:lnSpc>
                <a:spcPct val="120000"/>
              </a:lnSpc>
            </a:pPr>
            <a:r>
              <a:rPr lang="en-US" sz="1400" noProof="1" b="1">
                <a:solidFill>
                  <a:srgbClr val="0E5A55"/>
                </a:solidFill>
                <a:latin typeface="MiSans"/>
                <a:ea typeface="MiSans"/>
              </a:rPr>
              <a:t>①</a:t>
            </a:r>
            <a:r>
              <a:rPr lang="en-US" sz="1400" noProof="1">
                <a:solidFill>
                  <a:srgbClr val="22303A"/>
                </a:solidFill>
                <a:latin typeface="MiSans"/>
                <a:ea typeface="MiSans"/>
              </a:rPr>
              <a:t>　三个定义式脱口而出：I = Q/t、V = W/Q、R = V/I；元电荷 e = 1.60×10⁻¹⁹ C。</a:t>
            </a:r>
            <a:endParaRPr lang="en-US" sz="1400" noProof="1"/>
          </a:p>
        </p:txBody>
      </p:sp>
      <p:sp>
        <p:nvSpPr>
          <p:cNvPr id="7" name="c2"/>
          <p:cNvSpPr txBox="1"/>
          <p:nvPr/>
        </p:nvSpPr>
        <p:spPr>
          <a:xfrm>
            <a:off x="762000" y="2133600"/>
            <a:ext cx="10668000" cy="381000"/>
          </a:xfrm>
          <a:prstGeom prst="rect">
            <a:avLst/>
          </a:prstGeom>
          <a:noFill/>
          <a:ln>
            <a:noFill/>
          </a:ln>
        </p:spPr>
        <p:txBody>
          <a:bodyPr lIns="0" rIns="0" tIns="0" bIns="0" wrap="none" rtlCol="0"/>
          <a:lstStyle/>
          <a:p>
            <a:pPr>
              <a:lnSpc>
                <a:spcPct val="120000"/>
              </a:lnSpc>
            </a:pPr>
            <a:r>
              <a:rPr lang="en-US" sz="1400" noProof="1" b="1">
                <a:solidFill>
                  <a:srgbClr val="0E5A55"/>
                </a:solidFill>
                <a:latin typeface="MiSans"/>
                <a:ea typeface="MiSans"/>
              </a:rPr>
              <a:t>②</a:t>
            </a:r>
            <a:r>
              <a:rPr lang="en-US" sz="1400" noProof="1">
                <a:solidFill>
                  <a:srgbClr val="22303A"/>
                </a:solidFill>
                <a:latin typeface="MiSans"/>
                <a:ea typeface="MiSans"/>
              </a:rPr>
              <a:t>　I = nAvq 四字母各就各位；定性题先说"谁不变"，再说"v 随 A 反比变化"。</a:t>
            </a:r>
            <a:endParaRPr lang="en-US" sz="1400" noProof="1"/>
          </a:p>
        </p:txBody>
      </p:sp>
      <p:sp>
        <p:nvSpPr>
          <p:cNvPr id="8" name="c3"/>
          <p:cNvSpPr txBox="1"/>
          <p:nvPr/>
        </p:nvSpPr>
        <p:spPr>
          <a:xfrm>
            <a:off x="762000" y="2590800"/>
            <a:ext cx="10668000" cy="381000"/>
          </a:xfrm>
          <a:prstGeom prst="rect">
            <a:avLst/>
          </a:prstGeom>
          <a:noFill/>
          <a:ln>
            <a:noFill/>
          </a:ln>
        </p:spPr>
        <p:txBody>
          <a:bodyPr lIns="0" rIns="0" tIns="0" bIns="0" wrap="none" rtlCol="0"/>
          <a:lstStyle/>
          <a:p>
            <a:pPr>
              <a:lnSpc>
                <a:spcPct val="120000"/>
              </a:lnSpc>
            </a:pPr>
            <a:r>
              <a:rPr lang="en-US" sz="1400" noProof="1" b="1">
                <a:solidFill>
                  <a:srgbClr val="0E5A55"/>
                </a:solidFill>
                <a:latin typeface="MiSans"/>
                <a:ea typeface="MiSans"/>
              </a:rPr>
              <a:t>③</a:t>
            </a:r>
            <a:r>
              <a:rPr lang="en-US" sz="1400" noProof="1">
                <a:solidFill>
                  <a:srgbClr val="22303A"/>
                </a:solidFill>
                <a:latin typeface="MiSans"/>
                <a:ea typeface="MiSans"/>
              </a:rPr>
              <a:t>　功率三兄弟 P = VI = I²R = V²/R：串联比功率用 I²R，并联比功率用 V²/R。</a:t>
            </a:r>
            <a:endParaRPr lang="en-US" sz="1400" noProof="1"/>
          </a:p>
        </p:txBody>
      </p:sp>
      <p:sp>
        <p:nvSpPr>
          <p:cNvPr id="9" name="c4"/>
          <p:cNvSpPr txBox="1"/>
          <p:nvPr/>
        </p:nvSpPr>
        <p:spPr>
          <a:xfrm>
            <a:off x="762000" y="3048000"/>
            <a:ext cx="10668000" cy="381000"/>
          </a:xfrm>
          <a:prstGeom prst="rect">
            <a:avLst/>
          </a:prstGeom>
          <a:noFill/>
          <a:ln>
            <a:noFill/>
          </a:ln>
        </p:spPr>
        <p:txBody>
          <a:bodyPr lIns="0" rIns="0" tIns="0" bIns="0" wrap="none" rtlCol="0"/>
          <a:lstStyle/>
          <a:p>
            <a:pPr>
              <a:lnSpc>
                <a:spcPct val="120000"/>
              </a:lnSpc>
            </a:pPr>
            <a:r>
              <a:rPr lang="en-US" sz="1400" noProof="1" b="1">
                <a:solidFill>
                  <a:srgbClr val="0E5A55"/>
                </a:solidFill>
                <a:latin typeface="MiSans"/>
                <a:ea typeface="MiSans"/>
              </a:rPr>
              <a:t>④</a:t>
            </a:r>
            <a:r>
              <a:rPr lang="en-US" sz="1400" noProof="1">
                <a:solidFill>
                  <a:srgbClr val="22303A"/>
                </a:solidFill>
                <a:latin typeface="MiSans"/>
                <a:ea typeface="MiSans"/>
              </a:rPr>
              <a:t>　I-V 图三种形状闭眼能画：欧姆直线、二极管单向骤升、灯丝变平；斜率 = 1/R。</a:t>
            </a:r>
            <a:endParaRPr lang="en-US" sz="1400" noProof="1"/>
          </a:p>
        </p:txBody>
      </p:sp>
      <p:sp>
        <p:nvSpPr>
          <p:cNvPr id="10" name="c5"/>
          <p:cNvSpPr txBox="1"/>
          <p:nvPr/>
        </p:nvSpPr>
        <p:spPr>
          <a:xfrm>
            <a:off x="762000" y="3505200"/>
            <a:ext cx="10668000" cy="381000"/>
          </a:xfrm>
          <a:prstGeom prst="rect">
            <a:avLst/>
          </a:prstGeom>
          <a:noFill/>
          <a:ln>
            <a:noFill/>
          </a:ln>
        </p:spPr>
        <p:txBody>
          <a:bodyPr lIns="0" rIns="0" tIns="0" bIns="0" wrap="none" rtlCol="0"/>
          <a:lstStyle/>
          <a:p>
            <a:pPr>
              <a:lnSpc>
                <a:spcPct val="120000"/>
              </a:lnSpc>
            </a:pPr>
            <a:r>
              <a:rPr lang="en-US" sz="1400" noProof="1" b="1">
                <a:solidFill>
                  <a:srgbClr val="0E5A55"/>
                </a:solidFill>
                <a:latin typeface="MiSans"/>
                <a:ea typeface="MiSans"/>
              </a:rPr>
              <a:t>⑤</a:t>
            </a:r>
            <a:r>
              <a:rPr lang="en-US" sz="1400" noProof="1">
                <a:solidFill>
                  <a:srgbClr val="22303A"/>
                </a:solidFill>
                <a:latin typeface="MiSans"/>
                <a:ea typeface="MiSans"/>
              </a:rPr>
              <a:t>　ρ = RA/l 分清物体属性与材料属性；金属升温 R↑（碰撞），热敏电阻与 LDR 升温/增光 R↓（载流子释放）。</a:t>
            </a:r>
            <a:endParaRPr lang="en-US" sz="1400" noProof="1"/>
          </a:p>
        </p:txBody>
      </p:sp>
      <p:sp>
        <p:nvSpPr>
          <p:cNvPr id="11" name="res-rule"/>
          <p:cNvSpPr/>
          <p:nvPr/>
        </p:nvSpPr>
        <p:spPr>
          <a:xfrm>
            <a:off x="762000" y="4140200"/>
            <a:ext cx="10668000" cy="12700"/>
          </a:xfrm>
          <a:prstGeom prst="rect">
            <a:avLst/>
          </a:prstGeom>
          <a:solidFill>
            <a:srgbClr val="D8D2C8"/>
          </a:solidFill>
          <a:ln>
            <a:noFill/>
          </a:ln>
        </p:spPr>
      </p:sp>
      <p:sp>
        <p:nvSpPr>
          <p:cNvPr id="12" name="res-head"/>
          <p:cNvSpPr txBox="1"/>
          <p:nvPr/>
        </p:nvSpPr>
        <p:spPr>
          <a:xfrm>
            <a:off x="762000" y="4343400"/>
            <a:ext cx="10668000" cy="304800"/>
          </a:xfrm>
          <a:prstGeom prst="rect">
            <a:avLst/>
          </a:prstGeom>
          <a:noFill/>
          <a:ln>
            <a:noFill/>
          </a:ln>
        </p:spPr>
        <p:txBody>
          <a:bodyPr lIns="0" rIns="0" tIns="0" bIns="0" wrap="none" rtlCol="0"/>
          <a:lstStyle/>
          <a:p>
            <a:pPr>
              <a:lnSpc>
                <a:spcPct val="120000"/>
              </a:lnSpc>
            </a:pPr>
            <a:r>
              <a:rPr lang="en-US" sz="1500" noProof="1" b="1">
                <a:solidFill>
                  <a:srgbClr val="0E5A55"/>
                </a:solidFill>
                <a:latin typeface="MiSans"/>
                <a:ea typeface="MiSans"/>
              </a:rPr>
              <a:t>配套学习资源</a:t>
            </a:r>
            <a:endParaRPr lang="en-US" sz="1500" noProof="1"/>
          </a:p>
        </p:txBody>
      </p:sp>
      <p:sp>
        <p:nvSpPr>
          <p:cNvPr id="13" name="res-body"/>
          <p:cNvSpPr txBox="1"/>
          <p:nvPr/>
        </p:nvSpPr>
        <p:spPr>
          <a:xfrm>
            <a:off x="762000" y="4724400"/>
            <a:ext cx="10668000" cy="558800"/>
          </a:xfrm>
          <a:prstGeom prst="rect">
            <a:avLst/>
          </a:prstGeom>
          <a:noFill/>
          <a:ln>
            <a:noFill/>
          </a:ln>
        </p:spPr>
        <p:txBody>
          <a:bodyPr lIns="0" rIns="0" tIns="0" bIns="0" wrap="square" rtlCol="0"/>
          <a:lstStyle/>
          <a:p>
            <a:pPr>
              <a:lnSpc>
                <a:spcPct val="160000"/>
              </a:lnSpc>
            </a:pPr>
            <a:r>
              <a:rPr lang="en-US" sz="1300" noProof="1">
                <a:solidFill>
                  <a:srgbClr val="22303A"/>
                </a:solidFill>
                <a:latin typeface="MiSans"/>
                <a:ea typeface="MiSans"/>
              </a:rPr>
              <a:t>· 《中英对照笔记》：本课件全部内容的双语详版，含推导、微观机理与公式速查表，适合课后精读与考前背诵（中英结合笔记 文件夹）。</a:t>
            </a:r>
            <a:endParaRPr lang="en-US" sz="1300" noProof="1"/>
          </a:p>
        </p:txBody>
      </p:sp>
      <p:sp>
        <p:nvSpPr>
          <p:cNvPr id="14" name="next-box"/>
          <p:cNvSpPr/>
          <p:nvPr/>
        </p:nvSpPr>
        <p:spPr>
          <a:xfrm>
            <a:off x="762000" y="5740400"/>
            <a:ext cx="10668000" cy="508000"/>
          </a:xfrm>
          <a:prstGeom prst="rect">
            <a:avLst/>
          </a:prstGeom>
          <a:solidFill>
            <a:srgbClr val="EFE9DF"/>
          </a:solidFill>
          <a:ln>
            <a:noFill/>
          </a:ln>
        </p:spPr>
      </p:sp>
      <p:sp>
        <p:nvSpPr>
          <p:cNvPr id="15" name="next-text"/>
          <p:cNvSpPr txBox="1"/>
          <p:nvPr/>
        </p:nvSpPr>
        <p:spPr>
          <a:xfrm>
            <a:off x="965200" y="5816600"/>
            <a:ext cx="10261600" cy="355600"/>
          </a:xfrm>
          <a:prstGeom prst="rect">
            <a:avLst/>
          </a:prstGeom>
          <a:noFill/>
          <a:ln>
            <a:noFill/>
          </a:ln>
        </p:spPr>
        <p:txBody>
          <a:bodyPr lIns="0" rIns="0" tIns="0" bIns="0" wrap="none" rtlCol="0" anchor="ctr"/>
          <a:lstStyle/>
          <a:p>
            <a:pPr algn="l">
              <a:lnSpc>
                <a:spcPct val="120000"/>
              </a:lnSpc>
            </a:pPr>
            <a:r>
              <a:rPr lang="en-US" sz="1250" noProof="1" b="1">
                <a:solidFill>
                  <a:srgbClr val="22303A"/>
                </a:solidFill>
                <a:latin typeface="MiSans"/>
                <a:ea typeface="MiSans"/>
              </a:rPr>
              <a:t>下一章预告 Next：</a:t>
            </a:r>
            <a:r>
              <a:rPr lang="en-US" sz="1250" noProof="1">
                <a:solidFill>
                  <a:srgbClr val="22303A"/>
                </a:solidFill>
                <a:latin typeface="MiSans"/>
                <a:ea typeface="MiSans"/>
              </a:rPr>
              <a:t>Topic 10 D.C. Circuits 直流电路 —— 基尔霍夫定律、串并联与分压器，本章公式将全部派上用场。</a:t>
            </a:r>
            <a:endParaRPr lang="en-US" sz="1250" noProof="1"/>
          </a:p>
        </p:txBody>
      </p:sp>
      <p:sp>
        <p:nvSpPr>
          <p:cNvPr id="16" name="footer-rule"/>
          <p:cNvSpPr/>
          <p:nvPr/>
        </p:nvSpPr>
        <p:spPr>
          <a:xfrm>
            <a:off x="762000" y="6451600"/>
            <a:ext cx="10668000" cy="12700"/>
          </a:xfrm>
          <a:prstGeom prst="rect">
            <a:avLst/>
          </a:prstGeom>
          <a:solidFill>
            <a:srgbClr val="D8D2C8"/>
          </a:solidFill>
          <a:ln>
            <a:noFill/>
          </a:ln>
        </p:spPr>
      </p:sp>
      <p:sp>
        <p:nvSpPr>
          <p:cNvPr id="17" name="footer-left"/>
          <p:cNvSpPr txBox="1"/>
          <p:nvPr/>
        </p:nvSpPr>
        <p:spPr>
          <a:xfrm>
            <a:off x="762000" y="6553200"/>
            <a:ext cx="5080000" cy="203200"/>
          </a:xfrm>
          <a:prstGeom prst="rect">
            <a:avLst/>
          </a:prstGeom>
          <a:noFill/>
          <a:ln>
            <a:noFill/>
          </a:ln>
        </p:spPr>
        <p:txBody>
          <a:bodyPr lIns="0" rIns="0" tIns="0" bIns="0" wrap="none" rtlCol="0"/>
          <a:lstStyle/>
          <a:p>
            <a:pPr>
              <a:lnSpc>
                <a:spcPct val="120000"/>
              </a:lnSpc>
            </a:pPr>
            <a:r>
              <a:rPr lang="en-US" sz="1000" noProof="1">
                <a:solidFill>
                  <a:srgbClr val="6E6A62"/>
                </a:solidFill>
                <a:latin typeface="MiSans"/>
                <a:ea typeface="MiSans"/>
              </a:rPr>
              <a:t>CIE A-Level Physics 9702 · Topic 9 电学</a:t>
            </a:r>
            <a:endParaRPr lang="en-US" sz="1000" noProof="1"/>
          </a:p>
        </p:txBody>
      </p:sp>
      <p:sp>
        <p:nvSpPr>
          <p:cNvPr id="18" name="page-num"/>
          <p:cNvSpPr txBox="1"/>
          <p:nvPr/>
        </p:nvSpPr>
        <p:spPr>
          <a:xfrm>
            <a:off x="10922000" y="6553200"/>
            <a:ext cx="508000" cy="203200"/>
          </a:xfrm>
          <a:prstGeom prst="rect">
            <a:avLst/>
          </a:prstGeom>
          <a:noFill/>
          <a:ln>
            <a:noFill/>
          </a:ln>
        </p:spPr>
        <p:txBody>
          <a:bodyPr lIns="0" rIns="0" tIns="0" bIns="0" wrap="none" rtlCol="0" anchor="t"/>
          <a:lstStyle/>
          <a:p>
            <a:pPr algn="r">
              <a:lnSpc>
                <a:spcPct val="120000"/>
              </a:lnSpc>
            </a:pPr>
            <a:r>
              <a:rPr lang="en-US" sz="1000" noProof="1">
                <a:solidFill>
                  <a:srgbClr val="6E6A62"/>
                </a:solidFill>
                <a:latin typeface="MiSans"/>
                <a:ea typeface="MiSans"/>
              </a:rPr>
              <a:t>14</a:t>
            </a:r>
            <a:endParaRPr lang="en-US" sz="1000" noProof="1"/>
          </a:p>
        </p:txBody>
      </p:sp>
    </p:spTree>
  </p:cSld>
  <p:clrMapOvr>
    <a:masterClrMapping/>
  </p:clrMapOvr>
</p:sld>
</file>

<file path=ppt/theme/theme1.xml><?xml version="1.0" encoding="utf-8"?>
<a:theme xmlns:a="http://schemas.openxmlformats.org/drawingml/2006/main" name="PPTD">
  <a:themeElements>
    <a:clrScheme name="PPTD">
      <a:dk1>
        <a:srgbClr val="000000"/>
      </a:dk1>
      <a:lt1>
        <a:srgbClr val="FFFFFF"/>
      </a:lt1>
      <a:dk2>
        <a:srgbClr val="1F2937"/>
      </a:dk2>
      <a:lt2>
        <a:srgbClr val="F3F4F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theme>
</file>

<file path=customXml/provenance.xml><?xml version="1.0" encoding="utf-8"?>
<provenance xmlns="urn:kimi:pptd:provenance">
  <producer>Kimi Slides/Design</producer>
  <statement>Built by Kimi Slides/Design with PPTD</statement>
</provenance>
</file>

<file path=docProps/app.xml><?xml version="1.0" encoding="utf-8"?>
<Properties xmlns="http://schemas.openxmlformats.org/officeDocument/2006/extended-properties">
  <Application>Neo Design</Application>
  <Slides>14</Slides>
</Properties>
</file>

<file path=docProps/core.xml><?xml version="1.0" encoding="utf-8"?>
<cp:coreProperties xmlns:dc="http://purl.org/dc/elements/1.1/" xmlns:cp="http://schemas.openxmlformats.org/package/2006/metadata/core-properties">
  <dc:title>Topic9_Electricity</dc:title>
</cp:coreProperties>
</file>

<file path=docProps/custom.xml><?xml version="1.0" encoding="utf-8"?>
<Properties xmlns:vt="http://schemas.openxmlformats.org/officeDocument/2006/docPropsVTypes" xmlns="http://schemas.openxmlformats.org/officeDocument/2006/custom-properties">
  <property fmtid="{D5CDD505-2E9C-101B-9397-08002B2CF9AE}" pid="4" name="AIGC">
    <vt:lpwstr/>
  </property>
</Properties>
</file>